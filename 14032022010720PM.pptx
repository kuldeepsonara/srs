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7"/>
  </p:notesMasterIdLst>
  <p:sldIdLst>
    <p:sldId id="309" r:id="rId2"/>
    <p:sldId id="292" r:id="rId3"/>
    <p:sldId id="427" r:id="rId4"/>
    <p:sldId id="310" r:id="rId5"/>
    <p:sldId id="311" r:id="rId6"/>
    <p:sldId id="312" r:id="rId7"/>
    <p:sldId id="346" r:id="rId8"/>
    <p:sldId id="347" r:id="rId9"/>
    <p:sldId id="348" r:id="rId10"/>
    <p:sldId id="349" r:id="rId11"/>
    <p:sldId id="350" r:id="rId12"/>
    <p:sldId id="420" r:id="rId13"/>
    <p:sldId id="359" r:id="rId14"/>
    <p:sldId id="351" r:id="rId15"/>
    <p:sldId id="352" r:id="rId16"/>
    <p:sldId id="353" r:id="rId17"/>
    <p:sldId id="354" r:id="rId18"/>
    <p:sldId id="421" r:id="rId19"/>
    <p:sldId id="355" r:id="rId20"/>
    <p:sldId id="356" r:id="rId21"/>
    <p:sldId id="357" r:id="rId22"/>
    <p:sldId id="360" r:id="rId23"/>
    <p:sldId id="361" r:id="rId24"/>
    <p:sldId id="362" r:id="rId25"/>
    <p:sldId id="363" r:id="rId26"/>
    <p:sldId id="364" r:id="rId27"/>
    <p:sldId id="365" r:id="rId28"/>
    <p:sldId id="422" r:id="rId29"/>
    <p:sldId id="366" r:id="rId30"/>
    <p:sldId id="367" r:id="rId31"/>
    <p:sldId id="368" r:id="rId32"/>
    <p:sldId id="369" r:id="rId33"/>
    <p:sldId id="370" r:id="rId34"/>
    <p:sldId id="371" r:id="rId35"/>
    <p:sldId id="372" r:id="rId36"/>
    <p:sldId id="373" r:id="rId37"/>
    <p:sldId id="374" r:id="rId38"/>
    <p:sldId id="375" r:id="rId39"/>
    <p:sldId id="376" r:id="rId40"/>
    <p:sldId id="423" r:id="rId41"/>
    <p:sldId id="377" r:id="rId42"/>
    <p:sldId id="378" r:id="rId43"/>
    <p:sldId id="379" r:id="rId44"/>
    <p:sldId id="380" r:id="rId45"/>
    <p:sldId id="391" r:id="rId46"/>
    <p:sldId id="384" r:id="rId47"/>
    <p:sldId id="385" r:id="rId48"/>
    <p:sldId id="392" r:id="rId49"/>
    <p:sldId id="393" r:id="rId50"/>
    <p:sldId id="394" r:id="rId51"/>
    <p:sldId id="395" r:id="rId52"/>
    <p:sldId id="396" r:id="rId53"/>
    <p:sldId id="397" r:id="rId54"/>
    <p:sldId id="398" r:id="rId55"/>
    <p:sldId id="399" r:id="rId56"/>
    <p:sldId id="400" r:id="rId57"/>
    <p:sldId id="401" r:id="rId58"/>
    <p:sldId id="402" r:id="rId59"/>
    <p:sldId id="403" r:id="rId60"/>
    <p:sldId id="404" r:id="rId61"/>
    <p:sldId id="405" r:id="rId62"/>
    <p:sldId id="407" r:id="rId63"/>
    <p:sldId id="424" r:id="rId64"/>
    <p:sldId id="425" r:id="rId65"/>
    <p:sldId id="387" r:id="rId66"/>
  </p:sldIdLst>
  <p:sldSz cx="12192000" cy="6858000"/>
  <p:notesSz cx="6858000" cy="9144000"/>
  <p:embeddedFontLst>
    <p:embeddedFont>
      <p:font typeface="Calibri" panose="020F0502020204030204" pitchFamily="34" charset="0"/>
      <p:regular r:id="rId68"/>
      <p:bold r:id="rId69"/>
      <p:italic r:id="rId70"/>
      <p:boldItalic r:id="rId71"/>
    </p:embeddedFont>
    <p:embeddedFont>
      <p:font typeface="Roboto Condensed" panose="02000000000000000000" pitchFamily="2" charset="0"/>
      <p:regular r:id="rId72"/>
      <p:bold r:id="rId73"/>
      <p:italic r:id="rId74"/>
      <p:boldItalic r:id="rId75"/>
    </p:embeddedFont>
    <p:embeddedFont>
      <p:font typeface="Roboto Condensed Light" panose="02000000000000000000" pitchFamily="2" charset="0"/>
      <p:regular r:id="rId76"/>
      <p:italic r:id="rId77"/>
    </p:embeddedFont>
    <p:embeddedFont>
      <p:font typeface="Wingdings 3" panose="05040102010807070707" pitchFamily="18" charset="2"/>
      <p:regular r:id="rId7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Sv+mL3VgsrJPlvGG0xp0zw==" hashData="CiGtnaiNvb/vXFTpkiE81lJxljvEIuY0yo4WtB0afNdWr0+op23CsoilHKSuxDiTuUyS87JX2Qp/1iiaXQ6t/w=="/>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1B92"/>
    <a:srgbClr val="673BB7"/>
    <a:srgbClr val="607D8B"/>
    <a:srgbClr val="ED524F"/>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1.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7.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2.fntdata"/><Relationship Id="rId77"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5.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3.fntdata"/><Relationship Id="rId75" Type="http://schemas.openxmlformats.org/officeDocument/2006/relationships/font" Target="fonts/font8.fntdata"/><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6.fntdata"/><Relationship Id="rId78" Type="http://schemas.openxmlformats.org/officeDocument/2006/relationships/font" Target="fonts/font11.fnt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9.fntdata"/><Relationship Id="rId7" Type="http://schemas.openxmlformats.org/officeDocument/2006/relationships/slide" Target="slides/slide6.xml"/><Relationship Id="rId71" Type="http://schemas.openxmlformats.org/officeDocument/2006/relationships/font" Target="fonts/font4.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mish Vadodariya" userId="d2e325c0593a319e" providerId="LiveId" clId="{38FCA154-DB2C-48C9-A48C-2DE9F6619FE4}"/>
    <pc:docChg chg="undo custSel modSld modMainMaster">
      <pc:chgData name="Naimish Vadodariya" userId="d2e325c0593a319e" providerId="LiveId" clId="{38FCA154-DB2C-48C9-A48C-2DE9F6619FE4}" dt="2022-03-13T06:59:11.789" v="340" actId="113"/>
      <pc:docMkLst>
        <pc:docMk/>
      </pc:docMkLst>
      <pc:sldChg chg="modSp">
        <pc:chgData name="Naimish Vadodariya" userId="d2e325c0593a319e" providerId="LiveId" clId="{38FCA154-DB2C-48C9-A48C-2DE9F6619FE4}" dt="2022-03-13T06:12:43.615" v="1" actId="2710"/>
        <pc:sldMkLst>
          <pc:docMk/>
          <pc:sldMk cId="4216305698" sldId="292"/>
        </pc:sldMkLst>
        <pc:spChg chg="mod">
          <ac:chgData name="Naimish Vadodariya" userId="d2e325c0593a319e" providerId="LiveId" clId="{38FCA154-DB2C-48C9-A48C-2DE9F6619FE4}" dt="2022-03-13T06:12:43.615" v="1" actId="2710"/>
          <ac:spMkLst>
            <pc:docMk/>
            <pc:sldMk cId="4216305698" sldId="292"/>
            <ac:spMk id="9" creationId="{BDA2F9A4-6988-4274-8384-12496EC9D59D}"/>
          </ac:spMkLst>
        </pc:spChg>
      </pc:sldChg>
      <pc:sldChg chg="modSp mod">
        <pc:chgData name="Naimish Vadodariya" userId="d2e325c0593a319e" providerId="LiveId" clId="{38FCA154-DB2C-48C9-A48C-2DE9F6619FE4}" dt="2022-03-13T06:54:43.358" v="338" actId="404"/>
        <pc:sldMkLst>
          <pc:docMk/>
          <pc:sldMk cId="1600834761" sldId="309"/>
        </pc:sldMkLst>
        <pc:spChg chg="mod">
          <ac:chgData name="Naimish Vadodariya" userId="d2e325c0593a319e" providerId="LiveId" clId="{38FCA154-DB2C-48C9-A48C-2DE9F6619FE4}" dt="2022-03-13T06:54:43.358" v="338" actId="404"/>
          <ac:spMkLst>
            <pc:docMk/>
            <pc:sldMk cId="1600834761" sldId="309"/>
            <ac:spMk id="8" creationId="{03F305CB-DBE2-45D5-8D0B-92106F27C4BB}"/>
          </ac:spMkLst>
        </pc:spChg>
        <pc:spChg chg="mod">
          <ac:chgData name="Naimish Vadodariya" userId="d2e325c0593a319e" providerId="LiveId" clId="{38FCA154-DB2C-48C9-A48C-2DE9F6619FE4}" dt="2022-03-13T06:45:05.237" v="178" actId="20577"/>
          <ac:spMkLst>
            <pc:docMk/>
            <pc:sldMk cId="1600834761" sldId="309"/>
            <ac:spMk id="10" creationId="{4F27F027-AAC9-4C88-B3AF-3C4A20BDDDA6}"/>
          </ac:spMkLst>
        </pc:spChg>
        <pc:spChg chg="mod">
          <ac:chgData name="Naimish Vadodariya" userId="d2e325c0593a319e" providerId="LiveId" clId="{38FCA154-DB2C-48C9-A48C-2DE9F6619FE4}" dt="2022-03-13T06:43:50.154" v="175" actId="20577"/>
          <ac:spMkLst>
            <pc:docMk/>
            <pc:sldMk cId="1600834761" sldId="309"/>
            <ac:spMk id="11" creationId="{59B646FF-BD32-4C5A-94AF-AC4347EADA2E}"/>
          </ac:spMkLst>
        </pc:spChg>
        <pc:spChg chg="mod">
          <ac:chgData name="Naimish Vadodariya" userId="d2e325c0593a319e" providerId="LiveId" clId="{38FCA154-DB2C-48C9-A48C-2DE9F6619FE4}" dt="2022-03-13T06:43:31.374" v="129" actId="20577"/>
          <ac:spMkLst>
            <pc:docMk/>
            <pc:sldMk cId="1600834761" sldId="309"/>
            <ac:spMk id="13" creationId="{89F5B5F8-350F-4941-B9DE-36BF8B014803}"/>
          </ac:spMkLst>
        </pc:spChg>
        <pc:spChg chg="mod">
          <ac:chgData name="Naimish Vadodariya" userId="d2e325c0593a319e" providerId="LiveId" clId="{38FCA154-DB2C-48C9-A48C-2DE9F6619FE4}" dt="2022-03-13T06:53:38.285" v="317" actId="20577"/>
          <ac:spMkLst>
            <pc:docMk/>
            <pc:sldMk cId="1600834761" sldId="309"/>
            <ac:spMk id="14" creationId="{E2AD8B6E-51EA-4A15-8752-4F221E5E02C5}"/>
          </ac:spMkLst>
        </pc:spChg>
        <pc:picChg chg="mod">
          <ac:chgData name="Naimish Vadodariya" userId="d2e325c0593a319e" providerId="LiveId" clId="{38FCA154-DB2C-48C9-A48C-2DE9F6619FE4}" dt="2022-03-13T06:44:56.645" v="176" actId="14826"/>
          <ac:picMkLst>
            <pc:docMk/>
            <pc:sldMk cId="1600834761" sldId="309"/>
            <ac:picMk id="2" creationId="{00000000-0000-0000-0000-000000000000}"/>
          </ac:picMkLst>
        </pc:picChg>
      </pc:sldChg>
      <pc:sldChg chg="modSp mod">
        <pc:chgData name="Naimish Vadodariya" userId="d2e325c0593a319e" providerId="LiveId" clId="{38FCA154-DB2C-48C9-A48C-2DE9F6619FE4}" dt="2022-03-13T06:46:32.777" v="225" actId="20577"/>
        <pc:sldMkLst>
          <pc:docMk/>
          <pc:sldMk cId="2063409194" sldId="312"/>
        </pc:sldMkLst>
        <pc:spChg chg="mod">
          <ac:chgData name="Naimish Vadodariya" userId="d2e325c0593a319e" providerId="LiveId" clId="{38FCA154-DB2C-48C9-A48C-2DE9F6619FE4}" dt="2022-03-13T06:45:39.522" v="220" actId="20577"/>
          <ac:spMkLst>
            <pc:docMk/>
            <pc:sldMk cId="2063409194" sldId="312"/>
            <ac:spMk id="3" creationId="{00000000-0000-0000-0000-000000000000}"/>
          </ac:spMkLst>
        </pc:spChg>
        <pc:spChg chg="mod">
          <ac:chgData name="Naimish Vadodariya" userId="d2e325c0593a319e" providerId="LiveId" clId="{38FCA154-DB2C-48C9-A48C-2DE9F6619FE4}" dt="2022-03-13T06:46:13.953" v="221" actId="113"/>
          <ac:spMkLst>
            <pc:docMk/>
            <pc:sldMk cId="2063409194" sldId="312"/>
            <ac:spMk id="5" creationId="{00000000-0000-0000-0000-000000000000}"/>
          </ac:spMkLst>
        </pc:spChg>
        <pc:graphicFrameChg chg="modGraphic">
          <ac:chgData name="Naimish Vadodariya" userId="d2e325c0593a319e" providerId="LiveId" clId="{38FCA154-DB2C-48C9-A48C-2DE9F6619FE4}" dt="2022-03-13T06:46:32.777" v="225" actId="20577"/>
          <ac:graphicFrameMkLst>
            <pc:docMk/>
            <pc:sldMk cId="2063409194" sldId="312"/>
            <ac:graphicFrameMk id="11" creationId="{26B864CA-85CD-4666-B9D1-870ED08B272C}"/>
          </ac:graphicFrameMkLst>
        </pc:graphicFrameChg>
        <pc:graphicFrameChg chg="modGraphic">
          <ac:chgData name="Naimish Vadodariya" userId="d2e325c0593a319e" providerId="LiveId" clId="{38FCA154-DB2C-48C9-A48C-2DE9F6619FE4}" dt="2022-03-13T06:46:30.199" v="223" actId="20577"/>
          <ac:graphicFrameMkLst>
            <pc:docMk/>
            <pc:sldMk cId="2063409194" sldId="312"/>
            <ac:graphicFrameMk id="14" creationId="{26B864CA-85CD-4666-B9D1-870ED08B272C}"/>
          </ac:graphicFrameMkLst>
        </pc:graphicFrameChg>
      </pc:sldChg>
      <pc:sldChg chg="modSp">
        <pc:chgData name="Naimish Vadodariya" userId="d2e325c0593a319e" providerId="LiveId" clId="{38FCA154-DB2C-48C9-A48C-2DE9F6619FE4}" dt="2022-03-13T06:59:11.789" v="340" actId="113"/>
        <pc:sldMkLst>
          <pc:docMk/>
          <pc:sldMk cId="3162715148" sldId="349"/>
        </pc:sldMkLst>
        <pc:spChg chg="mod">
          <ac:chgData name="Naimish Vadodariya" userId="d2e325c0593a319e" providerId="LiveId" clId="{38FCA154-DB2C-48C9-A48C-2DE9F6619FE4}" dt="2022-03-13T06:59:11.789" v="340" actId="113"/>
          <ac:spMkLst>
            <pc:docMk/>
            <pc:sldMk cId="3162715148" sldId="349"/>
            <ac:spMk id="72" creationId="{00000000-0000-0000-0000-000000000000}"/>
          </ac:spMkLst>
        </pc:spChg>
        <pc:spChg chg="mod">
          <ac:chgData name="Naimish Vadodariya" userId="d2e325c0593a319e" providerId="LiveId" clId="{38FCA154-DB2C-48C9-A48C-2DE9F6619FE4}" dt="2022-03-13T06:59:09.602" v="339" actId="113"/>
          <ac:spMkLst>
            <pc:docMk/>
            <pc:sldMk cId="3162715148" sldId="349"/>
            <ac:spMk id="75" creationId="{00000000-0000-0000-0000-000000000000}"/>
          </ac:spMkLst>
        </pc:spChg>
      </pc:sldChg>
      <pc:sldChg chg="modSp mod">
        <pc:chgData name="Naimish Vadodariya" userId="d2e325c0593a319e" providerId="LiveId" clId="{38FCA154-DB2C-48C9-A48C-2DE9F6619FE4}" dt="2022-03-13T06:48:50.680" v="226" actId="13822"/>
        <pc:sldMkLst>
          <pc:docMk/>
          <pc:sldMk cId="3012044585" sldId="351"/>
        </pc:sldMkLst>
        <pc:spChg chg="mod">
          <ac:chgData name="Naimish Vadodariya" userId="d2e325c0593a319e" providerId="LiveId" clId="{38FCA154-DB2C-48C9-A48C-2DE9F6619FE4}" dt="2022-03-13T06:48:50.680" v="226" actId="13822"/>
          <ac:spMkLst>
            <pc:docMk/>
            <pc:sldMk cId="3012044585" sldId="351"/>
            <ac:spMk id="34" creationId="{00000000-0000-0000-0000-000000000000}"/>
          </ac:spMkLst>
        </pc:spChg>
      </pc:sldChg>
      <pc:sldChg chg="modSp mod">
        <pc:chgData name="Naimish Vadodariya" userId="d2e325c0593a319e" providerId="LiveId" clId="{38FCA154-DB2C-48C9-A48C-2DE9F6619FE4}" dt="2022-03-13T06:49:36.877" v="228" actId="1076"/>
        <pc:sldMkLst>
          <pc:docMk/>
          <pc:sldMk cId="3015154126" sldId="354"/>
        </pc:sldMkLst>
        <pc:spChg chg="mod">
          <ac:chgData name="Naimish Vadodariya" userId="d2e325c0593a319e" providerId="LiveId" clId="{38FCA154-DB2C-48C9-A48C-2DE9F6619FE4}" dt="2022-03-13T06:49:36.877" v="228" actId="1076"/>
          <ac:spMkLst>
            <pc:docMk/>
            <pc:sldMk cId="3015154126" sldId="354"/>
            <ac:spMk id="29" creationId="{00000000-0000-0000-0000-000000000000}"/>
          </ac:spMkLst>
        </pc:spChg>
        <pc:cxnChg chg="mod">
          <ac:chgData name="Naimish Vadodariya" userId="d2e325c0593a319e" providerId="LiveId" clId="{38FCA154-DB2C-48C9-A48C-2DE9F6619FE4}" dt="2022-03-13T06:49:36.877" v="228" actId="1076"/>
          <ac:cxnSpMkLst>
            <pc:docMk/>
            <pc:sldMk cId="3015154126" sldId="354"/>
            <ac:cxnSpMk id="28" creationId="{00000000-0000-0000-0000-000000000000}"/>
          </ac:cxnSpMkLst>
        </pc:cxnChg>
      </pc:sldChg>
      <pc:sldChg chg="modSp mod">
        <pc:chgData name="Naimish Vadodariya" userId="d2e325c0593a319e" providerId="LiveId" clId="{38FCA154-DB2C-48C9-A48C-2DE9F6619FE4}" dt="2022-03-13T06:53:01.616" v="300" actId="20577"/>
        <pc:sldMkLst>
          <pc:docMk/>
          <pc:sldMk cId="1693413271" sldId="387"/>
        </pc:sldMkLst>
        <pc:spChg chg="mod">
          <ac:chgData name="Naimish Vadodariya" userId="d2e325c0593a319e" providerId="LiveId" clId="{38FCA154-DB2C-48C9-A48C-2DE9F6619FE4}" dt="2022-03-13T06:53:01.616" v="300" actId="20577"/>
          <ac:spMkLst>
            <pc:docMk/>
            <pc:sldMk cId="1693413271" sldId="387"/>
            <ac:spMk id="27" creationId="{E2AD8B6E-51EA-4A15-8752-4F221E5E02C5}"/>
          </ac:spMkLst>
        </pc:spChg>
        <pc:spChg chg="mod">
          <ac:chgData name="Naimish Vadodariya" userId="d2e325c0593a319e" providerId="LiveId" clId="{38FCA154-DB2C-48C9-A48C-2DE9F6619FE4}" dt="2022-03-13T06:51:57.381" v="285" actId="20577"/>
          <ac:spMkLst>
            <pc:docMk/>
            <pc:sldMk cId="1693413271" sldId="387"/>
            <ac:spMk id="28" creationId="{4F27F027-AAC9-4C88-B3AF-3C4A20BDDDA6}"/>
          </ac:spMkLst>
        </pc:spChg>
        <pc:spChg chg="mod">
          <ac:chgData name="Naimish Vadodariya" userId="d2e325c0593a319e" providerId="LiveId" clId="{38FCA154-DB2C-48C9-A48C-2DE9F6619FE4}" dt="2022-03-13T06:51:51.991" v="283" actId="20577"/>
          <ac:spMkLst>
            <pc:docMk/>
            <pc:sldMk cId="1693413271" sldId="387"/>
            <ac:spMk id="29" creationId="{59B646FF-BD32-4C5A-94AF-AC4347EADA2E}"/>
          </ac:spMkLst>
        </pc:spChg>
        <pc:spChg chg="mod">
          <ac:chgData name="Naimish Vadodariya" userId="d2e325c0593a319e" providerId="LiveId" clId="{38FCA154-DB2C-48C9-A48C-2DE9F6619FE4}" dt="2022-03-13T06:51:38.794" v="250" actId="20577"/>
          <ac:spMkLst>
            <pc:docMk/>
            <pc:sldMk cId="1693413271" sldId="387"/>
            <ac:spMk id="31" creationId="{89F5B5F8-350F-4941-B9DE-36BF8B014803}"/>
          </ac:spMkLst>
        </pc:spChg>
        <pc:picChg chg="mod">
          <ac:chgData name="Naimish Vadodariya" userId="d2e325c0593a319e" providerId="LiveId" clId="{38FCA154-DB2C-48C9-A48C-2DE9F6619FE4}" dt="2022-03-13T06:51:31.639" v="229" actId="14826"/>
          <ac:picMkLst>
            <pc:docMk/>
            <pc:sldMk cId="1693413271" sldId="387"/>
            <ac:picMk id="32" creationId="{00000000-0000-0000-0000-000000000000}"/>
          </ac:picMkLst>
        </pc:picChg>
      </pc:sldChg>
      <pc:sldMasterChg chg="modSldLayout">
        <pc:chgData name="Naimish Vadodariya" userId="d2e325c0593a319e" providerId="LiveId" clId="{38FCA154-DB2C-48C9-A48C-2DE9F6619FE4}" dt="2022-03-13T06:43:07.483" v="108" actId="1076"/>
        <pc:sldMasterMkLst>
          <pc:docMk/>
          <pc:sldMasterMk cId="791954662" sldId="2147483648"/>
        </pc:sldMasterMkLst>
        <pc:sldLayoutChg chg="modSp mod">
          <pc:chgData name="Naimish Vadodariya" userId="d2e325c0593a319e" providerId="LiveId" clId="{38FCA154-DB2C-48C9-A48C-2DE9F6619FE4}" dt="2022-03-13T06:13:50.188" v="30" actId="20577"/>
          <pc:sldLayoutMkLst>
            <pc:docMk/>
            <pc:sldMasterMk cId="791954662" sldId="2147483648"/>
            <pc:sldLayoutMk cId="3466633316" sldId="2147483670"/>
          </pc:sldLayoutMkLst>
          <pc:spChg chg="mod">
            <ac:chgData name="Naimish Vadodariya" userId="d2e325c0593a319e" providerId="LiveId" clId="{38FCA154-DB2C-48C9-A48C-2DE9F6619FE4}" dt="2022-03-13T06:13:39.380" v="22" actId="20577"/>
            <ac:spMkLst>
              <pc:docMk/>
              <pc:sldMasterMk cId="791954662" sldId="2147483648"/>
              <pc:sldLayoutMk cId="3466633316" sldId="2147483670"/>
              <ac:spMk id="19" creationId="{CA463A36-7025-4394-9467-8A3EC3425B00}"/>
            </ac:spMkLst>
          </pc:spChg>
          <pc:spChg chg="mod">
            <ac:chgData name="Naimish Vadodariya" userId="d2e325c0593a319e" providerId="LiveId" clId="{38FCA154-DB2C-48C9-A48C-2DE9F6619FE4}" dt="2022-03-13T06:13:50.188" v="30" actId="20577"/>
            <ac:spMkLst>
              <pc:docMk/>
              <pc:sldMasterMk cId="791954662" sldId="2147483648"/>
              <pc:sldLayoutMk cId="3466633316" sldId="2147483670"/>
              <ac:spMk id="22" creationId="{BF2BE79E-EA17-4AB9-8CB5-714A52A6B2F5}"/>
            </ac:spMkLst>
          </pc:spChg>
        </pc:sldLayoutChg>
        <pc:sldLayoutChg chg="addSp delSp modSp mod">
          <pc:chgData name="Naimish Vadodariya" userId="d2e325c0593a319e" providerId="LiveId" clId="{38FCA154-DB2C-48C9-A48C-2DE9F6619FE4}" dt="2022-03-13T06:43:07.483" v="108" actId="1076"/>
          <pc:sldLayoutMkLst>
            <pc:docMk/>
            <pc:sldMasterMk cId="791954662" sldId="2147483648"/>
            <pc:sldLayoutMk cId="2731625911" sldId="2147483679"/>
          </pc:sldLayoutMkLst>
          <pc:picChg chg="add del mod">
            <ac:chgData name="Naimish Vadodariya" userId="d2e325c0593a319e" providerId="LiveId" clId="{38FCA154-DB2C-48C9-A48C-2DE9F6619FE4}" dt="2022-03-13T06:18:32.206" v="94" actId="478"/>
            <ac:picMkLst>
              <pc:docMk/>
              <pc:sldMasterMk cId="791954662" sldId="2147483648"/>
              <pc:sldLayoutMk cId="2731625911" sldId="2147483679"/>
              <ac:picMk id="5" creationId="{0BEBEE7A-6EEC-45EA-AB69-A6EA0AF1388B}"/>
            </ac:picMkLst>
          </pc:picChg>
          <pc:picChg chg="add del mod">
            <ac:chgData name="Naimish Vadodariya" userId="d2e325c0593a319e" providerId="LiveId" clId="{38FCA154-DB2C-48C9-A48C-2DE9F6619FE4}" dt="2022-03-13T06:42:23.559" v="101" actId="478"/>
            <ac:picMkLst>
              <pc:docMk/>
              <pc:sldMasterMk cId="791954662" sldId="2147483648"/>
              <pc:sldLayoutMk cId="2731625911" sldId="2147483679"/>
              <ac:picMk id="7" creationId="{2F784E9F-E9D5-4333-B920-F500B0BF70E9}"/>
            </ac:picMkLst>
          </pc:picChg>
          <pc:picChg chg="add mod">
            <ac:chgData name="Naimish Vadodariya" userId="d2e325c0593a319e" providerId="LiveId" clId="{38FCA154-DB2C-48C9-A48C-2DE9F6619FE4}" dt="2022-03-13T06:43:07.483" v="108" actId="1076"/>
            <ac:picMkLst>
              <pc:docMk/>
              <pc:sldMasterMk cId="791954662" sldId="2147483648"/>
              <pc:sldLayoutMk cId="2731625911" sldId="2147483679"/>
              <ac:picMk id="9" creationId="{8D3C996A-1855-4D8B-B2D4-3DBBAB9D6B51}"/>
            </ac:picMkLst>
          </pc:picChg>
          <pc:picChg chg="del">
            <ac:chgData name="Naimish Vadodariya" userId="d2e325c0593a319e" providerId="LiveId" clId="{38FCA154-DB2C-48C9-A48C-2DE9F6619FE4}" dt="2022-03-13T06:14:54.497" v="91" actId="478"/>
            <ac:picMkLst>
              <pc:docMk/>
              <pc:sldMasterMk cId="791954662" sldId="2147483648"/>
              <pc:sldLayoutMk cId="2731625911" sldId="2147483679"/>
              <ac:picMk id="35" creationId="{00000000-0000-0000-0000-000000000000}"/>
            </ac:picMkLst>
          </pc:picChg>
        </pc:sldLayoutChg>
        <pc:sldLayoutChg chg="modSp mod">
          <pc:chgData name="Naimish Vadodariya" userId="d2e325c0593a319e" providerId="LiveId" clId="{38FCA154-DB2C-48C9-A48C-2DE9F6619FE4}" dt="2022-03-13T06:14:12.797" v="59" actId="20577"/>
          <pc:sldLayoutMkLst>
            <pc:docMk/>
            <pc:sldMasterMk cId="791954662" sldId="2147483648"/>
            <pc:sldLayoutMk cId="4202761244" sldId="2147483687"/>
          </pc:sldLayoutMkLst>
          <pc:spChg chg="mod">
            <ac:chgData name="Naimish Vadodariya" userId="d2e325c0593a319e" providerId="LiveId" clId="{38FCA154-DB2C-48C9-A48C-2DE9F6619FE4}" dt="2022-03-13T06:14:03.033" v="51" actId="20577"/>
            <ac:spMkLst>
              <pc:docMk/>
              <pc:sldMasterMk cId="791954662" sldId="2147483648"/>
              <pc:sldLayoutMk cId="4202761244" sldId="2147483687"/>
              <ac:spMk id="19" creationId="{CA463A36-7025-4394-9467-8A3EC3425B00}"/>
            </ac:spMkLst>
          </pc:spChg>
          <pc:spChg chg="mod">
            <ac:chgData name="Naimish Vadodariya" userId="d2e325c0593a319e" providerId="LiveId" clId="{38FCA154-DB2C-48C9-A48C-2DE9F6619FE4}" dt="2022-03-13T06:14:12.797" v="59" actId="20577"/>
            <ac:spMkLst>
              <pc:docMk/>
              <pc:sldMasterMk cId="791954662" sldId="2147483648"/>
              <pc:sldLayoutMk cId="4202761244" sldId="2147483687"/>
              <ac:spMk id="22" creationId="{BF2BE79E-EA17-4AB9-8CB5-714A52A6B2F5}"/>
            </ac:spMkLst>
          </pc:spChg>
        </pc:sldLayoutChg>
        <pc:sldLayoutChg chg="modSp mod">
          <pc:chgData name="Naimish Vadodariya" userId="d2e325c0593a319e" providerId="LiveId" clId="{38FCA154-DB2C-48C9-A48C-2DE9F6619FE4}" dt="2022-03-13T06:14:33.876" v="90" actId="20577"/>
          <pc:sldLayoutMkLst>
            <pc:docMk/>
            <pc:sldMasterMk cId="791954662" sldId="2147483648"/>
            <pc:sldLayoutMk cId="346862853" sldId="2147483688"/>
          </pc:sldLayoutMkLst>
          <pc:spChg chg="mod">
            <ac:chgData name="Naimish Vadodariya" userId="d2e325c0593a319e" providerId="LiveId" clId="{38FCA154-DB2C-48C9-A48C-2DE9F6619FE4}" dt="2022-03-13T06:14:24.487" v="82" actId="20577"/>
            <ac:spMkLst>
              <pc:docMk/>
              <pc:sldMasterMk cId="791954662" sldId="2147483648"/>
              <pc:sldLayoutMk cId="346862853" sldId="2147483688"/>
              <ac:spMk id="19" creationId="{CA463A36-7025-4394-9467-8A3EC3425B00}"/>
            </ac:spMkLst>
          </pc:spChg>
          <pc:spChg chg="mod">
            <ac:chgData name="Naimish Vadodariya" userId="d2e325c0593a319e" providerId="LiveId" clId="{38FCA154-DB2C-48C9-A48C-2DE9F6619FE4}" dt="2022-03-13T06:14:33.876" v="90" actId="20577"/>
            <ac:spMkLst>
              <pc:docMk/>
              <pc:sldMasterMk cId="791954662" sldId="2147483648"/>
              <pc:sldLayoutMk cId="346862853" sldId="2147483688"/>
              <ac:spMk id="22" creationId="{BF2BE79E-EA17-4AB9-8CB5-714A52A6B2F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3/14/2022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4.png"/><Relationship Id="rId5" Type="http://schemas.openxmlformats.org/officeDocument/2006/relationships/image" Target="../media/image4.png"/><Relationship Id="rId10"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9.jpe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5.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Naimish R. Vadodariya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#2101CS201 (DBMS-I)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Entity-Relationship Model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31487" y="967233"/>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Naimish R. Vadodariya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#2101CS201 (DBMS-I)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Entity-Relationship Model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8FD38B6F-D549-4D28-B5DA-3AF636652084}"/>
              </a:ext>
            </a:extLst>
          </p:cNvPr>
          <p:cNvGrpSpPr/>
          <p:nvPr userDrawn="1"/>
        </p:nvGrpSpPr>
        <p:grpSpPr>
          <a:xfrm>
            <a:off x="233317" y="5883794"/>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Naimish R. Vadodariya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#2101CS201 (DBMS-I)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Entity-Relationship Model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0"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grpSp>
        <p:nvGrpSpPr>
          <p:cNvPr id="15" name="Group 14">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6" name="Picture 15">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7" name="Rectangle 16">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#21CS05101 (DBMS)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Entity-Relationship Model</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119091"/>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#21CS05101 (DBMS)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Entity-Relationship Model</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#21CS05101 (DBMS)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3 – Entity-Relationship Model</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27302"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34" name="Picture 4" descr="https://cdn5.vectorstock.com/i/1000x1000/21/59/dbms-database-management-system-computer-data-vector-8212159.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6294" t="9689" r="5315" b="18089"/>
          <a:stretch/>
        </p:blipFill>
        <p:spPr bwMode="auto">
          <a:xfrm>
            <a:off x="8407803" y="2089594"/>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9" name="Picture 8">
            <a:extLst>
              <a:ext uri="{FF2B5EF4-FFF2-40B4-BE49-F238E27FC236}">
                <a16:creationId xmlns:a16="http://schemas.microsoft.com/office/drawing/2014/main" id="{8D3C996A-1855-4D8B-B2D4-3DBBAB9D6B51}"/>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8966678" y="1802621"/>
            <a:ext cx="3066977" cy="2678812"/>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a:t> University</a:t>
            </a:r>
            <a:r>
              <a:rPr lang="en-US" sz="1600" dirty="0"/>
              <a:t>,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31" name="Picture 30"/>
          <p:cNvPicPr>
            <a:picLocks noChangeAspect="1"/>
          </p:cNvPicPr>
          <p:nvPr userDrawn="1"/>
        </p:nvPicPr>
        <p:blipFill rotWithShape="1">
          <a:blip r:embed="rId9" cstate="print">
            <a:extLst>
              <a:ext uri="{28A0092B-C50C-407E-A947-70E740481C1C}">
                <a14:useLocalDpi xmlns:a14="http://schemas.microsoft.com/office/drawing/2010/main" val="0"/>
              </a:ext>
            </a:extLst>
          </a:blip>
          <a:srcRect l="4981" t="10725" r="4439" b="11492"/>
          <a:stretch/>
        </p:blipFill>
        <p:spPr>
          <a:xfrm>
            <a:off x="8808333" y="87380"/>
            <a:ext cx="2592372" cy="1005840"/>
          </a:xfrm>
          <a:prstGeom prst="rect">
            <a:avLst/>
          </a:prstGeom>
        </p:spPr>
      </p:pic>
    </p:spTree>
    <p:extLst>
      <p:ext uri="{BB962C8B-B14F-4D97-AF65-F5344CB8AC3E}">
        <p14:creationId xmlns:p14="http://schemas.microsoft.com/office/powerpoint/2010/main" val="2785861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3/14/2022</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692"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3.xml"/><Relationship Id="rId4" Type="http://schemas.openxmlformats.org/officeDocument/2006/relationships/image" Target="../media/image25.jpeg"/></Relationships>
</file>

<file path=ppt/slides/_rels/slide4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3.xml"/><Relationship Id="rId5" Type="http://schemas.openxmlformats.org/officeDocument/2006/relationships/image" Target="../media/image25.jpeg"/><Relationship Id="rId4" Type="http://schemas.openxmlformats.org/officeDocument/2006/relationships/image" Target="../media/image26.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3.xml"/><Relationship Id="rId4" Type="http://schemas.openxmlformats.org/officeDocument/2006/relationships/image" Target="../media/image25.jpeg"/></Relationships>
</file>

<file path=ppt/slides/_rels/slide4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3.xml"/><Relationship Id="rId6" Type="http://schemas.openxmlformats.org/officeDocument/2006/relationships/image" Target="../media/image28.jpeg"/><Relationship Id="rId5" Type="http://schemas.openxmlformats.org/officeDocument/2006/relationships/image" Target="../media/image25.jpeg"/><Relationship Id="rId4" Type="http://schemas.openxmlformats.org/officeDocument/2006/relationships/image" Target="../media/image27.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3F305CB-DBE2-45D5-8D0B-92106F27C4BB}"/>
              </a:ext>
            </a:extLst>
          </p:cNvPr>
          <p:cNvSpPr>
            <a:spLocks noGrp="1"/>
          </p:cNvSpPr>
          <p:nvPr>
            <p:ph type="ctrTitle"/>
          </p:nvPr>
        </p:nvSpPr>
        <p:spPr>
          <a:xfrm>
            <a:off x="559490" y="1122364"/>
            <a:ext cx="7035300" cy="2992436"/>
          </a:xfrm>
        </p:spPr>
        <p:txBody>
          <a:bodyPr/>
          <a:lstStyle/>
          <a:p>
            <a:r>
              <a:rPr lang="en-US" sz="4800" b="0" dirty="0">
                <a:latin typeface="Roboto Condensed Light" panose="02000000000000000000" pitchFamily="2" charset="0"/>
                <a:ea typeface="Roboto Condensed Light" panose="02000000000000000000" pitchFamily="2" charset="0"/>
              </a:rPr>
              <a:t>Unit-3</a:t>
            </a:r>
            <a:r>
              <a:rPr lang="en-US" dirty="0"/>
              <a:t> </a:t>
            </a:r>
            <a:br>
              <a:rPr lang="en-US" dirty="0"/>
            </a:br>
            <a:r>
              <a:rPr lang="en-US" dirty="0"/>
              <a:t>Entity-Relationship Model </a:t>
            </a:r>
            <a:r>
              <a:rPr lang="en-US" sz="3600" b="0" dirty="0"/>
              <a:t>(E-R Model)</a:t>
            </a:r>
            <a:endParaRPr lang="en-US" b="0" dirty="0"/>
          </a:p>
        </p:txBody>
      </p:sp>
      <p:sp>
        <p:nvSpPr>
          <p:cNvPr id="10"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p:txBody>
          <a:bodyPr/>
          <a:lstStyle/>
          <a:p>
            <a:r>
              <a:rPr lang="en-US" dirty="0"/>
              <a:t>naimish.vadodariya@darshan.ac.in</a:t>
            </a:r>
          </a:p>
        </p:txBody>
      </p:sp>
      <p:sp>
        <p:nvSpPr>
          <p:cNvPr id="11"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p:txBody>
          <a:bodyPr/>
          <a:lstStyle/>
          <a:p>
            <a:r>
              <a:rPr lang="en-US" dirty="0"/>
              <a:t>8866215253</a:t>
            </a:r>
          </a:p>
        </p:txBody>
      </p:sp>
      <p:sp>
        <p:nvSpPr>
          <p:cNvPr id="12"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780000" cy="290081"/>
          </a:xfrm>
        </p:spPr>
        <p:txBody>
          <a:bodyPr/>
          <a:lstStyle/>
          <a:p>
            <a:r>
              <a:rPr lang="en-US" dirty="0"/>
              <a:t>Computer Science &amp; Engineering Department</a:t>
            </a:r>
          </a:p>
        </p:txBody>
      </p:sp>
      <p:sp>
        <p:nvSpPr>
          <p:cNvPr id="13"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p:txBody>
          <a:bodyPr/>
          <a:lstStyle/>
          <a:p>
            <a:r>
              <a:rPr lang="en-US" dirty="0"/>
              <a:t>Prof. Naimish R. Vadodariya</a:t>
            </a:r>
          </a:p>
        </p:txBody>
      </p:sp>
      <p:sp>
        <p:nvSpPr>
          <p:cNvPr id="14"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p:txBody>
          <a:bodyPr/>
          <a:lstStyle/>
          <a:p>
            <a:r>
              <a:rPr lang="en-US" b="1" dirty="0"/>
              <a:t>Database Management System - I </a:t>
            </a:r>
            <a:r>
              <a:rPr lang="en-US" dirty="0">
                <a:latin typeface="Roboto Condensed Light" panose="02000000000000000000" pitchFamily="2" charset="0"/>
                <a:ea typeface="Roboto Condensed Light" panose="02000000000000000000" pitchFamily="2" charset="0"/>
              </a:rPr>
              <a:t>(DBMS-I)</a:t>
            </a:r>
          </a:p>
          <a:p>
            <a:r>
              <a:rPr lang="en-US" dirty="0"/>
              <a:t>#2101CS201</a:t>
            </a:r>
          </a:p>
        </p:txBody>
      </p:sp>
      <p:pic>
        <p:nvPicPr>
          <p:cNvPr id="2" name="Picture Placeholder 1"/>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p:blipFill>
        <p:spPr>
          <a:xfrm>
            <a:off x="353569" y="5211251"/>
            <a:ext cx="1353599" cy="1353599"/>
          </a:xfrm>
        </p:spPr>
      </p:pic>
    </p:spTree>
    <p:extLst>
      <p:ext uri="{BB962C8B-B14F-4D97-AF65-F5344CB8AC3E}">
        <p14:creationId xmlns:p14="http://schemas.microsoft.com/office/powerpoint/2010/main" val="1600834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731706"/>
            <a:ext cx="6824426" cy="4154984"/>
          </a:xfrm>
          <a:prstGeom prst="rect">
            <a:avLst/>
          </a:prstGeom>
          <a:noFill/>
        </p:spPr>
        <p:txBody>
          <a:bodyPr wrap="square" rtlCol="0">
            <a:spAutoFit/>
          </a:bodyPr>
          <a:lstStyle/>
          <a:p>
            <a:r>
              <a:rPr lang="en-US" sz="2400" b="1" dirty="0"/>
              <a:t>Outline</a:t>
            </a:r>
          </a:p>
          <a:p>
            <a:pPr marL="742950" lvl="1" indent="-285750">
              <a:buFont typeface="Arial" panose="020B0604020202020204" pitchFamily="34" charset="0"/>
              <a:buChar char="•"/>
            </a:pPr>
            <a:r>
              <a:rPr lang="en-US" sz="2400" dirty="0">
                <a:solidFill>
                  <a:schemeClr val="bg1">
                    <a:lumMod val="50000"/>
                  </a:schemeClr>
                </a:solidFill>
              </a:rPr>
              <a:t>Basic concept of E-R diagram</a:t>
            </a:r>
          </a:p>
          <a:p>
            <a:pPr marL="742950" lvl="1" indent="-285750">
              <a:buFont typeface="Arial" panose="020B0604020202020204" pitchFamily="34" charset="0"/>
              <a:buChar char="•"/>
            </a:pPr>
            <a:r>
              <a:rPr lang="en-US" sz="2400" dirty="0">
                <a:solidFill>
                  <a:schemeClr val="bg1">
                    <a:lumMod val="50000"/>
                  </a:schemeClr>
                </a:solidFill>
              </a:rPr>
              <a:t>Types of Attributes</a:t>
            </a:r>
          </a:p>
          <a:p>
            <a:pPr marL="742950" lvl="1" indent="-285750">
              <a:buFont typeface="Arial" panose="020B0604020202020204" pitchFamily="34" charset="0"/>
              <a:buChar char="•"/>
            </a:pPr>
            <a:r>
              <a:rPr lang="en-US" sz="2400" dirty="0">
                <a:solidFill>
                  <a:schemeClr val="bg1">
                    <a:lumMod val="50000"/>
                  </a:schemeClr>
                </a:solidFill>
              </a:rPr>
              <a:t>Mapping Cardinality</a:t>
            </a:r>
          </a:p>
          <a:p>
            <a:pPr marL="742950" lvl="1" indent="-285750">
              <a:buFont typeface="Arial" panose="020B0604020202020204" pitchFamily="34" charset="0"/>
              <a:buChar char="•"/>
            </a:pPr>
            <a:r>
              <a:rPr lang="en-US" sz="2400" dirty="0">
                <a:solidFill>
                  <a:schemeClr val="bg1">
                    <a:lumMod val="50000"/>
                  </a:schemeClr>
                </a:solidFill>
              </a:rPr>
              <a:t>Weak Entity Sets</a:t>
            </a:r>
          </a:p>
          <a:p>
            <a:pPr marL="742950" lvl="1" indent="-285750">
              <a:buFont typeface="Arial" panose="020B0604020202020204" pitchFamily="34" charset="0"/>
              <a:buChar char="•"/>
            </a:pPr>
            <a:r>
              <a:rPr lang="en-US" sz="2400" dirty="0">
                <a:solidFill>
                  <a:schemeClr val="bg1">
                    <a:lumMod val="50000"/>
                  </a:schemeClr>
                </a:solidFill>
              </a:rPr>
              <a:t>Extended E-R features </a:t>
            </a:r>
          </a:p>
          <a:p>
            <a:pPr marL="742950" lvl="1" indent="-285750">
              <a:buFont typeface="Arial" panose="020B0604020202020204" pitchFamily="34" charset="0"/>
              <a:buChar char="•"/>
            </a:pPr>
            <a:r>
              <a:rPr lang="en-US" sz="2400" dirty="0">
                <a:solidFill>
                  <a:schemeClr val="bg1">
                    <a:lumMod val="50000"/>
                  </a:schemeClr>
                </a:solidFill>
              </a:rPr>
              <a:t>Generalization and Specialization</a:t>
            </a:r>
          </a:p>
          <a:p>
            <a:pPr marL="742950" lvl="1" indent="-285750">
              <a:buFont typeface="Arial" panose="020B0604020202020204" pitchFamily="34" charset="0"/>
              <a:buChar char="•"/>
            </a:pPr>
            <a:r>
              <a:rPr lang="en-US" sz="2400" dirty="0">
                <a:solidFill>
                  <a:schemeClr val="bg1">
                    <a:lumMod val="50000"/>
                  </a:schemeClr>
                </a:solidFill>
              </a:rPr>
              <a:t>Constraints on Specialization and Generalization</a:t>
            </a:r>
          </a:p>
          <a:p>
            <a:pPr marL="742950" lvl="1" indent="-285750">
              <a:buFont typeface="Arial" panose="020B0604020202020204" pitchFamily="34" charset="0"/>
              <a:buChar char="•"/>
            </a:pPr>
            <a:r>
              <a:rPr lang="en-US" sz="2400" dirty="0">
                <a:solidFill>
                  <a:schemeClr val="bg1">
                    <a:lumMod val="50000"/>
                  </a:schemeClr>
                </a:solidFill>
              </a:rPr>
              <a:t>Aggregation</a:t>
            </a:r>
          </a:p>
          <a:p>
            <a:pPr marL="742950" lvl="1" indent="-285750">
              <a:buFont typeface="Arial" panose="020B0604020202020204" pitchFamily="34" charset="0"/>
              <a:buChar char="•"/>
            </a:pPr>
            <a:r>
              <a:rPr lang="en-US" sz="2400" dirty="0">
                <a:solidFill>
                  <a:schemeClr val="bg1">
                    <a:lumMod val="50000"/>
                  </a:schemeClr>
                </a:solidFill>
              </a:rPr>
              <a:t>E-R diagram of Hospital Management System</a:t>
            </a:r>
          </a:p>
          <a:p>
            <a:pPr marL="742950" lvl="1" indent="-285750">
              <a:buFont typeface="Arial" panose="020B0604020202020204" pitchFamily="34" charset="0"/>
              <a:buChar char="•"/>
            </a:pPr>
            <a:r>
              <a:rPr lang="en-US" sz="2400" dirty="0">
                <a:solidFill>
                  <a:schemeClr val="bg1">
                    <a:lumMod val="50000"/>
                  </a:schemeClr>
                </a:solidFill>
              </a:rPr>
              <a:t>Reduction to E-R Database Schema</a:t>
            </a: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par>
                          <p:cTn id="27" fill="hold">
                            <p:stCondLst>
                              <p:cond delay="1500"/>
                            </p:stCondLst>
                            <p:childTnLst>
                              <p:par>
                                <p:cTn id="28" presetID="22" presetClass="entr" presetSubtype="1"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up)">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animEffect transition="in" filter="fade">
                                      <p:cBhvr>
                                        <p:cTn id="35" dur="500"/>
                                        <p:tgtEl>
                                          <p:spTgt spid="9">
                                            <p:txEl>
                                              <p:pRg st="1" end="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9">
                                            <p:txEl>
                                              <p:pRg st="2" end="2"/>
                                            </p:txEl>
                                          </p:spTgt>
                                        </p:tgtEl>
                                        <p:attrNameLst>
                                          <p:attrName>style.visibility</p:attrName>
                                        </p:attrNameLst>
                                      </p:cBhvr>
                                      <p:to>
                                        <p:strVal val="visible"/>
                                      </p:to>
                                    </p:set>
                                    <p:animEffect transition="in" filter="fade">
                                      <p:cBhvr>
                                        <p:cTn id="38" dur="500"/>
                                        <p:tgtEl>
                                          <p:spTgt spid="9">
                                            <p:txEl>
                                              <p:pRg st="2" end="2"/>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9">
                                            <p:txEl>
                                              <p:pRg st="3" end="3"/>
                                            </p:txEl>
                                          </p:spTgt>
                                        </p:tgtEl>
                                        <p:attrNameLst>
                                          <p:attrName>style.visibility</p:attrName>
                                        </p:attrNameLst>
                                      </p:cBhvr>
                                      <p:to>
                                        <p:strVal val="visible"/>
                                      </p:to>
                                    </p:set>
                                    <p:animEffect transition="in" filter="fade">
                                      <p:cBhvr>
                                        <p:cTn id="41" dur="500"/>
                                        <p:tgtEl>
                                          <p:spTgt spid="9">
                                            <p:txEl>
                                              <p:pRg st="3" end="3"/>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9">
                                            <p:txEl>
                                              <p:pRg st="4" end="4"/>
                                            </p:txEl>
                                          </p:spTgt>
                                        </p:tgtEl>
                                        <p:attrNameLst>
                                          <p:attrName>style.visibility</p:attrName>
                                        </p:attrNameLst>
                                      </p:cBhvr>
                                      <p:to>
                                        <p:strVal val="visible"/>
                                      </p:to>
                                    </p:set>
                                    <p:animEffect transition="in" filter="fade">
                                      <p:cBhvr>
                                        <p:cTn id="44" dur="500"/>
                                        <p:tgtEl>
                                          <p:spTgt spid="9">
                                            <p:txEl>
                                              <p:pRg st="4" end="4"/>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9">
                                            <p:txEl>
                                              <p:pRg st="5" end="5"/>
                                            </p:txEl>
                                          </p:spTgt>
                                        </p:tgtEl>
                                        <p:attrNameLst>
                                          <p:attrName>style.visibility</p:attrName>
                                        </p:attrNameLst>
                                      </p:cBhvr>
                                      <p:to>
                                        <p:strVal val="visible"/>
                                      </p:to>
                                    </p:set>
                                    <p:animEffect transition="in" filter="fade">
                                      <p:cBhvr>
                                        <p:cTn id="47" dur="500"/>
                                        <p:tgtEl>
                                          <p:spTgt spid="9">
                                            <p:txEl>
                                              <p:pRg st="5" end="5"/>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9">
                                            <p:txEl>
                                              <p:pRg st="6" end="6"/>
                                            </p:txEl>
                                          </p:spTgt>
                                        </p:tgtEl>
                                        <p:attrNameLst>
                                          <p:attrName>style.visibility</p:attrName>
                                        </p:attrNameLst>
                                      </p:cBhvr>
                                      <p:to>
                                        <p:strVal val="visible"/>
                                      </p:to>
                                    </p:set>
                                    <p:animEffect transition="in" filter="fade">
                                      <p:cBhvr>
                                        <p:cTn id="50" dur="500"/>
                                        <p:tgtEl>
                                          <p:spTgt spid="9">
                                            <p:txEl>
                                              <p:pRg st="6" end="6"/>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9">
                                            <p:txEl>
                                              <p:pRg st="7" end="7"/>
                                            </p:txEl>
                                          </p:spTgt>
                                        </p:tgtEl>
                                        <p:attrNameLst>
                                          <p:attrName>style.visibility</p:attrName>
                                        </p:attrNameLst>
                                      </p:cBhvr>
                                      <p:to>
                                        <p:strVal val="visible"/>
                                      </p:to>
                                    </p:set>
                                    <p:animEffect transition="in" filter="fade">
                                      <p:cBhvr>
                                        <p:cTn id="53" dur="500"/>
                                        <p:tgtEl>
                                          <p:spTgt spid="9">
                                            <p:txEl>
                                              <p:pRg st="7" end="7"/>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9">
                                            <p:txEl>
                                              <p:pRg st="8" end="8"/>
                                            </p:txEl>
                                          </p:spTgt>
                                        </p:tgtEl>
                                        <p:attrNameLst>
                                          <p:attrName>style.visibility</p:attrName>
                                        </p:attrNameLst>
                                      </p:cBhvr>
                                      <p:to>
                                        <p:strVal val="visible"/>
                                      </p:to>
                                    </p:set>
                                    <p:animEffect transition="in" filter="fade">
                                      <p:cBhvr>
                                        <p:cTn id="56" dur="500"/>
                                        <p:tgtEl>
                                          <p:spTgt spid="9">
                                            <p:txEl>
                                              <p:pRg st="8" end="8"/>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9">
                                            <p:txEl>
                                              <p:pRg st="9" end="9"/>
                                            </p:txEl>
                                          </p:spTgt>
                                        </p:tgtEl>
                                        <p:attrNameLst>
                                          <p:attrName>style.visibility</p:attrName>
                                        </p:attrNameLst>
                                      </p:cBhvr>
                                      <p:to>
                                        <p:strVal val="visible"/>
                                      </p:to>
                                    </p:set>
                                    <p:animEffect transition="in" filter="fade">
                                      <p:cBhvr>
                                        <p:cTn id="59" dur="500"/>
                                        <p:tgtEl>
                                          <p:spTgt spid="9">
                                            <p:txEl>
                                              <p:pRg st="9" end="9"/>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9">
                                            <p:txEl>
                                              <p:pRg st="10" end="10"/>
                                            </p:txEl>
                                          </p:spTgt>
                                        </p:tgtEl>
                                        <p:attrNameLst>
                                          <p:attrName>style.visibility</p:attrName>
                                        </p:attrNameLst>
                                      </p:cBhvr>
                                      <p:to>
                                        <p:strVal val="visible"/>
                                      </p:to>
                                    </p:set>
                                    <p:animEffect transition="in" filter="fade">
                                      <p:cBhvr>
                                        <p:cTn id="62" dur="500"/>
                                        <p:tgtEl>
                                          <p:spTgt spid="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E9A5C5-B69A-4CAF-A90F-98E9737F06B0}"/>
              </a:ext>
            </a:extLst>
          </p:cNvPr>
          <p:cNvPicPr>
            <a:picLocks noChangeAspect="1"/>
          </p:cNvPicPr>
          <p:nvPr/>
        </p:nvPicPr>
        <p:blipFill>
          <a:blip r:embed="rId2">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1611626" y="513517"/>
            <a:ext cx="8968748" cy="6039683"/>
          </a:xfrm>
          <a:prstGeom prst="rect">
            <a:avLst/>
          </a:prstGeom>
        </p:spPr>
      </p:pic>
      <p:sp>
        <p:nvSpPr>
          <p:cNvPr id="6" name="Rectangle 5">
            <a:extLst>
              <a:ext uri="{FF2B5EF4-FFF2-40B4-BE49-F238E27FC236}">
                <a16:creationId xmlns:a16="http://schemas.microsoft.com/office/drawing/2014/main" id="{76AA5886-CCF2-4BB1-9158-C13009B47385}"/>
              </a:ext>
            </a:extLst>
          </p:cNvPr>
          <p:cNvSpPr/>
          <p:nvPr/>
        </p:nvSpPr>
        <p:spPr>
          <a:xfrm>
            <a:off x="4536141" y="6113929"/>
            <a:ext cx="3827930" cy="4392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74772948-6992-425A-941D-789355101544}"/>
              </a:ext>
            </a:extLst>
          </p:cNvPr>
          <p:cNvSpPr txBox="1"/>
          <p:nvPr/>
        </p:nvSpPr>
        <p:spPr>
          <a:xfrm>
            <a:off x="4352364" y="120133"/>
            <a:ext cx="3487271" cy="369332"/>
          </a:xfrm>
          <a:prstGeom prst="rect">
            <a:avLst/>
          </a:prstGeom>
          <a:noFill/>
          <a:ln>
            <a:solidFill>
              <a:schemeClr val="tx1"/>
            </a:solidFill>
          </a:ln>
        </p:spPr>
        <p:txBody>
          <a:bodyPr wrap="square" rtlCol="0">
            <a:spAutoFit/>
          </a:bodyPr>
          <a:lstStyle/>
          <a:p>
            <a:pPr algn="ctr"/>
            <a:r>
              <a:rPr lang="en-US" b="1" dirty="0"/>
              <a:t>E-R Diagram: </a:t>
            </a:r>
            <a:r>
              <a:rPr lang="en-US" b="1" dirty="0">
                <a:solidFill>
                  <a:schemeClr val="accent6"/>
                </a:solidFill>
              </a:rPr>
              <a:t>Hospital Management</a:t>
            </a:r>
            <a:endParaRPr lang="en-GB" b="1" dirty="0">
              <a:solidFill>
                <a:schemeClr val="accent6"/>
              </a:solidFill>
            </a:endParaRPr>
          </a:p>
        </p:txBody>
      </p:sp>
    </p:spTree>
    <p:extLst>
      <p:ext uri="{BB962C8B-B14F-4D97-AF65-F5344CB8AC3E}">
        <p14:creationId xmlns:p14="http://schemas.microsoft.com/office/powerpoint/2010/main" val="361783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Basic concept of E-R diagram </a:t>
            </a:r>
          </a:p>
        </p:txBody>
      </p:sp>
      <p:sp>
        <p:nvSpPr>
          <p:cNvPr id="5" name="Text Placeholder 4"/>
          <p:cNvSpPr>
            <a:spLocks noGrp="1"/>
          </p:cNvSpPr>
          <p:nvPr>
            <p:ph type="body" idx="1"/>
          </p:nvPr>
        </p:nvSpPr>
        <p:spPr/>
        <p:txBody>
          <a:bodyPr/>
          <a:lstStyle/>
          <a:p>
            <a:r>
              <a:rPr lang="en-US" dirty="0"/>
              <a:t>Section - 1</a:t>
            </a:r>
          </a:p>
          <a:p>
            <a:endParaRPr lang="en-US" dirty="0"/>
          </a:p>
        </p:txBody>
      </p:sp>
    </p:spTree>
    <p:extLst>
      <p:ext uri="{BB962C8B-B14F-4D97-AF65-F5344CB8AC3E}">
        <p14:creationId xmlns:p14="http://schemas.microsoft.com/office/powerpoint/2010/main" val="971437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Basic concepts</a:t>
            </a:r>
          </a:p>
        </p:txBody>
      </p:sp>
      <p:sp>
        <p:nvSpPr>
          <p:cNvPr id="5" name="Content Placeholder 4"/>
          <p:cNvSpPr>
            <a:spLocks noGrp="1"/>
          </p:cNvSpPr>
          <p:nvPr>
            <p:ph idx="1"/>
          </p:nvPr>
        </p:nvSpPr>
        <p:spPr/>
        <p:txBody>
          <a:bodyPr/>
          <a:lstStyle/>
          <a:p>
            <a:r>
              <a:rPr lang="en-US" dirty="0"/>
              <a:t>What is Database Design? </a:t>
            </a:r>
          </a:p>
          <a:p>
            <a:pPr lvl="1"/>
            <a:r>
              <a:rPr lang="en-US" dirty="0"/>
              <a:t>Database Design is a collection of processes that facilitate the </a:t>
            </a:r>
            <a:r>
              <a:rPr lang="en-US" b="1" dirty="0">
                <a:solidFill>
                  <a:schemeClr val="accent6"/>
                </a:solidFill>
              </a:rPr>
              <a:t>designing</a:t>
            </a:r>
            <a:r>
              <a:rPr lang="en-US" dirty="0"/>
              <a:t>, </a:t>
            </a:r>
            <a:r>
              <a:rPr lang="en-US" b="1" dirty="0">
                <a:solidFill>
                  <a:schemeClr val="accent6"/>
                </a:solidFill>
              </a:rPr>
              <a:t>development</a:t>
            </a:r>
            <a:r>
              <a:rPr lang="en-US" dirty="0"/>
              <a:t>, </a:t>
            </a:r>
            <a:r>
              <a:rPr lang="en-US" b="1" dirty="0">
                <a:solidFill>
                  <a:schemeClr val="accent6"/>
                </a:solidFill>
              </a:rPr>
              <a:t>implementation</a:t>
            </a:r>
            <a:r>
              <a:rPr lang="en-US" dirty="0"/>
              <a:t> and </a:t>
            </a:r>
            <a:r>
              <a:rPr lang="en-US" b="1" dirty="0">
                <a:solidFill>
                  <a:schemeClr val="accent6"/>
                </a:solidFill>
              </a:rPr>
              <a:t>maintenance</a:t>
            </a:r>
            <a:r>
              <a:rPr lang="en-US" dirty="0"/>
              <a:t> of any system/application.</a:t>
            </a:r>
          </a:p>
          <a:p>
            <a:r>
              <a:rPr lang="en-US" dirty="0"/>
              <a:t>What is E-R (Entity-Relationship)diagram?</a:t>
            </a:r>
          </a:p>
          <a:p>
            <a:pPr lvl="1"/>
            <a:r>
              <a:rPr lang="en-US" dirty="0"/>
              <a:t>It is </a:t>
            </a:r>
            <a:r>
              <a:rPr lang="en-US" b="1" dirty="0">
                <a:solidFill>
                  <a:schemeClr val="accent6"/>
                </a:solidFill>
              </a:rPr>
              <a:t>graphical (pictorial) representation </a:t>
            </a:r>
            <a:r>
              <a:rPr lang="en-US" dirty="0"/>
              <a:t>of database/database design.</a:t>
            </a:r>
          </a:p>
          <a:p>
            <a:pPr lvl="1"/>
            <a:r>
              <a:rPr lang="en-US" dirty="0"/>
              <a:t>It uses different </a:t>
            </a:r>
            <a:r>
              <a:rPr lang="en-US" b="1" dirty="0">
                <a:solidFill>
                  <a:schemeClr val="accent6"/>
                </a:solidFill>
              </a:rPr>
              <a:t>types of symbols to represent different objects &amp; process of database</a:t>
            </a:r>
            <a:r>
              <a:rPr lang="en-US" dirty="0"/>
              <a:t>.</a:t>
            </a:r>
          </a:p>
        </p:txBody>
      </p:sp>
    </p:spTree>
    <p:extLst>
      <p:ext uri="{BB962C8B-B14F-4D97-AF65-F5344CB8AC3E}">
        <p14:creationId xmlns:p14="http://schemas.microsoft.com/office/powerpoint/2010/main" val="4119392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Entity</a:t>
            </a:r>
          </a:p>
        </p:txBody>
      </p:sp>
      <p:sp>
        <p:nvSpPr>
          <p:cNvPr id="3" name="Content Placeholder 2"/>
          <p:cNvSpPr>
            <a:spLocks noGrp="1"/>
          </p:cNvSpPr>
          <p:nvPr>
            <p:ph idx="1"/>
          </p:nvPr>
        </p:nvSpPr>
        <p:spPr/>
        <p:txBody>
          <a:bodyPr/>
          <a:lstStyle/>
          <a:p>
            <a:r>
              <a:rPr lang="en-US" dirty="0"/>
              <a:t>An entity can be </a:t>
            </a:r>
            <a:r>
              <a:rPr lang="en-US" b="1" dirty="0">
                <a:solidFill>
                  <a:schemeClr val="accent6"/>
                </a:solidFill>
              </a:rPr>
              <a:t>person</a:t>
            </a:r>
            <a:r>
              <a:rPr lang="en-US" dirty="0"/>
              <a:t>, a </a:t>
            </a:r>
            <a:r>
              <a:rPr lang="en-US" b="1" dirty="0">
                <a:solidFill>
                  <a:schemeClr val="accent6"/>
                </a:solidFill>
              </a:rPr>
              <a:t>place</a:t>
            </a:r>
            <a:r>
              <a:rPr lang="en-US" dirty="0"/>
              <a:t> or an </a:t>
            </a:r>
            <a:r>
              <a:rPr lang="en-US" b="1" dirty="0">
                <a:solidFill>
                  <a:schemeClr val="accent6"/>
                </a:solidFill>
              </a:rPr>
              <a:t>object (any real world entity)</a:t>
            </a:r>
            <a:r>
              <a:rPr lang="en-US" dirty="0"/>
              <a:t>.</a:t>
            </a:r>
          </a:p>
          <a:p>
            <a:r>
              <a:rPr lang="en-US" dirty="0"/>
              <a:t>An entity is represented by a </a:t>
            </a:r>
            <a:r>
              <a:rPr lang="en-US" b="1" dirty="0">
                <a:solidFill>
                  <a:schemeClr val="accent6"/>
                </a:solidFill>
              </a:rPr>
              <a:t>rectangle</a:t>
            </a:r>
            <a:r>
              <a:rPr lang="en-US" dirty="0"/>
              <a:t> which contains the name of an entity.</a:t>
            </a:r>
          </a:p>
          <a:p>
            <a:r>
              <a:rPr lang="en-US" dirty="0"/>
              <a:t>Entities of a college database are:</a:t>
            </a:r>
          </a:p>
          <a:p>
            <a:pPr lvl="1"/>
            <a:r>
              <a:rPr lang="en-US" dirty="0"/>
              <a:t>Student</a:t>
            </a:r>
          </a:p>
          <a:p>
            <a:pPr lvl="1"/>
            <a:r>
              <a:rPr lang="en-US" dirty="0"/>
              <a:t>Professor/Faculty</a:t>
            </a:r>
          </a:p>
          <a:p>
            <a:pPr lvl="1"/>
            <a:r>
              <a:rPr lang="en-US" dirty="0"/>
              <a:t>Course</a:t>
            </a:r>
          </a:p>
          <a:p>
            <a:pPr lvl="1"/>
            <a:r>
              <a:rPr lang="en-US" dirty="0"/>
              <a:t>Department</a:t>
            </a:r>
          </a:p>
          <a:p>
            <a:pPr lvl="1"/>
            <a:r>
              <a:rPr lang="en-US" dirty="0"/>
              <a:t>Result</a:t>
            </a:r>
          </a:p>
          <a:p>
            <a:pPr lvl="1"/>
            <a:r>
              <a:rPr lang="en-US" dirty="0"/>
              <a:t>Class</a:t>
            </a:r>
          </a:p>
          <a:p>
            <a:pPr lvl="1"/>
            <a:r>
              <a:rPr lang="en-US" dirty="0"/>
              <a:t>Subject</a:t>
            </a:r>
          </a:p>
        </p:txBody>
      </p:sp>
      <p:sp>
        <p:nvSpPr>
          <p:cNvPr id="4" name="Rectangle 3"/>
          <p:cNvSpPr/>
          <p:nvPr/>
        </p:nvSpPr>
        <p:spPr>
          <a:xfrm>
            <a:off x="10210801" y="968188"/>
            <a:ext cx="1502228" cy="77070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Entity Name</a:t>
            </a:r>
          </a:p>
        </p:txBody>
      </p:sp>
      <p:sp>
        <p:nvSpPr>
          <p:cNvPr id="5" name="TextBox 4"/>
          <p:cNvSpPr txBox="1"/>
          <p:nvPr/>
        </p:nvSpPr>
        <p:spPr>
          <a:xfrm>
            <a:off x="10471555" y="1842880"/>
            <a:ext cx="980720" cy="369332"/>
          </a:xfrm>
          <a:prstGeom prst="rect">
            <a:avLst/>
          </a:prstGeom>
          <a:noFill/>
        </p:spPr>
        <p:txBody>
          <a:bodyPr wrap="square" rtlCol="0">
            <a:spAutoFit/>
          </a:bodyPr>
          <a:lstStyle/>
          <a:p>
            <a:pPr algn="ctr"/>
            <a:r>
              <a:rPr lang="en-US" b="1" dirty="0"/>
              <a:t>Symbol</a:t>
            </a:r>
          </a:p>
        </p:txBody>
      </p:sp>
      <p:sp>
        <p:nvSpPr>
          <p:cNvPr id="6" name="Rectangle 5"/>
          <p:cNvSpPr/>
          <p:nvPr/>
        </p:nvSpPr>
        <p:spPr>
          <a:xfrm>
            <a:off x="4320988" y="3139716"/>
            <a:ext cx="1502228" cy="77070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Student</a:t>
            </a:r>
            <a:endParaRPr lang="en-US" sz="1600" dirty="0">
              <a:solidFill>
                <a:schemeClr val="tx1"/>
              </a:solidFill>
            </a:endParaRPr>
          </a:p>
        </p:txBody>
      </p:sp>
      <p:sp>
        <p:nvSpPr>
          <p:cNvPr id="7" name="Rectangle 6"/>
          <p:cNvSpPr/>
          <p:nvPr/>
        </p:nvSpPr>
        <p:spPr>
          <a:xfrm>
            <a:off x="6688676" y="3139715"/>
            <a:ext cx="1502228" cy="77070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Faculty</a:t>
            </a:r>
            <a:endParaRPr lang="en-US" sz="1600" dirty="0">
              <a:solidFill>
                <a:schemeClr val="tx1"/>
              </a:solidFill>
            </a:endParaRPr>
          </a:p>
        </p:txBody>
      </p:sp>
      <p:sp>
        <p:nvSpPr>
          <p:cNvPr id="8" name="Rectangle 7"/>
          <p:cNvSpPr/>
          <p:nvPr/>
        </p:nvSpPr>
        <p:spPr>
          <a:xfrm>
            <a:off x="9056364" y="3139715"/>
            <a:ext cx="1502228" cy="77070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Course</a:t>
            </a:r>
            <a:endParaRPr lang="en-US" sz="1600" dirty="0">
              <a:solidFill>
                <a:schemeClr val="tx1"/>
              </a:solidFill>
            </a:endParaRPr>
          </a:p>
        </p:txBody>
      </p:sp>
      <p:cxnSp>
        <p:nvCxnSpPr>
          <p:cNvPr id="9" name="Straight Connector 8"/>
          <p:cNvCxnSpPr/>
          <p:nvPr/>
        </p:nvCxnSpPr>
        <p:spPr>
          <a:xfrm>
            <a:off x="688878" y="5301826"/>
            <a:ext cx="621792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10"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27655522"/>
              </p:ext>
            </p:extLst>
          </p:nvPr>
        </p:nvGraphicFramePr>
        <p:xfrm>
          <a:off x="688878" y="4913841"/>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l"/>
                      <a:r>
                        <a:rPr lang="en-US" sz="2000" b="1" dirty="0">
                          <a:solidFill>
                            <a:schemeClr val="bg1"/>
                          </a:solidFill>
                        </a:rPr>
                        <a:t>Exercise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1"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235559213"/>
              </p:ext>
            </p:extLst>
          </p:nvPr>
        </p:nvGraphicFramePr>
        <p:xfrm>
          <a:off x="1787807" y="4904953"/>
          <a:ext cx="5320030" cy="396240"/>
        </p:xfrm>
        <a:graphic>
          <a:graphicData uri="http://schemas.openxmlformats.org/drawingml/2006/table">
            <a:tbl>
              <a:tblPr firstRow="1" bandRow="1">
                <a:tableStyleId>{8EC20E35-A176-4012-BC5E-935CFFF8708E}</a:tableStyleId>
              </a:tblPr>
              <a:tblGrid>
                <a:gridCol w="5320030">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Write down the different </a:t>
                      </a:r>
                      <a:r>
                        <a:rPr lang="en-US" sz="2000" b="0" kern="1200" dirty="0">
                          <a:solidFill>
                            <a:schemeClr val="tx2"/>
                          </a:solidFill>
                          <a:latin typeface="+mn-lt"/>
                          <a:ea typeface="+mn-ea"/>
                          <a:cs typeface="+mn-cs"/>
                        </a:rPr>
                        <a:t>entities</a:t>
                      </a:r>
                      <a:r>
                        <a:rPr lang="en-US" sz="2000" b="0" kern="1200" dirty="0">
                          <a:solidFill>
                            <a:schemeClr val="tx1"/>
                          </a:solidFill>
                          <a:latin typeface="+mn-lt"/>
                          <a:ea typeface="+mn-ea"/>
                          <a:cs typeface="+mn-cs"/>
                        </a:rPr>
                        <a:t> of </a:t>
                      </a:r>
                      <a:r>
                        <a:rPr lang="en-US" sz="2000" b="0" kern="1200" dirty="0">
                          <a:solidFill>
                            <a:schemeClr val="tx2"/>
                          </a:solidFill>
                          <a:latin typeface="+mn-lt"/>
                          <a:ea typeface="+mn-ea"/>
                          <a:cs typeface="+mn-cs"/>
                        </a:rPr>
                        <a:t>Bank database</a:t>
                      </a:r>
                      <a:r>
                        <a:rPr lang="en-US" sz="2000" b="0" kern="1200" dirty="0">
                          <a:solidFill>
                            <a:schemeClr val="tx1"/>
                          </a:solidFill>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cxnSp>
        <p:nvCxnSpPr>
          <p:cNvPr id="12" name="Straight Connector 11"/>
          <p:cNvCxnSpPr/>
          <p:nvPr/>
        </p:nvCxnSpPr>
        <p:spPr>
          <a:xfrm>
            <a:off x="688878" y="5947282"/>
            <a:ext cx="658368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13"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896097010"/>
              </p:ext>
            </p:extLst>
          </p:nvPr>
        </p:nvGraphicFramePr>
        <p:xfrm>
          <a:off x="688878" y="5559297"/>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l"/>
                      <a:r>
                        <a:rPr lang="en-US" sz="2000" b="1" dirty="0">
                          <a:solidFill>
                            <a:schemeClr val="bg1"/>
                          </a:solidFill>
                        </a:rPr>
                        <a:t>Exercise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4"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897187533"/>
              </p:ext>
            </p:extLst>
          </p:nvPr>
        </p:nvGraphicFramePr>
        <p:xfrm>
          <a:off x="1787807" y="5550409"/>
          <a:ext cx="5640705" cy="396240"/>
        </p:xfrm>
        <a:graphic>
          <a:graphicData uri="http://schemas.openxmlformats.org/drawingml/2006/table">
            <a:tbl>
              <a:tblPr firstRow="1" bandRow="1">
                <a:tableStyleId>{8EC20E35-A176-4012-BC5E-935CFFF8708E}</a:tableStyleId>
              </a:tblPr>
              <a:tblGrid>
                <a:gridCol w="5640705">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Write down the different </a:t>
                      </a:r>
                      <a:r>
                        <a:rPr lang="en-US" sz="2000" b="0" kern="1200" dirty="0">
                          <a:solidFill>
                            <a:schemeClr val="tx2"/>
                          </a:solidFill>
                          <a:latin typeface="+mn-lt"/>
                          <a:ea typeface="+mn-ea"/>
                          <a:cs typeface="+mn-cs"/>
                        </a:rPr>
                        <a:t>entities</a:t>
                      </a:r>
                      <a:r>
                        <a:rPr lang="en-US" sz="2000" b="0" kern="1200" dirty="0">
                          <a:solidFill>
                            <a:schemeClr val="tx1"/>
                          </a:solidFill>
                          <a:latin typeface="+mn-lt"/>
                          <a:ea typeface="+mn-ea"/>
                          <a:cs typeface="+mn-cs"/>
                        </a:rPr>
                        <a:t> of </a:t>
                      </a:r>
                      <a:r>
                        <a:rPr lang="en-US" sz="2000" b="0" kern="1200" dirty="0">
                          <a:solidFill>
                            <a:schemeClr val="tx2"/>
                          </a:solidFill>
                          <a:latin typeface="+mn-lt"/>
                          <a:ea typeface="+mn-ea"/>
                          <a:cs typeface="+mn-cs"/>
                        </a:rPr>
                        <a:t>Hospital database</a:t>
                      </a:r>
                      <a:r>
                        <a:rPr lang="en-US" sz="2000" b="0" kern="1200" dirty="0">
                          <a:solidFill>
                            <a:schemeClr val="tx1"/>
                          </a:solidFill>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063409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fade">
                                      <p:cBhvr>
                                        <p:cTn id="51" dur="500"/>
                                        <p:tgtEl>
                                          <p:spTgt spid="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fade">
                                      <p:cBhvr>
                                        <p:cTn id="56" dur="500"/>
                                        <p:tgtEl>
                                          <p:spTgt spid="7"/>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fade">
                                      <p:cBhvr>
                                        <p:cTn id="61" dur="5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ipe(left)">
                                      <p:cBhvr>
                                        <p:cTn id="66" dur="500"/>
                                        <p:tgtEl>
                                          <p:spTgt spid="9"/>
                                        </p:tgtEl>
                                      </p:cBhvr>
                                    </p:animEffect>
                                  </p:childTnLst>
                                </p:cTn>
                              </p:par>
                              <p:par>
                                <p:cTn id="67" presetID="22" presetClass="entr" presetSubtype="8" fill="hold" nodeType="withEffect">
                                  <p:stCondLst>
                                    <p:cond delay="0"/>
                                  </p:stCondLst>
                                  <p:childTnLst>
                                    <p:set>
                                      <p:cBhvr>
                                        <p:cTn id="68" dur="1" fill="hold">
                                          <p:stCondLst>
                                            <p:cond delay="0"/>
                                          </p:stCondLst>
                                        </p:cTn>
                                        <p:tgtEl>
                                          <p:spTgt spid="10"/>
                                        </p:tgtEl>
                                        <p:attrNameLst>
                                          <p:attrName>style.visibility</p:attrName>
                                        </p:attrNameLst>
                                      </p:cBhvr>
                                      <p:to>
                                        <p:strVal val="visible"/>
                                      </p:to>
                                    </p:set>
                                    <p:animEffect transition="in" filter="wipe(left)">
                                      <p:cBhvr>
                                        <p:cTn id="69" dur="500"/>
                                        <p:tgtEl>
                                          <p:spTgt spid="10"/>
                                        </p:tgtEl>
                                      </p:cBhvr>
                                    </p:animEffect>
                                  </p:childTnLst>
                                </p:cTn>
                              </p:par>
                              <p:par>
                                <p:cTn id="70" presetID="22" presetClass="entr" presetSubtype="8" fill="hold" nodeType="with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wipe(left)">
                                      <p:cBhvr>
                                        <p:cTn id="72" dur="500"/>
                                        <p:tgtEl>
                                          <p:spTgt spid="1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wipe(left)">
                                      <p:cBhvr>
                                        <p:cTn id="77" dur="500"/>
                                        <p:tgtEl>
                                          <p:spTgt spid="12"/>
                                        </p:tgtEl>
                                      </p:cBhvr>
                                    </p:animEffect>
                                  </p:childTnLst>
                                </p:cTn>
                              </p:par>
                              <p:par>
                                <p:cTn id="78" presetID="22" presetClass="entr" presetSubtype="8" fill="hold" nodeType="with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wipe(left)">
                                      <p:cBhvr>
                                        <p:cTn id="80" dur="500"/>
                                        <p:tgtEl>
                                          <p:spTgt spid="13"/>
                                        </p:tgtEl>
                                      </p:cBhvr>
                                    </p:animEffect>
                                  </p:childTnLst>
                                </p:cTn>
                              </p:par>
                              <p:par>
                                <p:cTn id="81" presetID="22" presetClass="entr" presetSubtype="8" fill="hold" nodeType="withEffect">
                                  <p:stCondLst>
                                    <p:cond delay="0"/>
                                  </p:stCondLst>
                                  <p:childTnLst>
                                    <p:set>
                                      <p:cBhvr>
                                        <p:cTn id="82" dur="1" fill="hold">
                                          <p:stCondLst>
                                            <p:cond delay="0"/>
                                          </p:stCondLst>
                                        </p:cTn>
                                        <p:tgtEl>
                                          <p:spTgt spid="14"/>
                                        </p:tgtEl>
                                        <p:attrNameLst>
                                          <p:attrName>style.visibility</p:attrName>
                                        </p:attrNameLst>
                                      </p:cBhvr>
                                      <p:to>
                                        <p:strVal val="visible"/>
                                      </p:to>
                                    </p:set>
                                    <p:animEffect transition="in" filter="wipe(left)">
                                      <p:cBhvr>
                                        <p:cTn id="8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Entity Set</a:t>
            </a:r>
          </a:p>
        </p:txBody>
      </p:sp>
      <p:sp>
        <p:nvSpPr>
          <p:cNvPr id="3" name="Content Placeholder 2"/>
          <p:cNvSpPr>
            <a:spLocks noGrp="1"/>
          </p:cNvSpPr>
          <p:nvPr>
            <p:ph idx="1"/>
          </p:nvPr>
        </p:nvSpPr>
        <p:spPr/>
        <p:txBody>
          <a:bodyPr/>
          <a:lstStyle/>
          <a:p>
            <a:r>
              <a:rPr lang="en-US" dirty="0"/>
              <a:t>It is a </a:t>
            </a:r>
            <a:r>
              <a:rPr lang="en-US" b="1" dirty="0">
                <a:solidFill>
                  <a:schemeClr val="accent6"/>
                </a:solidFill>
              </a:rPr>
              <a:t>set (group) of entities </a:t>
            </a:r>
            <a:r>
              <a:rPr lang="en-US" dirty="0"/>
              <a:t>of </a:t>
            </a:r>
            <a:r>
              <a:rPr lang="en-US" b="1" dirty="0">
                <a:solidFill>
                  <a:schemeClr val="accent6"/>
                </a:solidFill>
              </a:rPr>
              <a:t>same type</a:t>
            </a:r>
            <a:r>
              <a:rPr lang="en-US" dirty="0"/>
              <a:t>.</a:t>
            </a:r>
          </a:p>
          <a:p>
            <a:r>
              <a:rPr lang="en-US" dirty="0"/>
              <a:t>Examples:</a:t>
            </a:r>
          </a:p>
          <a:p>
            <a:pPr lvl="1"/>
            <a:r>
              <a:rPr lang="en-US" dirty="0"/>
              <a:t>All persons having an account in a bank</a:t>
            </a:r>
          </a:p>
          <a:p>
            <a:pPr lvl="1"/>
            <a:r>
              <a:rPr lang="en-US" dirty="0"/>
              <a:t>All the students studying in a college</a:t>
            </a:r>
          </a:p>
          <a:p>
            <a:pPr lvl="1"/>
            <a:r>
              <a:rPr lang="en-US" dirty="0"/>
              <a:t>All the professors working in a college</a:t>
            </a:r>
          </a:p>
          <a:p>
            <a:pPr lvl="1"/>
            <a:r>
              <a:rPr lang="en-US" dirty="0"/>
              <a:t>Set of all accounts in a bank</a:t>
            </a:r>
          </a:p>
          <a:p>
            <a:pPr lvl="1"/>
            <a:endParaRPr lang="en-US" dirty="0"/>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26000" r="24991" b="7451"/>
          <a:stretch/>
        </p:blipFill>
        <p:spPr>
          <a:xfrm>
            <a:off x="10248882" y="1035424"/>
            <a:ext cx="1569203" cy="4572000"/>
          </a:xfrm>
          <a:prstGeom prst="rect">
            <a:avLst/>
          </a:prstGeom>
        </p:spPr>
      </p:pic>
      <p:pic>
        <p:nvPicPr>
          <p:cNvPr id="1026" name="Picture 2" descr="https://pngimg.com/uploads/student/student_PNG62542.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007" r="34354"/>
          <a:stretch/>
        </p:blipFill>
        <p:spPr bwMode="auto">
          <a:xfrm>
            <a:off x="5976076" y="1035424"/>
            <a:ext cx="1858015" cy="4572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images.vexels.com/media/users/3/128199/isolated/preview/b354bc4707224bd3d15b9ae36eca70c0-male-student-cartoon-by-vexels.png"/>
          <p:cNvPicPr>
            <a:picLocks noChangeAspect="1" noChangeArrowheads="1"/>
          </p:cNvPicPr>
          <p:nvPr/>
        </p:nvPicPr>
        <p:blipFill rotWithShape="1">
          <a:blip r:embed="rId4">
            <a:extLst>
              <a:ext uri="{28A0092B-C50C-407E-A947-70E740481C1C}">
                <a14:useLocalDpi xmlns:a14="http://schemas.microsoft.com/office/drawing/2010/main" val="0"/>
              </a:ext>
            </a:extLst>
          </a:blip>
          <a:srcRect l="28841" t="2637" r="28971" b="3353"/>
          <a:stretch/>
        </p:blipFill>
        <p:spPr bwMode="auto">
          <a:xfrm>
            <a:off x="8015636" y="1035424"/>
            <a:ext cx="2051701"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569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500"/>
                                        <p:tgtEl>
                                          <p:spTgt spid="1026"/>
                                        </p:tgtEl>
                                      </p:cBhvr>
                                    </p:animEffect>
                                  </p:childTnLst>
                                </p:cTn>
                              </p:par>
                              <p:par>
                                <p:cTn id="13" presetID="10" presetClass="entr" presetSubtype="0" fill="hold" nodeType="withEffect">
                                  <p:stCondLst>
                                    <p:cond delay="0"/>
                                  </p:stCondLst>
                                  <p:childTnLst>
                                    <p:set>
                                      <p:cBhvr>
                                        <p:cTn id="14" dur="1" fill="hold">
                                          <p:stCondLst>
                                            <p:cond delay="0"/>
                                          </p:stCondLst>
                                        </p:cTn>
                                        <p:tgtEl>
                                          <p:spTgt spid="1028"/>
                                        </p:tgtEl>
                                        <p:attrNameLst>
                                          <p:attrName>style.visibility</p:attrName>
                                        </p:attrNameLst>
                                      </p:cBhvr>
                                      <p:to>
                                        <p:strVal val="visible"/>
                                      </p:to>
                                    </p:set>
                                    <p:animEffect transition="in" filter="fade">
                                      <p:cBhvr>
                                        <p:cTn id="15" dur="500"/>
                                        <p:tgtEl>
                                          <p:spTgt spid="102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fade">
                                      <p:cBhvr>
                                        <p:cTn id="20" dur="500"/>
                                        <p:tgtEl>
                                          <p:spTgt spid="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5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5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500"/>
                                        <p:tgtEl>
                                          <p:spTgt spid="3">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500"/>
                                        <p:tgtEl>
                                          <p:spTgt spid="3">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animEffect transition="in" filter="fade">
                                      <p:cBhvr>
                                        <p:cTn id="4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a:t>
            </a:r>
          </a:p>
        </p:txBody>
      </p:sp>
      <p:sp>
        <p:nvSpPr>
          <p:cNvPr id="3" name="Content Placeholder 2"/>
          <p:cNvSpPr>
            <a:spLocks noGrp="1"/>
          </p:cNvSpPr>
          <p:nvPr>
            <p:ph idx="1"/>
          </p:nvPr>
        </p:nvSpPr>
        <p:spPr/>
        <p:txBody>
          <a:bodyPr/>
          <a:lstStyle/>
          <a:p>
            <a:r>
              <a:rPr lang="en-GB" dirty="0"/>
              <a:t>Attribute is </a:t>
            </a:r>
            <a:r>
              <a:rPr lang="en-GB" b="1" dirty="0">
                <a:solidFill>
                  <a:schemeClr val="accent6"/>
                </a:solidFill>
              </a:rPr>
              <a:t>properties/Characteristic </a:t>
            </a:r>
            <a:r>
              <a:rPr lang="en-GB" dirty="0"/>
              <a:t>or </a:t>
            </a:r>
            <a:r>
              <a:rPr lang="en-GB" b="1" dirty="0">
                <a:solidFill>
                  <a:schemeClr val="accent6"/>
                </a:solidFill>
              </a:rPr>
              <a:t>details</a:t>
            </a:r>
            <a:r>
              <a:rPr lang="en-GB" dirty="0"/>
              <a:t> about an entity.</a:t>
            </a:r>
          </a:p>
          <a:p>
            <a:r>
              <a:rPr lang="en-GB" dirty="0"/>
              <a:t>An attribute is represented by an </a:t>
            </a:r>
            <a:r>
              <a:rPr lang="en-GB" b="1" dirty="0">
                <a:solidFill>
                  <a:schemeClr val="accent6"/>
                </a:solidFill>
              </a:rPr>
              <a:t>oval</a:t>
            </a:r>
            <a:r>
              <a:rPr lang="en-GB" dirty="0"/>
              <a:t> containing name of an attribute. </a:t>
            </a:r>
          </a:p>
          <a:p>
            <a:r>
              <a:rPr lang="en-GB" dirty="0"/>
              <a:t>Attributes of Student are:</a:t>
            </a:r>
          </a:p>
          <a:p>
            <a:pPr lvl="1"/>
            <a:r>
              <a:rPr lang="en-GB" dirty="0"/>
              <a:t>Roll No</a:t>
            </a:r>
          </a:p>
          <a:p>
            <a:pPr lvl="1"/>
            <a:r>
              <a:rPr lang="en-GB" dirty="0"/>
              <a:t>Student Name</a:t>
            </a:r>
          </a:p>
          <a:p>
            <a:pPr lvl="1"/>
            <a:r>
              <a:rPr lang="en-GB" dirty="0"/>
              <a:t>Branch</a:t>
            </a:r>
          </a:p>
          <a:p>
            <a:pPr lvl="1"/>
            <a:r>
              <a:rPr lang="en-GB" dirty="0"/>
              <a:t>Semester</a:t>
            </a:r>
          </a:p>
          <a:p>
            <a:pPr lvl="1"/>
            <a:r>
              <a:rPr lang="en-GB" dirty="0"/>
              <a:t>Address</a:t>
            </a:r>
          </a:p>
          <a:p>
            <a:pPr lvl="1"/>
            <a:r>
              <a:rPr lang="en-GB" dirty="0"/>
              <a:t>Mobile No</a:t>
            </a:r>
          </a:p>
          <a:p>
            <a:pPr lvl="1"/>
            <a:r>
              <a:rPr lang="en-GB" dirty="0"/>
              <a:t>Age</a:t>
            </a:r>
          </a:p>
          <a:p>
            <a:pPr lvl="1"/>
            <a:r>
              <a:rPr lang="en-GB" dirty="0"/>
              <a:t>SPI</a:t>
            </a:r>
          </a:p>
          <a:p>
            <a:pPr lvl="1"/>
            <a:r>
              <a:rPr lang="en-GB" dirty="0"/>
              <a:t>Backlogs</a:t>
            </a:r>
          </a:p>
          <a:p>
            <a:pPr lvl="1"/>
            <a:endParaRPr lang="en-US" dirty="0"/>
          </a:p>
        </p:txBody>
      </p: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l="26000" r="24991" b="7451"/>
          <a:stretch/>
        </p:blipFill>
        <p:spPr>
          <a:xfrm>
            <a:off x="3566392" y="2149077"/>
            <a:ext cx="1013672" cy="2953415"/>
          </a:xfrm>
          <a:prstGeom prst="rect">
            <a:avLst/>
          </a:prstGeom>
        </p:spPr>
      </p:pic>
      <p:sp>
        <p:nvSpPr>
          <p:cNvPr id="15" name="TextBox 14"/>
          <p:cNvSpPr txBox="1"/>
          <p:nvPr/>
        </p:nvSpPr>
        <p:spPr>
          <a:xfrm>
            <a:off x="9989637" y="1787559"/>
            <a:ext cx="980720" cy="369332"/>
          </a:xfrm>
          <a:prstGeom prst="rect">
            <a:avLst/>
          </a:prstGeom>
          <a:noFill/>
        </p:spPr>
        <p:txBody>
          <a:bodyPr wrap="square" rtlCol="0">
            <a:spAutoFit/>
          </a:bodyPr>
          <a:lstStyle/>
          <a:p>
            <a:pPr algn="ctr"/>
            <a:r>
              <a:rPr lang="en-US" dirty="0"/>
              <a:t>Symbol</a:t>
            </a:r>
          </a:p>
        </p:txBody>
      </p:sp>
      <p:sp>
        <p:nvSpPr>
          <p:cNvPr id="16" name="Oval 15"/>
          <p:cNvSpPr/>
          <p:nvPr/>
        </p:nvSpPr>
        <p:spPr>
          <a:xfrm>
            <a:off x="9480689" y="884827"/>
            <a:ext cx="1998617" cy="79273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Attribute Name</a:t>
            </a:r>
          </a:p>
        </p:txBody>
      </p:sp>
      <p:sp>
        <p:nvSpPr>
          <p:cNvPr id="17" name="Rectangle 16"/>
          <p:cNvSpPr/>
          <p:nvPr/>
        </p:nvSpPr>
        <p:spPr>
          <a:xfrm>
            <a:off x="7166190" y="3557610"/>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Student</a:t>
            </a:r>
          </a:p>
        </p:txBody>
      </p:sp>
      <p:cxnSp>
        <p:nvCxnSpPr>
          <p:cNvPr id="18" name="Straight Connector 17"/>
          <p:cNvCxnSpPr>
            <a:stCxn id="19" idx="4"/>
            <a:endCxn id="17" idx="0"/>
          </p:cNvCxnSpPr>
          <p:nvPr/>
        </p:nvCxnSpPr>
        <p:spPr>
          <a:xfrm>
            <a:off x="7051887" y="3091245"/>
            <a:ext cx="963389" cy="466365"/>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19" name="Oval 18"/>
          <p:cNvSpPr/>
          <p:nvPr/>
        </p:nvSpPr>
        <p:spPr>
          <a:xfrm>
            <a:off x="6320367" y="2551245"/>
            <a:ext cx="1463040" cy="540000"/>
          </a:xfrm>
          <a:prstGeom prst="ellipse">
            <a:avLst/>
          </a:prstGeom>
          <a:solidFill>
            <a:schemeClr val="accent1">
              <a:lumMod val="20000"/>
              <a:lumOff val="80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err="1">
                <a:solidFill>
                  <a:schemeClr val="tx1"/>
                </a:solidFill>
              </a:rPr>
              <a:t>RollNo</a:t>
            </a:r>
            <a:endParaRPr lang="en-US" dirty="0">
              <a:solidFill>
                <a:schemeClr val="tx1"/>
              </a:solidFill>
            </a:endParaRPr>
          </a:p>
        </p:txBody>
      </p:sp>
      <p:cxnSp>
        <p:nvCxnSpPr>
          <p:cNvPr id="20" name="Straight Connector 19"/>
          <p:cNvCxnSpPr>
            <a:stCxn id="21" idx="4"/>
            <a:endCxn id="17" idx="0"/>
          </p:cNvCxnSpPr>
          <p:nvPr/>
        </p:nvCxnSpPr>
        <p:spPr>
          <a:xfrm flipH="1">
            <a:off x="8015276" y="3068834"/>
            <a:ext cx="654734" cy="488776"/>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21" name="Oval 20"/>
          <p:cNvSpPr/>
          <p:nvPr/>
        </p:nvSpPr>
        <p:spPr>
          <a:xfrm>
            <a:off x="7938490" y="2528834"/>
            <a:ext cx="1463040" cy="540000"/>
          </a:xfrm>
          <a:prstGeom prst="ellipse">
            <a:avLst/>
          </a:prstGeom>
          <a:solidFill>
            <a:schemeClr val="accent1">
              <a:lumMod val="20000"/>
              <a:lumOff val="80000"/>
            </a:schemeClr>
          </a:solidFill>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Name</a:t>
            </a:r>
          </a:p>
        </p:txBody>
      </p:sp>
      <p:cxnSp>
        <p:nvCxnSpPr>
          <p:cNvPr id="12" name="Straight Connector 11"/>
          <p:cNvCxnSpPr/>
          <p:nvPr/>
        </p:nvCxnSpPr>
        <p:spPr>
          <a:xfrm>
            <a:off x="688878" y="5745577"/>
            <a:ext cx="6327648"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13"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471287464"/>
              </p:ext>
            </p:extLst>
          </p:nvPr>
        </p:nvGraphicFramePr>
        <p:xfrm>
          <a:off x="688878" y="5357592"/>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l"/>
                      <a:r>
                        <a:rPr lang="en-US" sz="2000" b="1" dirty="0">
                          <a:solidFill>
                            <a:schemeClr val="bg1"/>
                          </a:solidFill>
                        </a:rPr>
                        <a:t>Exercise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4"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413055862"/>
              </p:ext>
            </p:extLst>
          </p:nvPr>
        </p:nvGraphicFramePr>
        <p:xfrm>
          <a:off x="1787807" y="5348704"/>
          <a:ext cx="5420043" cy="396240"/>
        </p:xfrm>
        <a:graphic>
          <a:graphicData uri="http://schemas.openxmlformats.org/drawingml/2006/table">
            <a:tbl>
              <a:tblPr firstRow="1" bandRow="1">
                <a:tableStyleId>{8EC20E35-A176-4012-BC5E-935CFFF8708E}</a:tableStyleId>
              </a:tblPr>
              <a:tblGrid>
                <a:gridCol w="5420043">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Write down the different </a:t>
                      </a:r>
                      <a:r>
                        <a:rPr lang="en-US" sz="2000" b="0" kern="1200" dirty="0">
                          <a:solidFill>
                            <a:schemeClr val="tx2"/>
                          </a:solidFill>
                          <a:latin typeface="+mn-lt"/>
                          <a:ea typeface="+mn-ea"/>
                          <a:cs typeface="+mn-cs"/>
                        </a:rPr>
                        <a:t>attributes</a:t>
                      </a:r>
                      <a:r>
                        <a:rPr lang="en-US" sz="2000" b="0" kern="1200" dirty="0">
                          <a:solidFill>
                            <a:schemeClr val="tx1"/>
                          </a:solidFill>
                          <a:latin typeface="+mn-lt"/>
                          <a:ea typeface="+mn-ea"/>
                          <a:cs typeface="+mn-cs"/>
                        </a:rPr>
                        <a:t> of </a:t>
                      </a:r>
                      <a:r>
                        <a:rPr lang="en-US" sz="2000" b="0" kern="1200" dirty="0">
                          <a:solidFill>
                            <a:schemeClr val="tx2"/>
                          </a:solidFill>
                          <a:latin typeface="+mn-lt"/>
                          <a:ea typeface="+mn-ea"/>
                          <a:cs typeface="+mn-cs"/>
                        </a:rPr>
                        <a:t>Faculty entity</a:t>
                      </a:r>
                      <a:r>
                        <a:rPr lang="en-US" sz="2000" b="0" kern="1200" dirty="0">
                          <a:solidFill>
                            <a:schemeClr val="tx1"/>
                          </a:solidFill>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cxnSp>
        <p:nvCxnSpPr>
          <p:cNvPr id="22" name="Straight Connector 21"/>
          <p:cNvCxnSpPr/>
          <p:nvPr/>
        </p:nvCxnSpPr>
        <p:spPr>
          <a:xfrm>
            <a:off x="688878" y="6391033"/>
            <a:ext cx="644652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23"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119300716"/>
              </p:ext>
            </p:extLst>
          </p:nvPr>
        </p:nvGraphicFramePr>
        <p:xfrm>
          <a:off x="688878" y="6003048"/>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l"/>
                      <a:r>
                        <a:rPr lang="en-US" sz="2000" b="1" dirty="0">
                          <a:solidFill>
                            <a:schemeClr val="bg1"/>
                          </a:solidFill>
                        </a:rPr>
                        <a:t>Exercise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24"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615547189"/>
              </p:ext>
            </p:extLst>
          </p:nvPr>
        </p:nvGraphicFramePr>
        <p:xfrm>
          <a:off x="1787807" y="5994160"/>
          <a:ext cx="5640705" cy="396240"/>
        </p:xfrm>
        <a:graphic>
          <a:graphicData uri="http://schemas.openxmlformats.org/drawingml/2006/table">
            <a:tbl>
              <a:tblPr firstRow="1" bandRow="1">
                <a:tableStyleId>{8EC20E35-A176-4012-BC5E-935CFFF8708E}</a:tableStyleId>
              </a:tblPr>
              <a:tblGrid>
                <a:gridCol w="5640705">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Write down the different </a:t>
                      </a:r>
                      <a:r>
                        <a:rPr lang="en-US" sz="2000" b="0" kern="1200" dirty="0">
                          <a:solidFill>
                            <a:schemeClr val="tx2"/>
                          </a:solidFill>
                          <a:latin typeface="+mn-lt"/>
                          <a:ea typeface="+mn-ea"/>
                          <a:cs typeface="+mn-cs"/>
                        </a:rPr>
                        <a:t>attributes</a:t>
                      </a:r>
                      <a:r>
                        <a:rPr lang="en-US" sz="2000" b="0" kern="1200" dirty="0">
                          <a:solidFill>
                            <a:schemeClr val="tx1"/>
                          </a:solidFill>
                          <a:latin typeface="+mn-lt"/>
                          <a:ea typeface="+mn-ea"/>
                          <a:cs typeface="+mn-cs"/>
                        </a:rPr>
                        <a:t> of </a:t>
                      </a:r>
                      <a:r>
                        <a:rPr lang="en-US" sz="2000" b="0" kern="1200" dirty="0">
                          <a:solidFill>
                            <a:schemeClr val="tx2"/>
                          </a:solidFill>
                          <a:latin typeface="+mn-lt"/>
                          <a:ea typeface="+mn-ea"/>
                          <a:cs typeface="+mn-cs"/>
                        </a:rPr>
                        <a:t>Account entity</a:t>
                      </a:r>
                      <a:r>
                        <a:rPr lang="en-US" sz="2000" b="0" kern="1200" dirty="0">
                          <a:solidFill>
                            <a:schemeClr val="tx1"/>
                          </a:solidFill>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70277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fade">
                                      <p:cBhvr>
                                        <p:cTn id="40" dur="500"/>
                                        <p:tgtEl>
                                          <p:spTgt spid="3">
                                            <p:txEl>
                                              <p:pRg st="6" end="6"/>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500"/>
                                        <p:tgtEl>
                                          <p:spTgt spid="3">
                                            <p:txEl>
                                              <p:pRg st="7" end="7"/>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8" end="8"/>
                                            </p:txEl>
                                          </p:spTgt>
                                        </p:tgtEl>
                                        <p:attrNameLst>
                                          <p:attrName>style.visibility</p:attrName>
                                        </p:attrNameLst>
                                      </p:cBhvr>
                                      <p:to>
                                        <p:strVal val="visible"/>
                                      </p:to>
                                    </p:set>
                                    <p:animEffect transition="in" filter="fade">
                                      <p:cBhvr>
                                        <p:cTn id="46" dur="500"/>
                                        <p:tgtEl>
                                          <p:spTgt spid="3">
                                            <p:txEl>
                                              <p:pRg st="8" end="8"/>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500"/>
                                        <p:tgtEl>
                                          <p:spTgt spid="3">
                                            <p:txEl>
                                              <p:pRg st="9" end="9"/>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Effect transition="in" filter="fade">
                                      <p:cBhvr>
                                        <p:cTn id="55" dur="500"/>
                                        <p:tgtEl>
                                          <p:spTgt spid="3">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par>
                                <p:cTn id="67" presetID="10" presetClass="entr" presetSubtype="0" fill="hold" nodeType="withEffect">
                                  <p:stCondLst>
                                    <p:cond delay="0"/>
                                  </p:stCondLst>
                                  <p:childTnLst>
                                    <p:set>
                                      <p:cBhvr>
                                        <p:cTn id="68" dur="1" fill="hold">
                                          <p:stCondLst>
                                            <p:cond delay="0"/>
                                          </p:stCondLst>
                                        </p:cTn>
                                        <p:tgtEl>
                                          <p:spTgt spid="17">
                                            <p:txEl>
                                              <p:pRg st="0" end="0"/>
                                            </p:txEl>
                                          </p:spTgt>
                                        </p:tgtEl>
                                        <p:attrNameLst>
                                          <p:attrName>style.visibility</p:attrName>
                                        </p:attrNameLst>
                                      </p:cBhvr>
                                      <p:to>
                                        <p:strVal val="visible"/>
                                      </p:to>
                                    </p:set>
                                    <p:animEffect transition="in" filter="fade">
                                      <p:cBhvr>
                                        <p:cTn id="69" dur="500"/>
                                        <p:tgtEl>
                                          <p:spTgt spid="17">
                                            <p:txEl>
                                              <p:pRg st="0" end="0"/>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par>
                                <p:cTn id="73" presetID="10" presetClass="entr" presetSubtype="0" fill="hold"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2"/>
                                        </p:tgtEl>
                                        <p:attrNameLst>
                                          <p:attrName>style.visibility</p:attrName>
                                        </p:attrNameLst>
                                      </p:cBhvr>
                                      <p:to>
                                        <p:strVal val="visible"/>
                                      </p:to>
                                    </p:set>
                                    <p:animEffect transition="in" filter="wipe(left)">
                                      <p:cBhvr>
                                        <p:cTn id="80" dur="500"/>
                                        <p:tgtEl>
                                          <p:spTgt spid="12"/>
                                        </p:tgtEl>
                                      </p:cBhvr>
                                    </p:animEffect>
                                  </p:childTnLst>
                                </p:cTn>
                              </p:par>
                              <p:par>
                                <p:cTn id="81" presetID="22" presetClass="entr" presetSubtype="8" fill="hold" nodeType="withEffect">
                                  <p:stCondLst>
                                    <p:cond delay="0"/>
                                  </p:stCondLst>
                                  <p:childTnLst>
                                    <p:set>
                                      <p:cBhvr>
                                        <p:cTn id="82" dur="1" fill="hold">
                                          <p:stCondLst>
                                            <p:cond delay="0"/>
                                          </p:stCondLst>
                                        </p:cTn>
                                        <p:tgtEl>
                                          <p:spTgt spid="13"/>
                                        </p:tgtEl>
                                        <p:attrNameLst>
                                          <p:attrName>style.visibility</p:attrName>
                                        </p:attrNameLst>
                                      </p:cBhvr>
                                      <p:to>
                                        <p:strVal val="visible"/>
                                      </p:to>
                                    </p:set>
                                    <p:animEffect transition="in" filter="wipe(left)">
                                      <p:cBhvr>
                                        <p:cTn id="83" dur="500"/>
                                        <p:tgtEl>
                                          <p:spTgt spid="13"/>
                                        </p:tgtEl>
                                      </p:cBhvr>
                                    </p:animEffect>
                                  </p:childTnLst>
                                </p:cTn>
                              </p:par>
                              <p:par>
                                <p:cTn id="84" presetID="22" presetClass="entr" presetSubtype="8" fill="hold" nodeType="with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wipe(left)">
                                      <p:cBhvr>
                                        <p:cTn id="86" dur="500"/>
                                        <p:tgtEl>
                                          <p:spTgt spid="1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2"/>
                                        </p:tgtEl>
                                        <p:attrNameLst>
                                          <p:attrName>style.visibility</p:attrName>
                                        </p:attrNameLst>
                                      </p:cBhvr>
                                      <p:to>
                                        <p:strVal val="visible"/>
                                      </p:to>
                                    </p:set>
                                    <p:animEffect transition="in" filter="wipe(left)">
                                      <p:cBhvr>
                                        <p:cTn id="91" dur="500"/>
                                        <p:tgtEl>
                                          <p:spTgt spid="22"/>
                                        </p:tgtEl>
                                      </p:cBhvr>
                                    </p:animEffect>
                                  </p:childTnLst>
                                </p:cTn>
                              </p:par>
                              <p:par>
                                <p:cTn id="92" presetID="22" presetClass="entr" presetSubtype="8" fill="hold" nodeType="with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wipe(left)">
                                      <p:cBhvr>
                                        <p:cTn id="94" dur="500"/>
                                        <p:tgtEl>
                                          <p:spTgt spid="23"/>
                                        </p:tgtEl>
                                      </p:cBhvr>
                                    </p:animEffect>
                                  </p:childTnLst>
                                </p:cTn>
                              </p:par>
                              <p:par>
                                <p:cTn id="95" presetID="22" presetClass="entr" presetSubtype="8" fill="hold" nodeType="with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wipe(left)">
                                      <p:cBhvr>
                                        <p:cTn id="9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17" grpId="0" animBg="1"/>
      <p:bldP spid="19"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a:t>
            </a:r>
          </a:p>
        </p:txBody>
      </p:sp>
      <p:sp>
        <p:nvSpPr>
          <p:cNvPr id="3" name="Content Placeholder 2"/>
          <p:cNvSpPr>
            <a:spLocks noGrp="1"/>
          </p:cNvSpPr>
          <p:nvPr>
            <p:ph idx="1"/>
          </p:nvPr>
        </p:nvSpPr>
        <p:spPr/>
        <p:txBody>
          <a:bodyPr/>
          <a:lstStyle/>
          <a:p>
            <a:r>
              <a:rPr lang="en-GB" dirty="0"/>
              <a:t>Relationship is an </a:t>
            </a:r>
            <a:r>
              <a:rPr lang="en-GB" b="1" dirty="0">
                <a:solidFill>
                  <a:schemeClr val="accent6"/>
                </a:solidFill>
              </a:rPr>
              <a:t>association</a:t>
            </a:r>
            <a:r>
              <a:rPr lang="en-GB" dirty="0"/>
              <a:t> (connection) between different entities.</a:t>
            </a:r>
          </a:p>
          <a:p>
            <a:r>
              <a:rPr lang="en-GB" dirty="0"/>
              <a:t>It should be placed between two entities and a line connecting it to an entity.</a:t>
            </a:r>
          </a:p>
          <a:p>
            <a:r>
              <a:rPr lang="en-GB" dirty="0"/>
              <a:t>A relationship is represented by a </a:t>
            </a:r>
            <a:r>
              <a:rPr lang="en-GB" b="1" dirty="0">
                <a:solidFill>
                  <a:schemeClr val="accent6"/>
                </a:solidFill>
              </a:rPr>
              <a:t>diamond</a:t>
            </a:r>
            <a:r>
              <a:rPr lang="en-GB" dirty="0"/>
              <a:t> symbol containing relationship's name.</a:t>
            </a:r>
          </a:p>
        </p:txBody>
      </p:sp>
      <p:sp>
        <p:nvSpPr>
          <p:cNvPr id="13" name="Diamond 12"/>
          <p:cNvSpPr/>
          <p:nvPr/>
        </p:nvSpPr>
        <p:spPr>
          <a:xfrm>
            <a:off x="3124620" y="2562785"/>
            <a:ext cx="3103172" cy="89263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Relationship Name</a:t>
            </a:r>
          </a:p>
        </p:txBody>
      </p:sp>
      <p:sp>
        <p:nvSpPr>
          <p:cNvPr id="14" name="TextBox 13"/>
          <p:cNvSpPr txBox="1"/>
          <p:nvPr/>
        </p:nvSpPr>
        <p:spPr>
          <a:xfrm>
            <a:off x="4185846" y="3578785"/>
            <a:ext cx="980720" cy="369332"/>
          </a:xfrm>
          <a:prstGeom prst="rect">
            <a:avLst/>
          </a:prstGeom>
          <a:noFill/>
        </p:spPr>
        <p:txBody>
          <a:bodyPr wrap="square" rtlCol="0">
            <a:spAutoFit/>
          </a:bodyPr>
          <a:lstStyle/>
          <a:p>
            <a:pPr algn="ctr"/>
            <a:r>
              <a:rPr lang="en-US" dirty="0"/>
              <a:t>Symbol</a:t>
            </a:r>
          </a:p>
        </p:txBody>
      </p:sp>
      <p:sp>
        <p:nvSpPr>
          <p:cNvPr id="22" name="Rectangle 21"/>
          <p:cNvSpPr/>
          <p:nvPr/>
        </p:nvSpPr>
        <p:spPr>
          <a:xfrm>
            <a:off x="1294302" y="4553494"/>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Student</a:t>
            </a:r>
          </a:p>
        </p:txBody>
      </p:sp>
      <p:sp>
        <p:nvSpPr>
          <p:cNvPr id="23" name="Rectangle 22"/>
          <p:cNvSpPr/>
          <p:nvPr/>
        </p:nvSpPr>
        <p:spPr>
          <a:xfrm>
            <a:off x="6474279" y="4553494"/>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Book</a:t>
            </a:r>
          </a:p>
        </p:txBody>
      </p:sp>
      <p:sp>
        <p:nvSpPr>
          <p:cNvPr id="24" name="Diamond 23"/>
          <p:cNvSpPr/>
          <p:nvPr/>
        </p:nvSpPr>
        <p:spPr>
          <a:xfrm>
            <a:off x="3868228" y="4479470"/>
            <a:ext cx="1724298" cy="89263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Issue</a:t>
            </a:r>
          </a:p>
        </p:txBody>
      </p:sp>
      <p:cxnSp>
        <p:nvCxnSpPr>
          <p:cNvPr id="25" name="Straight Connector 24"/>
          <p:cNvCxnSpPr/>
          <p:nvPr/>
        </p:nvCxnSpPr>
        <p:spPr>
          <a:xfrm>
            <a:off x="5592526" y="4925785"/>
            <a:ext cx="881753"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Connector 25"/>
          <p:cNvCxnSpPr/>
          <p:nvPr/>
        </p:nvCxnSpPr>
        <p:spPr>
          <a:xfrm>
            <a:off x="2986475" y="4925785"/>
            <a:ext cx="881753"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9808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animEffect transition="in" filter="fade">
                                      <p:cBhvr>
                                        <p:cTn id="23" dur="500"/>
                                        <p:tgtEl>
                                          <p:spTgt spid="13">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2">
                                            <p:txEl>
                                              <p:pRg st="0" end="0"/>
                                            </p:txEl>
                                          </p:spTgt>
                                        </p:tgtEl>
                                        <p:attrNameLst>
                                          <p:attrName>style.visibility</p:attrName>
                                        </p:attrNameLst>
                                      </p:cBhvr>
                                      <p:to>
                                        <p:strVal val="visible"/>
                                      </p:to>
                                    </p:set>
                                    <p:animEffect transition="in" filter="fade">
                                      <p:cBhvr>
                                        <p:cTn id="37" dur="500"/>
                                        <p:tgtEl>
                                          <p:spTgt spid="22">
                                            <p:txEl>
                                              <p:pRg st="0" end="0"/>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23">
                                            <p:txEl>
                                              <p:pRg st="0" end="0"/>
                                            </p:txEl>
                                          </p:spTgt>
                                        </p:tgtEl>
                                        <p:attrNameLst>
                                          <p:attrName>style.visibility</p:attrName>
                                        </p:attrNameLst>
                                      </p:cBhvr>
                                      <p:to>
                                        <p:strVal val="visible"/>
                                      </p:to>
                                    </p:set>
                                    <p:animEffect transition="in" filter="fade">
                                      <p:cBhvr>
                                        <p:cTn id="40" dur="500"/>
                                        <p:tgtEl>
                                          <p:spTgt spid="23">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6" presetID="10" presetClass="entr" presetSubtype="0" fill="hold" nodeType="withEffect">
                                  <p:stCondLst>
                                    <p:cond delay="0"/>
                                  </p:stCondLst>
                                  <p:childTnLst>
                                    <p:set>
                                      <p:cBhvr>
                                        <p:cTn id="47" dur="1" fill="hold">
                                          <p:stCondLst>
                                            <p:cond delay="0"/>
                                          </p:stCondLst>
                                        </p:cTn>
                                        <p:tgtEl>
                                          <p:spTgt spid="24">
                                            <p:txEl>
                                              <p:pRg st="0" end="0"/>
                                            </p:txEl>
                                          </p:spTgt>
                                        </p:tgtEl>
                                        <p:attrNameLst>
                                          <p:attrName>style.visibility</p:attrName>
                                        </p:attrNameLst>
                                      </p:cBhvr>
                                      <p:to>
                                        <p:strVal val="visible"/>
                                      </p:to>
                                    </p:set>
                                    <p:animEffect transition="in" filter="fade">
                                      <p:cBhvr>
                                        <p:cTn id="48" dur="500"/>
                                        <p:tgtEl>
                                          <p:spTgt spid="24">
                                            <p:txEl>
                                              <p:pRg st="0" end="0"/>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2" presetID="10" presetClass="entr" presetSubtype="0" fill="hold"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22" grpId="0" animBg="1"/>
      <p:bldP spid="23"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 of a Library System</a:t>
            </a:r>
          </a:p>
        </p:txBody>
      </p:sp>
      <p:sp>
        <p:nvSpPr>
          <p:cNvPr id="4" name="Content Placeholder 3"/>
          <p:cNvSpPr>
            <a:spLocks noGrp="1"/>
          </p:cNvSpPr>
          <p:nvPr>
            <p:ph idx="1"/>
          </p:nvPr>
        </p:nvSpPr>
        <p:spPr/>
        <p:txBody>
          <a:bodyPr/>
          <a:lstStyle/>
          <a:p>
            <a:endParaRPr lang="en-GB" dirty="0"/>
          </a:p>
        </p:txBody>
      </p:sp>
      <p:sp>
        <p:nvSpPr>
          <p:cNvPr id="49" name="Rectangle 48"/>
          <p:cNvSpPr/>
          <p:nvPr/>
        </p:nvSpPr>
        <p:spPr>
          <a:xfrm>
            <a:off x="2963114" y="2733157"/>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Student</a:t>
            </a:r>
          </a:p>
        </p:txBody>
      </p:sp>
      <p:sp>
        <p:nvSpPr>
          <p:cNvPr id="50" name="Rectangle 49"/>
          <p:cNvSpPr/>
          <p:nvPr/>
        </p:nvSpPr>
        <p:spPr>
          <a:xfrm>
            <a:off x="8143091" y="2728801"/>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Book</a:t>
            </a:r>
          </a:p>
        </p:txBody>
      </p:sp>
      <p:sp>
        <p:nvSpPr>
          <p:cNvPr id="51" name="Diamond 50"/>
          <p:cNvSpPr/>
          <p:nvPr/>
        </p:nvSpPr>
        <p:spPr>
          <a:xfrm>
            <a:off x="5537040" y="2654777"/>
            <a:ext cx="1724298" cy="89263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Issue</a:t>
            </a:r>
          </a:p>
        </p:txBody>
      </p:sp>
      <p:cxnSp>
        <p:nvCxnSpPr>
          <p:cNvPr id="52" name="Straight Connector 51"/>
          <p:cNvCxnSpPr>
            <a:stCxn id="51" idx="3"/>
            <a:endCxn id="50" idx="1"/>
          </p:cNvCxnSpPr>
          <p:nvPr/>
        </p:nvCxnSpPr>
        <p:spPr>
          <a:xfrm>
            <a:off x="7261338" y="3101092"/>
            <a:ext cx="881753"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p:cNvCxnSpPr/>
          <p:nvPr/>
        </p:nvCxnSpPr>
        <p:spPr>
          <a:xfrm>
            <a:off x="4655287" y="3101092"/>
            <a:ext cx="881753"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p:cNvCxnSpPr>
            <a:stCxn id="55" idx="4"/>
            <a:endCxn id="49" idx="0"/>
          </p:cNvCxnSpPr>
          <p:nvPr/>
        </p:nvCxnSpPr>
        <p:spPr>
          <a:xfrm>
            <a:off x="2848811" y="2297184"/>
            <a:ext cx="963389" cy="435973"/>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55" name="Oval 54"/>
          <p:cNvSpPr/>
          <p:nvPr/>
        </p:nvSpPr>
        <p:spPr>
          <a:xfrm>
            <a:off x="2117291" y="1874274"/>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u="sng" dirty="0" err="1">
                <a:solidFill>
                  <a:schemeClr val="tx1"/>
                </a:solidFill>
              </a:rPr>
              <a:t>RollNo</a:t>
            </a:r>
            <a:endParaRPr lang="en-US" u="sng" dirty="0">
              <a:solidFill>
                <a:schemeClr val="tx1"/>
              </a:solidFill>
            </a:endParaRPr>
          </a:p>
        </p:txBody>
      </p:sp>
      <p:cxnSp>
        <p:nvCxnSpPr>
          <p:cNvPr id="56" name="Straight Connector 55"/>
          <p:cNvCxnSpPr>
            <a:stCxn id="57" idx="4"/>
            <a:endCxn id="49" idx="0"/>
          </p:cNvCxnSpPr>
          <p:nvPr/>
        </p:nvCxnSpPr>
        <p:spPr>
          <a:xfrm flipH="1">
            <a:off x="3812200" y="2274773"/>
            <a:ext cx="654734" cy="458384"/>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57" name="Oval 56"/>
          <p:cNvSpPr/>
          <p:nvPr/>
        </p:nvSpPr>
        <p:spPr>
          <a:xfrm>
            <a:off x="3735414" y="1851863"/>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Name</a:t>
            </a:r>
          </a:p>
        </p:txBody>
      </p:sp>
      <p:cxnSp>
        <p:nvCxnSpPr>
          <p:cNvPr id="58" name="Straight Connector 57"/>
          <p:cNvCxnSpPr/>
          <p:nvPr/>
        </p:nvCxnSpPr>
        <p:spPr>
          <a:xfrm flipH="1">
            <a:off x="2981400" y="3473384"/>
            <a:ext cx="830800" cy="404874"/>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59" name="Oval 58"/>
          <p:cNvSpPr/>
          <p:nvPr/>
        </p:nvSpPr>
        <p:spPr>
          <a:xfrm>
            <a:off x="2231594" y="3883968"/>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Branch</a:t>
            </a:r>
          </a:p>
        </p:txBody>
      </p:sp>
      <p:sp>
        <p:nvSpPr>
          <p:cNvPr id="60" name="Oval 59"/>
          <p:cNvSpPr/>
          <p:nvPr/>
        </p:nvSpPr>
        <p:spPr>
          <a:xfrm>
            <a:off x="3867945" y="3896789"/>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err="1">
                <a:solidFill>
                  <a:schemeClr val="tx1"/>
                </a:solidFill>
              </a:rPr>
              <a:t>Sem</a:t>
            </a:r>
            <a:endParaRPr lang="en-US" dirty="0">
              <a:solidFill>
                <a:schemeClr val="tx1"/>
              </a:solidFill>
            </a:endParaRPr>
          </a:p>
        </p:txBody>
      </p:sp>
      <p:cxnSp>
        <p:nvCxnSpPr>
          <p:cNvPr id="61" name="Straight Connector 60"/>
          <p:cNvCxnSpPr>
            <a:stCxn id="49" idx="2"/>
            <a:endCxn id="60" idx="0"/>
          </p:cNvCxnSpPr>
          <p:nvPr/>
        </p:nvCxnSpPr>
        <p:spPr>
          <a:xfrm>
            <a:off x="3812200" y="3477740"/>
            <a:ext cx="787265" cy="419049"/>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cxnSp>
        <p:nvCxnSpPr>
          <p:cNvPr id="62" name="Straight Connector 61"/>
          <p:cNvCxnSpPr>
            <a:stCxn id="63" idx="4"/>
          </p:cNvCxnSpPr>
          <p:nvPr/>
        </p:nvCxnSpPr>
        <p:spPr>
          <a:xfrm>
            <a:off x="8090576" y="2293171"/>
            <a:ext cx="963389" cy="435973"/>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63" name="Oval 62"/>
          <p:cNvSpPr/>
          <p:nvPr/>
        </p:nvSpPr>
        <p:spPr>
          <a:xfrm>
            <a:off x="7359056" y="1870261"/>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u="sng" dirty="0" err="1">
                <a:solidFill>
                  <a:schemeClr val="tx1"/>
                </a:solidFill>
              </a:rPr>
              <a:t>BookNo</a:t>
            </a:r>
            <a:endParaRPr lang="en-US" u="sng" dirty="0">
              <a:solidFill>
                <a:schemeClr val="tx1"/>
              </a:solidFill>
            </a:endParaRPr>
          </a:p>
        </p:txBody>
      </p:sp>
      <p:cxnSp>
        <p:nvCxnSpPr>
          <p:cNvPr id="64" name="Straight Connector 63"/>
          <p:cNvCxnSpPr>
            <a:stCxn id="65" idx="4"/>
          </p:cNvCxnSpPr>
          <p:nvPr/>
        </p:nvCxnSpPr>
        <p:spPr>
          <a:xfrm flipH="1">
            <a:off x="9053965" y="2270760"/>
            <a:ext cx="654734" cy="458384"/>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65" name="Oval 64"/>
          <p:cNvSpPr/>
          <p:nvPr/>
        </p:nvSpPr>
        <p:spPr>
          <a:xfrm>
            <a:off x="8977179" y="1847850"/>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Name</a:t>
            </a:r>
          </a:p>
        </p:txBody>
      </p:sp>
      <p:cxnSp>
        <p:nvCxnSpPr>
          <p:cNvPr id="66" name="Straight Connector 65"/>
          <p:cNvCxnSpPr/>
          <p:nvPr/>
        </p:nvCxnSpPr>
        <p:spPr>
          <a:xfrm flipH="1">
            <a:off x="8223165" y="3469371"/>
            <a:ext cx="830800" cy="404874"/>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67" name="Oval 66"/>
          <p:cNvSpPr/>
          <p:nvPr/>
        </p:nvSpPr>
        <p:spPr>
          <a:xfrm>
            <a:off x="7473359" y="3879955"/>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Author</a:t>
            </a:r>
          </a:p>
        </p:txBody>
      </p:sp>
      <p:sp>
        <p:nvSpPr>
          <p:cNvPr id="68" name="Oval 67"/>
          <p:cNvSpPr/>
          <p:nvPr/>
        </p:nvSpPr>
        <p:spPr>
          <a:xfrm>
            <a:off x="9109710" y="3892776"/>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Price</a:t>
            </a:r>
          </a:p>
        </p:txBody>
      </p:sp>
      <p:cxnSp>
        <p:nvCxnSpPr>
          <p:cNvPr id="69" name="Straight Connector 68"/>
          <p:cNvCxnSpPr>
            <a:endCxn id="68" idx="0"/>
          </p:cNvCxnSpPr>
          <p:nvPr/>
        </p:nvCxnSpPr>
        <p:spPr>
          <a:xfrm>
            <a:off x="9053965" y="3473727"/>
            <a:ext cx="787265" cy="419049"/>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70" name="Rounded Rectangular Callout 69"/>
          <p:cNvSpPr/>
          <p:nvPr/>
        </p:nvSpPr>
        <p:spPr>
          <a:xfrm>
            <a:off x="2247003" y="1162050"/>
            <a:ext cx="1368000" cy="457200"/>
          </a:xfrm>
          <a:prstGeom prst="wedgeRoundRectCallout">
            <a:avLst>
              <a:gd name="adj1" fmla="val -30669"/>
              <a:gd name="adj2" fmla="val 108681"/>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Primary Key</a:t>
            </a:r>
          </a:p>
        </p:txBody>
      </p:sp>
      <p:sp>
        <p:nvSpPr>
          <p:cNvPr id="71" name="Rounded Rectangular Callout 70"/>
          <p:cNvSpPr/>
          <p:nvPr/>
        </p:nvSpPr>
        <p:spPr>
          <a:xfrm>
            <a:off x="7299750" y="1162050"/>
            <a:ext cx="1368000" cy="457200"/>
          </a:xfrm>
          <a:prstGeom prst="wedgeRoundRectCallout">
            <a:avLst>
              <a:gd name="adj1" fmla="val 28747"/>
              <a:gd name="adj2" fmla="val 105904"/>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Primary Key</a:t>
            </a:r>
          </a:p>
        </p:txBody>
      </p:sp>
      <p:sp>
        <p:nvSpPr>
          <p:cNvPr id="72" name="Rounded Rectangle 71"/>
          <p:cNvSpPr/>
          <p:nvPr/>
        </p:nvSpPr>
        <p:spPr>
          <a:xfrm>
            <a:off x="5704727" y="3831373"/>
            <a:ext cx="1412988" cy="457200"/>
          </a:xfrm>
          <a:prstGeom prst="round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Entities</a:t>
            </a:r>
            <a:endParaRPr lang="en-US" b="1" dirty="0">
              <a:solidFill>
                <a:schemeClr val="tx1"/>
              </a:solidFill>
            </a:endParaRPr>
          </a:p>
        </p:txBody>
      </p:sp>
      <p:cxnSp>
        <p:nvCxnSpPr>
          <p:cNvPr id="73" name="Straight Arrow Connector 72"/>
          <p:cNvCxnSpPr/>
          <p:nvPr/>
        </p:nvCxnSpPr>
        <p:spPr>
          <a:xfrm flipV="1">
            <a:off x="6925697" y="3477743"/>
            <a:ext cx="1217394" cy="623439"/>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H="1" flipV="1">
            <a:off x="4664071" y="3473385"/>
            <a:ext cx="1220970" cy="579865"/>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5" name="Rounded Rectangle 74"/>
          <p:cNvSpPr/>
          <p:nvPr/>
        </p:nvSpPr>
        <p:spPr>
          <a:xfrm>
            <a:off x="5667669" y="1386253"/>
            <a:ext cx="1463040" cy="457200"/>
          </a:xfrm>
          <a:prstGeom prst="round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Attributes</a:t>
            </a:r>
            <a:endParaRPr lang="en-US" b="1" dirty="0">
              <a:solidFill>
                <a:schemeClr val="tx1"/>
              </a:solidFill>
            </a:endParaRPr>
          </a:p>
        </p:txBody>
      </p:sp>
      <p:cxnSp>
        <p:nvCxnSpPr>
          <p:cNvPr id="76" name="Straight Arrow Connector 75"/>
          <p:cNvCxnSpPr>
            <a:endCxn id="63" idx="2"/>
          </p:cNvCxnSpPr>
          <p:nvPr/>
        </p:nvCxnSpPr>
        <p:spPr>
          <a:xfrm>
            <a:off x="7009818" y="1736659"/>
            <a:ext cx="349238" cy="345057"/>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endCxn id="57" idx="6"/>
          </p:cNvCxnSpPr>
          <p:nvPr/>
        </p:nvCxnSpPr>
        <p:spPr>
          <a:xfrm flipH="1">
            <a:off x="5198454" y="1737726"/>
            <a:ext cx="567475" cy="325592"/>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8" name="Rounded Rectangle 77"/>
          <p:cNvSpPr/>
          <p:nvPr/>
        </p:nvSpPr>
        <p:spPr>
          <a:xfrm>
            <a:off x="5476874" y="1924050"/>
            <a:ext cx="1828800" cy="457200"/>
          </a:xfrm>
          <a:prstGeom prst="round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Relationship</a:t>
            </a:r>
            <a:endParaRPr lang="en-US" dirty="0">
              <a:solidFill>
                <a:schemeClr val="tx1"/>
              </a:solidFill>
            </a:endParaRPr>
          </a:p>
        </p:txBody>
      </p:sp>
      <p:cxnSp>
        <p:nvCxnSpPr>
          <p:cNvPr id="79" name="Straight Arrow Connector 78"/>
          <p:cNvCxnSpPr/>
          <p:nvPr/>
        </p:nvCxnSpPr>
        <p:spPr>
          <a:xfrm>
            <a:off x="6391274" y="2292349"/>
            <a:ext cx="7915" cy="365760"/>
          </a:xfrm>
          <a:prstGeom prst="straightConnector1">
            <a:avLst/>
          </a:prstGeom>
          <a:ln w="28575">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Rounded Rectangular Callout 79"/>
          <p:cNvSpPr/>
          <p:nvPr/>
        </p:nvSpPr>
        <p:spPr>
          <a:xfrm>
            <a:off x="2557274" y="4746997"/>
            <a:ext cx="7668000" cy="1188000"/>
          </a:xfrm>
          <a:prstGeom prst="wedgeRoundRectCallout">
            <a:avLst>
              <a:gd name="adj1" fmla="val -46835"/>
              <a:gd name="adj2" fmla="val 1908"/>
              <a:gd name="adj3" fmla="val 16667"/>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GB" sz="2400" dirty="0">
                <a:solidFill>
                  <a:schemeClr val="lt1"/>
                </a:solidFill>
              </a:rPr>
              <a:t>Each and every entity must have one primary key attribute.</a:t>
            </a:r>
          </a:p>
          <a:p>
            <a:pPr algn="ctr"/>
            <a:r>
              <a:rPr lang="en-GB" sz="2400" dirty="0">
                <a:solidFill>
                  <a:schemeClr val="lt1"/>
                </a:solidFill>
              </a:rPr>
              <a:t>Relationship between 2 entities is called binary relationship.</a:t>
            </a:r>
            <a:endParaRPr lang="en-US" sz="2400" dirty="0">
              <a:solidFill>
                <a:schemeClr val="lt1"/>
              </a:solidFill>
            </a:endParaRPr>
          </a:p>
        </p:txBody>
      </p:sp>
    </p:spTree>
    <p:extLst>
      <p:ext uri="{BB962C8B-B14F-4D97-AF65-F5344CB8AC3E}">
        <p14:creationId xmlns:p14="http://schemas.microsoft.com/office/powerpoint/2010/main" val="3162715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fade">
                                      <p:cBhvr>
                                        <p:cTn id="10" dur="500"/>
                                        <p:tgtEl>
                                          <p:spTgt spid="50"/>
                                        </p:tgtEl>
                                      </p:cBhvr>
                                    </p:animEffect>
                                  </p:childTnLst>
                                </p:cTn>
                              </p:par>
                              <p:par>
                                <p:cTn id="11" presetID="10" presetClass="entr" presetSubtype="0" fill="hold" nodeType="withEffect">
                                  <p:stCondLst>
                                    <p:cond delay="0"/>
                                  </p:stCondLst>
                                  <p:childTnLst>
                                    <p:set>
                                      <p:cBhvr>
                                        <p:cTn id="12" dur="1" fill="hold">
                                          <p:stCondLst>
                                            <p:cond delay="0"/>
                                          </p:stCondLst>
                                        </p:cTn>
                                        <p:tgtEl>
                                          <p:spTgt spid="49">
                                            <p:txEl>
                                              <p:pRg st="0" end="0"/>
                                            </p:txEl>
                                          </p:spTgt>
                                        </p:tgtEl>
                                        <p:attrNameLst>
                                          <p:attrName>style.visibility</p:attrName>
                                        </p:attrNameLst>
                                      </p:cBhvr>
                                      <p:to>
                                        <p:strVal val="visible"/>
                                      </p:to>
                                    </p:set>
                                    <p:animEffect transition="in" filter="fade">
                                      <p:cBhvr>
                                        <p:cTn id="13" dur="500"/>
                                        <p:tgtEl>
                                          <p:spTgt spid="49">
                                            <p:txEl>
                                              <p:pRg st="0" end="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0">
                                            <p:txEl>
                                              <p:pRg st="0" end="0"/>
                                            </p:txEl>
                                          </p:spTgt>
                                        </p:tgtEl>
                                        <p:attrNameLst>
                                          <p:attrName>style.visibility</p:attrName>
                                        </p:attrNameLst>
                                      </p:cBhvr>
                                      <p:to>
                                        <p:strVal val="visible"/>
                                      </p:to>
                                    </p:set>
                                    <p:animEffect transition="in" filter="fade">
                                      <p:cBhvr>
                                        <p:cTn id="16" dur="500"/>
                                        <p:tgtEl>
                                          <p:spTgt spid="5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2"/>
                                        </p:tgtEl>
                                        <p:attrNameLst>
                                          <p:attrName>style.visibility</p:attrName>
                                        </p:attrNameLst>
                                      </p:cBhvr>
                                      <p:to>
                                        <p:strVal val="visible"/>
                                      </p:to>
                                    </p:set>
                                    <p:animEffect transition="in" filter="fade">
                                      <p:cBhvr>
                                        <p:cTn id="21" dur="500"/>
                                        <p:tgtEl>
                                          <p:spTgt spid="72"/>
                                        </p:tgtEl>
                                      </p:cBhvr>
                                    </p:animEffect>
                                  </p:childTnLst>
                                </p:cTn>
                              </p:par>
                              <p:par>
                                <p:cTn id="22" presetID="10" presetClass="entr" presetSubtype="0" fill="hold" nodeType="withEffect">
                                  <p:stCondLst>
                                    <p:cond delay="0"/>
                                  </p:stCondLst>
                                  <p:childTnLst>
                                    <p:set>
                                      <p:cBhvr>
                                        <p:cTn id="23" dur="1" fill="hold">
                                          <p:stCondLst>
                                            <p:cond delay="0"/>
                                          </p:stCondLst>
                                        </p:cTn>
                                        <p:tgtEl>
                                          <p:spTgt spid="74"/>
                                        </p:tgtEl>
                                        <p:attrNameLst>
                                          <p:attrName>style.visibility</p:attrName>
                                        </p:attrNameLst>
                                      </p:cBhvr>
                                      <p:to>
                                        <p:strVal val="visible"/>
                                      </p:to>
                                    </p:set>
                                    <p:animEffect transition="in" filter="fade">
                                      <p:cBhvr>
                                        <p:cTn id="24" dur="500"/>
                                        <p:tgtEl>
                                          <p:spTgt spid="74"/>
                                        </p:tgtEl>
                                      </p:cBhvr>
                                    </p:animEffect>
                                  </p:childTnLst>
                                </p:cTn>
                              </p:par>
                              <p:par>
                                <p:cTn id="25" presetID="10" presetClass="entr" presetSubtype="0" fill="hold" nodeType="with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fade">
                                      <p:cBhvr>
                                        <p:cTn id="27" dur="500"/>
                                        <p:tgtEl>
                                          <p:spTgt spid="7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fade">
                                      <p:cBhvr>
                                        <p:cTn id="32" dur="500"/>
                                        <p:tgtEl>
                                          <p:spTgt spid="55"/>
                                        </p:tgtEl>
                                      </p:cBhvr>
                                    </p:animEffect>
                                  </p:childTnLst>
                                </p:cTn>
                              </p:par>
                              <p:par>
                                <p:cTn id="33" presetID="10" presetClass="entr" presetSubtype="0" fill="hold" nodeType="withEffect">
                                  <p:stCondLst>
                                    <p:cond delay="0"/>
                                  </p:stCondLst>
                                  <p:childTnLst>
                                    <p:set>
                                      <p:cBhvr>
                                        <p:cTn id="34" dur="1" fill="hold">
                                          <p:stCondLst>
                                            <p:cond delay="0"/>
                                          </p:stCondLst>
                                        </p:cTn>
                                        <p:tgtEl>
                                          <p:spTgt spid="54"/>
                                        </p:tgtEl>
                                        <p:attrNameLst>
                                          <p:attrName>style.visibility</p:attrName>
                                        </p:attrNameLst>
                                      </p:cBhvr>
                                      <p:to>
                                        <p:strVal val="visible"/>
                                      </p:to>
                                    </p:set>
                                    <p:animEffect transition="in" filter="fade">
                                      <p:cBhvr>
                                        <p:cTn id="35" dur="500"/>
                                        <p:tgtEl>
                                          <p:spTgt spid="5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fade">
                                      <p:cBhvr>
                                        <p:cTn id="40" dur="500"/>
                                        <p:tgtEl>
                                          <p:spTgt spid="57"/>
                                        </p:tgtEl>
                                      </p:cBhvr>
                                    </p:animEffect>
                                  </p:childTnLst>
                                </p:cTn>
                              </p:par>
                              <p:par>
                                <p:cTn id="41" presetID="10" presetClass="entr" presetSubtype="0"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fade">
                                      <p:cBhvr>
                                        <p:cTn id="43" dur="500"/>
                                        <p:tgtEl>
                                          <p:spTgt spid="5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9"/>
                                        </p:tgtEl>
                                        <p:attrNameLst>
                                          <p:attrName>style.visibility</p:attrName>
                                        </p:attrNameLst>
                                      </p:cBhvr>
                                      <p:to>
                                        <p:strVal val="visible"/>
                                      </p:to>
                                    </p:set>
                                    <p:animEffect transition="in" filter="fade">
                                      <p:cBhvr>
                                        <p:cTn id="48" dur="500"/>
                                        <p:tgtEl>
                                          <p:spTgt spid="59"/>
                                        </p:tgtEl>
                                      </p:cBhvr>
                                    </p:animEffect>
                                  </p:childTnLst>
                                </p:cTn>
                              </p:par>
                              <p:par>
                                <p:cTn id="49" presetID="10" presetClass="entr" presetSubtype="0" fill="hold" nodeType="withEffect">
                                  <p:stCondLst>
                                    <p:cond delay="0"/>
                                  </p:stCondLst>
                                  <p:childTnLst>
                                    <p:set>
                                      <p:cBhvr>
                                        <p:cTn id="50" dur="1" fill="hold">
                                          <p:stCondLst>
                                            <p:cond delay="0"/>
                                          </p:stCondLst>
                                        </p:cTn>
                                        <p:tgtEl>
                                          <p:spTgt spid="58"/>
                                        </p:tgtEl>
                                        <p:attrNameLst>
                                          <p:attrName>style.visibility</p:attrName>
                                        </p:attrNameLst>
                                      </p:cBhvr>
                                      <p:to>
                                        <p:strVal val="visible"/>
                                      </p:to>
                                    </p:set>
                                    <p:animEffect transition="in" filter="fade">
                                      <p:cBhvr>
                                        <p:cTn id="51" dur="500"/>
                                        <p:tgtEl>
                                          <p:spTgt spid="5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60"/>
                                        </p:tgtEl>
                                        <p:attrNameLst>
                                          <p:attrName>style.visibility</p:attrName>
                                        </p:attrNameLst>
                                      </p:cBhvr>
                                      <p:to>
                                        <p:strVal val="visible"/>
                                      </p:to>
                                    </p:set>
                                    <p:animEffect transition="in" filter="fade">
                                      <p:cBhvr>
                                        <p:cTn id="56" dur="500"/>
                                        <p:tgtEl>
                                          <p:spTgt spid="60"/>
                                        </p:tgtEl>
                                      </p:cBhvr>
                                    </p:animEffect>
                                  </p:childTnLst>
                                </p:cTn>
                              </p:par>
                              <p:par>
                                <p:cTn id="57" presetID="10" presetClass="entr" presetSubtype="0" fill="hold" nodeType="withEffect">
                                  <p:stCondLst>
                                    <p:cond delay="0"/>
                                  </p:stCondLst>
                                  <p:childTnLst>
                                    <p:set>
                                      <p:cBhvr>
                                        <p:cTn id="58" dur="1" fill="hold">
                                          <p:stCondLst>
                                            <p:cond delay="0"/>
                                          </p:stCondLst>
                                        </p:cTn>
                                        <p:tgtEl>
                                          <p:spTgt spid="61"/>
                                        </p:tgtEl>
                                        <p:attrNameLst>
                                          <p:attrName>style.visibility</p:attrName>
                                        </p:attrNameLst>
                                      </p:cBhvr>
                                      <p:to>
                                        <p:strVal val="visible"/>
                                      </p:to>
                                    </p:set>
                                    <p:animEffect transition="in" filter="fade">
                                      <p:cBhvr>
                                        <p:cTn id="59" dur="500"/>
                                        <p:tgtEl>
                                          <p:spTgt spid="6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63"/>
                                        </p:tgtEl>
                                        <p:attrNameLst>
                                          <p:attrName>style.visibility</p:attrName>
                                        </p:attrNameLst>
                                      </p:cBhvr>
                                      <p:to>
                                        <p:strVal val="visible"/>
                                      </p:to>
                                    </p:set>
                                    <p:animEffect transition="in" filter="fade">
                                      <p:cBhvr>
                                        <p:cTn id="64" dur="500"/>
                                        <p:tgtEl>
                                          <p:spTgt spid="63"/>
                                        </p:tgtEl>
                                      </p:cBhvr>
                                    </p:animEffect>
                                  </p:childTnLst>
                                </p:cTn>
                              </p:par>
                              <p:par>
                                <p:cTn id="65" presetID="10" presetClass="entr" presetSubtype="0" fill="hold" nodeType="withEffect">
                                  <p:stCondLst>
                                    <p:cond delay="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500"/>
                                        <p:tgtEl>
                                          <p:spTgt spid="6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65"/>
                                        </p:tgtEl>
                                        <p:attrNameLst>
                                          <p:attrName>style.visibility</p:attrName>
                                        </p:attrNameLst>
                                      </p:cBhvr>
                                      <p:to>
                                        <p:strVal val="visible"/>
                                      </p:to>
                                    </p:set>
                                    <p:animEffect transition="in" filter="fade">
                                      <p:cBhvr>
                                        <p:cTn id="72" dur="500"/>
                                        <p:tgtEl>
                                          <p:spTgt spid="65"/>
                                        </p:tgtEl>
                                      </p:cBhvr>
                                    </p:animEffect>
                                  </p:childTnLst>
                                </p:cTn>
                              </p:par>
                              <p:par>
                                <p:cTn id="73" presetID="10" presetClass="entr" presetSubtype="0" fill="hold" nodeType="withEffect">
                                  <p:stCondLst>
                                    <p:cond delay="0"/>
                                  </p:stCondLst>
                                  <p:childTnLst>
                                    <p:set>
                                      <p:cBhvr>
                                        <p:cTn id="74" dur="1" fill="hold">
                                          <p:stCondLst>
                                            <p:cond delay="0"/>
                                          </p:stCondLst>
                                        </p:cTn>
                                        <p:tgtEl>
                                          <p:spTgt spid="64"/>
                                        </p:tgtEl>
                                        <p:attrNameLst>
                                          <p:attrName>style.visibility</p:attrName>
                                        </p:attrNameLst>
                                      </p:cBhvr>
                                      <p:to>
                                        <p:strVal val="visible"/>
                                      </p:to>
                                    </p:set>
                                    <p:animEffect transition="in" filter="fade">
                                      <p:cBhvr>
                                        <p:cTn id="75" dur="500"/>
                                        <p:tgtEl>
                                          <p:spTgt spid="64"/>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67"/>
                                        </p:tgtEl>
                                        <p:attrNameLst>
                                          <p:attrName>style.visibility</p:attrName>
                                        </p:attrNameLst>
                                      </p:cBhvr>
                                      <p:to>
                                        <p:strVal val="visible"/>
                                      </p:to>
                                    </p:set>
                                    <p:animEffect transition="in" filter="fade">
                                      <p:cBhvr>
                                        <p:cTn id="80" dur="500"/>
                                        <p:tgtEl>
                                          <p:spTgt spid="67"/>
                                        </p:tgtEl>
                                      </p:cBhvr>
                                    </p:animEffect>
                                  </p:childTnLst>
                                </p:cTn>
                              </p:par>
                              <p:par>
                                <p:cTn id="81" presetID="10" presetClass="entr" presetSubtype="0" fill="hold" nodeType="withEffect">
                                  <p:stCondLst>
                                    <p:cond delay="0"/>
                                  </p:stCondLst>
                                  <p:childTnLst>
                                    <p:set>
                                      <p:cBhvr>
                                        <p:cTn id="82" dur="1" fill="hold">
                                          <p:stCondLst>
                                            <p:cond delay="0"/>
                                          </p:stCondLst>
                                        </p:cTn>
                                        <p:tgtEl>
                                          <p:spTgt spid="66"/>
                                        </p:tgtEl>
                                        <p:attrNameLst>
                                          <p:attrName>style.visibility</p:attrName>
                                        </p:attrNameLst>
                                      </p:cBhvr>
                                      <p:to>
                                        <p:strVal val="visible"/>
                                      </p:to>
                                    </p:set>
                                    <p:animEffect transition="in" filter="fade">
                                      <p:cBhvr>
                                        <p:cTn id="83" dur="500"/>
                                        <p:tgtEl>
                                          <p:spTgt spid="66"/>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68"/>
                                        </p:tgtEl>
                                        <p:attrNameLst>
                                          <p:attrName>style.visibility</p:attrName>
                                        </p:attrNameLst>
                                      </p:cBhvr>
                                      <p:to>
                                        <p:strVal val="visible"/>
                                      </p:to>
                                    </p:set>
                                    <p:animEffect transition="in" filter="fade">
                                      <p:cBhvr>
                                        <p:cTn id="88" dur="500"/>
                                        <p:tgtEl>
                                          <p:spTgt spid="68"/>
                                        </p:tgtEl>
                                      </p:cBhvr>
                                    </p:animEffect>
                                  </p:childTnLst>
                                </p:cTn>
                              </p:par>
                              <p:par>
                                <p:cTn id="89" presetID="10" presetClass="entr" presetSubtype="0" fill="hold" nodeType="withEffect">
                                  <p:stCondLst>
                                    <p:cond delay="0"/>
                                  </p:stCondLst>
                                  <p:childTnLst>
                                    <p:set>
                                      <p:cBhvr>
                                        <p:cTn id="90" dur="1" fill="hold">
                                          <p:stCondLst>
                                            <p:cond delay="0"/>
                                          </p:stCondLst>
                                        </p:cTn>
                                        <p:tgtEl>
                                          <p:spTgt spid="69"/>
                                        </p:tgtEl>
                                        <p:attrNameLst>
                                          <p:attrName>style.visibility</p:attrName>
                                        </p:attrNameLst>
                                      </p:cBhvr>
                                      <p:to>
                                        <p:strVal val="visible"/>
                                      </p:to>
                                    </p:set>
                                    <p:animEffect transition="in" filter="fade">
                                      <p:cBhvr>
                                        <p:cTn id="91" dur="500"/>
                                        <p:tgtEl>
                                          <p:spTgt spid="6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77"/>
                                        </p:tgtEl>
                                        <p:attrNameLst>
                                          <p:attrName>style.visibility</p:attrName>
                                        </p:attrNameLst>
                                      </p:cBhvr>
                                      <p:to>
                                        <p:strVal val="visible"/>
                                      </p:to>
                                    </p:set>
                                    <p:animEffect transition="in" filter="fade">
                                      <p:cBhvr>
                                        <p:cTn id="96" dur="500"/>
                                        <p:tgtEl>
                                          <p:spTgt spid="77"/>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75"/>
                                        </p:tgtEl>
                                        <p:attrNameLst>
                                          <p:attrName>style.visibility</p:attrName>
                                        </p:attrNameLst>
                                      </p:cBhvr>
                                      <p:to>
                                        <p:strVal val="visible"/>
                                      </p:to>
                                    </p:set>
                                    <p:animEffect transition="in" filter="fade">
                                      <p:cBhvr>
                                        <p:cTn id="99" dur="500"/>
                                        <p:tgtEl>
                                          <p:spTgt spid="75"/>
                                        </p:tgtEl>
                                      </p:cBhvr>
                                    </p:animEffect>
                                  </p:childTnLst>
                                </p:cTn>
                              </p:par>
                              <p:par>
                                <p:cTn id="100" presetID="10" presetClass="entr" presetSubtype="0" fill="hold" nodeType="withEffect">
                                  <p:stCondLst>
                                    <p:cond delay="0"/>
                                  </p:stCondLst>
                                  <p:childTnLst>
                                    <p:set>
                                      <p:cBhvr>
                                        <p:cTn id="101" dur="1" fill="hold">
                                          <p:stCondLst>
                                            <p:cond delay="0"/>
                                          </p:stCondLst>
                                        </p:cTn>
                                        <p:tgtEl>
                                          <p:spTgt spid="76"/>
                                        </p:tgtEl>
                                        <p:attrNameLst>
                                          <p:attrName>style.visibility</p:attrName>
                                        </p:attrNameLst>
                                      </p:cBhvr>
                                      <p:to>
                                        <p:strVal val="visible"/>
                                      </p:to>
                                    </p:set>
                                    <p:animEffect transition="in" filter="fade">
                                      <p:cBhvr>
                                        <p:cTn id="102" dur="500"/>
                                        <p:tgtEl>
                                          <p:spTgt spid="76"/>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500"/>
                                        <p:tgtEl>
                                          <p:spTgt spid="51"/>
                                        </p:tgtEl>
                                      </p:cBhvr>
                                    </p:animEffect>
                                  </p:childTnLst>
                                </p:cTn>
                              </p:par>
                              <p:par>
                                <p:cTn id="108" presetID="10" presetClass="entr" presetSubtype="0" fill="hold" nodeType="withEffect">
                                  <p:stCondLst>
                                    <p:cond delay="0"/>
                                  </p:stCondLst>
                                  <p:childTnLst>
                                    <p:set>
                                      <p:cBhvr>
                                        <p:cTn id="109" dur="1" fill="hold">
                                          <p:stCondLst>
                                            <p:cond delay="0"/>
                                          </p:stCondLst>
                                        </p:cTn>
                                        <p:tgtEl>
                                          <p:spTgt spid="51">
                                            <p:txEl>
                                              <p:pRg st="0" end="0"/>
                                            </p:txEl>
                                          </p:spTgt>
                                        </p:tgtEl>
                                        <p:attrNameLst>
                                          <p:attrName>style.visibility</p:attrName>
                                        </p:attrNameLst>
                                      </p:cBhvr>
                                      <p:to>
                                        <p:strVal val="visible"/>
                                      </p:to>
                                    </p:set>
                                    <p:animEffect transition="in" filter="fade">
                                      <p:cBhvr>
                                        <p:cTn id="110" dur="500"/>
                                        <p:tgtEl>
                                          <p:spTgt spid="51">
                                            <p:txEl>
                                              <p:pRg st="0" end="0"/>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53"/>
                                        </p:tgtEl>
                                        <p:attrNameLst>
                                          <p:attrName>style.visibility</p:attrName>
                                        </p:attrNameLst>
                                      </p:cBhvr>
                                      <p:to>
                                        <p:strVal val="visible"/>
                                      </p:to>
                                    </p:set>
                                    <p:animEffect transition="in" filter="fade">
                                      <p:cBhvr>
                                        <p:cTn id="115" dur="500"/>
                                        <p:tgtEl>
                                          <p:spTgt spid="53"/>
                                        </p:tgtEl>
                                      </p:cBhvr>
                                    </p:animEffect>
                                  </p:childTnLst>
                                </p:cTn>
                              </p:par>
                              <p:par>
                                <p:cTn id="116" presetID="10" presetClass="entr" presetSubtype="0" fill="hold" nodeType="withEffect">
                                  <p:stCondLst>
                                    <p:cond delay="0"/>
                                  </p:stCondLst>
                                  <p:childTnLst>
                                    <p:set>
                                      <p:cBhvr>
                                        <p:cTn id="117" dur="1" fill="hold">
                                          <p:stCondLst>
                                            <p:cond delay="0"/>
                                          </p:stCondLst>
                                        </p:cTn>
                                        <p:tgtEl>
                                          <p:spTgt spid="52"/>
                                        </p:tgtEl>
                                        <p:attrNameLst>
                                          <p:attrName>style.visibility</p:attrName>
                                        </p:attrNameLst>
                                      </p:cBhvr>
                                      <p:to>
                                        <p:strVal val="visible"/>
                                      </p:to>
                                    </p:set>
                                    <p:animEffect transition="in" filter="fade">
                                      <p:cBhvr>
                                        <p:cTn id="118" dur="500"/>
                                        <p:tgtEl>
                                          <p:spTgt spid="52"/>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grpId="0" nodeType="clickEffect">
                                  <p:stCondLst>
                                    <p:cond delay="0"/>
                                  </p:stCondLst>
                                  <p:childTnLst>
                                    <p:set>
                                      <p:cBhvr>
                                        <p:cTn id="122" dur="1" fill="hold">
                                          <p:stCondLst>
                                            <p:cond delay="0"/>
                                          </p:stCondLst>
                                        </p:cTn>
                                        <p:tgtEl>
                                          <p:spTgt spid="78"/>
                                        </p:tgtEl>
                                        <p:attrNameLst>
                                          <p:attrName>style.visibility</p:attrName>
                                        </p:attrNameLst>
                                      </p:cBhvr>
                                      <p:to>
                                        <p:strVal val="visible"/>
                                      </p:to>
                                    </p:set>
                                    <p:animEffect transition="in" filter="fade">
                                      <p:cBhvr>
                                        <p:cTn id="123" dur="500"/>
                                        <p:tgtEl>
                                          <p:spTgt spid="78"/>
                                        </p:tgtEl>
                                      </p:cBhvr>
                                    </p:animEffect>
                                  </p:childTnLst>
                                </p:cTn>
                              </p:par>
                              <p:par>
                                <p:cTn id="124" presetID="10" presetClass="entr" presetSubtype="0" fill="hold" nodeType="withEffect">
                                  <p:stCondLst>
                                    <p:cond delay="0"/>
                                  </p:stCondLst>
                                  <p:childTnLst>
                                    <p:set>
                                      <p:cBhvr>
                                        <p:cTn id="125" dur="1" fill="hold">
                                          <p:stCondLst>
                                            <p:cond delay="0"/>
                                          </p:stCondLst>
                                        </p:cTn>
                                        <p:tgtEl>
                                          <p:spTgt spid="79"/>
                                        </p:tgtEl>
                                        <p:attrNameLst>
                                          <p:attrName>style.visibility</p:attrName>
                                        </p:attrNameLst>
                                      </p:cBhvr>
                                      <p:to>
                                        <p:strVal val="visible"/>
                                      </p:to>
                                    </p:set>
                                    <p:animEffect transition="in" filter="fade">
                                      <p:cBhvr>
                                        <p:cTn id="126" dur="500"/>
                                        <p:tgtEl>
                                          <p:spTgt spid="79"/>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70"/>
                                        </p:tgtEl>
                                        <p:attrNameLst>
                                          <p:attrName>style.visibility</p:attrName>
                                        </p:attrNameLst>
                                      </p:cBhvr>
                                      <p:to>
                                        <p:strVal val="visible"/>
                                      </p:to>
                                    </p:set>
                                    <p:animEffect transition="in" filter="fade">
                                      <p:cBhvr>
                                        <p:cTn id="131" dur="500"/>
                                        <p:tgtEl>
                                          <p:spTgt spid="70"/>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71"/>
                                        </p:tgtEl>
                                        <p:attrNameLst>
                                          <p:attrName>style.visibility</p:attrName>
                                        </p:attrNameLst>
                                      </p:cBhvr>
                                      <p:to>
                                        <p:strVal val="visible"/>
                                      </p:to>
                                    </p:set>
                                    <p:animEffect transition="in" filter="fade">
                                      <p:cBhvr>
                                        <p:cTn id="134" dur="500"/>
                                        <p:tgtEl>
                                          <p:spTgt spid="71"/>
                                        </p:tgtEl>
                                      </p:cBhvr>
                                    </p:animEffect>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80"/>
                                        </p:tgtEl>
                                        <p:attrNameLst>
                                          <p:attrName>style.visibility</p:attrName>
                                        </p:attrNameLst>
                                      </p:cBhvr>
                                      <p:to>
                                        <p:strVal val="visible"/>
                                      </p:to>
                                    </p:set>
                                    <p:animEffect transition="in" filter="fade">
                                      <p:cBhvr>
                                        <p:cTn id="139"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5" grpId="0" animBg="1"/>
      <p:bldP spid="57" grpId="0" animBg="1"/>
      <p:bldP spid="59" grpId="0" animBg="1"/>
      <p:bldP spid="60" grpId="0" animBg="1"/>
      <p:bldP spid="63" grpId="0" animBg="1"/>
      <p:bldP spid="65" grpId="0" animBg="1"/>
      <p:bldP spid="67" grpId="0" animBg="1"/>
      <p:bldP spid="68" grpId="0" animBg="1"/>
      <p:bldP spid="70" grpId="0" animBg="1"/>
      <p:bldP spid="71" grpId="0" animBg="1"/>
      <p:bldP spid="72" grpId="0"/>
      <p:bldP spid="75" grpId="0"/>
      <p:bldP spid="78" grpId="0"/>
      <p:bldP spid="8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Ternary Relationship</a:t>
            </a:r>
          </a:p>
        </p:txBody>
      </p:sp>
      <p:sp>
        <p:nvSpPr>
          <p:cNvPr id="32" name="Content Placeholder 31"/>
          <p:cNvSpPr>
            <a:spLocks noGrp="1"/>
          </p:cNvSpPr>
          <p:nvPr>
            <p:ph idx="1"/>
          </p:nvPr>
        </p:nvSpPr>
        <p:spPr/>
        <p:txBody>
          <a:bodyPr/>
          <a:lstStyle/>
          <a:p>
            <a:endParaRPr lang="en-GB" dirty="0"/>
          </a:p>
        </p:txBody>
      </p:sp>
      <p:sp>
        <p:nvSpPr>
          <p:cNvPr id="4" name="Rectangle 3"/>
          <p:cNvSpPr/>
          <p:nvPr/>
        </p:nvSpPr>
        <p:spPr>
          <a:xfrm>
            <a:off x="2696414" y="3614108"/>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Faculty</a:t>
            </a:r>
          </a:p>
        </p:txBody>
      </p:sp>
      <p:sp>
        <p:nvSpPr>
          <p:cNvPr id="5" name="Rectangle 4"/>
          <p:cNvSpPr/>
          <p:nvPr/>
        </p:nvSpPr>
        <p:spPr>
          <a:xfrm>
            <a:off x="7876391" y="3609752"/>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Student</a:t>
            </a:r>
          </a:p>
        </p:txBody>
      </p:sp>
      <p:sp>
        <p:nvSpPr>
          <p:cNvPr id="6" name="Diamond 5"/>
          <p:cNvSpPr/>
          <p:nvPr/>
        </p:nvSpPr>
        <p:spPr>
          <a:xfrm>
            <a:off x="5270340" y="3535728"/>
            <a:ext cx="1724298" cy="89263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Guide</a:t>
            </a:r>
          </a:p>
        </p:txBody>
      </p:sp>
      <p:cxnSp>
        <p:nvCxnSpPr>
          <p:cNvPr id="7" name="Straight Connector 6"/>
          <p:cNvCxnSpPr>
            <a:stCxn id="6" idx="3"/>
            <a:endCxn id="5" idx="1"/>
          </p:cNvCxnSpPr>
          <p:nvPr/>
        </p:nvCxnSpPr>
        <p:spPr>
          <a:xfrm>
            <a:off x="6994638" y="3982043"/>
            <a:ext cx="881753"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Connector 7"/>
          <p:cNvCxnSpPr/>
          <p:nvPr/>
        </p:nvCxnSpPr>
        <p:spPr>
          <a:xfrm>
            <a:off x="4388587" y="3982043"/>
            <a:ext cx="881753"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p:cNvCxnSpPr>
            <a:stCxn id="10" idx="4"/>
            <a:endCxn id="4" idx="0"/>
          </p:cNvCxnSpPr>
          <p:nvPr/>
        </p:nvCxnSpPr>
        <p:spPr>
          <a:xfrm>
            <a:off x="2582111" y="3178135"/>
            <a:ext cx="963389" cy="435973"/>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10" name="Oval 9"/>
          <p:cNvSpPr/>
          <p:nvPr/>
        </p:nvSpPr>
        <p:spPr>
          <a:xfrm>
            <a:off x="1850591" y="2755225"/>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u="sng" dirty="0" err="1">
                <a:solidFill>
                  <a:schemeClr val="tx1"/>
                </a:solidFill>
              </a:rPr>
              <a:t>FacID</a:t>
            </a:r>
            <a:endParaRPr lang="en-US" u="sng" dirty="0">
              <a:solidFill>
                <a:schemeClr val="tx1"/>
              </a:solidFill>
            </a:endParaRPr>
          </a:p>
        </p:txBody>
      </p:sp>
      <p:cxnSp>
        <p:nvCxnSpPr>
          <p:cNvPr id="11" name="Straight Connector 10"/>
          <p:cNvCxnSpPr>
            <a:stCxn id="12" idx="4"/>
            <a:endCxn id="4" idx="0"/>
          </p:cNvCxnSpPr>
          <p:nvPr/>
        </p:nvCxnSpPr>
        <p:spPr>
          <a:xfrm flipH="1">
            <a:off x="3545500" y="3155724"/>
            <a:ext cx="654734" cy="458384"/>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12" name="Oval 11"/>
          <p:cNvSpPr/>
          <p:nvPr/>
        </p:nvSpPr>
        <p:spPr>
          <a:xfrm>
            <a:off x="3468714" y="2732814"/>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Name</a:t>
            </a:r>
          </a:p>
        </p:txBody>
      </p:sp>
      <p:cxnSp>
        <p:nvCxnSpPr>
          <p:cNvPr id="13" name="Straight Connector 12"/>
          <p:cNvCxnSpPr/>
          <p:nvPr/>
        </p:nvCxnSpPr>
        <p:spPr>
          <a:xfrm flipH="1">
            <a:off x="2714700" y="4354335"/>
            <a:ext cx="830800" cy="404874"/>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14" name="Oval 13"/>
          <p:cNvSpPr/>
          <p:nvPr/>
        </p:nvSpPr>
        <p:spPr>
          <a:xfrm>
            <a:off x="1964894" y="4764919"/>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Branch</a:t>
            </a:r>
          </a:p>
        </p:txBody>
      </p:sp>
      <p:sp>
        <p:nvSpPr>
          <p:cNvPr id="15" name="Oval 14"/>
          <p:cNvSpPr/>
          <p:nvPr/>
        </p:nvSpPr>
        <p:spPr>
          <a:xfrm>
            <a:off x="3601245" y="4777740"/>
            <a:ext cx="182880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Technology</a:t>
            </a:r>
          </a:p>
        </p:txBody>
      </p:sp>
      <p:cxnSp>
        <p:nvCxnSpPr>
          <p:cNvPr id="16" name="Straight Connector 15"/>
          <p:cNvCxnSpPr>
            <a:stCxn id="4" idx="2"/>
            <a:endCxn id="15" idx="0"/>
          </p:cNvCxnSpPr>
          <p:nvPr/>
        </p:nvCxnSpPr>
        <p:spPr>
          <a:xfrm>
            <a:off x="3545500" y="4358691"/>
            <a:ext cx="970145" cy="419049"/>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cxnSp>
        <p:nvCxnSpPr>
          <p:cNvPr id="17" name="Straight Connector 16"/>
          <p:cNvCxnSpPr>
            <a:stCxn id="18" idx="4"/>
          </p:cNvCxnSpPr>
          <p:nvPr/>
        </p:nvCxnSpPr>
        <p:spPr>
          <a:xfrm>
            <a:off x="7823876" y="3174122"/>
            <a:ext cx="963389" cy="435973"/>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18" name="Oval 17"/>
          <p:cNvSpPr/>
          <p:nvPr/>
        </p:nvSpPr>
        <p:spPr>
          <a:xfrm>
            <a:off x="7092356" y="2751212"/>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u="sng" dirty="0" err="1">
                <a:solidFill>
                  <a:schemeClr val="tx1"/>
                </a:solidFill>
              </a:rPr>
              <a:t>RollNo</a:t>
            </a:r>
            <a:endParaRPr lang="en-US" u="sng" dirty="0">
              <a:solidFill>
                <a:schemeClr val="tx1"/>
              </a:solidFill>
            </a:endParaRPr>
          </a:p>
        </p:txBody>
      </p:sp>
      <p:cxnSp>
        <p:nvCxnSpPr>
          <p:cNvPr id="19" name="Straight Connector 18"/>
          <p:cNvCxnSpPr>
            <a:stCxn id="20" idx="4"/>
          </p:cNvCxnSpPr>
          <p:nvPr/>
        </p:nvCxnSpPr>
        <p:spPr>
          <a:xfrm flipH="1">
            <a:off x="8787265" y="3151711"/>
            <a:ext cx="654734" cy="458384"/>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20" name="Oval 19"/>
          <p:cNvSpPr/>
          <p:nvPr/>
        </p:nvSpPr>
        <p:spPr>
          <a:xfrm>
            <a:off x="8710479" y="2728801"/>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Name</a:t>
            </a:r>
          </a:p>
        </p:txBody>
      </p:sp>
      <p:cxnSp>
        <p:nvCxnSpPr>
          <p:cNvPr id="21" name="Straight Connector 20"/>
          <p:cNvCxnSpPr/>
          <p:nvPr/>
        </p:nvCxnSpPr>
        <p:spPr>
          <a:xfrm flipH="1">
            <a:off x="7956465" y="4350322"/>
            <a:ext cx="830800" cy="404874"/>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22" name="Oval 21"/>
          <p:cNvSpPr/>
          <p:nvPr/>
        </p:nvSpPr>
        <p:spPr>
          <a:xfrm>
            <a:off x="7206659" y="4760906"/>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Branch</a:t>
            </a:r>
          </a:p>
        </p:txBody>
      </p:sp>
      <p:sp>
        <p:nvSpPr>
          <p:cNvPr id="23" name="Oval 22"/>
          <p:cNvSpPr/>
          <p:nvPr/>
        </p:nvSpPr>
        <p:spPr>
          <a:xfrm>
            <a:off x="8843010" y="4773727"/>
            <a:ext cx="146304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err="1">
                <a:solidFill>
                  <a:schemeClr val="tx1"/>
                </a:solidFill>
              </a:rPr>
              <a:t>Sem</a:t>
            </a:r>
            <a:endParaRPr lang="en-US" dirty="0">
              <a:solidFill>
                <a:schemeClr val="tx1"/>
              </a:solidFill>
            </a:endParaRPr>
          </a:p>
        </p:txBody>
      </p:sp>
      <p:cxnSp>
        <p:nvCxnSpPr>
          <p:cNvPr id="24" name="Straight Connector 23"/>
          <p:cNvCxnSpPr>
            <a:endCxn id="23" idx="0"/>
          </p:cNvCxnSpPr>
          <p:nvPr/>
        </p:nvCxnSpPr>
        <p:spPr>
          <a:xfrm>
            <a:off x="8787265" y="4354678"/>
            <a:ext cx="787265" cy="419049"/>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25" name="Rectangle 24"/>
          <p:cNvSpPr/>
          <p:nvPr/>
        </p:nvSpPr>
        <p:spPr>
          <a:xfrm>
            <a:off x="5284628" y="1859911"/>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Project</a:t>
            </a:r>
          </a:p>
        </p:txBody>
      </p:sp>
      <p:cxnSp>
        <p:nvCxnSpPr>
          <p:cNvPr id="26" name="Straight Connector 25"/>
          <p:cNvCxnSpPr>
            <a:stCxn id="27" idx="4"/>
          </p:cNvCxnSpPr>
          <p:nvPr/>
        </p:nvCxnSpPr>
        <p:spPr>
          <a:xfrm>
            <a:off x="5277833" y="1424281"/>
            <a:ext cx="917669" cy="435973"/>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27" name="Oval 26"/>
          <p:cNvSpPr/>
          <p:nvPr/>
        </p:nvSpPr>
        <p:spPr>
          <a:xfrm>
            <a:off x="4500593" y="1001371"/>
            <a:ext cx="155448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u="sng" dirty="0" err="1">
                <a:solidFill>
                  <a:schemeClr val="tx1"/>
                </a:solidFill>
              </a:rPr>
              <a:t>ProjectID</a:t>
            </a:r>
            <a:endParaRPr lang="en-US" u="sng" dirty="0">
              <a:solidFill>
                <a:schemeClr val="tx1"/>
              </a:solidFill>
            </a:endParaRPr>
          </a:p>
        </p:txBody>
      </p:sp>
      <p:cxnSp>
        <p:nvCxnSpPr>
          <p:cNvPr id="28" name="Straight Connector 27"/>
          <p:cNvCxnSpPr>
            <a:stCxn id="29" idx="4"/>
          </p:cNvCxnSpPr>
          <p:nvPr/>
        </p:nvCxnSpPr>
        <p:spPr>
          <a:xfrm flipH="1">
            <a:off x="6195502" y="1401870"/>
            <a:ext cx="974774" cy="458384"/>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29" name="Oval 28"/>
          <p:cNvSpPr/>
          <p:nvPr/>
        </p:nvSpPr>
        <p:spPr>
          <a:xfrm>
            <a:off x="6118716" y="978960"/>
            <a:ext cx="210312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Project Name</a:t>
            </a:r>
          </a:p>
        </p:txBody>
      </p:sp>
      <p:cxnSp>
        <p:nvCxnSpPr>
          <p:cNvPr id="30" name="Straight Connector 29"/>
          <p:cNvCxnSpPr>
            <a:stCxn id="25" idx="2"/>
            <a:endCxn id="6" idx="0"/>
          </p:cNvCxnSpPr>
          <p:nvPr/>
        </p:nvCxnSpPr>
        <p:spPr>
          <a:xfrm flipH="1">
            <a:off x="6132489" y="2604494"/>
            <a:ext cx="1225" cy="931234"/>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31" name="Rounded Rectangular Callout 30"/>
          <p:cNvSpPr/>
          <p:nvPr/>
        </p:nvSpPr>
        <p:spPr>
          <a:xfrm>
            <a:off x="2848889" y="5563119"/>
            <a:ext cx="7668000" cy="756000"/>
          </a:xfrm>
          <a:prstGeom prst="wedgeRoundRectCallout">
            <a:avLst>
              <a:gd name="adj1" fmla="val -46835"/>
              <a:gd name="adj2" fmla="val 1908"/>
              <a:gd name="adj3" fmla="val 16667"/>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GB" sz="2400" dirty="0">
                <a:solidFill>
                  <a:schemeClr val="lt1"/>
                </a:solidFill>
              </a:rPr>
              <a:t>Relationship between 3 entities is called ternary relationship.</a:t>
            </a:r>
            <a:endParaRPr lang="en-US" sz="2400" dirty="0">
              <a:solidFill>
                <a:schemeClr val="lt1"/>
              </a:solidFill>
            </a:endParaRPr>
          </a:p>
        </p:txBody>
      </p:sp>
    </p:spTree>
    <p:extLst>
      <p:ext uri="{BB962C8B-B14F-4D97-AF65-F5344CB8AC3E}">
        <p14:creationId xmlns:p14="http://schemas.microsoft.com/office/powerpoint/2010/main" val="18402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500"/>
                                        <p:tgtEl>
                                          <p:spTgt spid="4">
                                            <p:txEl>
                                              <p:pRg st="0" end="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fade">
                                      <p:cBhvr>
                                        <p:cTn id="16" dur="500"/>
                                        <p:tgtEl>
                                          <p:spTgt spid="5">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6"/>
                                        </p:tgtEl>
                                        <p:attrNameLst>
                                          <p:attrName>style.visibility</p:attrName>
                                        </p:attrNameLst>
                                      </p:cBhvr>
                                      <p:to>
                                        <p:strVal val="visible"/>
                                      </p:to>
                                    </p:set>
                                    <p:animEffect transition="in" filter="fade">
                                      <p:cBhvr>
                                        <p:cTn id="69" dur="500"/>
                                        <p:tgtEl>
                                          <p:spTgt spid="6"/>
                                        </p:tgtEl>
                                      </p:cBhvr>
                                    </p:animEffect>
                                  </p:childTnLst>
                                </p:cTn>
                              </p:par>
                              <p:par>
                                <p:cTn id="70" presetID="10" presetClass="entr" presetSubtype="0" fill="hold" nodeType="withEffect">
                                  <p:stCondLst>
                                    <p:cond delay="0"/>
                                  </p:stCondLst>
                                  <p:childTnLst>
                                    <p:set>
                                      <p:cBhvr>
                                        <p:cTn id="71" dur="1" fill="hold">
                                          <p:stCondLst>
                                            <p:cond delay="0"/>
                                          </p:stCondLst>
                                        </p:cTn>
                                        <p:tgtEl>
                                          <p:spTgt spid="6">
                                            <p:txEl>
                                              <p:pRg st="0" end="0"/>
                                            </p:txEl>
                                          </p:spTgt>
                                        </p:tgtEl>
                                        <p:attrNameLst>
                                          <p:attrName>style.visibility</p:attrName>
                                        </p:attrNameLst>
                                      </p:cBhvr>
                                      <p:to>
                                        <p:strVal val="visible"/>
                                      </p:to>
                                    </p:set>
                                    <p:animEffect transition="in" filter="fade">
                                      <p:cBhvr>
                                        <p:cTn id="72" dur="500"/>
                                        <p:tgtEl>
                                          <p:spTgt spid="6">
                                            <p:txEl>
                                              <p:pRg st="0" end="0"/>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8"/>
                                        </p:tgtEl>
                                        <p:attrNameLst>
                                          <p:attrName>style.visibility</p:attrName>
                                        </p:attrNameLst>
                                      </p:cBhvr>
                                      <p:to>
                                        <p:strVal val="visible"/>
                                      </p:to>
                                    </p:set>
                                    <p:animEffect transition="in" filter="fade">
                                      <p:cBhvr>
                                        <p:cTn id="75" dur="500"/>
                                        <p:tgtEl>
                                          <p:spTgt spid="8"/>
                                        </p:tgtEl>
                                      </p:cBhvr>
                                    </p:animEffect>
                                  </p:childTnLst>
                                </p:cTn>
                              </p:par>
                              <p:par>
                                <p:cTn id="76" presetID="10" presetClass="entr" presetSubtype="0" fill="hold" nodeType="withEffect">
                                  <p:stCondLst>
                                    <p:cond delay="0"/>
                                  </p:stCondLst>
                                  <p:childTnLst>
                                    <p:set>
                                      <p:cBhvr>
                                        <p:cTn id="77" dur="1" fill="hold">
                                          <p:stCondLst>
                                            <p:cond delay="0"/>
                                          </p:stCondLst>
                                        </p:cTn>
                                        <p:tgtEl>
                                          <p:spTgt spid="7"/>
                                        </p:tgtEl>
                                        <p:attrNameLst>
                                          <p:attrName>style.visibility</p:attrName>
                                        </p:attrNameLst>
                                      </p:cBhvr>
                                      <p:to>
                                        <p:strVal val="visible"/>
                                      </p:to>
                                    </p:set>
                                    <p:animEffect transition="in" filter="fade">
                                      <p:cBhvr>
                                        <p:cTn id="78" dur="500"/>
                                        <p:tgtEl>
                                          <p:spTgt spid="7"/>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childTnLst>
                                </p:cTn>
                              </p:par>
                              <p:par>
                                <p:cTn id="84" presetID="10" presetClass="entr" presetSubtype="0" fill="hold" nodeType="withEffect">
                                  <p:stCondLst>
                                    <p:cond delay="0"/>
                                  </p:stCondLst>
                                  <p:childTnLst>
                                    <p:set>
                                      <p:cBhvr>
                                        <p:cTn id="85" dur="1" fill="hold">
                                          <p:stCondLst>
                                            <p:cond delay="0"/>
                                          </p:stCondLst>
                                        </p:cTn>
                                        <p:tgtEl>
                                          <p:spTgt spid="25">
                                            <p:txEl>
                                              <p:pRg st="0" end="0"/>
                                            </p:txEl>
                                          </p:spTgt>
                                        </p:tgtEl>
                                        <p:attrNameLst>
                                          <p:attrName>style.visibility</p:attrName>
                                        </p:attrNameLst>
                                      </p:cBhvr>
                                      <p:to>
                                        <p:strVal val="visible"/>
                                      </p:to>
                                    </p:set>
                                    <p:animEffect transition="in" filter="fade">
                                      <p:cBhvr>
                                        <p:cTn id="86" dur="500"/>
                                        <p:tgtEl>
                                          <p:spTgt spid="25">
                                            <p:txEl>
                                              <p:pRg st="0" end="0"/>
                                            </p:txEl>
                                          </p:spTgt>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7"/>
                                        </p:tgtEl>
                                        <p:attrNameLst>
                                          <p:attrName>style.visibility</p:attrName>
                                        </p:attrNameLst>
                                      </p:cBhvr>
                                      <p:to>
                                        <p:strVal val="visible"/>
                                      </p:to>
                                    </p:set>
                                    <p:animEffect transition="in" filter="fade">
                                      <p:cBhvr>
                                        <p:cTn id="89" dur="500"/>
                                        <p:tgtEl>
                                          <p:spTgt spid="27"/>
                                        </p:tgtEl>
                                      </p:cBhvr>
                                    </p:animEffect>
                                  </p:childTnLst>
                                </p:cTn>
                              </p:par>
                              <p:par>
                                <p:cTn id="90" presetID="10" presetClass="entr" presetSubtype="0" fill="hold" nodeType="with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fade">
                                      <p:cBhvr>
                                        <p:cTn id="92" dur="500"/>
                                        <p:tgtEl>
                                          <p:spTgt spid="26"/>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500"/>
                                        <p:tgtEl>
                                          <p:spTgt spid="29"/>
                                        </p:tgtEl>
                                      </p:cBhvr>
                                    </p:animEffect>
                                  </p:childTnLst>
                                </p:cTn>
                              </p:par>
                              <p:par>
                                <p:cTn id="96" presetID="10" presetClass="entr" presetSubtype="0" fill="hold" nodeType="withEffect">
                                  <p:stCondLst>
                                    <p:cond delay="0"/>
                                  </p:stCondLst>
                                  <p:childTnLst>
                                    <p:set>
                                      <p:cBhvr>
                                        <p:cTn id="97" dur="1" fill="hold">
                                          <p:stCondLst>
                                            <p:cond delay="0"/>
                                          </p:stCondLst>
                                        </p:cTn>
                                        <p:tgtEl>
                                          <p:spTgt spid="28"/>
                                        </p:tgtEl>
                                        <p:attrNameLst>
                                          <p:attrName>style.visibility</p:attrName>
                                        </p:attrNameLst>
                                      </p:cBhvr>
                                      <p:to>
                                        <p:strVal val="visible"/>
                                      </p:to>
                                    </p:set>
                                    <p:animEffect transition="in" filter="fade">
                                      <p:cBhvr>
                                        <p:cTn id="98" dur="500"/>
                                        <p:tgtEl>
                                          <p:spTgt spid="28"/>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30"/>
                                        </p:tgtEl>
                                        <p:attrNameLst>
                                          <p:attrName>style.visibility</p:attrName>
                                        </p:attrNameLst>
                                      </p:cBhvr>
                                      <p:to>
                                        <p:strVal val="visible"/>
                                      </p:to>
                                    </p:set>
                                    <p:animEffect transition="in" filter="fade">
                                      <p:cBhvr>
                                        <p:cTn id="103" dur="500"/>
                                        <p:tgtEl>
                                          <p:spTgt spid="30"/>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31"/>
                                        </p:tgtEl>
                                        <p:attrNameLst>
                                          <p:attrName>style.visibility</p:attrName>
                                        </p:attrNameLst>
                                      </p:cBhvr>
                                      <p:to>
                                        <p:strVal val="visible"/>
                                      </p:to>
                                    </p:set>
                                    <p:animEffect transition="in" filter="fade">
                                      <p:cBhvr>
                                        <p:cTn id="10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0" grpId="0" animBg="1"/>
      <p:bldP spid="12" grpId="0" animBg="1"/>
      <p:bldP spid="14" grpId="0" animBg="1"/>
      <p:bldP spid="15" grpId="0" animBg="1"/>
      <p:bldP spid="18" grpId="0" animBg="1"/>
      <p:bldP spid="20" grpId="0" animBg="1"/>
      <p:bldP spid="22" grpId="0" animBg="1"/>
      <p:bldP spid="23" grpId="0" animBg="1"/>
      <p:bldP spid="25" grpId="0" animBg="1"/>
      <p:bldP spid="27" grpId="0" animBg="1"/>
      <p:bldP spid="29" grpId="0" animBg="1"/>
      <p:bldP spid="3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Content Placeholder 2"/>
          <p:cNvSpPr>
            <a:spLocks noGrp="1"/>
          </p:cNvSpPr>
          <p:nvPr>
            <p:ph idx="1"/>
          </p:nvPr>
        </p:nvSpPr>
        <p:spPr/>
        <p:txBody>
          <a:bodyPr/>
          <a:lstStyle/>
          <a:p>
            <a:r>
              <a:rPr lang="en-US" dirty="0"/>
              <a:t>Draw an E-R diagram of following pair of entities</a:t>
            </a:r>
          </a:p>
          <a:p>
            <a:pPr lvl="1"/>
            <a:r>
              <a:rPr lang="en-US" dirty="0"/>
              <a:t>Customer &amp; Account</a:t>
            </a:r>
          </a:p>
          <a:p>
            <a:pPr lvl="1"/>
            <a:r>
              <a:rPr lang="en-US" dirty="0"/>
              <a:t>Customer &amp; Loan</a:t>
            </a:r>
          </a:p>
          <a:p>
            <a:pPr lvl="1"/>
            <a:r>
              <a:rPr lang="en-US" dirty="0"/>
              <a:t>Doctor &amp; Patient</a:t>
            </a:r>
          </a:p>
          <a:p>
            <a:pPr lvl="1"/>
            <a:r>
              <a:rPr lang="en-US" dirty="0"/>
              <a:t>Student &amp; Project</a:t>
            </a:r>
          </a:p>
          <a:p>
            <a:pPr lvl="1"/>
            <a:r>
              <a:rPr lang="en-US" dirty="0"/>
              <a:t>Student &amp; Teacher</a:t>
            </a:r>
          </a:p>
          <a:p>
            <a:pPr lvl="2"/>
            <a:r>
              <a:rPr lang="en-US" dirty="0"/>
              <a:t>Note: Take four attributes per entity with one primary key attribute.</a:t>
            </a:r>
            <a:endParaRPr lang="en-GB" dirty="0"/>
          </a:p>
          <a:p>
            <a:pPr marL="457200" lvl="1" indent="0">
              <a:buNone/>
            </a:pPr>
            <a:r>
              <a:rPr lang="en-US" dirty="0"/>
              <a:t>	             </a:t>
            </a:r>
            <a:r>
              <a:rPr lang="en-US" sz="1800" dirty="0"/>
              <a:t>Keep proper relationship between two entities.  </a:t>
            </a:r>
          </a:p>
        </p:txBody>
      </p:sp>
    </p:spTree>
    <p:extLst>
      <p:ext uri="{BB962C8B-B14F-4D97-AF65-F5344CB8AC3E}">
        <p14:creationId xmlns:p14="http://schemas.microsoft.com/office/powerpoint/2010/main" val="552242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Types of Attributes</a:t>
            </a:r>
          </a:p>
        </p:txBody>
      </p:sp>
      <p:sp>
        <p:nvSpPr>
          <p:cNvPr id="5" name="Text Placeholder 4"/>
          <p:cNvSpPr>
            <a:spLocks noGrp="1"/>
          </p:cNvSpPr>
          <p:nvPr>
            <p:ph type="body" idx="1"/>
          </p:nvPr>
        </p:nvSpPr>
        <p:spPr/>
        <p:txBody>
          <a:bodyPr/>
          <a:lstStyle/>
          <a:p>
            <a:r>
              <a:rPr lang="en-US" dirty="0"/>
              <a:t>Section - 2</a:t>
            </a:r>
          </a:p>
          <a:p>
            <a:endParaRPr lang="en-US" dirty="0"/>
          </a:p>
        </p:txBody>
      </p:sp>
    </p:spTree>
    <p:extLst>
      <p:ext uri="{BB962C8B-B14F-4D97-AF65-F5344CB8AC3E}">
        <p14:creationId xmlns:p14="http://schemas.microsoft.com/office/powerpoint/2010/main" val="2757383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Types of Attributes</a:t>
            </a:r>
          </a:p>
        </p:txBody>
      </p:sp>
      <p:sp>
        <p:nvSpPr>
          <p:cNvPr id="5" name="Content Placeholder 4"/>
          <p:cNvSpPr>
            <a:spLocks noGrp="1"/>
          </p:cNvSpPr>
          <p:nvPr>
            <p:ph idx="1"/>
          </p:nvPr>
        </p:nvSpPr>
        <p:spPr/>
        <p:txBody>
          <a:bodyPr/>
          <a:lstStyle/>
          <a:p>
            <a:endParaRPr lang="en-GB" dirty="0"/>
          </a:p>
        </p:txBody>
      </p:sp>
      <p:graphicFrame>
        <p:nvGraphicFramePr>
          <p:cNvPr id="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000863790"/>
              </p:ext>
            </p:extLst>
          </p:nvPr>
        </p:nvGraphicFramePr>
        <p:xfrm>
          <a:off x="696000" y="1195972"/>
          <a:ext cx="10800000" cy="630000"/>
        </p:xfrm>
        <a:graphic>
          <a:graphicData uri="http://schemas.openxmlformats.org/drawingml/2006/table">
            <a:tbl>
              <a:tblPr firstRow="1" bandRow="1">
                <a:tableStyleId>{8EC20E35-A176-4012-BC5E-935CFFF8708E}</a:tableStyleId>
              </a:tblPr>
              <a:tblGrid>
                <a:gridCol w="5400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630000">
                <a:tc>
                  <a:txBody>
                    <a:bodyPr/>
                    <a:lstStyle/>
                    <a:p>
                      <a:pPr algn="l"/>
                      <a:r>
                        <a:rPr lang="en-US" sz="2400" b="1" dirty="0">
                          <a:solidFill>
                            <a:schemeClr val="tx1"/>
                          </a:solidFill>
                        </a:rPr>
                        <a:t>Simple Attribute</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2400" kern="1200" dirty="0">
                          <a:solidFill>
                            <a:schemeClr val="tx1"/>
                          </a:solidFill>
                        </a:rPr>
                        <a:t>Composite Attribute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7"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128098535"/>
              </p:ext>
            </p:extLst>
          </p:nvPr>
        </p:nvGraphicFramePr>
        <p:xfrm>
          <a:off x="696000" y="1825972"/>
          <a:ext cx="10800000" cy="540000"/>
        </p:xfrm>
        <a:graphic>
          <a:graphicData uri="http://schemas.openxmlformats.org/drawingml/2006/table">
            <a:tbl>
              <a:tblPr firstRow="1" bandRow="1">
                <a:tableStyleId>{8EC20E35-A176-4012-BC5E-935CFFF8708E}</a:tableStyleId>
              </a:tblPr>
              <a:tblGrid>
                <a:gridCol w="5400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540000">
                <a:tc>
                  <a:txBody>
                    <a:bodyPr/>
                    <a:lstStyle/>
                    <a:p>
                      <a:r>
                        <a:rPr lang="en-GB" sz="2400" b="0" kern="1200" dirty="0">
                          <a:solidFill>
                            <a:schemeClr val="dk1"/>
                          </a:solidFill>
                          <a:latin typeface="+mn-lt"/>
                          <a:ea typeface="+mn-ea"/>
                          <a:cs typeface="+mn-cs"/>
                        </a:rPr>
                        <a:t>Cannot be divided into subparts</a:t>
                      </a:r>
                      <a:endParaRPr lang="en-US"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GB" sz="2400" b="0" kern="1200" dirty="0">
                          <a:solidFill>
                            <a:schemeClr val="dk1"/>
                          </a:solidFill>
                          <a:latin typeface="+mn-lt"/>
                          <a:ea typeface="+mn-ea"/>
                          <a:cs typeface="+mn-cs"/>
                        </a:rPr>
                        <a:t>Can be divided into subparts</a:t>
                      </a:r>
                      <a:endParaRPr lang="en-US"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8"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793189941"/>
              </p:ext>
            </p:extLst>
          </p:nvPr>
        </p:nvGraphicFramePr>
        <p:xfrm>
          <a:off x="696000" y="2365972"/>
          <a:ext cx="10800000" cy="1493520"/>
        </p:xfrm>
        <a:graphic>
          <a:graphicData uri="http://schemas.openxmlformats.org/drawingml/2006/table">
            <a:tbl>
              <a:tblPr firstRow="1" bandRow="1">
                <a:tableStyleId>{8EC20E35-A176-4012-BC5E-935CFFF8708E}</a:tableStyleId>
              </a:tblPr>
              <a:tblGrid>
                <a:gridCol w="5400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540000">
                <a:tc>
                  <a:txBody>
                    <a:bodyPr/>
                    <a:lstStyle/>
                    <a:p>
                      <a:r>
                        <a:rPr lang="en-GB" sz="2400" b="0" kern="1200" dirty="0">
                          <a:solidFill>
                            <a:schemeClr val="dk1"/>
                          </a:solidFill>
                          <a:latin typeface="+mn-lt"/>
                          <a:ea typeface="+mn-ea"/>
                          <a:cs typeface="+mn-cs"/>
                        </a:rPr>
                        <a:t>E.g. </a:t>
                      </a:r>
                      <a:r>
                        <a:rPr lang="en-GB" sz="2400" b="0" kern="1200" dirty="0" err="1">
                          <a:solidFill>
                            <a:schemeClr val="dk1"/>
                          </a:solidFill>
                          <a:latin typeface="+mn-lt"/>
                          <a:ea typeface="+mn-ea"/>
                          <a:cs typeface="+mn-cs"/>
                        </a:rPr>
                        <a:t>RollNo</a:t>
                      </a:r>
                      <a:r>
                        <a:rPr lang="en-GB" sz="2400" b="0" kern="1200" dirty="0">
                          <a:solidFill>
                            <a:schemeClr val="dk1"/>
                          </a:solidFill>
                          <a:latin typeface="+mn-lt"/>
                          <a:ea typeface="+mn-ea"/>
                          <a:cs typeface="+mn-cs"/>
                        </a:rPr>
                        <a:t>, CPI</a:t>
                      </a:r>
                      <a:endParaRPr lang="en-US" sz="24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GB" sz="2400" b="0" kern="1200" dirty="0">
                          <a:solidFill>
                            <a:schemeClr val="dk1"/>
                          </a:solidFill>
                          <a:latin typeface="+mn-lt"/>
                          <a:ea typeface="+mn-ea"/>
                          <a:cs typeface="+mn-cs"/>
                        </a:rPr>
                        <a:t>E.g. Name </a:t>
                      </a:r>
                    </a:p>
                    <a:p>
                      <a:pPr marL="0" algn="l" defTabSz="914400" rtl="0" eaLnBrk="1" latinLnBrk="0" hangingPunct="1"/>
                      <a:r>
                        <a:rPr lang="en-GB" sz="2400" b="0" kern="1200" dirty="0">
                          <a:solidFill>
                            <a:schemeClr val="dk1"/>
                          </a:solidFill>
                          <a:latin typeface="+mn-lt"/>
                          <a:ea typeface="+mn-ea"/>
                          <a:cs typeface="+mn-cs"/>
                        </a:rPr>
                        <a:t>                  </a:t>
                      </a:r>
                      <a:r>
                        <a:rPr lang="en-GB" sz="2000" b="0" kern="1200" dirty="0">
                          <a:solidFill>
                            <a:schemeClr val="dk1"/>
                          </a:solidFill>
                          <a:latin typeface="+mn-lt"/>
                          <a:ea typeface="+mn-ea"/>
                          <a:cs typeface="+mn-cs"/>
                        </a:rPr>
                        <a:t>(first name, middle name, last name)</a:t>
                      </a:r>
                      <a:r>
                        <a:rPr lang="en-GB" sz="2400" b="0" kern="1200" dirty="0">
                          <a:solidFill>
                            <a:schemeClr val="dk1"/>
                          </a:solidFill>
                          <a:latin typeface="+mn-lt"/>
                          <a:ea typeface="+mn-ea"/>
                          <a:cs typeface="+mn-cs"/>
                        </a:rPr>
                        <a:t> </a:t>
                      </a:r>
                    </a:p>
                    <a:p>
                      <a:pPr marL="0" algn="l" defTabSz="914400" rtl="0" eaLnBrk="1" latinLnBrk="0" hangingPunct="1"/>
                      <a:r>
                        <a:rPr lang="en-GB" sz="2400" b="0" kern="1200" dirty="0">
                          <a:solidFill>
                            <a:schemeClr val="dk1"/>
                          </a:solidFill>
                          <a:latin typeface="+mn-lt"/>
                          <a:ea typeface="+mn-ea"/>
                          <a:cs typeface="+mn-cs"/>
                        </a:rPr>
                        <a:t>        Address</a:t>
                      </a:r>
                    </a:p>
                    <a:p>
                      <a:pPr marL="0" algn="l" defTabSz="914400" rtl="0" eaLnBrk="1" latinLnBrk="0" hangingPunct="1"/>
                      <a:r>
                        <a:rPr lang="en-GB" sz="2000" b="0" kern="1200" dirty="0">
                          <a:solidFill>
                            <a:schemeClr val="dk1"/>
                          </a:solidFill>
                          <a:latin typeface="+mn-lt"/>
                          <a:ea typeface="+mn-ea"/>
                          <a:cs typeface="+mn-cs"/>
                        </a:rPr>
                        <a:t>                     (street, road, city)</a:t>
                      </a:r>
                      <a:endParaRPr lang="en-US" sz="20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4"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61242561"/>
              </p:ext>
            </p:extLst>
          </p:nvPr>
        </p:nvGraphicFramePr>
        <p:xfrm>
          <a:off x="696000" y="3859492"/>
          <a:ext cx="10800000" cy="1920240"/>
        </p:xfrm>
        <a:graphic>
          <a:graphicData uri="http://schemas.openxmlformats.org/drawingml/2006/table">
            <a:tbl>
              <a:tblPr firstRow="1" bandRow="1">
                <a:tableStyleId>{8EC20E35-A176-4012-BC5E-935CFFF8708E}</a:tableStyleId>
              </a:tblPr>
              <a:tblGrid>
                <a:gridCol w="5400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540000">
                <a:tc>
                  <a:txBody>
                    <a:bodyPr/>
                    <a:lstStyle/>
                    <a:p>
                      <a:r>
                        <a:rPr lang="en-GB" sz="2400" b="0" kern="1200" dirty="0">
                          <a:solidFill>
                            <a:schemeClr val="dk1"/>
                          </a:solidFill>
                          <a:latin typeface="+mn-lt"/>
                          <a:ea typeface="+mn-ea"/>
                          <a:cs typeface="+mn-cs"/>
                        </a:rPr>
                        <a:t>Symbol</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GB" sz="2400" b="0" kern="1200" dirty="0">
                          <a:solidFill>
                            <a:schemeClr val="dk1"/>
                          </a:solidFill>
                          <a:latin typeface="+mn-lt"/>
                          <a:ea typeface="+mn-ea"/>
                          <a:cs typeface="+mn-cs"/>
                        </a:rPr>
                        <a:t>Symbol</a:t>
                      </a:r>
                    </a:p>
                    <a:p>
                      <a:pPr marL="0" algn="l" defTabSz="914400" rtl="0" eaLnBrk="1" latinLnBrk="0" hangingPunct="1"/>
                      <a:endParaRPr lang="en-GB" sz="2400" b="0" kern="1200" dirty="0">
                        <a:solidFill>
                          <a:schemeClr val="dk1"/>
                        </a:solidFill>
                        <a:latin typeface="+mn-lt"/>
                        <a:ea typeface="+mn-ea"/>
                        <a:cs typeface="+mn-cs"/>
                      </a:endParaRPr>
                    </a:p>
                    <a:p>
                      <a:pPr marL="0" algn="l" defTabSz="914400" rtl="0" eaLnBrk="1" latinLnBrk="0" hangingPunct="1"/>
                      <a:endParaRPr lang="en-GB" sz="2400" b="0" kern="1200" dirty="0">
                        <a:solidFill>
                          <a:schemeClr val="dk1"/>
                        </a:solidFill>
                        <a:latin typeface="+mn-lt"/>
                        <a:ea typeface="+mn-ea"/>
                        <a:cs typeface="+mn-cs"/>
                      </a:endParaRPr>
                    </a:p>
                    <a:p>
                      <a:pPr marL="0" algn="l" defTabSz="914400" rtl="0" eaLnBrk="1" latinLnBrk="0" hangingPunct="1"/>
                      <a:endParaRPr lang="en-GB" sz="2400" b="0" kern="1200" dirty="0">
                        <a:solidFill>
                          <a:schemeClr val="dk1"/>
                        </a:solidFill>
                        <a:latin typeface="+mn-lt"/>
                        <a:ea typeface="+mn-ea"/>
                        <a:cs typeface="+mn-cs"/>
                      </a:endParaRPr>
                    </a:p>
                    <a:p>
                      <a:pPr marL="0" algn="l" defTabSz="914400" rtl="0" eaLnBrk="1" latinLnBrk="0" hangingPunct="1"/>
                      <a:endParaRPr lang="en-GB" sz="24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33" name="Oval 32"/>
          <p:cNvSpPr/>
          <p:nvPr/>
        </p:nvSpPr>
        <p:spPr>
          <a:xfrm>
            <a:off x="2140844" y="4552950"/>
            <a:ext cx="164592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Roll No</a:t>
            </a:r>
          </a:p>
        </p:txBody>
      </p:sp>
      <p:sp>
        <p:nvSpPr>
          <p:cNvPr id="34" name="Oval 33"/>
          <p:cNvSpPr/>
          <p:nvPr/>
        </p:nvSpPr>
        <p:spPr>
          <a:xfrm>
            <a:off x="8083802" y="3949212"/>
            <a:ext cx="1645920" cy="422910"/>
          </a:xfrm>
          <a:prstGeom prst="ellipse">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Name</a:t>
            </a:r>
          </a:p>
        </p:txBody>
      </p:sp>
      <p:cxnSp>
        <p:nvCxnSpPr>
          <p:cNvPr id="35" name="Straight Connector 34"/>
          <p:cNvCxnSpPr>
            <a:stCxn id="38" idx="0"/>
            <a:endCxn id="34" idx="5"/>
          </p:cNvCxnSpPr>
          <p:nvPr/>
        </p:nvCxnSpPr>
        <p:spPr>
          <a:xfrm flipH="1" flipV="1">
            <a:off x="9488683" y="4310188"/>
            <a:ext cx="700242" cy="263413"/>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36" name="Oval 35"/>
          <p:cNvSpPr/>
          <p:nvPr/>
        </p:nvSpPr>
        <p:spPr>
          <a:xfrm>
            <a:off x="6914508" y="4528625"/>
            <a:ext cx="173736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First name</a:t>
            </a:r>
          </a:p>
        </p:txBody>
      </p:sp>
      <p:cxnSp>
        <p:nvCxnSpPr>
          <p:cNvPr id="37" name="Straight Connector 36"/>
          <p:cNvCxnSpPr>
            <a:stCxn id="40" idx="0"/>
            <a:endCxn id="34" idx="4"/>
          </p:cNvCxnSpPr>
          <p:nvPr/>
        </p:nvCxnSpPr>
        <p:spPr>
          <a:xfrm flipH="1" flipV="1">
            <a:off x="8906762" y="4372122"/>
            <a:ext cx="9646" cy="927393"/>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38" name="Oval 37"/>
          <p:cNvSpPr/>
          <p:nvPr/>
        </p:nvSpPr>
        <p:spPr>
          <a:xfrm>
            <a:off x="9365965" y="4573601"/>
            <a:ext cx="1645920" cy="442411"/>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Last name</a:t>
            </a:r>
          </a:p>
        </p:txBody>
      </p:sp>
      <p:cxnSp>
        <p:nvCxnSpPr>
          <p:cNvPr id="39" name="Straight Connector 38"/>
          <p:cNvCxnSpPr>
            <a:stCxn id="36" idx="0"/>
            <a:endCxn id="34" idx="3"/>
          </p:cNvCxnSpPr>
          <p:nvPr/>
        </p:nvCxnSpPr>
        <p:spPr>
          <a:xfrm flipV="1">
            <a:off x="7783188" y="4310188"/>
            <a:ext cx="541653" cy="218437"/>
          </a:xfrm>
          <a:prstGeom prst="line">
            <a:avLst/>
          </a:prstGeom>
          <a:ln>
            <a:solidFill>
              <a:schemeClr val="tx2"/>
            </a:solidFill>
          </a:ln>
        </p:spPr>
        <p:style>
          <a:lnRef idx="2">
            <a:schemeClr val="accent1"/>
          </a:lnRef>
          <a:fillRef idx="1">
            <a:schemeClr val="lt1"/>
          </a:fillRef>
          <a:effectRef idx="0">
            <a:schemeClr val="accent1"/>
          </a:effectRef>
          <a:fontRef idx="minor">
            <a:schemeClr val="dk1"/>
          </a:fontRef>
        </p:style>
      </p:cxnSp>
      <p:sp>
        <p:nvSpPr>
          <p:cNvPr id="40" name="Oval 39"/>
          <p:cNvSpPr/>
          <p:nvPr/>
        </p:nvSpPr>
        <p:spPr>
          <a:xfrm>
            <a:off x="7908408" y="5299515"/>
            <a:ext cx="201600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Middle name</a:t>
            </a:r>
          </a:p>
        </p:txBody>
      </p:sp>
    </p:spTree>
    <p:extLst>
      <p:ext uri="{BB962C8B-B14F-4D97-AF65-F5344CB8AC3E}">
        <p14:creationId xmlns:p14="http://schemas.microsoft.com/office/powerpoint/2010/main" val="3012044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500"/>
                                        <p:tgtEl>
                                          <p:spTgt spid="36"/>
                                        </p:tgtEl>
                                      </p:cBhvr>
                                    </p:animEffect>
                                  </p:childTnLst>
                                </p:cTn>
                              </p:par>
                              <p:par>
                                <p:cTn id="35" presetID="10"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500"/>
                                        <p:tgtEl>
                                          <p:spTgt spid="38"/>
                                        </p:tgtEl>
                                      </p:cBhvr>
                                    </p:animEffect>
                                  </p:childTnLst>
                                </p:cTn>
                              </p:par>
                              <p:par>
                                <p:cTn id="41" presetID="10" presetClass="entr" presetSubtype="0" fill="hold"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500"/>
                                        <p:tgtEl>
                                          <p:spTgt spid="3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6" grpId="0" animBg="1"/>
      <p:bldP spid="38" grpId="0" animBg="1"/>
      <p:bldP spid="4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Types of Attributes</a:t>
            </a:r>
          </a:p>
        </p:txBody>
      </p:sp>
      <p:sp>
        <p:nvSpPr>
          <p:cNvPr id="5" name="Content Placeholder 4"/>
          <p:cNvSpPr>
            <a:spLocks noGrp="1"/>
          </p:cNvSpPr>
          <p:nvPr>
            <p:ph idx="1"/>
          </p:nvPr>
        </p:nvSpPr>
        <p:spPr/>
        <p:txBody>
          <a:bodyPr/>
          <a:lstStyle/>
          <a:p>
            <a:endParaRPr lang="en-GB" dirty="0"/>
          </a:p>
        </p:txBody>
      </p:sp>
      <p:graphicFrame>
        <p:nvGraphicFramePr>
          <p:cNvPr id="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173629146"/>
              </p:ext>
            </p:extLst>
          </p:nvPr>
        </p:nvGraphicFramePr>
        <p:xfrm>
          <a:off x="696000" y="1195972"/>
          <a:ext cx="10800000" cy="630000"/>
        </p:xfrm>
        <a:graphic>
          <a:graphicData uri="http://schemas.openxmlformats.org/drawingml/2006/table">
            <a:tbl>
              <a:tblPr firstRow="1" bandRow="1">
                <a:tableStyleId>{8EC20E35-A176-4012-BC5E-935CFFF8708E}</a:tableStyleId>
              </a:tblPr>
              <a:tblGrid>
                <a:gridCol w="5400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630000">
                <a:tc>
                  <a:txBody>
                    <a:bodyPr/>
                    <a:lstStyle/>
                    <a:p>
                      <a:pPr algn="l"/>
                      <a:r>
                        <a:rPr lang="en-US" sz="2400" b="1" dirty="0">
                          <a:solidFill>
                            <a:schemeClr val="tx1"/>
                          </a:solidFill>
                        </a:rPr>
                        <a:t>Single-valued Attribute</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2400" kern="1200" dirty="0">
                          <a:solidFill>
                            <a:schemeClr val="tx1"/>
                          </a:solidFill>
                        </a:rPr>
                        <a:t>Multi-valued Attribute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7"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963384706"/>
              </p:ext>
            </p:extLst>
          </p:nvPr>
        </p:nvGraphicFramePr>
        <p:xfrm>
          <a:off x="696000" y="1825972"/>
          <a:ext cx="10800000" cy="540000"/>
        </p:xfrm>
        <a:graphic>
          <a:graphicData uri="http://schemas.openxmlformats.org/drawingml/2006/table">
            <a:tbl>
              <a:tblPr firstRow="1" bandRow="1">
                <a:tableStyleId>{8EC20E35-A176-4012-BC5E-935CFFF8708E}</a:tableStyleId>
              </a:tblPr>
              <a:tblGrid>
                <a:gridCol w="5400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540000">
                <a:tc>
                  <a:txBody>
                    <a:bodyPr/>
                    <a:lstStyle/>
                    <a:p>
                      <a:r>
                        <a:rPr lang="en-GB" sz="2400" b="0" kern="1200" dirty="0">
                          <a:solidFill>
                            <a:schemeClr val="dk1"/>
                          </a:solidFill>
                          <a:latin typeface="+mn-lt"/>
                          <a:ea typeface="+mn-ea"/>
                          <a:cs typeface="+mn-cs"/>
                        </a:rPr>
                        <a:t>Has single value</a:t>
                      </a:r>
                      <a:endParaRPr lang="en-US"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GB" sz="2400" b="0" kern="1200" dirty="0">
                          <a:solidFill>
                            <a:schemeClr val="dk1"/>
                          </a:solidFill>
                          <a:latin typeface="+mn-lt"/>
                          <a:ea typeface="+mn-ea"/>
                          <a:cs typeface="+mn-cs"/>
                        </a:rPr>
                        <a:t>Has multiple (more than one) value</a:t>
                      </a:r>
                      <a:endParaRPr lang="en-US"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8"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101806206"/>
              </p:ext>
            </p:extLst>
          </p:nvPr>
        </p:nvGraphicFramePr>
        <p:xfrm>
          <a:off x="696000" y="2365972"/>
          <a:ext cx="10800000" cy="1493520"/>
        </p:xfrm>
        <a:graphic>
          <a:graphicData uri="http://schemas.openxmlformats.org/drawingml/2006/table">
            <a:tbl>
              <a:tblPr firstRow="1" bandRow="1">
                <a:tableStyleId>{8EC20E35-A176-4012-BC5E-935CFFF8708E}</a:tableStyleId>
              </a:tblPr>
              <a:tblGrid>
                <a:gridCol w="5400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540000">
                <a:tc>
                  <a:txBody>
                    <a:bodyPr/>
                    <a:lstStyle/>
                    <a:p>
                      <a:r>
                        <a:rPr lang="en-GB" sz="2400" b="0" kern="1200" dirty="0">
                          <a:solidFill>
                            <a:schemeClr val="dk1"/>
                          </a:solidFill>
                          <a:latin typeface="+mn-lt"/>
                          <a:ea typeface="+mn-ea"/>
                          <a:cs typeface="+mn-cs"/>
                        </a:rPr>
                        <a:t>E.g. </a:t>
                      </a:r>
                      <a:r>
                        <a:rPr lang="en-GB" sz="2400" b="0" kern="1200" dirty="0" err="1">
                          <a:solidFill>
                            <a:schemeClr val="dk1"/>
                          </a:solidFill>
                          <a:latin typeface="+mn-lt"/>
                          <a:ea typeface="+mn-ea"/>
                          <a:cs typeface="+mn-cs"/>
                        </a:rPr>
                        <a:t>RollNo</a:t>
                      </a:r>
                      <a:r>
                        <a:rPr lang="en-GB" sz="2400" b="0" kern="1200" dirty="0">
                          <a:solidFill>
                            <a:schemeClr val="dk1"/>
                          </a:solidFill>
                          <a:latin typeface="+mn-lt"/>
                          <a:ea typeface="+mn-ea"/>
                          <a:cs typeface="+mn-cs"/>
                        </a:rPr>
                        <a:t>, CPI</a:t>
                      </a:r>
                      <a:endParaRPr lang="en-US" sz="24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GB" sz="2400" b="0" kern="1200" dirty="0">
                          <a:solidFill>
                            <a:schemeClr val="dk1"/>
                          </a:solidFill>
                          <a:latin typeface="+mn-lt"/>
                          <a:ea typeface="+mn-ea"/>
                          <a:cs typeface="+mn-cs"/>
                        </a:rPr>
                        <a:t>E.g. </a:t>
                      </a:r>
                      <a:r>
                        <a:rPr lang="en-GB" sz="2400" b="0" kern="1200" dirty="0" err="1">
                          <a:solidFill>
                            <a:schemeClr val="dk1"/>
                          </a:solidFill>
                          <a:latin typeface="+mn-lt"/>
                          <a:ea typeface="+mn-ea"/>
                          <a:cs typeface="+mn-cs"/>
                        </a:rPr>
                        <a:t>PhoneNo</a:t>
                      </a:r>
                      <a:endParaRPr lang="en-GB" sz="2400" b="0" kern="1200" dirty="0">
                        <a:solidFill>
                          <a:schemeClr val="dk1"/>
                        </a:solidFill>
                        <a:latin typeface="+mn-lt"/>
                        <a:ea typeface="+mn-ea"/>
                        <a:cs typeface="+mn-cs"/>
                      </a:endParaRPr>
                    </a:p>
                    <a:p>
                      <a:pPr marL="0" algn="l" defTabSz="914400" rtl="0" eaLnBrk="1" latinLnBrk="0" hangingPunct="1"/>
                      <a:r>
                        <a:rPr lang="en-GB" sz="2400" b="0" kern="1200" dirty="0">
                          <a:solidFill>
                            <a:schemeClr val="dk1"/>
                          </a:solidFill>
                          <a:latin typeface="+mn-lt"/>
                          <a:ea typeface="+mn-ea"/>
                          <a:cs typeface="+mn-cs"/>
                        </a:rPr>
                        <a:t>                  </a:t>
                      </a:r>
                      <a:r>
                        <a:rPr lang="en-GB" sz="2000" b="0" kern="1200" dirty="0">
                          <a:solidFill>
                            <a:schemeClr val="dk1"/>
                          </a:solidFill>
                          <a:latin typeface="+mn-lt"/>
                          <a:ea typeface="+mn-ea"/>
                          <a:cs typeface="+mn-cs"/>
                        </a:rPr>
                        <a:t>(person may have multiple phone </a:t>
                      </a:r>
                      <a:r>
                        <a:rPr lang="en-GB" sz="2000" b="0" kern="1200" dirty="0" err="1">
                          <a:solidFill>
                            <a:schemeClr val="dk1"/>
                          </a:solidFill>
                          <a:latin typeface="+mn-lt"/>
                          <a:ea typeface="+mn-ea"/>
                          <a:cs typeface="+mn-cs"/>
                        </a:rPr>
                        <a:t>nos</a:t>
                      </a:r>
                      <a:r>
                        <a:rPr lang="en-GB" sz="2000" b="0" kern="1200" dirty="0">
                          <a:solidFill>
                            <a:schemeClr val="dk1"/>
                          </a:solidFill>
                          <a:latin typeface="+mn-lt"/>
                          <a:ea typeface="+mn-ea"/>
                          <a:cs typeface="+mn-cs"/>
                        </a:rPr>
                        <a:t>)</a:t>
                      </a:r>
                      <a:r>
                        <a:rPr lang="en-GB" sz="2400" b="0" kern="1200" dirty="0">
                          <a:solidFill>
                            <a:schemeClr val="dk1"/>
                          </a:solidFill>
                          <a:latin typeface="+mn-lt"/>
                          <a:ea typeface="+mn-ea"/>
                          <a:cs typeface="+mn-cs"/>
                        </a:rPr>
                        <a:t> </a:t>
                      </a:r>
                    </a:p>
                    <a:p>
                      <a:pPr marL="0" algn="l" defTabSz="914400" rtl="0" eaLnBrk="1" latinLnBrk="0" hangingPunct="1"/>
                      <a:r>
                        <a:rPr lang="en-GB" sz="2400" b="0" kern="1200" dirty="0">
                          <a:solidFill>
                            <a:schemeClr val="dk1"/>
                          </a:solidFill>
                          <a:latin typeface="+mn-lt"/>
                          <a:ea typeface="+mn-ea"/>
                          <a:cs typeface="+mn-cs"/>
                        </a:rPr>
                        <a:t>        </a:t>
                      </a:r>
                      <a:r>
                        <a:rPr lang="en-GB" sz="2400" b="0" kern="1200" dirty="0" err="1">
                          <a:solidFill>
                            <a:schemeClr val="dk1"/>
                          </a:solidFill>
                          <a:latin typeface="+mn-lt"/>
                          <a:ea typeface="+mn-ea"/>
                          <a:cs typeface="+mn-cs"/>
                        </a:rPr>
                        <a:t>EmailID</a:t>
                      </a:r>
                      <a:endParaRPr lang="en-GB" sz="2400" b="0" kern="1200" dirty="0">
                        <a:solidFill>
                          <a:schemeClr val="dk1"/>
                        </a:solidFill>
                        <a:latin typeface="+mn-lt"/>
                        <a:ea typeface="+mn-ea"/>
                        <a:cs typeface="+mn-cs"/>
                      </a:endParaRPr>
                    </a:p>
                    <a:p>
                      <a:pPr marL="0" algn="l" defTabSz="914400" rtl="0" eaLnBrk="1" latinLnBrk="0" hangingPunct="1"/>
                      <a:r>
                        <a:rPr lang="en-GB" sz="2000" b="0" kern="1200" dirty="0">
                          <a:solidFill>
                            <a:schemeClr val="dk1"/>
                          </a:solidFill>
                          <a:latin typeface="+mn-lt"/>
                          <a:ea typeface="+mn-ea"/>
                          <a:cs typeface="+mn-cs"/>
                        </a:rPr>
                        <a:t>                     (person may have multiple emails)</a:t>
                      </a:r>
                      <a:endParaRPr lang="en-US" sz="20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4"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993670640"/>
              </p:ext>
            </p:extLst>
          </p:nvPr>
        </p:nvGraphicFramePr>
        <p:xfrm>
          <a:off x="696000" y="3859492"/>
          <a:ext cx="10800000" cy="1554480"/>
        </p:xfrm>
        <a:graphic>
          <a:graphicData uri="http://schemas.openxmlformats.org/drawingml/2006/table">
            <a:tbl>
              <a:tblPr firstRow="1" bandRow="1">
                <a:tableStyleId>{8EC20E35-A176-4012-BC5E-935CFFF8708E}</a:tableStyleId>
              </a:tblPr>
              <a:tblGrid>
                <a:gridCol w="5400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540000">
                <a:tc>
                  <a:txBody>
                    <a:bodyPr/>
                    <a:lstStyle/>
                    <a:p>
                      <a:r>
                        <a:rPr lang="en-GB" sz="2400" b="0" kern="1200" dirty="0">
                          <a:solidFill>
                            <a:schemeClr val="dk1"/>
                          </a:solidFill>
                          <a:latin typeface="+mn-lt"/>
                          <a:ea typeface="+mn-ea"/>
                          <a:cs typeface="+mn-cs"/>
                        </a:rPr>
                        <a:t>Symbol</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GB" sz="2400" b="0" kern="1200" dirty="0">
                          <a:solidFill>
                            <a:schemeClr val="dk1"/>
                          </a:solidFill>
                          <a:latin typeface="+mn-lt"/>
                          <a:ea typeface="+mn-ea"/>
                          <a:cs typeface="+mn-cs"/>
                        </a:rPr>
                        <a:t>Symbol</a:t>
                      </a:r>
                    </a:p>
                    <a:p>
                      <a:pPr marL="0" algn="l" defTabSz="914400" rtl="0" eaLnBrk="1" latinLnBrk="0" hangingPunct="1"/>
                      <a:endParaRPr lang="en-GB" sz="2400" b="0" kern="1200" dirty="0">
                        <a:solidFill>
                          <a:schemeClr val="dk1"/>
                        </a:solidFill>
                        <a:latin typeface="+mn-lt"/>
                        <a:ea typeface="+mn-ea"/>
                        <a:cs typeface="+mn-cs"/>
                      </a:endParaRPr>
                    </a:p>
                    <a:p>
                      <a:pPr marL="0" algn="l" defTabSz="914400" rtl="0" eaLnBrk="1" latinLnBrk="0" hangingPunct="1"/>
                      <a:endParaRPr lang="en-GB" sz="2400" b="0" kern="1200" dirty="0">
                        <a:solidFill>
                          <a:schemeClr val="dk1"/>
                        </a:solidFill>
                        <a:latin typeface="+mn-lt"/>
                        <a:ea typeface="+mn-ea"/>
                        <a:cs typeface="+mn-cs"/>
                      </a:endParaRPr>
                    </a:p>
                    <a:p>
                      <a:pPr marL="0" algn="l" defTabSz="914400" rtl="0" eaLnBrk="1" latinLnBrk="0" hangingPunct="1"/>
                      <a:endParaRPr lang="en-GB" sz="24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33" name="Oval 32"/>
          <p:cNvSpPr/>
          <p:nvPr/>
        </p:nvSpPr>
        <p:spPr>
          <a:xfrm>
            <a:off x="2140844" y="4552950"/>
            <a:ext cx="164592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Roll No</a:t>
            </a:r>
          </a:p>
        </p:txBody>
      </p:sp>
      <p:grpSp>
        <p:nvGrpSpPr>
          <p:cNvPr id="16" name="Group 15"/>
          <p:cNvGrpSpPr/>
          <p:nvPr/>
        </p:nvGrpSpPr>
        <p:grpSpPr>
          <a:xfrm>
            <a:off x="8186071" y="4547162"/>
            <a:ext cx="1758029" cy="544899"/>
            <a:chOff x="5938171" y="3429000"/>
            <a:chExt cx="1758029" cy="544899"/>
          </a:xfrm>
        </p:grpSpPr>
        <p:sp>
          <p:nvSpPr>
            <p:cNvPr id="17" name="Oval 16"/>
            <p:cNvSpPr/>
            <p:nvPr/>
          </p:nvSpPr>
          <p:spPr>
            <a:xfrm>
              <a:off x="6039945" y="3489994"/>
              <a:ext cx="155448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Phone No</a:t>
              </a:r>
            </a:p>
          </p:txBody>
        </p:sp>
        <p:sp>
          <p:nvSpPr>
            <p:cNvPr id="18" name="Oval 17"/>
            <p:cNvSpPr/>
            <p:nvPr/>
          </p:nvSpPr>
          <p:spPr>
            <a:xfrm>
              <a:off x="5938171" y="3429000"/>
              <a:ext cx="1758029" cy="544899"/>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Tree>
    <p:extLst>
      <p:ext uri="{BB962C8B-B14F-4D97-AF65-F5344CB8AC3E}">
        <p14:creationId xmlns:p14="http://schemas.microsoft.com/office/powerpoint/2010/main" val="2226021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Types of Attributes</a:t>
            </a:r>
          </a:p>
        </p:txBody>
      </p:sp>
      <p:sp>
        <p:nvSpPr>
          <p:cNvPr id="5" name="Content Placeholder 4"/>
          <p:cNvSpPr>
            <a:spLocks noGrp="1"/>
          </p:cNvSpPr>
          <p:nvPr>
            <p:ph idx="1"/>
          </p:nvPr>
        </p:nvSpPr>
        <p:spPr/>
        <p:txBody>
          <a:bodyPr/>
          <a:lstStyle/>
          <a:p>
            <a:endParaRPr lang="en-GB" dirty="0"/>
          </a:p>
        </p:txBody>
      </p:sp>
      <p:graphicFrame>
        <p:nvGraphicFramePr>
          <p:cNvPr id="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501136671"/>
              </p:ext>
            </p:extLst>
          </p:nvPr>
        </p:nvGraphicFramePr>
        <p:xfrm>
          <a:off x="696000" y="1195972"/>
          <a:ext cx="10800000" cy="630000"/>
        </p:xfrm>
        <a:graphic>
          <a:graphicData uri="http://schemas.openxmlformats.org/drawingml/2006/table">
            <a:tbl>
              <a:tblPr firstRow="1" bandRow="1">
                <a:tableStyleId>{8EC20E35-A176-4012-BC5E-935CFFF8708E}</a:tableStyleId>
              </a:tblPr>
              <a:tblGrid>
                <a:gridCol w="5400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630000">
                <a:tc>
                  <a:txBody>
                    <a:bodyPr/>
                    <a:lstStyle/>
                    <a:p>
                      <a:pPr algn="l"/>
                      <a:r>
                        <a:rPr lang="en-US" sz="2400" b="1" dirty="0">
                          <a:solidFill>
                            <a:schemeClr val="tx1"/>
                          </a:solidFill>
                        </a:rPr>
                        <a:t>Stored Attribute</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2400" kern="1200" dirty="0">
                          <a:solidFill>
                            <a:schemeClr val="tx1"/>
                          </a:solidFill>
                        </a:rPr>
                        <a:t>Derived Attribute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7"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075695475"/>
              </p:ext>
            </p:extLst>
          </p:nvPr>
        </p:nvGraphicFramePr>
        <p:xfrm>
          <a:off x="696000" y="1825972"/>
          <a:ext cx="10800000" cy="822960"/>
        </p:xfrm>
        <a:graphic>
          <a:graphicData uri="http://schemas.openxmlformats.org/drawingml/2006/table">
            <a:tbl>
              <a:tblPr firstRow="1" bandRow="1">
                <a:tableStyleId>{8EC20E35-A176-4012-BC5E-935CFFF8708E}</a:tableStyleId>
              </a:tblPr>
              <a:tblGrid>
                <a:gridCol w="5400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540000">
                <a:tc>
                  <a:txBody>
                    <a:bodyPr/>
                    <a:lstStyle/>
                    <a:p>
                      <a:r>
                        <a:rPr lang="en-GB" sz="2400" b="0" kern="1200" dirty="0">
                          <a:solidFill>
                            <a:schemeClr val="dk1"/>
                          </a:solidFill>
                          <a:latin typeface="+mn-lt"/>
                          <a:ea typeface="+mn-ea"/>
                          <a:cs typeface="+mn-cs"/>
                        </a:rPr>
                        <a:t>It’s value is stored manually in database</a:t>
                      </a:r>
                      <a:endParaRPr lang="en-US"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GB" sz="2400" b="0" kern="1200" dirty="0">
                          <a:solidFill>
                            <a:schemeClr val="dk1"/>
                          </a:solidFill>
                          <a:latin typeface="+mn-lt"/>
                          <a:ea typeface="+mn-ea"/>
                          <a:cs typeface="+mn-cs"/>
                        </a:rPr>
                        <a:t>It’s value is derived or calculated from other attributes</a:t>
                      </a:r>
                      <a:endParaRPr lang="en-US"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8"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245133118"/>
              </p:ext>
            </p:extLst>
          </p:nvPr>
        </p:nvGraphicFramePr>
        <p:xfrm>
          <a:off x="696000" y="2648932"/>
          <a:ext cx="10800000" cy="1127760"/>
        </p:xfrm>
        <a:graphic>
          <a:graphicData uri="http://schemas.openxmlformats.org/drawingml/2006/table">
            <a:tbl>
              <a:tblPr firstRow="1" bandRow="1">
                <a:tableStyleId>{8EC20E35-A176-4012-BC5E-935CFFF8708E}</a:tableStyleId>
              </a:tblPr>
              <a:tblGrid>
                <a:gridCol w="5400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540000">
                <a:tc>
                  <a:txBody>
                    <a:bodyPr/>
                    <a:lstStyle/>
                    <a:p>
                      <a:r>
                        <a:rPr lang="en-GB" sz="2400" b="0" kern="1200" dirty="0">
                          <a:solidFill>
                            <a:schemeClr val="dk1"/>
                          </a:solidFill>
                          <a:latin typeface="+mn-lt"/>
                          <a:ea typeface="+mn-ea"/>
                          <a:cs typeface="+mn-cs"/>
                        </a:rPr>
                        <a:t>E.g. Birthdate</a:t>
                      </a:r>
                      <a:endParaRPr lang="en-US" sz="24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GB" sz="2400" b="0" kern="1200" dirty="0">
                          <a:solidFill>
                            <a:schemeClr val="dk1"/>
                          </a:solidFill>
                          <a:latin typeface="+mn-lt"/>
                          <a:ea typeface="+mn-ea"/>
                          <a:cs typeface="+mn-cs"/>
                        </a:rPr>
                        <a:t>E.g. Age</a:t>
                      </a:r>
                    </a:p>
                    <a:p>
                      <a:pPr marL="0" algn="l" defTabSz="914400" rtl="0" eaLnBrk="1" latinLnBrk="0" hangingPunct="1"/>
                      <a:r>
                        <a:rPr lang="en-GB" sz="2400" b="0" kern="1200" dirty="0">
                          <a:solidFill>
                            <a:schemeClr val="dk1"/>
                          </a:solidFill>
                          <a:latin typeface="+mn-lt"/>
                          <a:ea typeface="+mn-ea"/>
                          <a:cs typeface="+mn-cs"/>
                        </a:rPr>
                        <a:t> </a:t>
                      </a:r>
                      <a:r>
                        <a:rPr lang="en-GB" sz="2000" b="0" kern="1200" dirty="0">
                          <a:solidFill>
                            <a:schemeClr val="dk1"/>
                          </a:solidFill>
                          <a:latin typeface="+mn-lt"/>
                          <a:ea typeface="+mn-ea"/>
                          <a:cs typeface="+mn-cs"/>
                        </a:rPr>
                        <a:t>(can be calculated using current date and                   birthdate)</a:t>
                      </a:r>
                      <a:endParaRPr lang="en-GB"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4"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781538799"/>
              </p:ext>
            </p:extLst>
          </p:nvPr>
        </p:nvGraphicFramePr>
        <p:xfrm>
          <a:off x="696000" y="3776692"/>
          <a:ext cx="10800000" cy="1188720"/>
        </p:xfrm>
        <a:graphic>
          <a:graphicData uri="http://schemas.openxmlformats.org/drawingml/2006/table">
            <a:tbl>
              <a:tblPr firstRow="1" bandRow="1">
                <a:tableStyleId>{8EC20E35-A176-4012-BC5E-935CFFF8708E}</a:tableStyleId>
              </a:tblPr>
              <a:tblGrid>
                <a:gridCol w="5400000">
                  <a:extLst>
                    <a:ext uri="{9D8B030D-6E8A-4147-A177-3AD203B41FA5}">
                      <a16:colId xmlns:a16="http://schemas.microsoft.com/office/drawing/2014/main" val="20000"/>
                    </a:ext>
                  </a:extLst>
                </a:gridCol>
                <a:gridCol w="5400000">
                  <a:extLst>
                    <a:ext uri="{9D8B030D-6E8A-4147-A177-3AD203B41FA5}">
                      <a16:colId xmlns:a16="http://schemas.microsoft.com/office/drawing/2014/main" val="20001"/>
                    </a:ext>
                  </a:extLst>
                </a:gridCol>
              </a:tblGrid>
              <a:tr h="540000">
                <a:tc>
                  <a:txBody>
                    <a:bodyPr/>
                    <a:lstStyle/>
                    <a:p>
                      <a:r>
                        <a:rPr lang="en-GB" sz="2400" b="0" kern="1200" dirty="0">
                          <a:solidFill>
                            <a:schemeClr val="dk1"/>
                          </a:solidFill>
                          <a:latin typeface="+mn-lt"/>
                          <a:ea typeface="+mn-ea"/>
                          <a:cs typeface="+mn-cs"/>
                        </a:rPr>
                        <a:t>Symbol</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GB" sz="2400" b="0" kern="1200" dirty="0">
                          <a:solidFill>
                            <a:schemeClr val="dk1"/>
                          </a:solidFill>
                          <a:latin typeface="+mn-lt"/>
                          <a:ea typeface="+mn-ea"/>
                          <a:cs typeface="+mn-cs"/>
                        </a:rPr>
                        <a:t>Symbol</a:t>
                      </a:r>
                    </a:p>
                    <a:p>
                      <a:pPr marL="0" algn="l" defTabSz="914400" rtl="0" eaLnBrk="1" latinLnBrk="0" hangingPunct="1"/>
                      <a:endParaRPr lang="en-GB" sz="2400" b="0" kern="1200" dirty="0">
                        <a:solidFill>
                          <a:schemeClr val="dk1"/>
                        </a:solidFill>
                        <a:latin typeface="+mn-lt"/>
                        <a:ea typeface="+mn-ea"/>
                        <a:cs typeface="+mn-cs"/>
                      </a:endParaRPr>
                    </a:p>
                    <a:p>
                      <a:pPr marL="0" algn="l" defTabSz="914400" rtl="0" eaLnBrk="1" latinLnBrk="0" hangingPunct="1"/>
                      <a:endParaRPr lang="en-GB" sz="24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33" name="Oval 32"/>
          <p:cNvSpPr/>
          <p:nvPr/>
        </p:nvSpPr>
        <p:spPr>
          <a:xfrm>
            <a:off x="2140844" y="4176742"/>
            <a:ext cx="1645920" cy="42291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rPr>
              <a:t>Birthdate</a:t>
            </a:r>
          </a:p>
        </p:txBody>
      </p:sp>
      <p:sp>
        <p:nvSpPr>
          <p:cNvPr id="12" name="Oval 11"/>
          <p:cNvSpPr/>
          <p:nvPr/>
        </p:nvSpPr>
        <p:spPr>
          <a:xfrm>
            <a:off x="8180156" y="4179074"/>
            <a:ext cx="1554480" cy="422910"/>
          </a:xfrm>
          <a:prstGeom prst="ellipse">
            <a:avLst/>
          </a:prstGeom>
          <a:noFill/>
          <a:ln w="28575">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Age</a:t>
            </a:r>
          </a:p>
        </p:txBody>
      </p:sp>
    </p:spTree>
    <p:extLst>
      <p:ext uri="{BB962C8B-B14F-4D97-AF65-F5344CB8AC3E}">
        <p14:creationId xmlns:p14="http://schemas.microsoft.com/office/powerpoint/2010/main" val="1607580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Entity with all types of Attributes</a:t>
            </a:r>
          </a:p>
        </p:txBody>
      </p:sp>
      <p:sp>
        <p:nvSpPr>
          <p:cNvPr id="3" name="Content Placeholder 2"/>
          <p:cNvSpPr>
            <a:spLocks noGrp="1"/>
          </p:cNvSpPr>
          <p:nvPr>
            <p:ph idx="1"/>
          </p:nvPr>
        </p:nvSpPr>
        <p:spPr>
          <a:ln>
            <a:solidFill>
              <a:schemeClr val="accent6"/>
            </a:solidFill>
          </a:ln>
        </p:spPr>
        <p:txBody>
          <a:bodyPr/>
          <a:lstStyle/>
          <a:p>
            <a:endParaRPr lang="en-GB" dirty="0"/>
          </a:p>
        </p:txBody>
      </p:sp>
      <p:sp>
        <p:nvSpPr>
          <p:cNvPr id="4" name="Rectangle 3"/>
          <p:cNvSpPr/>
          <p:nvPr/>
        </p:nvSpPr>
        <p:spPr>
          <a:xfrm>
            <a:off x="4251951" y="3352958"/>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Student</a:t>
            </a:r>
          </a:p>
        </p:txBody>
      </p:sp>
      <p:cxnSp>
        <p:nvCxnSpPr>
          <p:cNvPr id="5" name="Straight Connector 4"/>
          <p:cNvCxnSpPr/>
          <p:nvPr/>
        </p:nvCxnSpPr>
        <p:spPr>
          <a:xfrm>
            <a:off x="5944124" y="3720893"/>
            <a:ext cx="881753" cy="1"/>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6" name="Straight Connector 5"/>
          <p:cNvCxnSpPr>
            <a:stCxn id="7" idx="4"/>
            <a:endCxn id="4" idx="0"/>
          </p:cNvCxnSpPr>
          <p:nvPr/>
        </p:nvCxnSpPr>
        <p:spPr>
          <a:xfrm>
            <a:off x="4137648" y="2916985"/>
            <a:ext cx="963389" cy="435973"/>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7" name="Oval 6"/>
          <p:cNvSpPr/>
          <p:nvPr/>
        </p:nvSpPr>
        <p:spPr>
          <a:xfrm>
            <a:off x="3406128" y="2494075"/>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RollNo</a:t>
            </a:r>
            <a:endParaRPr lang="en-US" u="sng" dirty="0">
              <a:solidFill>
                <a:schemeClr val="tx1"/>
              </a:solidFill>
            </a:endParaRPr>
          </a:p>
        </p:txBody>
      </p:sp>
      <p:cxnSp>
        <p:nvCxnSpPr>
          <p:cNvPr id="8" name="Straight Connector 7"/>
          <p:cNvCxnSpPr>
            <a:stCxn id="9" idx="4"/>
            <a:endCxn id="4" idx="0"/>
          </p:cNvCxnSpPr>
          <p:nvPr/>
        </p:nvCxnSpPr>
        <p:spPr>
          <a:xfrm flipH="1">
            <a:off x="5101037" y="2894574"/>
            <a:ext cx="654734" cy="45838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9" name="Oval 8"/>
          <p:cNvSpPr/>
          <p:nvPr/>
        </p:nvSpPr>
        <p:spPr>
          <a:xfrm>
            <a:off x="5024251" y="2471664"/>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Name</a:t>
            </a:r>
          </a:p>
        </p:txBody>
      </p:sp>
      <p:cxnSp>
        <p:nvCxnSpPr>
          <p:cNvPr id="10" name="Straight Connector 9"/>
          <p:cNvCxnSpPr>
            <a:stCxn id="4" idx="2"/>
            <a:endCxn id="23" idx="0"/>
          </p:cNvCxnSpPr>
          <p:nvPr/>
        </p:nvCxnSpPr>
        <p:spPr>
          <a:xfrm flipH="1">
            <a:off x="4019181" y="4097541"/>
            <a:ext cx="1081856" cy="343897"/>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1" name="Oval 10"/>
          <p:cNvSpPr/>
          <p:nvPr/>
        </p:nvSpPr>
        <p:spPr>
          <a:xfrm>
            <a:off x="3248551" y="4500677"/>
            <a:ext cx="1554480" cy="422910"/>
          </a:xfrm>
          <a:prstGeom prst="ellips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Phone No</a:t>
            </a:r>
          </a:p>
        </p:txBody>
      </p:sp>
      <p:sp>
        <p:nvSpPr>
          <p:cNvPr id="12" name="Oval 11"/>
          <p:cNvSpPr/>
          <p:nvPr/>
        </p:nvSpPr>
        <p:spPr>
          <a:xfrm>
            <a:off x="5485161" y="4487185"/>
            <a:ext cx="1645920" cy="422910"/>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Birth Date</a:t>
            </a:r>
          </a:p>
        </p:txBody>
      </p:sp>
      <p:cxnSp>
        <p:nvCxnSpPr>
          <p:cNvPr id="13" name="Straight Connector 12"/>
          <p:cNvCxnSpPr>
            <a:stCxn id="4" idx="2"/>
            <a:endCxn id="12" idx="0"/>
          </p:cNvCxnSpPr>
          <p:nvPr/>
        </p:nvCxnSpPr>
        <p:spPr>
          <a:xfrm>
            <a:off x="5101037" y="4097541"/>
            <a:ext cx="1207084" cy="38964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a:stCxn id="15" idx="4"/>
            <a:endCxn id="9" idx="1"/>
          </p:cNvCxnSpPr>
          <p:nvPr/>
        </p:nvCxnSpPr>
        <p:spPr>
          <a:xfrm>
            <a:off x="4265557" y="2048754"/>
            <a:ext cx="972951" cy="48484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5" name="Oval 14"/>
          <p:cNvSpPr/>
          <p:nvPr/>
        </p:nvSpPr>
        <p:spPr>
          <a:xfrm>
            <a:off x="3396877" y="1625844"/>
            <a:ext cx="1737360" cy="422910"/>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First Name</a:t>
            </a:r>
          </a:p>
        </p:txBody>
      </p:sp>
      <p:cxnSp>
        <p:nvCxnSpPr>
          <p:cNvPr id="16" name="Straight Connector 15"/>
          <p:cNvCxnSpPr>
            <a:stCxn id="17" idx="4"/>
            <a:endCxn id="9" idx="7"/>
          </p:cNvCxnSpPr>
          <p:nvPr/>
        </p:nvCxnSpPr>
        <p:spPr>
          <a:xfrm flipH="1">
            <a:off x="6273034" y="2087756"/>
            <a:ext cx="1037217" cy="445842"/>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7" name="Oval 16"/>
          <p:cNvSpPr/>
          <p:nvPr/>
        </p:nvSpPr>
        <p:spPr>
          <a:xfrm>
            <a:off x="6487291" y="1645345"/>
            <a:ext cx="1645920" cy="442411"/>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Last Name</a:t>
            </a:r>
          </a:p>
        </p:txBody>
      </p:sp>
      <p:cxnSp>
        <p:nvCxnSpPr>
          <p:cNvPr id="18" name="Straight Connector 17"/>
          <p:cNvCxnSpPr>
            <a:stCxn id="19" idx="4"/>
            <a:endCxn id="9" idx="0"/>
          </p:cNvCxnSpPr>
          <p:nvPr/>
        </p:nvCxnSpPr>
        <p:spPr>
          <a:xfrm>
            <a:off x="5753997" y="1785415"/>
            <a:ext cx="1774" cy="686249"/>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9" name="Oval 18"/>
          <p:cNvSpPr/>
          <p:nvPr/>
        </p:nvSpPr>
        <p:spPr>
          <a:xfrm>
            <a:off x="5022477" y="1145335"/>
            <a:ext cx="1463040" cy="640080"/>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Middle Name</a:t>
            </a:r>
          </a:p>
        </p:txBody>
      </p:sp>
      <p:sp>
        <p:nvSpPr>
          <p:cNvPr id="20" name="Oval 19"/>
          <p:cNvSpPr/>
          <p:nvPr/>
        </p:nvSpPr>
        <p:spPr>
          <a:xfrm>
            <a:off x="6825877" y="3509438"/>
            <a:ext cx="164592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Address</a:t>
            </a:r>
          </a:p>
        </p:txBody>
      </p:sp>
      <p:cxnSp>
        <p:nvCxnSpPr>
          <p:cNvPr id="21" name="Straight Connector 20"/>
          <p:cNvCxnSpPr/>
          <p:nvPr/>
        </p:nvCxnSpPr>
        <p:spPr>
          <a:xfrm>
            <a:off x="3357498" y="3727880"/>
            <a:ext cx="881753" cy="1"/>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2" name="Oval 21"/>
          <p:cNvSpPr/>
          <p:nvPr/>
        </p:nvSpPr>
        <p:spPr>
          <a:xfrm>
            <a:off x="1695450" y="3516425"/>
            <a:ext cx="1645920" cy="422910"/>
          </a:xfrm>
          <a:prstGeom prst="ellipse">
            <a:avLst/>
          </a:prstGeom>
          <a:noFill/>
          <a:ln w="28575">
            <a:solidFill>
              <a:schemeClr val="tx1">
                <a:lumMod val="90000"/>
                <a:lumOff val="1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Age</a:t>
            </a:r>
          </a:p>
        </p:txBody>
      </p:sp>
      <p:sp>
        <p:nvSpPr>
          <p:cNvPr id="23" name="Oval 22"/>
          <p:cNvSpPr/>
          <p:nvPr/>
        </p:nvSpPr>
        <p:spPr>
          <a:xfrm>
            <a:off x="3140166" y="4441438"/>
            <a:ext cx="1758029" cy="544899"/>
          </a:xfrm>
          <a:prstGeom prst="ellips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4" name="Straight Connector 23"/>
          <p:cNvCxnSpPr>
            <a:endCxn id="20" idx="7"/>
          </p:cNvCxnSpPr>
          <p:nvPr/>
        </p:nvCxnSpPr>
        <p:spPr>
          <a:xfrm flipH="1">
            <a:off x="8230758" y="2914098"/>
            <a:ext cx="700242" cy="65727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5" name="Oval 24"/>
          <p:cNvSpPr/>
          <p:nvPr/>
        </p:nvSpPr>
        <p:spPr>
          <a:xfrm>
            <a:off x="8384913" y="2514421"/>
            <a:ext cx="1737360" cy="422910"/>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Apartment</a:t>
            </a:r>
          </a:p>
        </p:txBody>
      </p:sp>
      <p:cxnSp>
        <p:nvCxnSpPr>
          <p:cNvPr id="26" name="Straight Connector 25"/>
          <p:cNvCxnSpPr>
            <a:stCxn id="27" idx="0"/>
            <a:endCxn id="20" idx="5"/>
          </p:cNvCxnSpPr>
          <p:nvPr/>
        </p:nvCxnSpPr>
        <p:spPr>
          <a:xfrm flipH="1" flipV="1">
            <a:off x="8230758" y="3870414"/>
            <a:ext cx="1022835" cy="633709"/>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7" name="Oval 26"/>
          <p:cNvSpPr/>
          <p:nvPr/>
        </p:nvSpPr>
        <p:spPr>
          <a:xfrm>
            <a:off x="8430633" y="4504123"/>
            <a:ext cx="1645920" cy="442411"/>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Area</a:t>
            </a:r>
          </a:p>
        </p:txBody>
      </p:sp>
      <p:cxnSp>
        <p:nvCxnSpPr>
          <p:cNvPr id="28" name="Straight Connector 27"/>
          <p:cNvCxnSpPr>
            <a:cxnSpLocks/>
            <a:stCxn id="29" idx="2"/>
            <a:endCxn id="20" idx="6"/>
          </p:cNvCxnSpPr>
          <p:nvPr/>
        </p:nvCxnSpPr>
        <p:spPr>
          <a:xfrm flipH="1" flipV="1">
            <a:off x="8471797" y="3720893"/>
            <a:ext cx="513647" cy="6987"/>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9" name="Oval 28"/>
          <p:cNvSpPr/>
          <p:nvPr/>
        </p:nvSpPr>
        <p:spPr>
          <a:xfrm>
            <a:off x="8985444" y="3488123"/>
            <a:ext cx="1463040" cy="479514"/>
          </a:xfrm>
          <a:prstGeom prst="ellips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Street</a:t>
            </a:r>
          </a:p>
        </p:txBody>
      </p:sp>
      <p:sp>
        <p:nvSpPr>
          <p:cNvPr id="30" name="Rounded Rectangular Callout 29"/>
          <p:cNvSpPr/>
          <p:nvPr/>
        </p:nvSpPr>
        <p:spPr>
          <a:xfrm>
            <a:off x="6886302" y="2904192"/>
            <a:ext cx="1307334" cy="457200"/>
          </a:xfrm>
          <a:prstGeom prst="wedgeRoundRectCallout">
            <a:avLst>
              <a:gd name="adj1" fmla="val -20833"/>
              <a:gd name="adj2" fmla="val 84375"/>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Composite</a:t>
            </a:r>
          </a:p>
        </p:txBody>
      </p:sp>
      <p:sp>
        <p:nvSpPr>
          <p:cNvPr id="31" name="Rounded Rectangular Callout 30"/>
          <p:cNvSpPr/>
          <p:nvPr/>
        </p:nvSpPr>
        <p:spPr>
          <a:xfrm>
            <a:off x="2074028" y="2039585"/>
            <a:ext cx="1307334" cy="457200"/>
          </a:xfrm>
          <a:prstGeom prst="wedgeRoundRectCallout">
            <a:avLst>
              <a:gd name="adj1" fmla="val 52389"/>
              <a:gd name="adj2" fmla="val 81250"/>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Simple</a:t>
            </a:r>
          </a:p>
        </p:txBody>
      </p:sp>
      <p:sp>
        <p:nvSpPr>
          <p:cNvPr id="32" name="Rounded Rectangular Callout 31"/>
          <p:cNvSpPr/>
          <p:nvPr/>
        </p:nvSpPr>
        <p:spPr>
          <a:xfrm>
            <a:off x="6641446" y="2410725"/>
            <a:ext cx="1307334" cy="457200"/>
          </a:xfrm>
          <a:prstGeom prst="wedgeRoundRectCallout">
            <a:avLst>
              <a:gd name="adj1" fmla="val -65641"/>
              <a:gd name="adj2" fmla="val 28125"/>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Composite</a:t>
            </a:r>
          </a:p>
        </p:txBody>
      </p:sp>
      <p:sp>
        <p:nvSpPr>
          <p:cNvPr id="33" name="Rounded Rectangular Callout 32"/>
          <p:cNvSpPr/>
          <p:nvPr/>
        </p:nvSpPr>
        <p:spPr>
          <a:xfrm>
            <a:off x="2074028" y="1905000"/>
            <a:ext cx="1307334" cy="640080"/>
          </a:xfrm>
          <a:prstGeom prst="wedgeRoundRectCallout">
            <a:avLst>
              <a:gd name="adj1" fmla="val 52389"/>
              <a:gd name="adj2" fmla="val 81250"/>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Single Value</a:t>
            </a:r>
          </a:p>
        </p:txBody>
      </p:sp>
      <p:sp>
        <p:nvSpPr>
          <p:cNvPr id="34" name="Rounded Rectangular Callout 33"/>
          <p:cNvSpPr/>
          <p:nvPr/>
        </p:nvSpPr>
        <p:spPr>
          <a:xfrm>
            <a:off x="1781998" y="4051234"/>
            <a:ext cx="1307334" cy="640080"/>
          </a:xfrm>
          <a:prstGeom prst="wedgeRoundRectCallout">
            <a:avLst>
              <a:gd name="adj1" fmla="val 62103"/>
              <a:gd name="adj2" fmla="val 71329"/>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Multiple Value</a:t>
            </a:r>
          </a:p>
        </p:txBody>
      </p:sp>
      <p:sp>
        <p:nvSpPr>
          <p:cNvPr id="35" name="Rounded Rectangular Callout 34"/>
          <p:cNvSpPr/>
          <p:nvPr/>
        </p:nvSpPr>
        <p:spPr>
          <a:xfrm>
            <a:off x="6754131" y="4002905"/>
            <a:ext cx="1307334" cy="457200"/>
          </a:xfrm>
          <a:prstGeom prst="wedgeRoundRectCallout">
            <a:avLst>
              <a:gd name="adj1" fmla="val -65641"/>
              <a:gd name="adj2" fmla="val 53125"/>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Stored</a:t>
            </a:r>
          </a:p>
        </p:txBody>
      </p:sp>
      <p:sp>
        <p:nvSpPr>
          <p:cNvPr id="36" name="Rounded Rectangular Callout 35"/>
          <p:cNvSpPr/>
          <p:nvPr/>
        </p:nvSpPr>
        <p:spPr>
          <a:xfrm>
            <a:off x="1803650" y="2892120"/>
            <a:ext cx="1307334" cy="457200"/>
          </a:xfrm>
          <a:prstGeom prst="wedgeRoundRectCallout">
            <a:avLst>
              <a:gd name="adj1" fmla="val -23869"/>
              <a:gd name="adj2" fmla="val 92014"/>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Derived</a:t>
            </a:r>
          </a:p>
        </p:txBody>
      </p:sp>
    </p:spTree>
    <p:extLst>
      <p:ext uri="{BB962C8B-B14F-4D97-AF65-F5344CB8AC3E}">
        <p14:creationId xmlns:p14="http://schemas.microsoft.com/office/powerpoint/2010/main" val="3015154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par>
                                <p:cTn id="71" presetID="10" presetClass="entr" presetSubtype="0" fill="hold"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childTnLst>
                                </p:cTn>
                              </p:par>
                              <p:par>
                                <p:cTn id="77" presetID="10" presetClass="entr" presetSubtype="0" fill="hold"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500"/>
                                        <p:tgtEl>
                                          <p:spTgt spid="28"/>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500"/>
                                        <p:tgtEl>
                                          <p:spTgt spid="29"/>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500"/>
                                        <p:tgtEl>
                                          <p:spTgt spid="30"/>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xit" presetSubtype="0" fill="hold" grpId="1" nodeType="clickEffect">
                                  <p:stCondLst>
                                    <p:cond delay="0"/>
                                  </p:stCondLst>
                                  <p:childTnLst>
                                    <p:animEffect transition="out" filter="fade">
                                      <p:cBhvr>
                                        <p:cTn id="97" dur="500"/>
                                        <p:tgtEl>
                                          <p:spTgt spid="31"/>
                                        </p:tgtEl>
                                      </p:cBhvr>
                                    </p:animEffect>
                                    <p:set>
                                      <p:cBhvr>
                                        <p:cTn id="98" dur="1" fill="hold">
                                          <p:stCondLst>
                                            <p:cond delay="499"/>
                                          </p:stCondLst>
                                        </p:cTn>
                                        <p:tgtEl>
                                          <p:spTgt spid="31"/>
                                        </p:tgtEl>
                                        <p:attrNameLst>
                                          <p:attrName>style.visibility</p:attrName>
                                        </p:attrNameLst>
                                      </p:cBhvr>
                                      <p:to>
                                        <p:strVal val="hidden"/>
                                      </p:to>
                                    </p:set>
                                  </p:childTnLst>
                                </p:cTn>
                              </p:par>
                              <p:par>
                                <p:cTn id="99" presetID="10" presetClass="exit" presetSubtype="0" fill="hold" grpId="1" nodeType="withEffect">
                                  <p:stCondLst>
                                    <p:cond delay="0"/>
                                  </p:stCondLst>
                                  <p:childTnLst>
                                    <p:animEffect transition="out" filter="fade">
                                      <p:cBhvr>
                                        <p:cTn id="100" dur="500"/>
                                        <p:tgtEl>
                                          <p:spTgt spid="32"/>
                                        </p:tgtEl>
                                      </p:cBhvr>
                                    </p:animEffect>
                                    <p:set>
                                      <p:cBhvr>
                                        <p:cTn id="101" dur="1" fill="hold">
                                          <p:stCondLst>
                                            <p:cond delay="499"/>
                                          </p:stCondLst>
                                        </p:cTn>
                                        <p:tgtEl>
                                          <p:spTgt spid="32"/>
                                        </p:tgtEl>
                                        <p:attrNameLst>
                                          <p:attrName>style.visibility</p:attrName>
                                        </p:attrNameLst>
                                      </p:cBhvr>
                                      <p:to>
                                        <p:strVal val="hidden"/>
                                      </p:to>
                                    </p:set>
                                  </p:childTnLst>
                                </p:cTn>
                              </p:par>
                              <p:par>
                                <p:cTn id="102" presetID="10" presetClass="exit" presetSubtype="0" fill="hold" grpId="1" nodeType="withEffect">
                                  <p:stCondLst>
                                    <p:cond delay="0"/>
                                  </p:stCondLst>
                                  <p:childTnLst>
                                    <p:animEffect transition="out" filter="fade">
                                      <p:cBhvr>
                                        <p:cTn id="103" dur="500"/>
                                        <p:tgtEl>
                                          <p:spTgt spid="30"/>
                                        </p:tgtEl>
                                      </p:cBhvr>
                                    </p:animEffect>
                                    <p:set>
                                      <p:cBhvr>
                                        <p:cTn id="104" dur="1" fill="hold">
                                          <p:stCondLst>
                                            <p:cond delay="499"/>
                                          </p:stCondLst>
                                        </p:cTn>
                                        <p:tgtEl>
                                          <p:spTgt spid="30"/>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3"/>
                                        </p:tgtEl>
                                        <p:attrNameLst>
                                          <p:attrName>style.visibility</p:attrName>
                                        </p:attrNameLst>
                                      </p:cBhvr>
                                      <p:to>
                                        <p:strVal val="visible"/>
                                      </p:to>
                                    </p:set>
                                    <p:animEffect transition="in" filter="fade">
                                      <p:cBhvr>
                                        <p:cTn id="109" dur="500"/>
                                        <p:tgtEl>
                                          <p:spTgt spid="33"/>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4"/>
                                        </p:tgtEl>
                                        <p:attrNameLst>
                                          <p:attrName>style.visibility</p:attrName>
                                        </p:attrNameLst>
                                      </p:cBhvr>
                                      <p:to>
                                        <p:strVal val="visible"/>
                                      </p:to>
                                    </p:set>
                                    <p:animEffect transition="in" filter="fade">
                                      <p:cBhvr>
                                        <p:cTn id="112" dur="500"/>
                                        <p:tgtEl>
                                          <p:spTgt spid="34"/>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xit" presetSubtype="0" fill="hold" grpId="1" nodeType="clickEffect">
                                  <p:stCondLst>
                                    <p:cond delay="0"/>
                                  </p:stCondLst>
                                  <p:childTnLst>
                                    <p:animEffect transition="out" filter="fade">
                                      <p:cBhvr>
                                        <p:cTn id="116" dur="500"/>
                                        <p:tgtEl>
                                          <p:spTgt spid="34"/>
                                        </p:tgtEl>
                                      </p:cBhvr>
                                    </p:animEffect>
                                    <p:set>
                                      <p:cBhvr>
                                        <p:cTn id="117" dur="1" fill="hold">
                                          <p:stCondLst>
                                            <p:cond delay="499"/>
                                          </p:stCondLst>
                                        </p:cTn>
                                        <p:tgtEl>
                                          <p:spTgt spid="34"/>
                                        </p:tgtEl>
                                        <p:attrNameLst>
                                          <p:attrName>style.visibility</p:attrName>
                                        </p:attrNameLst>
                                      </p:cBhvr>
                                      <p:to>
                                        <p:strVal val="hidden"/>
                                      </p:to>
                                    </p:set>
                                  </p:childTnLst>
                                </p:cTn>
                              </p:par>
                              <p:par>
                                <p:cTn id="118" presetID="10" presetClass="exit" presetSubtype="0" fill="hold" grpId="1" nodeType="withEffect">
                                  <p:stCondLst>
                                    <p:cond delay="0"/>
                                  </p:stCondLst>
                                  <p:childTnLst>
                                    <p:animEffect transition="out" filter="fade">
                                      <p:cBhvr>
                                        <p:cTn id="119" dur="500"/>
                                        <p:tgtEl>
                                          <p:spTgt spid="33"/>
                                        </p:tgtEl>
                                      </p:cBhvr>
                                    </p:animEffect>
                                    <p:set>
                                      <p:cBhvr>
                                        <p:cTn id="120" dur="1" fill="hold">
                                          <p:stCondLst>
                                            <p:cond delay="499"/>
                                          </p:stCondLst>
                                        </p:cTn>
                                        <p:tgtEl>
                                          <p:spTgt spid="33"/>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35"/>
                                        </p:tgtEl>
                                        <p:attrNameLst>
                                          <p:attrName>style.visibility</p:attrName>
                                        </p:attrNameLst>
                                      </p:cBhvr>
                                      <p:to>
                                        <p:strVal val="visible"/>
                                      </p:to>
                                    </p:set>
                                    <p:animEffect transition="in" filter="fade">
                                      <p:cBhvr>
                                        <p:cTn id="125" dur="500"/>
                                        <p:tgtEl>
                                          <p:spTgt spid="3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36"/>
                                        </p:tgtEl>
                                        <p:attrNameLst>
                                          <p:attrName>style.visibility</p:attrName>
                                        </p:attrNameLst>
                                      </p:cBhvr>
                                      <p:to>
                                        <p:strVal val="visible"/>
                                      </p:to>
                                    </p:set>
                                    <p:animEffect transition="in" filter="fade">
                                      <p:cBhvr>
                                        <p:cTn id="128" dur="500"/>
                                        <p:tgtEl>
                                          <p:spTgt spid="36"/>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xit" presetSubtype="0" fill="hold" grpId="1" nodeType="clickEffect">
                                  <p:stCondLst>
                                    <p:cond delay="0"/>
                                  </p:stCondLst>
                                  <p:childTnLst>
                                    <p:animEffect transition="out" filter="fade">
                                      <p:cBhvr>
                                        <p:cTn id="132" dur="500"/>
                                        <p:tgtEl>
                                          <p:spTgt spid="35"/>
                                        </p:tgtEl>
                                      </p:cBhvr>
                                    </p:animEffect>
                                    <p:set>
                                      <p:cBhvr>
                                        <p:cTn id="133" dur="1" fill="hold">
                                          <p:stCondLst>
                                            <p:cond delay="499"/>
                                          </p:stCondLst>
                                        </p:cTn>
                                        <p:tgtEl>
                                          <p:spTgt spid="35"/>
                                        </p:tgtEl>
                                        <p:attrNameLst>
                                          <p:attrName>style.visibility</p:attrName>
                                        </p:attrNameLst>
                                      </p:cBhvr>
                                      <p:to>
                                        <p:strVal val="hidden"/>
                                      </p:to>
                                    </p:set>
                                  </p:childTnLst>
                                </p:cTn>
                              </p:par>
                              <p:par>
                                <p:cTn id="134" presetID="10" presetClass="exit" presetSubtype="0" fill="hold" grpId="1" nodeType="withEffect">
                                  <p:stCondLst>
                                    <p:cond delay="0"/>
                                  </p:stCondLst>
                                  <p:childTnLst>
                                    <p:animEffect transition="out" filter="fade">
                                      <p:cBhvr>
                                        <p:cTn id="135" dur="500"/>
                                        <p:tgtEl>
                                          <p:spTgt spid="36"/>
                                        </p:tgtEl>
                                      </p:cBhvr>
                                    </p:animEffect>
                                    <p:set>
                                      <p:cBhvr>
                                        <p:cTn id="136" dur="1" fill="hold">
                                          <p:stCondLst>
                                            <p:cond delay="499"/>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1" grpId="0" animBg="1"/>
      <p:bldP spid="12" grpId="0" animBg="1"/>
      <p:bldP spid="15" grpId="0" animBg="1"/>
      <p:bldP spid="17" grpId="0" animBg="1"/>
      <p:bldP spid="19" grpId="0" animBg="1"/>
      <p:bldP spid="20" grpId="0" animBg="1"/>
      <p:bldP spid="22" grpId="0" animBg="1"/>
      <p:bldP spid="23" grpId="0" animBg="1"/>
      <p:bldP spid="25" grpId="0" animBg="1"/>
      <p:bldP spid="27" grpId="0" animBg="1"/>
      <p:bldP spid="29" grpId="0"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Content Placeholder 2"/>
          <p:cNvSpPr>
            <a:spLocks noGrp="1"/>
          </p:cNvSpPr>
          <p:nvPr>
            <p:ph idx="1"/>
          </p:nvPr>
        </p:nvSpPr>
        <p:spPr/>
        <p:txBody>
          <a:bodyPr/>
          <a:lstStyle/>
          <a:p>
            <a:r>
              <a:rPr lang="en-US" dirty="0"/>
              <a:t>Draw an E-R diagram of </a:t>
            </a:r>
            <a:r>
              <a:rPr lang="en-US" dirty="0">
                <a:solidFill>
                  <a:schemeClr val="tx2"/>
                </a:solidFill>
              </a:rPr>
              <a:t>Banking Management System</a:t>
            </a:r>
            <a:r>
              <a:rPr lang="en-US" dirty="0"/>
              <a:t>.</a:t>
            </a:r>
          </a:p>
          <a:p>
            <a:r>
              <a:rPr lang="en-US" dirty="0"/>
              <a:t>Draw an E-R diagram of </a:t>
            </a:r>
            <a:r>
              <a:rPr lang="en-US" dirty="0">
                <a:solidFill>
                  <a:schemeClr val="tx2"/>
                </a:solidFill>
              </a:rPr>
              <a:t>Hospital Management System</a:t>
            </a:r>
            <a:r>
              <a:rPr lang="en-US" dirty="0"/>
              <a:t>.</a:t>
            </a:r>
          </a:p>
          <a:p>
            <a:r>
              <a:rPr lang="en-US" dirty="0"/>
              <a:t>Draw an E-R diagram of </a:t>
            </a:r>
            <a:r>
              <a:rPr lang="en-US" dirty="0">
                <a:solidFill>
                  <a:schemeClr val="tx2"/>
                </a:solidFill>
              </a:rPr>
              <a:t>College Management System</a:t>
            </a:r>
            <a:r>
              <a:rPr lang="en-US" dirty="0"/>
              <a:t>.</a:t>
            </a:r>
          </a:p>
          <a:p>
            <a:pPr lvl="1"/>
            <a:r>
              <a:rPr lang="en-US" dirty="0"/>
              <a:t>Take only 2 entities</a:t>
            </a:r>
          </a:p>
          <a:p>
            <a:pPr lvl="1"/>
            <a:r>
              <a:rPr lang="en-US" dirty="0"/>
              <a:t>Keep proper relationship between two entities</a:t>
            </a:r>
          </a:p>
          <a:p>
            <a:pPr lvl="1"/>
            <a:r>
              <a:rPr lang="en-US" dirty="0"/>
              <a:t>Use all types of attributes</a:t>
            </a:r>
          </a:p>
        </p:txBody>
      </p:sp>
    </p:spTree>
    <p:extLst>
      <p:ext uri="{BB962C8B-B14F-4D97-AF65-F5344CB8AC3E}">
        <p14:creationId xmlns:p14="http://schemas.microsoft.com/office/powerpoint/2010/main" val="3722095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Descriptive Attribute</a:t>
            </a:r>
          </a:p>
        </p:txBody>
      </p:sp>
      <p:sp>
        <p:nvSpPr>
          <p:cNvPr id="3" name="Content Placeholder 2"/>
          <p:cNvSpPr>
            <a:spLocks noGrp="1"/>
          </p:cNvSpPr>
          <p:nvPr>
            <p:ph idx="1"/>
          </p:nvPr>
        </p:nvSpPr>
        <p:spPr/>
        <p:txBody>
          <a:bodyPr/>
          <a:lstStyle/>
          <a:p>
            <a:r>
              <a:rPr lang="en-GB" b="1" dirty="0">
                <a:solidFill>
                  <a:schemeClr val="accent6"/>
                </a:solidFill>
              </a:rPr>
              <a:t>Attributes of the relationship </a:t>
            </a:r>
            <a:r>
              <a:rPr lang="en-GB" dirty="0"/>
              <a:t>is called descriptive attribute.</a:t>
            </a:r>
          </a:p>
        </p:txBody>
      </p:sp>
      <p:sp>
        <p:nvSpPr>
          <p:cNvPr id="4" name="Rectangle 3"/>
          <p:cNvSpPr/>
          <p:nvPr/>
        </p:nvSpPr>
        <p:spPr>
          <a:xfrm>
            <a:off x="2674623" y="3699031"/>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Student</a:t>
            </a:r>
          </a:p>
        </p:txBody>
      </p:sp>
      <p:sp>
        <p:nvSpPr>
          <p:cNvPr id="5" name="Rectangle 4"/>
          <p:cNvSpPr/>
          <p:nvPr/>
        </p:nvSpPr>
        <p:spPr>
          <a:xfrm>
            <a:off x="7854600" y="3694675"/>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Book</a:t>
            </a:r>
          </a:p>
        </p:txBody>
      </p:sp>
      <p:sp>
        <p:nvSpPr>
          <p:cNvPr id="6" name="Diamond 5"/>
          <p:cNvSpPr/>
          <p:nvPr/>
        </p:nvSpPr>
        <p:spPr>
          <a:xfrm>
            <a:off x="5248549" y="3620651"/>
            <a:ext cx="1724298" cy="89263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Issue</a:t>
            </a:r>
          </a:p>
        </p:txBody>
      </p:sp>
      <p:cxnSp>
        <p:nvCxnSpPr>
          <p:cNvPr id="7" name="Straight Connector 6"/>
          <p:cNvCxnSpPr>
            <a:stCxn id="6" idx="3"/>
            <a:endCxn id="5" idx="1"/>
          </p:cNvCxnSpPr>
          <p:nvPr/>
        </p:nvCxnSpPr>
        <p:spPr>
          <a:xfrm>
            <a:off x="6972847" y="4066966"/>
            <a:ext cx="881753"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Connector 7"/>
          <p:cNvCxnSpPr/>
          <p:nvPr/>
        </p:nvCxnSpPr>
        <p:spPr>
          <a:xfrm>
            <a:off x="4366796" y="4066966"/>
            <a:ext cx="881753"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p:cNvCxnSpPr>
            <a:stCxn id="10" idx="4"/>
            <a:endCxn id="4" idx="0"/>
          </p:cNvCxnSpPr>
          <p:nvPr/>
        </p:nvCxnSpPr>
        <p:spPr>
          <a:xfrm>
            <a:off x="2560320" y="3263058"/>
            <a:ext cx="963389" cy="435973"/>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0" name="Oval 9"/>
          <p:cNvSpPr/>
          <p:nvPr/>
        </p:nvSpPr>
        <p:spPr>
          <a:xfrm>
            <a:off x="1828800" y="2840148"/>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RollNo</a:t>
            </a:r>
            <a:endParaRPr lang="en-US" u="sng" dirty="0">
              <a:solidFill>
                <a:schemeClr val="tx1"/>
              </a:solidFill>
            </a:endParaRPr>
          </a:p>
        </p:txBody>
      </p:sp>
      <p:cxnSp>
        <p:nvCxnSpPr>
          <p:cNvPr id="11" name="Straight Connector 10"/>
          <p:cNvCxnSpPr>
            <a:stCxn id="12" idx="4"/>
            <a:endCxn id="4" idx="0"/>
          </p:cNvCxnSpPr>
          <p:nvPr/>
        </p:nvCxnSpPr>
        <p:spPr>
          <a:xfrm flipH="1">
            <a:off x="3523709" y="3240647"/>
            <a:ext cx="654734" cy="45838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2" name="Oval 11"/>
          <p:cNvSpPr/>
          <p:nvPr/>
        </p:nvSpPr>
        <p:spPr>
          <a:xfrm>
            <a:off x="3446923" y="2817737"/>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Name</a:t>
            </a:r>
          </a:p>
        </p:txBody>
      </p:sp>
      <p:cxnSp>
        <p:nvCxnSpPr>
          <p:cNvPr id="13" name="Straight Connector 12"/>
          <p:cNvCxnSpPr/>
          <p:nvPr/>
        </p:nvCxnSpPr>
        <p:spPr>
          <a:xfrm flipH="1">
            <a:off x="2692909" y="4439258"/>
            <a:ext cx="830800" cy="40487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4" name="Oval 13"/>
          <p:cNvSpPr/>
          <p:nvPr/>
        </p:nvSpPr>
        <p:spPr>
          <a:xfrm>
            <a:off x="1943103" y="4849842"/>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Branch</a:t>
            </a:r>
          </a:p>
        </p:txBody>
      </p:sp>
      <p:sp>
        <p:nvSpPr>
          <p:cNvPr id="15" name="Oval 14"/>
          <p:cNvSpPr/>
          <p:nvPr/>
        </p:nvSpPr>
        <p:spPr>
          <a:xfrm>
            <a:off x="3579454" y="4862663"/>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Sem</a:t>
            </a:r>
            <a:endParaRPr lang="en-US" dirty="0">
              <a:solidFill>
                <a:schemeClr val="tx1"/>
              </a:solidFill>
            </a:endParaRPr>
          </a:p>
        </p:txBody>
      </p:sp>
      <p:cxnSp>
        <p:nvCxnSpPr>
          <p:cNvPr id="16" name="Straight Connector 15"/>
          <p:cNvCxnSpPr>
            <a:stCxn id="4" idx="2"/>
            <a:endCxn id="15" idx="0"/>
          </p:cNvCxnSpPr>
          <p:nvPr/>
        </p:nvCxnSpPr>
        <p:spPr>
          <a:xfrm>
            <a:off x="3523709" y="4443614"/>
            <a:ext cx="787265" cy="419049"/>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a:stCxn id="18" idx="4"/>
          </p:cNvCxnSpPr>
          <p:nvPr/>
        </p:nvCxnSpPr>
        <p:spPr>
          <a:xfrm>
            <a:off x="7802085" y="3259045"/>
            <a:ext cx="963389" cy="435973"/>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8" name="Oval 17"/>
          <p:cNvSpPr/>
          <p:nvPr/>
        </p:nvSpPr>
        <p:spPr>
          <a:xfrm>
            <a:off x="7070565" y="2836135"/>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BookNo</a:t>
            </a:r>
            <a:endParaRPr lang="en-US" u="sng" dirty="0">
              <a:solidFill>
                <a:schemeClr val="tx1"/>
              </a:solidFill>
            </a:endParaRPr>
          </a:p>
        </p:txBody>
      </p:sp>
      <p:cxnSp>
        <p:nvCxnSpPr>
          <p:cNvPr id="19" name="Straight Connector 18"/>
          <p:cNvCxnSpPr>
            <a:stCxn id="20" idx="4"/>
          </p:cNvCxnSpPr>
          <p:nvPr/>
        </p:nvCxnSpPr>
        <p:spPr>
          <a:xfrm flipH="1">
            <a:off x="8765474" y="3236634"/>
            <a:ext cx="654734" cy="45838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p:cNvSpPr/>
          <p:nvPr/>
        </p:nvSpPr>
        <p:spPr>
          <a:xfrm>
            <a:off x="8688688" y="2813724"/>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Name</a:t>
            </a:r>
          </a:p>
        </p:txBody>
      </p:sp>
      <p:cxnSp>
        <p:nvCxnSpPr>
          <p:cNvPr id="21" name="Straight Connector 20"/>
          <p:cNvCxnSpPr/>
          <p:nvPr/>
        </p:nvCxnSpPr>
        <p:spPr>
          <a:xfrm flipH="1">
            <a:off x="7934674" y="4435245"/>
            <a:ext cx="830800" cy="40487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2" name="Oval 21"/>
          <p:cNvSpPr/>
          <p:nvPr/>
        </p:nvSpPr>
        <p:spPr>
          <a:xfrm>
            <a:off x="7184868" y="4845829"/>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Author</a:t>
            </a:r>
          </a:p>
        </p:txBody>
      </p:sp>
      <p:sp>
        <p:nvSpPr>
          <p:cNvPr id="23" name="Oval 22"/>
          <p:cNvSpPr/>
          <p:nvPr/>
        </p:nvSpPr>
        <p:spPr>
          <a:xfrm>
            <a:off x="8821219" y="4858650"/>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Price</a:t>
            </a:r>
          </a:p>
        </p:txBody>
      </p:sp>
      <p:cxnSp>
        <p:nvCxnSpPr>
          <p:cNvPr id="24" name="Straight Connector 23"/>
          <p:cNvCxnSpPr>
            <a:endCxn id="23" idx="0"/>
          </p:cNvCxnSpPr>
          <p:nvPr/>
        </p:nvCxnSpPr>
        <p:spPr>
          <a:xfrm>
            <a:off x="8765474" y="4439601"/>
            <a:ext cx="787265" cy="419049"/>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25" name="Straight Connector 24"/>
          <p:cNvCxnSpPr>
            <a:stCxn id="26" idx="4"/>
            <a:endCxn id="6" idx="0"/>
          </p:cNvCxnSpPr>
          <p:nvPr/>
        </p:nvCxnSpPr>
        <p:spPr>
          <a:xfrm flipH="1">
            <a:off x="6110698" y="3236291"/>
            <a:ext cx="3169" cy="384360"/>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6" name="Oval 25"/>
          <p:cNvSpPr/>
          <p:nvPr/>
        </p:nvSpPr>
        <p:spPr>
          <a:xfrm>
            <a:off x="5314651" y="2628900"/>
            <a:ext cx="1598431" cy="607391"/>
          </a:xfrm>
          <a:prstGeom prst="ellipse">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Issue Date</a:t>
            </a:r>
          </a:p>
        </p:txBody>
      </p:sp>
      <p:sp>
        <p:nvSpPr>
          <p:cNvPr id="27" name="Rounded Rectangular Callout 26"/>
          <p:cNvSpPr/>
          <p:nvPr/>
        </p:nvSpPr>
        <p:spPr>
          <a:xfrm>
            <a:off x="5448970" y="1714500"/>
            <a:ext cx="1332000" cy="612000"/>
          </a:xfrm>
          <a:prstGeom prst="wedgeRoundRectCallout">
            <a:avLst>
              <a:gd name="adj1" fmla="val -31123"/>
              <a:gd name="adj2" fmla="val 107671"/>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Descriptive Attribute</a:t>
            </a:r>
          </a:p>
        </p:txBody>
      </p:sp>
    </p:spTree>
    <p:extLst>
      <p:ext uri="{BB962C8B-B14F-4D97-AF65-F5344CB8AC3E}">
        <p14:creationId xmlns:p14="http://schemas.microsoft.com/office/powerpoint/2010/main" val="814170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500"/>
                                        <p:tgtEl>
                                          <p:spTgt spid="25"/>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10" grpId="0" animBg="1"/>
      <p:bldP spid="12" grpId="0" animBg="1"/>
      <p:bldP spid="14" grpId="0" animBg="1"/>
      <p:bldP spid="15" grpId="0" animBg="1"/>
      <p:bldP spid="18" grpId="0" animBg="1"/>
      <p:bldP spid="20" grpId="0" animBg="1"/>
      <p:bldP spid="22" grpId="0" animBg="1"/>
      <p:bldP spid="23" grpId="0" animBg="1"/>
      <p:bldP spid="26" grpId="0" animBg="1"/>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Role</a:t>
            </a:r>
          </a:p>
        </p:txBody>
      </p:sp>
      <p:sp>
        <p:nvSpPr>
          <p:cNvPr id="3" name="Content Placeholder 2"/>
          <p:cNvSpPr>
            <a:spLocks noGrp="1"/>
          </p:cNvSpPr>
          <p:nvPr>
            <p:ph idx="1"/>
          </p:nvPr>
        </p:nvSpPr>
        <p:spPr/>
        <p:txBody>
          <a:bodyPr/>
          <a:lstStyle/>
          <a:p>
            <a:r>
              <a:rPr lang="en-GB" dirty="0"/>
              <a:t>Roles are indicated by labelling the lines that connect diamonds (relationship) to rectangles (entity).</a:t>
            </a:r>
          </a:p>
          <a:p>
            <a:r>
              <a:rPr lang="en-GB" dirty="0"/>
              <a:t>The labels “Coordinator” and “Head” are called </a:t>
            </a:r>
            <a:r>
              <a:rPr lang="en-GB" b="1" dirty="0"/>
              <a:t>roles</a:t>
            </a:r>
            <a:r>
              <a:rPr lang="en-GB" dirty="0"/>
              <a:t>; they specify Faculty entities interact with whom via </a:t>
            </a:r>
            <a:r>
              <a:rPr lang="en-GB" dirty="0" err="1"/>
              <a:t>Reports_To</a:t>
            </a:r>
            <a:r>
              <a:rPr lang="en-GB" dirty="0"/>
              <a:t> relationship set.</a:t>
            </a:r>
          </a:p>
          <a:p>
            <a:r>
              <a:rPr lang="en-GB" dirty="0"/>
              <a:t>Role labels (Coordinator and Head) are optional, and are used to clarify semantics (meaning) of the relationship.</a:t>
            </a:r>
          </a:p>
        </p:txBody>
      </p:sp>
      <p:sp>
        <p:nvSpPr>
          <p:cNvPr id="28" name="Rectangle 27"/>
          <p:cNvSpPr/>
          <p:nvPr/>
        </p:nvSpPr>
        <p:spPr>
          <a:xfrm>
            <a:off x="4024994" y="4147508"/>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Faculty</a:t>
            </a:r>
          </a:p>
        </p:txBody>
      </p:sp>
      <p:sp>
        <p:nvSpPr>
          <p:cNvPr id="29" name="Diamond 28"/>
          <p:cNvSpPr/>
          <p:nvPr/>
        </p:nvSpPr>
        <p:spPr>
          <a:xfrm>
            <a:off x="6598920" y="4069128"/>
            <a:ext cx="2468880" cy="89263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Reports_To</a:t>
            </a:r>
            <a:endParaRPr lang="en-US" dirty="0">
              <a:solidFill>
                <a:schemeClr val="tx1"/>
              </a:solidFill>
            </a:endParaRPr>
          </a:p>
        </p:txBody>
      </p:sp>
      <p:cxnSp>
        <p:nvCxnSpPr>
          <p:cNvPr id="30" name="Straight Connector 29"/>
          <p:cNvCxnSpPr/>
          <p:nvPr/>
        </p:nvCxnSpPr>
        <p:spPr>
          <a:xfrm>
            <a:off x="5717166" y="4438649"/>
            <a:ext cx="1097280"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p:cNvCxnSpPr>
            <a:stCxn id="32" idx="4"/>
            <a:endCxn id="28" idx="0"/>
          </p:cNvCxnSpPr>
          <p:nvPr/>
        </p:nvCxnSpPr>
        <p:spPr>
          <a:xfrm>
            <a:off x="3910691" y="3711535"/>
            <a:ext cx="963389" cy="435973"/>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2" name="Oval 31"/>
          <p:cNvSpPr/>
          <p:nvPr/>
        </p:nvSpPr>
        <p:spPr>
          <a:xfrm>
            <a:off x="3179171" y="3288625"/>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EmpID</a:t>
            </a:r>
            <a:endParaRPr lang="en-US" u="sng" dirty="0">
              <a:solidFill>
                <a:schemeClr val="tx1"/>
              </a:solidFill>
            </a:endParaRPr>
          </a:p>
        </p:txBody>
      </p:sp>
      <p:cxnSp>
        <p:nvCxnSpPr>
          <p:cNvPr id="33" name="Straight Connector 32"/>
          <p:cNvCxnSpPr>
            <a:stCxn id="34" idx="4"/>
            <a:endCxn id="28" idx="0"/>
          </p:cNvCxnSpPr>
          <p:nvPr/>
        </p:nvCxnSpPr>
        <p:spPr>
          <a:xfrm flipH="1">
            <a:off x="4874080" y="3689124"/>
            <a:ext cx="654734" cy="45838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4" name="Oval 33"/>
          <p:cNvSpPr/>
          <p:nvPr/>
        </p:nvSpPr>
        <p:spPr>
          <a:xfrm>
            <a:off x="4797294" y="3266214"/>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Name</a:t>
            </a:r>
          </a:p>
        </p:txBody>
      </p:sp>
      <p:cxnSp>
        <p:nvCxnSpPr>
          <p:cNvPr id="35" name="Straight Connector 34"/>
          <p:cNvCxnSpPr/>
          <p:nvPr/>
        </p:nvCxnSpPr>
        <p:spPr>
          <a:xfrm flipH="1">
            <a:off x="4043280" y="4887735"/>
            <a:ext cx="830800" cy="40487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6" name="Oval 35"/>
          <p:cNvSpPr/>
          <p:nvPr/>
        </p:nvSpPr>
        <p:spPr>
          <a:xfrm>
            <a:off x="3293474" y="5298319"/>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Branch</a:t>
            </a:r>
          </a:p>
        </p:txBody>
      </p:sp>
      <p:sp>
        <p:nvSpPr>
          <p:cNvPr id="37" name="Oval 36"/>
          <p:cNvSpPr/>
          <p:nvPr/>
        </p:nvSpPr>
        <p:spPr>
          <a:xfrm>
            <a:off x="4929825" y="5311140"/>
            <a:ext cx="173736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Experience</a:t>
            </a:r>
          </a:p>
        </p:txBody>
      </p:sp>
      <p:cxnSp>
        <p:nvCxnSpPr>
          <p:cNvPr id="38" name="Straight Connector 37"/>
          <p:cNvCxnSpPr>
            <a:stCxn id="28" idx="2"/>
            <a:endCxn id="37" idx="0"/>
          </p:cNvCxnSpPr>
          <p:nvPr/>
        </p:nvCxnSpPr>
        <p:spPr>
          <a:xfrm>
            <a:off x="4874080" y="4892091"/>
            <a:ext cx="924425" cy="419049"/>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p:cNvCxnSpPr/>
          <p:nvPr/>
        </p:nvCxnSpPr>
        <p:spPr>
          <a:xfrm>
            <a:off x="5714999" y="4591050"/>
            <a:ext cx="1097280"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40" name="TextBox 39"/>
          <p:cNvSpPr txBox="1"/>
          <p:nvPr/>
        </p:nvSpPr>
        <p:spPr>
          <a:xfrm>
            <a:off x="5892800" y="4603019"/>
            <a:ext cx="731520" cy="369332"/>
          </a:xfrm>
          <a:prstGeom prst="rect">
            <a:avLst/>
          </a:prstGeom>
          <a:noFill/>
        </p:spPr>
        <p:txBody>
          <a:bodyPr wrap="square" rtlCol="0">
            <a:spAutoFit/>
          </a:bodyPr>
          <a:lstStyle/>
          <a:p>
            <a:pPr algn="ctr"/>
            <a:r>
              <a:rPr lang="en-US" dirty="0"/>
              <a:t>Head</a:t>
            </a:r>
          </a:p>
        </p:txBody>
      </p:sp>
      <p:sp>
        <p:nvSpPr>
          <p:cNvPr id="41" name="TextBox 40"/>
          <p:cNvSpPr txBox="1"/>
          <p:nvPr/>
        </p:nvSpPr>
        <p:spPr>
          <a:xfrm>
            <a:off x="5692100" y="4068372"/>
            <a:ext cx="1371600" cy="365760"/>
          </a:xfrm>
          <a:prstGeom prst="rect">
            <a:avLst/>
          </a:prstGeom>
          <a:noFill/>
        </p:spPr>
        <p:txBody>
          <a:bodyPr wrap="square" rtlCol="0">
            <a:spAutoFit/>
          </a:bodyPr>
          <a:lstStyle/>
          <a:p>
            <a:pPr algn="ctr"/>
            <a:r>
              <a:rPr lang="en-US" dirty="0"/>
              <a:t>Coordinator</a:t>
            </a:r>
          </a:p>
        </p:txBody>
      </p:sp>
    </p:spTree>
    <p:extLst>
      <p:ext uri="{BB962C8B-B14F-4D97-AF65-F5344CB8AC3E}">
        <p14:creationId xmlns:p14="http://schemas.microsoft.com/office/powerpoint/2010/main" val="4216189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par>
                                <p:cTn id="31" presetID="10"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par>
                                <p:cTn id="40" presetID="10" presetClass="entr" presetSubtype="0" fill="hold"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par>
                                <p:cTn id="43" presetID="10" presetClass="entr" presetSubtype="0" fill="hold" nodeType="with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fade">
                                      <p:cBhvr>
                                        <p:cTn id="45" dur="500"/>
                                        <p:tgtEl>
                                          <p:spTgt spid="3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500"/>
                                        <p:tgtEl>
                                          <p:spTgt spid="4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
                                            <p:txEl>
                                              <p:pRg st="1" end="1"/>
                                            </p:txEl>
                                          </p:spTgt>
                                        </p:tgtEl>
                                        <p:attrNameLst>
                                          <p:attrName>style.visibility</p:attrName>
                                        </p:attrNameLst>
                                      </p:cBhvr>
                                      <p:to>
                                        <p:strVal val="visible"/>
                                      </p:to>
                                    </p:set>
                                    <p:animEffect transition="in" filter="fade">
                                      <p:cBhvr>
                                        <p:cTn id="58" dur="500"/>
                                        <p:tgtEl>
                                          <p:spTgt spid="3">
                                            <p:txEl>
                                              <p:pRg st="1" end="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
                                            <p:txEl>
                                              <p:pRg st="2" end="2"/>
                                            </p:txEl>
                                          </p:spTgt>
                                        </p:tgtEl>
                                        <p:attrNameLst>
                                          <p:attrName>style.visibility</p:attrName>
                                        </p:attrNameLst>
                                      </p:cBhvr>
                                      <p:to>
                                        <p:strVal val="visible"/>
                                      </p:to>
                                    </p:set>
                                    <p:animEffect transition="in" filter="fade">
                                      <p:cBhvr>
                                        <p:cTn id="6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2" grpId="0" animBg="1"/>
      <p:bldP spid="34" grpId="0" animBg="1"/>
      <p:bldP spid="36" grpId="0" animBg="1"/>
      <p:bldP spid="37" grpId="0" animBg="1"/>
      <p:bldP spid="40" grpId="0"/>
      <p:bldP spid="4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Recursive Relationship Set</a:t>
            </a:r>
          </a:p>
        </p:txBody>
      </p:sp>
      <p:sp>
        <p:nvSpPr>
          <p:cNvPr id="3" name="Content Placeholder 2"/>
          <p:cNvSpPr>
            <a:spLocks noGrp="1"/>
          </p:cNvSpPr>
          <p:nvPr>
            <p:ph idx="1"/>
          </p:nvPr>
        </p:nvSpPr>
        <p:spPr/>
        <p:txBody>
          <a:bodyPr/>
          <a:lstStyle/>
          <a:p>
            <a:r>
              <a:rPr lang="en-GB" dirty="0"/>
              <a:t>The same </a:t>
            </a:r>
            <a:r>
              <a:rPr lang="en-GB" b="1" dirty="0">
                <a:solidFill>
                  <a:schemeClr val="accent6"/>
                </a:solidFill>
              </a:rPr>
              <a:t>entity participates in a relationship set more than once </a:t>
            </a:r>
            <a:r>
              <a:rPr lang="en-GB" dirty="0"/>
              <a:t>then it is called recursive relationship set.</a:t>
            </a:r>
          </a:p>
        </p:txBody>
      </p:sp>
      <p:sp>
        <p:nvSpPr>
          <p:cNvPr id="4" name="Rectangle 3"/>
          <p:cNvSpPr/>
          <p:nvPr/>
        </p:nvSpPr>
        <p:spPr>
          <a:xfrm>
            <a:off x="2788923" y="2637907"/>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Faculty</a:t>
            </a:r>
          </a:p>
        </p:txBody>
      </p:sp>
      <p:sp>
        <p:nvSpPr>
          <p:cNvPr id="5" name="Rectangle 4"/>
          <p:cNvSpPr/>
          <p:nvPr/>
        </p:nvSpPr>
        <p:spPr>
          <a:xfrm>
            <a:off x="7968900" y="2633551"/>
            <a:ext cx="1698171" cy="74458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Department</a:t>
            </a:r>
          </a:p>
        </p:txBody>
      </p:sp>
      <p:sp>
        <p:nvSpPr>
          <p:cNvPr id="6" name="Diamond 5"/>
          <p:cNvSpPr/>
          <p:nvPr/>
        </p:nvSpPr>
        <p:spPr>
          <a:xfrm>
            <a:off x="5362849" y="2559527"/>
            <a:ext cx="1724298" cy="89263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Works</a:t>
            </a:r>
          </a:p>
        </p:txBody>
      </p:sp>
      <p:cxnSp>
        <p:nvCxnSpPr>
          <p:cNvPr id="7" name="Straight Connector 6"/>
          <p:cNvCxnSpPr>
            <a:stCxn id="6" idx="3"/>
            <a:endCxn id="5" idx="1"/>
          </p:cNvCxnSpPr>
          <p:nvPr/>
        </p:nvCxnSpPr>
        <p:spPr>
          <a:xfrm>
            <a:off x="7087147" y="3005842"/>
            <a:ext cx="881753"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Connector 7"/>
          <p:cNvCxnSpPr/>
          <p:nvPr/>
        </p:nvCxnSpPr>
        <p:spPr>
          <a:xfrm>
            <a:off x="4481096" y="3005842"/>
            <a:ext cx="881753"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p:cNvCxnSpPr>
            <a:stCxn id="10" idx="4"/>
            <a:endCxn id="4" idx="0"/>
          </p:cNvCxnSpPr>
          <p:nvPr/>
        </p:nvCxnSpPr>
        <p:spPr>
          <a:xfrm>
            <a:off x="2674620" y="2201934"/>
            <a:ext cx="963389" cy="435973"/>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0" name="Oval 9"/>
          <p:cNvSpPr/>
          <p:nvPr/>
        </p:nvSpPr>
        <p:spPr>
          <a:xfrm>
            <a:off x="1943100" y="1779024"/>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FacID</a:t>
            </a:r>
            <a:endParaRPr lang="en-US" u="sng" dirty="0">
              <a:solidFill>
                <a:schemeClr val="tx1"/>
              </a:solidFill>
            </a:endParaRPr>
          </a:p>
        </p:txBody>
      </p:sp>
      <p:cxnSp>
        <p:nvCxnSpPr>
          <p:cNvPr id="11" name="Straight Connector 10"/>
          <p:cNvCxnSpPr>
            <a:stCxn id="12" idx="4"/>
            <a:endCxn id="4" idx="0"/>
          </p:cNvCxnSpPr>
          <p:nvPr/>
        </p:nvCxnSpPr>
        <p:spPr>
          <a:xfrm flipH="1">
            <a:off x="3638009" y="2179523"/>
            <a:ext cx="654734" cy="45838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2" name="Oval 11"/>
          <p:cNvSpPr/>
          <p:nvPr/>
        </p:nvSpPr>
        <p:spPr>
          <a:xfrm>
            <a:off x="3561223" y="1756613"/>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FName</a:t>
            </a:r>
            <a:endParaRPr lang="en-US" dirty="0">
              <a:solidFill>
                <a:schemeClr val="tx1"/>
              </a:solidFill>
            </a:endParaRPr>
          </a:p>
        </p:txBody>
      </p:sp>
      <p:cxnSp>
        <p:nvCxnSpPr>
          <p:cNvPr id="13" name="Straight Connector 12"/>
          <p:cNvCxnSpPr/>
          <p:nvPr/>
        </p:nvCxnSpPr>
        <p:spPr>
          <a:xfrm flipH="1">
            <a:off x="2807209" y="3378134"/>
            <a:ext cx="830800" cy="40487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4" name="Oval 13"/>
          <p:cNvSpPr/>
          <p:nvPr/>
        </p:nvSpPr>
        <p:spPr>
          <a:xfrm>
            <a:off x="2057403" y="3788718"/>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Post</a:t>
            </a:r>
          </a:p>
        </p:txBody>
      </p:sp>
      <p:cxnSp>
        <p:nvCxnSpPr>
          <p:cNvPr id="15" name="Straight Connector 14"/>
          <p:cNvCxnSpPr>
            <a:stCxn id="16" idx="4"/>
          </p:cNvCxnSpPr>
          <p:nvPr/>
        </p:nvCxnSpPr>
        <p:spPr>
          <a:xfrm>
            <a:off x="7916385" y="2197921"/>
            <a:ext cx="963389" cy="435973"/>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6" name="Oval 15"/>
          <p:cNvSpPr/>
          <p:nvPr/>
        </p:nvSpPr>
        <p:spPr>
          <a:xfrm>
            <a:off x="7184865" y="1775011"/>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DeptID</a:t>
            </a:r>
            <a:endParaRPr lang="en-US" u="sng" dirty="0">
              <a:solidFill>
                <a:schemeClr val="tx1"/>
              </a:solidFill>
            </a:endParaRPr>
          </a:p>
        </p:txBody>
      </p:sp>
      <p:cxnSp>
        <p:nvCxnSpPr>
          <p:cNvPr id="17" name="Straight Connector 16"/>
          <p:cNvCxnSpPr>
            <a:stCxn id="18" idx="4"/>
          </p:cNvCxnSpPr>
          <p:nvPr/>
        </p:nvCxnSpPr>
        <p:spPr>
          <a:xfrm flipH="1">
            <a:off x="8879774" y="2175510"/>
            <a:ext cx="654734" cy="45838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8" name="Oval 17"/>
          <p:cNvSpPr/>
          <p:nvPr/>
        </p:nvSpPr>
        <p:spPr>
          <a:xfrm>
            <a:off x="8802988" y="1752600"/>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DName</a:t>
            </a:r>
            <a:endParaRPr lang="en-US" dirty="0">
              <a:solidFill>
                <a:schemeClr val="tx1"/>
              </a:solidFill>
            </a:endParaRPr>
          </a:p>
        </p:txBody>
      </p:sp>
      <p:sp>
        <p:nvSpPr>
          <p:cNvPr id="21" name="Diamond 20"/>
          <p:cNvSpPr/>
          <p:nvPr/>
        </p:nvSpPr>
        <p:spPr>
          <a:xfrm>
            <a:off x="5796653" y="4511220"/>
            <a:ext cx="1724298" cy="89263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Prof.</a:t>
            </a:r>
          </a:p>
        </p:txBody>
      </p:sp>
      <p:cxnSp>
        <p:nvCxnSpPr>
          <p:cNvPr id="22" name="Straight Connector 21"/>
          <p:cNvCxnSpPr>
            <a:stCxn id="21" idx="3"/>
          </p:cNvCxnSpPr>
          <p:nvPr/>
        </p:nvCxnSpPr>
        <p:spPr>
          <a:xfrm>
            <a:off x="7520951" y="4957535"/>
            <a:ext cx="822960"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p:cNvCxnSpPr/>
          <p:nvPr/>
        </p:nvCxnSpPr>
        <p:spPr>
          <a:xfrm flipV="1">
            <a:off x="5008575" y="4951009"/>
            <a:ext cx="801679" cy="13714"/>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pSp>
        <p:nvGrpSpPr>
          <p:cNvPr id="24" name="Group 23"/>
          <p:cNvGrpSpPr/>
          <p:nvPr/>
        </p:nvGrpSpPr>
        <p:grpSpPr>
          <a:xfrm rot="21202384">
            <a:off x="4999655" y="4697431"/>
            <a:ext cx="3357828" cy="892630"/>
            <a:chOff x="3577594" y="5116733"/>
            <a:chExt cx="3357828" cy="892630"/>
          </a:xfrm>
        </p:grpSpPr>
        <p:sp>
          <p:nvSpPr>
            <p:cNvPr id="25" name="Diamond 24"/>
            <p:cNvSpPr/>
            <p:nvPr/>
          </p:nvSpPr>
          <p:spPr>
            <a:xfrm>
              <a:off x="4388166" y="5116733"/>
              <a:ext cx="1724298" cy="89263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Prof.</a:t>
              </a:r>
            </a:p>
          </p:txBody>
        </p:sp>
        <p:cxnSp>
          <p:nvCxnSpPr>
            <p:cNvPr id="26" name="Straight Connector 25"/>
            <p:cNvCxnSpPr>
              <a:stCxn id="25" idx="3"/>
            </p:cNvCxnSpPr>
            <p:nvPr/>
          </p:nvCxnSpPr>
          <p:spPr>
            <a:xfrm>
              <a:off x="6112462" y="5563048"/>
              <a:ext cx="822960"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6"/>
            <p:cNvCxnSpPr/>
            <p:nvPr/>
          </p:nvCxnSpPr>
          <p:spPr>
            <a:xfrm>
              <a:off x="3577594" y="5568723"/>
              <a:ext cx="822960"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pSp>
      <p:sp>
        <p:nvSpPr>
          <p:cNvPr id="28" name="Rounded Rectangular Callout 27"/>
          <p:cNvSpPr/>
          <p:nvPr/>
        </p:nvSpPr>
        <p:spPr>
          <a:xfrm>
            <a:off x="6134100" y="3778250"/>
            <a:ext cx="1463040" cy="914400"/>
          </a:xfrm>
          <a:prstGeom prst="wedgeRoundRectCallout">
            <a:avLst>
              <a:gd name="adj1" fmla="val -19777"/>
              <a:gd name="adj2" fmla="val 72964"/>
              <a:gd name="adj3" fmla="val 16667"/>
            </a:avLst>
          </a:prstGeom>
          <a:solidFill>
            <a:schemeClr val="bg1">
              <a:lumMod val="95000"/>
            </a:schemeClr>
          </a:solid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Recursive Relationship</a:t>
            </a:r>
          </a:p>
          <a:p>
            <a:pPr algn="ctr"/>
            <a:r>
              <a:rPr lang="en-US" dirty="0">
                <a:solidFill>
                  <a:schemeClr val="tx1"/>
                </a:solidFill>
              </a:rPr>
              <a:t>Set</a:t>
            </a:r>
          </a:p>
        </p:txBody>
      </p:sp>
      <p:grpSp>
        <p:nvGrpSpPr>
          <p:cNvPr id="29" name="Group 28"/>
          <p:cNvGrpSpPr/>
          <p:nvPr/>
        </p:nvGrpSpPr>
        <p:grpSpPr>
          <a:xfrm rot="20825156">
            <a:off x="4963676" y="4886817"/>
            <a:ext cx="3431767" cy="892630"/>
            <a:chOff x="3577594" y="5127170"/>
            <a:chExt cx="3356617" cy="892630"/>
          </a:xfrm>
        </p:grpSpPr>
        <p:sp>
          <p:nvSpPr>
            <p:cNvPr id="30" name="Diamond 29"/>
            <p:cNvSpPr/>
            <p:nvPr/>
          </p:nvSpPr>
          <p:spPr>
            <a:xfrm>
              <a:off x="4386953" y="5127170"/>
              <a:ext cx="1724298" cy="89263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Prof./</a:t>
              </a:r>
            </a:p>
            <a:p>
              <a:pPr algn="ctr"/>
              <a:r>
                <a:rPr lang="en-US" dirty="0">
                  <a:solidFill>
                    <a:schemeClr val="tx1"/>
                  </a:solidFill>
                </a:rPr>
                <a:t>HOD</a:t>
              </a:r>
            </a:p>
          </p:txBody>
        </p:sp>
        <p:cxnSp>
          <p:nvCxnSpPr>
            <p:cNvPr id="31" name="Straight Connector 30"/>
            <p:cNvCxnSpPr>
              <a:stCxn id="30" idx="3"/>
            </p:cNvCxnSpPr>
            <p:nvPr/>
          </p:nvCxnSpPr>
          <p:spPr>
            <a:xfrm>
              <a:off x="6111251" y="5573485"/>
              <a:ext cx="822960"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32" name="Straight Connector 31"/>
            <p:cNvCxnSpPr/>
            <p:nvPr/>
          </p:nvCxnSpPr>
          <p:spPr>
            <a:xfrm>
              <a:off x="3577594" y="5568723"/>
              <a:ext cx="822960" cy="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pSp>
      <p:graphicFrame>
        <p:nvGraphicFramePr>
          <p:cNvPr id="33"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76790817"/>
              </p:ext>
            </p:extLst>
          </p:nvPr>
        </p:nvGraphicFramePr>
        <p:xfrm>
          <a:off x="2842230" y="4321501"/>
          <a:ext cx="2169160" cy="1645920"/>
        </p:xfrm>
        <a:graphic>
          <a:graphicData uri="http://schemas.openxmlformats.org/drawingml/2006/table">
            <a:tbl>
              <a:tblPr firstRow="1" bandRow="1">
                <a:tableStyleId>{8EC20E35-A176-4012-BC5E-935CFFF8708E}</a:tableStyleId>
              </a:tblPr>
              <a:tblGrid>
                <a:gridCol w="1002030">
                  <a:extLst>
                    <a:ext uri="{9D8B030D-6E8A-4147-A177-3AD203B41FA5}">
                      <a16:colId xmlns:a16="http://schemas.microsoft.com/office/drawing/2014/main" val="20000"/>
                    </a:ext>
                  </a:extLst>
                </a:gridCol>
                <a:gridCol w="1167130">
                  <a:extLst>
                    <a:ext uri="{9D8B030D-6E8A-4147-A177-3AD203B41FA5}">
                      <a16:colId xmlns:a16="http://schemas.microsoft.com/office/drawing/2014/main" val="20001"/>
                    </a:ext>
                  </a:extLst>
                </a:gridCol>
              </a:tblGrid>
              <a:tr h="411480">
                <a:tc>
                  <a:txBody>
                    <a:bodyPr/>
                    <a:lstStyle/>
                    <a:p>
                      <a:r>
                        <a:rPr lang="en-US" b="1" dirty="0" err="1">
                          <a:solidFill>
                            <a:schemeClr val="tx1"/>
                          </a:solidFill>
                        </a:rPr>
                        <a:t>FName</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Post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sz="1900" dirty="0"/>
                        <a:t>Ajay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900" kern="1200" dirty="0">
                          <a:solidFill>
                            <a:schemeClr val="dk1"/>
                          </a:solidFill>
                          <a:latin typeface="+mn-lt"/>
                          <a:ea typeface="+mn-ea"/>
                          <a:cs typeface="+mn-cs"/>
                        </a:rPr>
                        <a:t>Professor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sz="1900" dirty="0" err="1"/>
                        <a:t>Haresh</a:t>
                      </a:r>
                      <a:endParaRPr lang="en-US" sz="1900"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900" kern="1200" dirty="0">
                          <a:solidFill>
                            <a:schemeClr val="dk1"/>
                          </a:solidFill>
                          <a:latin typeface="+mn-lt"/>
                          <a:ea typeface="+mn-ea"/>
                          <a:cs typeface="+mn-cs"/>
                        </a:rPr>
                        <a:t>Professor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sz="1900" dirty="0"/>
                        <a:t>Ramesh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900" kern="1200" dirty="0">
                          <a:solidFill>
                            <a:schemeClr val="dk1"/>
                          </a:solidFill>
                          <a:latin typeface="+mn-lt"/>
                          <a:ea typeface="+mn-ea"/>
                          <a:cs typeface="+mn-cs"/>
                        </a:rPr>
                        <a:t>HOD</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34"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178216220"/>
              </p:ext>
            </p:extLst>
          </p:nvPr>
        </p:nvGraphicFramePr>
        <p:xfrm>
          <a:off x="8306214" y="4321501"/>
          <a:ext cx="1332230" cy="1645920"/>
        </p:xfrm>
        <a:graphic>
          <a:graphicData uri="http://schemas.openxmlformats.org/drawingml/2006/table">
            <a:tbl>
              <a:tblPr firstRow="1" bandRow="1">
                <a:tableStyleId>{8EC20E35-A176-4012-BC5E-935CFFF8708E}</a:tableStyleId>
              </a:tblPr>
              <a:tblGrid>
                <a:gridCol w="1332230">
                  <a:extLst>
                    <a:ext uri="{9D8B030D-6E8A-4147-A177-3AD203B41FA5}">
                      <a16:colId xmlns:a16="http://schemas.microsoft.com/office/drawing/2014/main" val="20001"/>
                    </a:ext>
                  </a:extLst>
                </a:gridCol>
              </a:tblGrid>
              <a:tr h="411480">
                <a:tc>
                  <a:txBody>
                    <a:bodyPr/>
                    <a:lstStyle/>
                    <a:p>
                      <a:pPr algn="l"/>
                      <a:r>
                        <a:rPr lang="en-US" sz="1800" kern="1200" dirty="0" err="1">
                          <a:solidFill>
                            <a:schemeClr val="tx1"/>
                          </a:solidFill>
                        </a:rPr>
                        <a:t>DName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pPr algn="l"/>
                      <a:r>
                        <a:rPr lang="en-US" sz="1900" kern="1200" dirty="0">
                          <a:solidFill>
                            <a:schemeClr val="dk1"/>
                          </a:solidFill>
                          <a:latin typeface="+mn-lt"/>
                          <a:ea typeface="+mn-ea"/>
                          <a:cs typeface="+mn-cs"/>
                        </a:rPr>
                        <a:t>Computer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pPr algn="l"/>
                      <a:r>
                        <a:rPr lang="en-US" sz="1900" kern="1200" dirty="0">
                          <a:solidFill>
                            <a:schemeClr val="dk1"/>
                          </a:solidFill>
                          <a:latin typeface="+mn-lt"/>
                          <a:ea typeface="+mn-ea"/>
                          <a:cs typeface="+mn-cs"/>
                        </a:rPr>
                        <a:t>Civil</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algn="l"/>
                      <a:r>
                        <a:rPr lang="en-US" sz="1900" kern="1200" dirty="0">
                          <a:solidFill>
                            <a:schemeClr val="dk1"/>
                          </a:solidFill>
                          <a:latin typeface="+mn-lt"/>
                          <a:ea typeface="+mn-ea"/>
                          <a:cs typeface="+mn-cs"/>
                        </a:rPr>
                        <a:t>Mechanical</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77132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500"/>
                                        <p:tgtEl>
                                          <p:spTgt spid="33"/>
                                        </p:tgtEl>
                                      </p:cBhvr>
                                    </p:animEffect>
                                  </p:childTnLst>
                                </p:cTn>
                              </p:par>
                              <p:par>
                                <p:cTn id="60" presetID="10" presetClass="entr" presetSubtype="0" fill="hold" nodeType="with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500"/>
                                        <p:tgtEl>
                                          <p:spTgt spid="3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par>
                                <p:cTn id="71" presetID="10" presetClass="entr" presetSubtype="0" fill="hold"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500"/>
                                        <p:tgtEl>
                                          <p:spTgt spid="23"/>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xit" presetSubtype="0" fill="hold" grpId="1" nodeType="clickEffect">
                                  <p:stCondLst>
                                    <p:cond delay="0"/>
                                  </p:stCondLst>
                                  <p:childTnLst>
                                    <p:animEffect transition="out" filter="fade">
                                      <p:cBhvr>
                                        <p:cTn id="77" dur="100"/>
                                        <p:tgtEl>
                                          <p:spTgt spid="21"/>
                                        </p:tgtEl>
                                      </p:cBhvr>
                                    </p:animEffect>
                                    <p:set>
                                      <p:cBhvr>
                                        <p:cTn id="78" dur="1" fill="hold">
                                          <p:stCondLst>
                                            <p:cond delay="99"/>
                                          </p:stCondLst>
                                        </p:cTn>
                                        <p:tgtEl>
                                          <p:spTgt spid="21"/>
                                        </p:tgtEl>
                                        <p:attrNameLst>
                                          <p:attrName>style.visibility</p:attrName>
                                        </p:attrNameLst>
                                      </p:cBhvr>
                                      <p:to>
                                        <p:strVal val="hidden"/>
                                      </p:to>
                                    </p:set>
                                  </p:childTnLst>
                                </p:cTn>
                              </p:par>
                              <p:par>
                                <p:cTn id="79" presetID="10" presetClass="exit" presetSubtype="0" fill="hold" nodeType="withEffect">
                                  <p:stCondLst>
                                    <p:cond delay="0"/>
                                  </p:stCondLst>
                                  <p:childTnLst>
                                    <p:animEffect transition="out" filter="fade">
                                      <p:cBhvr>
                                        <p:cTn id="80" dur="100"/>
                                        <p:tgtEl>
                                          <p:spTgt spid="22"/>
                                        </p:tgtEl>
                                      </p:cBhvr>
                                    </p:animEffect>
                                    <p:set>
                                      <p:cBhvr>
                                        <p:cTn id="81" dur="1" fill="hold">
                                          <p:stCondLst>
                                            <p:cond delay="99"/>
                                          </p:stCondLst>
                                        </p:cTn>
                                        <p:tgtEl>
                                          <p:spTgt spid="22"/>
                                        </p:tgtEl>
                                        <p:attrNameLst>
                                          <p:attrName>style.visibility</p:attrName>
                                        </p:attrNameLst>
                                      </p:cBhvr>
                                      <p:to>
                                        <p:strVal val="hidden"/>
                                      </p:to>
                                    </p:set>
                                  </p:childTnLst>
                                </p:cTn>
                              </p:par>
                              <p:par>
                                <p:cTn id="82" presetID="10" presetClass="exit" presetSubtype="0" fill="hold" nodeType="withEffect">
                                  <p:stCondLst>
                                    <p:cond delay="0"/>
                                  </p:stCondLst>
                                  <p:childTnLst>
                                    <p:animEffect transition="out" filter="fade">
                                      <p:cBhvr>
                                        <p:cTn id="83" dur="100"/>
                                        <p:tgtEl>
                                          <p:spTgt spid="23"/>
                                        </p:tgtEl>
                                      </p:cBhvr>
                                    </p:animEffect>
                                    <p:set>
                                      <p:cBhvr>
                                        <p:cTn id="84" dur="1" fill="hold">
                                          <p:stCondLst>
                                            <p:cond delay="99"/>
                                          </p:stCondLst>
                                        </p:cTn>
                                        <p:tgtEl>
                                          <p:spTgt spid="23"/>
                                        </p:tgtEl>
                                        <p:attrNameLst>
                                          <p:attrName>style.visibility</p:attrName>
                                        </p:attrNameLst>
                                      </p:cBhvr>
                                      <p:to>
                                        <p:strVal val="hidden"/>
                                      </p:to>
                                    </p:set>
                                  </p:childTnLst>
                                </p:cTn>
                              </p:par>
                              <p:par>
                                <p:cTn id="85" presetID="10" presetClass="entr" presetSubtype="0" fill="hold" nodeType="with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500"/>
                                        <p:tgtEl>
                                          <p:spTgt spid="24"/>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xit" presetSubtype="0" fill="hold" nodeType="clickEffect">
                                  <p:stCondLst>
                                    <p:cond delay="0"/>
                                  </p:stCondLst>
                                  <p:childTnLst>
                                    <p:animEffect transition="out" filter="fade">
                                      <p:cBhvr>
                                        <p:cTn id="91" dur="100"/>
                                        <p:tgtEl>
                                          <p:spTgt spid="24"/>
                                        </p:tgtEl>
                                      </p:cBhvr>
                                    </p:animEffect>
                                    <p:set>
                                      <p:cBhvr>
                                        <p:cTn id="92" dur="1" fill="hold">
                                          <p:stCondLst>
                                            <p:cond delay="99"/>
                                          </p:stCondLst>
                                        </p:cTn>
                                        <p:tgtEl>
                                          <p:spTgt spid="24"/>
                                        </p:tgtEl>
                                        <p:attrNameLst>
                                          <p:attrName>style.visibility</p:attrName>
                                        </p:attrNameLst>
                                      </p:cBhvr>
                                      <p:to>
                                        <p:strVal val="hidden"/>
                                      </p:to>
                                    </p:set>
                                  </p:childTnLst>
                                </p:cTn>
                              </p:par>
                              <p:par>
                                <p:cTn id="93" presetID="1" presetClass="entr" presetSubtype="0" fill="hold" nodeType="withEffect">
                                  <p:stCondLst>
                                    <p:cond delay="0"/>
                                  </p:stCondLst>
                                  <p:childTnLst>
                                    <p:set>
                                      <p:cBhvr>
                                        <p:cTn id="94" dur="1" fill="hold">
                                          <p:stCondLst>
                                            <p:cond delay="0"/>
                                          </p:stCondLst>
                                        </p:cTn>
                                        <p:tgtEl>
                                          <p:spTgt spid="2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28"/>
                                        </p:tgtEl>
                                        <p:attrNameLst>
                                          <p:attrName>style.visibility</p:attrName>
                                        </p:attrNameLst>
                                      </p:cBhvr>
                                      <p:to>
                                        <p:strVal val="visible"/>
                                      </p:to>
                                    </p:set>
                                    <p:animEffect transition="in" filter="fade">
                                      <p:cBhvr>
                                        <p:cTn id="9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0" grpId="0" animBg="1"/>
      <p:bldP spid="12" grpId="0" animBg="1"/>
      <p:bldP spid="14" grpId="0" animBg="1"/>
      <p:bldP spid="16" grpId="0" animBg="1"/>
      <p:bldP spid="18" grpId="0" animBg="1"/>
      <p:bldP spid="21" grpId="0" animBg="1"/>
      <p:bldP spid="21" grpId="1" animBg="1"/>
      <p:bldP spid="2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Mapping Cardinality</a:t>
            </a:r>
          </a:p>
        </p:txBody>
      </p:sp>
      <p:sp>
        <p:nvSpPr>
          <p:cNvPr id="5" name="Text Placeholder 4"/>
          <p:cNvSpPr>
            <a:spLocks noGrp="1"/>
          </p:cNvSpPr>
          <p:nvPr>
            <p:ph type="body" idx="1"/>
          </p:nvPr>
        </p:nvSpPr>
        <p:spPr/>
        <p:txBody>
          <a:bodyPr/>
          <a:lstStyle/>
          <a:p>
            <a:r>
              <a:rPr lang="en-US" dirty="0"/>
              <a:t>Section - 3</a:t>
            </a:r>
          </a:p>
          <a:p>
            <a:endParaRPr lang="en-US" dirty="0"/>
          </a:p>
        </p:txBody>
      </p:sp>
    </p:spTree>
    <p:extLst>
      <p:ext uri="{BB962C8B-B14F-4D97-AF65-F5344CB8AC3E}">
        <p14:creationId xmlns:p14="http://schemas.microsoft.com/office/powerpoint/2010/main" val="2046017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Mapping Cardinality (Cardinality Constraints)</a:t>
            </a:r>
          </a:p>
        </p:txBody>
      </p:sp>
      <p:sp>
        <p:nvSpPr>
          <p:cNvPr id="5" name="Content Placeholder 4"/>
          <p:cNvSpPr>
            <a:spLocks noGrp="1"/>
          </p:cNvSpPr>
          <p:nvPr>
            <p:ph idx="1"/>
          </p:nvPr>
        </p:nvSpPr>
        <p:spPr/>
        <p:txBody>
          <a:bodyPr/>
          <a:lstStyle/>
          <a:p>
            <a:r>
              <a:rPr lang="en-GB" dirty="0"/>
              <a:t>It represents the </a:t>
            </a:r>
            <a:r>
              <a:rPr lang="en-GB" b="1" dirty="0">
                <a:solidFill>
                  <a:schemeClr val="accent6"/>
                </a:solidFill>
              </a:rPr>
              <a:t>number of entities of another entity set </a:t>
            </a:r>
            <a:r>
              <a:rPr lang="en-GB" dirty="0"/>
              <a:t>which are </a:t>
            </a:r>
            <a:r>
              <a:rPr lang="en-GB" b="1" dirty="0">
                <a:solidFill>
                  <a:schemeClr val="accent6"/>
                </a:solidFill>
              </a:rPr>
              <a:t>connected to an entity </a:t>
            </a:r>
            <a:r>
              <a:rPr lang="en-GB" dirty="0"/>
              <a:t>using a relationship set.</a:t>
            </a:r>
          </a:p>
          <a:p>
            <a:r>
              <a:rPr lang="en-GB" dirty="0"/>
              <a:t>It is most </a:t>
            </a:r>
            <a:r>
              <a:rPr lang="en-GB" b="1" dirty="0">
                <a:solidFill>
                  <a:schemeClr val="accent6"/>
                </a:solidFill>
              </a:rPr>
              <a:t>useful in describing binary relationship sets</a:t>
            </a:r>
            <a:r>
              <a:rPr lang="en-GB" dirty="0"/>
              <a:t>.</a:t>
            </a:r>
          </a:p>
          <a:p>
            <a:r>
              <a:rPr lang="en-GB" dirty="0"/>
              <a:t>For a binary relationship set the mapping cardinality must be one of the following types:</a:t>
            </a:r>
          </a:p>
          <a:p>
            <a:pPr lvl="1"/>
            <a:r>
              <a:rPr lang="en-GB" dirty="0"/>
              <a:t>One to One</a:t>
            </a:r>
          </a:p>
          <a:p>
            <a:pPr lvl="1"/>
            <a:r>
              <a:rPr lang="en-GB" dirty="0"/>
              <a:t>One to Many</a:t>
            </a:r>
          </a:p>
          <a:p>
            <a:pPr lvl="1"/>
            <a:r>
              <a:rPr lang="en-GB" dirty="0"/>
              <a:t>Many to One</a:t>
            </a:r>
          </a:p>
          <a:p>
            <a:pPr lvl="1"/>
            <a:r>
              <a:rPr lang="en-GB" dirty="0"/>
              <a:t>Many to Many</a:t>
            </a:r>
          </a:p>
        </p:txBody>
      </p:sp>
    </p:spTree>
    <p:extLst>
      <p:ext uri="{BB962C8B-B14F-4D97-AF65-F5344CB8AC3E}">
        <p14:creationId xmlns:p14="http://schemas.microsoft.com/office/powerpoint/2010/main" val="387597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One-to-One relationship (1 – 1)</a:t>
            </a:r>
          </a:p>
        </p:txBody>
      </p:sp>
      <p:sp>
        <p:nvSpPr>
          <p:cNvPr id="5" name="Content Placeholder 4"/>
          <p:cNvSpPr>
            <a:spLocks noGrp="1"/>
          </p:cNvSpPr>
          <p:nvPr>
            <p:ph idx="1"/>
          </p:nvPr>
        </p:nvSpPr>
        <p:spPr/>
        <p:txBody>
          <a:bodyPr/>
          <a:lstStyle/>
          <a:p>
            <a:r>
              <a:rPr lang="en-GB" dirty="0"/>
              <a:t>An entity in </a:t>
            </a:r>
            <a:r>
              <a:rPr lang="en-GB" b="1" dirty="0">
                <a:solidFill>
                  <a:schemeClr val="accent6"/>
                </a:solidFill>
              </a:rPr>
              <a:t>A is associated with only one entity in B </a:t>
            </a:r>
            <a:r>
              <a:rPr lang="en-GB" dirty="0"/>
              <a:t>and an entity in </a:t>
            </a:r>
            <a:r>
              <a:rPr lang="en-GB" b="1" dirty="0">
                <a:solidFill>
                  <a:schemeClr val="accent6"/>
                </a:solidFill>
              </a:rPr>
              <a:t>B is associated with only one entity in A</a:t>
            </a:r>
            <a:r>
              <a:rPr lang="en-GB" dirty="0"/>
              <a:t>.</a:t>
            </a:r>
          </a:p>
          <a:p>
            <a:endParaRPr lang="en-GB" dirty="0"/>
          </a:p>
          <a:p>
            <a:endParaRPr lang="en-GB" dirty="0"/>
          </a:p>
          <a:p>
            <a:endParaRPr lang="en-GB" dirty="0"/>
          </a:p>
          <a:p>
            <a:endParaRPr lang="en-GB" dirty="0"/>
          </a:p>
          <a:p>
            <a:endParaRPr lang="en-GB" dirty="0"/>
          </a:p>
          <a:p>
            <a:endParaRPr lang="en-GB" dirty="0"/>
          </a:p>
          <a:p>
            <a:endParaRPr lang="en-GB" dirty="0"/>
          </a:p>
          <a:p>
            <a:r>
              <a:rPr lang="en-GB" dirty="0"/>
              <a:t>Example: A </a:t>
            </a:r>
            <a:r>
              <a:rPr lang="en-GB" b="1" dirty="0">
                <a:solidFill>
                  <a:schemeClr val="accent6"/>
                </a:solidFill>
              </a:rPr>
              <a:t>customer is connected with only one loan </a:t>
            </a:r>
            <a:r>
              <a:rPr lang="en-GB" dirty="0"/>
              <a:t>using the relationship borrower and a </a:t>
            </a:r>
            <a:r>
              <a:rPr lang="en-GB" b="1" dirty="0">
                <a:solidFill>
                  <a:schemeClr val="accent6"/>
                </a:solidFill>
              </a:rPr>
              <a:t>loan is connected with only one customer </a:t>
            </a:r>
            <a:r>
              <a:rPr lang="en-GB" dirty="0"/>
              <a:t>using borrower.</a:t>
            </a:r>
          </a:p>
        </p:txBody>
      </p:sp>
      <p:sp>
        <p:nvSpPr>
          <p:cNvPr id="6" name="Oval 5"/>
          <p:cNvSpPr/>
          <p:nvPr/>
        </p:nvSpPr>
        <p:spPr>
          <a:xfrm>
            <a:off x="1238250" y="2019300"/>
            <a:ext cx="1219200" cy="19812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7" name="Rectangle 6"/>
          <p:cNvSpPr/>
          <p:nvPr/>
        </p:nvSpPr>
        <p:spPr>
          <a:xfrm>
            <a:off x="1543050" y="2324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A1</a:t>
            </a:r>
            <a:endParaRPr lang="en-IN" dirty="0"/>
          </a:p>
        </p:txBody>
      </p:sp>
      <p:sp>
        <p:nvSpPr>
          <p:cNvPr id="8" name="Rectangle 7"/>
          <p:cNvSpPr/>
          <p:nvPr/>
        </p:nvSpPr>
        <p:spPr>
          <a:xfrm>
            <a:off x="1543050" y="3086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A2</a:t>
            </a:r>
            <a:endParaRPr lang="en-IN" dirty="0"/>
          </a:p>
        </p:txBody>
      </p:sp>
      <p:sp>
        <p:nvSpPr>
          <p:cNvPr id="9" name="Oval 8"/>
          <p:cNvSpPr/>
          <p:nvPr/>
        </p:nvSpPr>
        <p:spPr>
          <a:xfrm>
            <a:off x="3067050" y="2019300"/>
            <a:ext cx="1219200" cy="19812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10" name="Rectangle 9"/>
          <p:cNvSpPr/>
          <p:nvPr/>
        </p:nvSpPr>
        <p:spPr>
          <a:xfrm>
            <a:off x="3371850" y="2324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B1</a:t>
            </a:r>
            <a:endParaRPr lang="en-IN" dirty="0"/>
          </a:p>
        </p:txBody>
      </p:sp>
      <p:sp>
        <p:nvSpPr>
          <p:cNvPr id="11" name="Rectangle 10"/>
          <p:cNvSpPr/>
          <p:nvPr/>
        </p:nvSpPr>
        <p:spPr>
          <a:xfrm>
            <a:off x="3371850" y="3086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B2</a:t>
            </a:r>
            <a:endParaRPr lang="en-IN" dirty="0"/>
          </a:p>
        </p:txBody>
      </p:sp>
      <p:cxnSp>
        <p:nvCxnSpPr>
          <p:cNvPr id="12" name="Straight Connector 11"/>
          <p:cNvCxnSpPr>
            <a:stCxn id="7" idx="3"/>
            <a:endCxn id="10" idx="1"/>
          </p:cNvCxnSpPr>
          <p:nvPr/>
        </p:nvCxnSpPr>
        <p:spPr>
          <a:xfrm>
            <a:off x="2152650" y="2628900"/>
            <a:ext cx="1219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238250" y="4000500"/>
            <a:ext cx="1219200" cy="400110"/>
          </a:xfrm>
          <a:prstGeom prst="rect">
            <a:avLst/>
          </a:prstGeom>
          <a:noFill/>
        </p:spPr>
        <p:txBody>
          <a:bodyPr wrap="square" rtlCol="0">
            <a:spAutoFit/>
          </a:bodyPr>
          <a:lstStyle/>
          <a:p>
            <a:pPr algn="ctr"/>
            <a:r>
              <a:rPr lang="en-US" sz="2000" dirty="0"/>
              <a:t>A</a:t>
            </a:r>
            <a:endParaRPr lang="en-IN" sz="2000" dirty="0"/>
          </a:p>
        </p:txBody>
      </p:sp>
      <p:sp>
        <p:nvSpPr>
          <p:cNvPr id="14" name="TextBox 13"/>
          <p:cNvSpPr txBox="1"/>
          <p:nvPr/>
        </p:nvSpPr>
        <p:spPr>
          <a:xfrm>
            <a:off x="3067050" y="4012167"/>
            <a:ext cx="1219200" cy="400110"/>
          </a:xfrm>
          <a:prstGeom prst="rect">
            <a:avLst/>
          </a:prstGeom>
          <a:noFill/>
        </p:spPr>
        <p:txBody>
          <a:bodyPr wrap="square" rtlCol="0">
            <a:spAutoFit/>
          </a:bodyPr>
          <a:lstStyle/>
          <a:p>
            <a:pPr algn="ctr"/>
            <a:r>
              <a:rPr lang="en-US" sz="2000" dirty="0"/>
              <a:t>B</a:t>
            </a:r>
            <a:endParaRPr lang="en-IN" sz="2000" dirty="0"/>
          </a:p>
        </p:txBody>
      </p:sp>
      <p:sp>
        <p:nvSpPr>
          <p:cNvPr id="15" name="Rectangle 14"/>
          <p:cNvSpPr/>
          <p:nvPr/>
        </p:nvSpPr>
        <p:spPr>
          <a:xfrm>
            <a:off x="6307720" y="2171700"/>
            <a:ext cx="12954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customer</a:t>
            </a:r>
            <a:endParaRPr lang="en-IN" dirty="0">
              <a:solidFill>
                <a:schemeClr val="tx1"/>
              </a:solidFill>
            </a:endParaRPr>
          </a:p>
        </p:txBody>
      </p:sp>
      <p:cxnSp>
        <p:nvCxnSpPr>
          <p:cNvPr id="16" name="Straight Connector 15"/>
          <p:cNvCxnSpPr/>
          <p:nvPr/>
        </p:nvCxnSpPr>
        <p:spPr>
          <a:xfrm>
            <a:off x="2152650" y="3390900"/>
            <a:ext cx="1219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0346320" y="2171700"/>
            <a:ext cx="6858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loan</a:t>
            </a:r>
            <a:endParaRPr lang="en-IN" dirty="0">
              <a:solidFill>
                <a:schemeClr val="tx1"/>
              </a:solidFill>
            </a:endParaRPr>
          </a:p>
        </p:txBody>
      </p:sp>
      <p:sp>
        <p:nvSpPr>
          <p:cNvPr id="18" name="Diamond 17"/>
          <p:cNvSpPr/>
          <p:nvPr/>
        </p:nvSpPr>
        <p:spPr>
          <a:xfrm>
            <a:off x="7988131" y="2095500"/>
            <a:ext cx="1977189" cy="6096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borrow</a:t>
            </a:r>
            <a:endParaRPr lang="en-IN" dirty="0">
              <a:solidFill>
                <a:schemeClr val="tx1"/>
              </a:solidFill>
            </a:endParaRPr>
          </a:p>
        </p:txBody>
      </p:sp>
      <p:sp>
        <p:nvSpPr>
          <p:cNvPr id="19" name="Rectangle 18"/>
          <p:cNvSpPr/>
          <p:nvPr/>
        </p:nvSpPr>
        <p:spPr>
          <a:xfrm>
            <a:off x="7145920" y="27813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C1</a:t>
            </a:r>
            <a:endParaRPr lang="en-IN" dirty="0"/>
          </a:p>
        </p:txBody>
      </p:sp>
      <p:sp>
        <p:nvSpPr>
          <p:cNvPr id="20" name="Rectangle 19"/>
          <p:cNvSpPr/>
          <p:nvPr/>
        </p:nvSpPr>
        <p:spPr>
          <a:xfrm>
            <a:off x="7145920" y="33147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C2</a:t>
            </a:r>
            <a:endParaRPr lang="en-IN" dirty="0"/>
          </a:p>
        </p:txBody>
      </p:sp>
      <p:sp>
        <p:nvSpPr>
          <p:cNvPr id="21" name="Rectangle 20"/>
          <p:cNvSpPr/>
          <p:nvPr/>
        </p:nvSpPr>
        <p:spPr>
          <a:xfrm>
            <a:off x="10346320" y="27813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L1</a:t>
            </a:r>
            <a:endParaRPr lang="en-IN" dirty="0"/>
          </a:p>
        </p:txBody>
      </p:sp>
      <p:sp>
        <p:nvSpPr>
          <p:cNvPr id="22" name="Rectangle 21"/>
          <p:cNvSpPr/>
          <p:nvPr/>
        </p:nvSpPr>
        <p:spPr>
          <a:xfrm>
            <a:off x="10346320" y="33147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L2</a:t>
            </a:r>
            <a:endParaRPr lang="en-IN" dirty="0"/>
          </a:p>
        </p:txBody>
      </p:sp>
      <p:sp>
        <p:nvSpPr>
          <p:cNvPr id="23" name="Rectangle 22"/>
          <p:cNvSpPr/>
          <p:nvPr/>
        </p:nvSpPr>
        <p:spPr>
          <a:xfrm>
            <a:off x="7145920" y="38481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C3</a:t>
            </a:r>
            <a:endParaRPr lang="en-IN" dirty="0"/>
          </a:p>
        </p:txBody>
      </p:sp>
      <p:sp>
        <p:nvSpPr>
          <p:cNvPr id="24" name="Rectangle 23"/>
          <p:cNvSpPr/>
          <p:nvPr/>
        </p:nvSpPr>
        <p:spPr>
          <a:xfrm>
            <a:off x="10346320" y="38481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L3</a:t>
            </a:r>
            <a:endParaRPr lang="en-IN" dirty="0"/>
          </a:p>
        </p:txBody>
      </p:sp>
      <p:cxnSp>
        <p:nvCxnSpPr>
          <p:cNvPr id="25" name="Straight Connector 24"/>
          <p:cNvCxnSpPr>
            <a:stCxn id="19" idx="3"/>
            <a:endCxn id="21" idx="1"/>
          </p:cNvCxnSpPr>
          <p:nvPr/>
        </p:nvCxnSpPr>
        <p:spPr>
          <a:xfrm>
            <a:off x="7577920" y="2979300"/>
            <a:ext cx="2768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20" idx="3"/>
            <a:endCxn id="22" idx="1"/>
          </p:cNvCxnSpPr>
          <p:nvPr/>
        </p:nvCxnSpPr>
        <p:spPr>
          <a:xfrm>
            <a:off x="7577920" y="3512700"/>
            <a:ext cx="2768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23" idx="3"/>
            <a:endCxn id="24" idx="1"/>
          </p:cNvCxnSpPr>
          <p:nvPr/>
        </p:nvCxnSpPr>
        <p:spPr>
          <a:xfrm>
            <a:off x="7577920" y="4046100"/>
            <a:ext cx="2768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a:off x="7603120" y="2400300"/>
            <a:ext cx="384048" cy="0"/>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9965320" y="2400300"/>
            <a:ext cx="381000" cy="0"/>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32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500"/>
                                        <p:tgtEl>
                                          <p:spTgt spid="28"/>
                                        </p:tgtEl>
                                      </p:cBhvr>
                                    </p:animEffect>
                                  </p:childTnLst>
                                </p:cTn>
                              </p:par>
                              <p:par>
                                <p:cTn id="79" presetID="10" presetClass="entr" presetSubtype="0"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5">
                                            <p:txEl>
                                              <p:pRg st="8" end="8"/>
                                            </p:txEl>
                                          </p:spTgt>
                                        </p:tgtEl>
                                        <p:attrNameLst>
                                          <p:attrName>style.visibility</p:attrName>
                                        </p:attrNameLst>
                                      </p:cBhvr>
                                      <p:to>
                                        <p:strVal val="visible"/>
                                      </p:to>
                                    </p:set>
                                    <p:animEffect transition="in" filter="fade">
                                      <p:cBhvr>
                                        <p:cTn id="86"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p:bldP spid="14" grpId="0"/>
      <p:bldP spid="15"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One-to-Many relationship (1 – N)</a:t>
            </a:r>
          </a:p>
        </p:txBody>
      </p:sp>
      <p:sp>
        <p:nvSpPr>
          <p:cNvPr id="5" name="Content Placeholder 4"/>
          <p:cNvSpPr>
            <a:spLocks noGrp="1"/>
          </p:cNvSpPr>
          <p:nvPr>
            <p:ph idx="1"/>
          </p:nvPr>
        </p:nvSpPr>
        <p:spPr/>
        <p:txBody>
          <a:bodyPr/>
          <a:lstStyle/>
          <a:p>
            <a:r>
              <a:rPr lang="en-GB" dirty="0"/>
              <a:t>An entity in </a:t>
            </a:r>
            <a:r>
              <a:rPr lang="en-GB" b="1" dirty="0">
                <a:solidFill>
                  <a:schemeClr val="accent6"/>
                </a:solidFill>
              </a:rPr>
              <a:t>A is associated with more than one entities in B </a:t>
            </a:r>
            <a:r>
              <a:rPr lang="en-GB" dirty="0"/>
              <a:t>and an entity in </a:t>
            </a:r>
            <a:r>
              <a:rPr lang="en-GB" b="1" dirty="0">
                <a:solidFill>
                  <a:schemeClr val="accent6"/>
                </a:solidFill>
              </a:rPr>
              <a:t>B is associated with only one entity in A</a:t>
            </a:r>
            <a:r>
              <a:rPr lang="en-GB" dirty="0"/>
              <a:t>.</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Example: A </a:t>
            </a:r>
            <a:r>
              <a:rPr lang="en-GB" b="1" dirty="0">
                <a:solidFill>
                  <a:schemeClr val="accent6"/>
                </a:solidFill>
              </a:rPr>
              <a:t>loan is connected with only one customer </a:t>
            </a:r>
            <a:r>
              <a:rPr lang="en-GB" dirty="0"/>
              <a:t>using borrower and a </a:t>
            </a:r>
            <a:r>
              <a:rPr lang="en-GB" b="1" dirty="0">
                <a:solidFill>
                  <a:schemeClr val="accent6"/>
                </a:solidFill>
              </a:rPr>
              <a:t>customer is connected with more than one loans using borrower</a:t>
            </a:r>
            <a:r>
              <a:rPr lang="en-GB" dirty="0"/>
              <a:t>.</a:t>
            </a:r>
          </a:p>
        </p:txBody>
      </p:sp>
      <p:sp>
        <p:nvSpPr>
          <p:cNvPr id="6" name="Oval 5"/>
          <p:cNvSpPr/>
          <p:nvPr/>
        </p:nvSpPr>
        <p:spPr>
          <a:xfrm>
            <a:off x="1238250" y="2019300"/>
            <a:ext cx="1219200" cy="19812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7" name="Rectangle 6"/>
          <p:cNvSpPr/>
          <p:nvPr/>
        </p:nvSpPr>
        <p:spPr>
          <a:xfrm>
            <a:off x="1543050" y="2324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A1</a:t>
            </a:r>
            <a:endParaRPr lang="en-IN" dirty="0"/>
          </a:p>
        </p:txBody>
      </p:sp>
      <p:sp>
        <p:nvSpPr>
          <p:cNvPr id="8" name="Rectangle 7"/>
          <p:cNvSpPr/>
          <p:nvPr/>
        </p:nvSpPr>
        <p:spPr>
          <a:xfrm>
            <a:off x="1543050" y="3086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A2</a:t>
            </a:r>
            <a:endParaRPr lang="en-IN" dirty="0"/>
          </a:p>
        </p:txBody>
      </p:sp>
      <p:sp>
        <p:nvSpPr>
          <p:cNvPr id="9" name="Oval 8"/>
          <p:cNvSpPr/>
          <p:nvPr/>
        </p:nvSpPr>
        <p:spPr>
          <a:xfrm>
            <a:off x="3067050" y="2019300"/>
            <a:ext cx="1219200" cy="19812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10" name="Rectangle 9"/>
          <p:cNvSpPr/>
          <p:nvPr/>
        </p:nvSpPr>
        <p:spPr>
          <a:xfrm>
            <a:off x="3371850" y="2324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B1</a:t>
            </a:r>
            <a:endParaRPr lang="en-IN" dirty="0"/>
          </a:p>
        </p:txBody>
      </p:sp>
      <p:sp>
        <p:nvSpPr>
          <p:cNvPr id="11" name="Rectangle 10"/>
          <p:cNvSpPr/>
          <p:nvPr/>
        </p:nvSpPr>
        <p:spPr>
          <a:xfrm>
            <a:off x="3371850" y="3086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B2</a:t>
            </a:r>
            <a:endParaRPr lang="en-IN" dirty="0"/>
          </a:p>
        </p:txBody>
      </p:sp>
      <p:cxnSp>
        <p:nvCxnSpPr>
          <p:cNvPr id="12" name="Straight Connector 11"/>
          <p:cNvCxnSpPr>
            <a:stCxn id="7" idx="3"/>
            <a:endCxn id="10" idx="1"/>
          </p:cNvCxnSpPr>
          <p:nvPr/>
        </p:nvCxnSpPr>
        <p:spPr>
          <a:xfrm>
            <a:off x="2152650" y="2628900"/>
            <a:ext cx="1219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238250" y="4000500"/>
            <a:ext cx="1219200" cy="400110"/>
          </a:xfrm>
          <a:prstGeom prst="rect">
            <a:avLst/>
          </a:prstGeom>
          <a:noFill/>
        </p:spPr>
        <p:txBody>
          <a:bodyPr wrap="square" rtlCol="0">
            <a:spAutoFit/>
          </a:bodyPr>
          <a:lstStyle/>
          <a:p>
            <a:pPr algn="ctr"/>
            <a:r>
              <a:rPr lang="en-US" sz="2000" dirty="0"/>
              <a:t>A</a:t>
            </a:r>
            <a:endParaRPr lang="en-IN" sz="2000" dirty="0"/>
          </a:p>
        </p:txBody>
      </p:sp>
      <p:sp>
        <p:nvSpPr>
          <p:cNvPr id="14" name="TextBox 13"/>
          <p:cNvSpPr txBox="1"/>
          <p:nvPr/>
        </p:nvSpPr>
        <p:spPr>
          <a:xfrm>
            <a:off x="3067050" y="4012167"/>
            <a:ext cx="1219200" cy="400110"/>
          </a:xfrm>
          <a:prstGeom prst="rect">
            <a:avLst/>
          </a:prstGeom>
          <a:noFill/>
        </p:spPr>
        <p:txBody>
          <a:bodyPr wrap="square" rtlCol="0">
            <a:spAutoFit/>
          </a:bodyPr>
          <a:lstStyle/>
          <a:p>
            <a:pPr algn="ctr"/>
            <a:r>
              <a:rPr lang="en-US" sz="2000" dirty="0"/>
              <a:t>B</a:t>
            </a:r>
            <a:endParaRPr lang="en-IN" sz="2000" dirty="0"/>
          </a:p>
        </p:txBody>
      </p:sp>
      <p:sp>
        <p:nvSpPr>
          <p:cNvPr id="15" name="Rectangle 14"/>
          <p:cNvSpPr/>
          <p:nvPr/>
        </p:nvSpPr>
        <p:spPr>
          <a:xfrm>
            <a:off x="6307720" y="2171700"/>
            <a:ext cx="12954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customer</a:t>
            </a:r>
            <a:endParaRPr lang="en-IN" dirty="0">
              <a:solidFill>
                <a:schemeClr val="tx1"/>
              </a:solidFill>
            </a:endParaRPr>
          </a:p>
        </p:txBody>
      </p:sp>
      <p:cxnSp>
        <p:nvCxnSpPr>
          <p:cNvPr id="16" name="Straight Connector 15"/>
          <p:cNvCxnSpPr>
            <a:stCxn id="7" idx="3"/>
          </p:cNvCxnSpPr>
          <p:nvPr/>
        </p:nvCxnSpPr>
        <p:spPr>
          <a:xfrm>
            <a:off x="2152650" y="2628900"/>
            <a:ext cx="1219200" cy="762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0346320" y="2171700"/>
            <a:ext cx="6858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loan</a:t>
            </a:r>
            <a:endParaRPr lang="en-IN" dirty="0">
              <a:solidFill>
                <a:schemeClr val="tx1"/>
              </a:solidFill>
            </a:endParaRPr>
          </a:p>
        </p:txBody>
      </p:sp>
      <p:sp>
        <p:nvSpPr>
          <p:cNvPr id="18" name="Diamond 17"/>
          <p:cNvSpPr/>
          <p:nvPr/>
        </p:nvSpPr>
        <p:spPr>
          <a:xfrm>
            <a:off x="7988131" y="2095500"/>
            <a:ext cx="1977189" cy="6096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borrow</a:t>
            </a:r>
            <a:endParaRPr lang="en-IN" dirty="0">
              <a:solidFill>
                <a:schemeClr val="tx1"/>
              </a:solidFill>
            </a:endParaRPr>
          </a:p>
        </p:txBody>
      </p:sp>
      <p:sp>
        <p:nvSpPr>
          <p:cNvPr id="19" name="Rectangle 18"/>
          <p:cNvSpPr/>
          <p:nvPr/>
        </p:nvSpPr>
        <p:spPr>
          <a:xfrm>
            <a:off x="7145920" y="27813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C1</a:t>
            </a:r>
            <a:endParaRPr lang="en-IN" dirty="0"/>
          </a:p>
        </p:txBody>
      </p:sp>
      <p:sp>
        <p:nvSpPr>
          <p:cNvPr id="20" name="Rectangle 19"/>
          <p:cNvSpPr/>
          <p:nvPr/>
        </p:nvSpPr>
        <p:spPr>
          <a:xfrm>
            <a:off x="7145920" y="33147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C2</a:t>
            </a:r>
            <a:endParaRPr lang="en-IN" dirty="0"/>
          </a:p>
        </p:txBody>
      </p:sp>
      <p:sp>
        <p:nvSpPr>
          <p:cNvPr id="21" name="Rectangle 20"/>
          <p:cNvSpPr/>
          <p:nvPr/>
        </p:nvSpPr>
        <p:spPr>
          <a:xfrm>
            <a:off x="10346320" y="27813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L1</a:t>
            </a:r>
            <a:endParaRPr lang="en-IN" dirty="0"/>
          </a:p>
        </p:txBody>
      </p:sp>
      <p:sp>
        <p:nvSpPr>
          <p:cNvPr id="22" name="Rectangle 21"/>
          <p:cNvSpPr/>
          <p:nvPr/>
        </p:nvSpPr>
        <p:spPr>
          <a:xfrm>
            <a:off x="10346320" y="33147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L2</a:t>
            </a:r>
            <a:endParaRPr lang="en-IN" dirty="0"/>
          </a:p>
        </p:txBody>
      </p:sp>
      <p:sp>
        <p:nvSpPr>
          <p:cNvPr id="23" name="Rectangle 22"/>
          <p:cNvSpPr/>
          <p:nvPr/>
        </p:nvSpPr>
        <p:spPr>
          <a:xfrm>
            <a:off x="7145920" y="38481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C3</a:t>
            </a:r>
            <a:endParaRPr lang="en-IN" dirty="0"/>
          </a:p>
        </p:txBody>
      </p:sp>
      <p:sp>
        <p:nvSpPr>
          <p:cNvPr id="24" name="Rectangle 23"/>
          <p:cNvSpPr/>
          <p:nvPr/>
        </p:nvSpPr>
        <p:spPr>
          <a:xfrm>
            <a:off x="10346320" y="38481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L3</a:t>
            </a:r>
            <a:endParaRPr lang="en-IN" dirty="0"/>
          </a:p>
        </p:txBody>
      </p:sp>
      <p:cxnSp>
        <p:nvCxnSpPr>
          <p:cNvPr id="25" name="Straight Connector 24"/>
          <p:cNvCxnSpPr>
            <a:stCxn id="19" idx="3"/>
            <a:endCxn id="21" idx="1"/>
          </p:cNvCxnSpPr>
          <p:nvPr/>
        </p:nvCxnSpPr>
        <p:spPr>
          <a:xfrm>
            <a:off x="7577920" y="2979300"/>
            <a:ext cx="2768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9" idx="3"/>
            <a:endCxn id="22" idx="1"/>
          </p:cNvCxnSpPr>
          <p:nvPr/>
        </p:nvCxnSpPr>
        <p:spPr>
          <a:xfrm>
            <a:off x="7577920" y="2979300"/>
            <a:ext cx="2768400"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20" idx="3"/>
            <a:endCxn id="24" idx="1"/>
          </p:cNvCxnSpPr>
          <p:nvPr/>
        </p:nvCxnSpPr>
        <p:spPr>
          <a:xfrm>
            <a:off x="7577920" y="3512700"/>
            <a:ext cx="2768400"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a:off x="7603120" y="2400300"/>
            <a:ext cx="384048" cy="0"/>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10348490" y="43815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L4</a:t>
            </a:r>
            <a:endParaRPr lang="en-IN" dirty="0"/>
          </a:p>
        </p:txBody>
      </p:sp>
      <p:cxnSp>
        <p:nvCxnSpPr>
          <p:cNvPr id="32" name="Straight Connector 31"/>
          <p:cNvCxnSpPr>
            <a:stCxn id="20" idx="3"/>
            <a:endCxn id="30" idx="1"/>
          </p:cNvCxnSpPr>
          <p:nvPr/>
        </p:nvCxnSpPr>
        <p:spPr>
          <a:xfrm>
            <a:off x="7577920" y="3512700"/>
            <a:ext cx="2770570" cy="10668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9944944" y="2400300"/>
            <a:ext cx="385011"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879024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50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50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500"/>
                                        <p:tgtEl>
                                          <p:spTgt spid="35"/>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500"/>
                                        <p:tgtEl>
                                          <p:spTgt spid="32"/>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5">
                                            <p:txEl>
                                              <p:pRg st="9" end="9"/>
                                            </p:txEl>
                                          </p:spTgt>
                                        </p:tgtEl>
                                        <p:attrNameLst>
                                          <p:attrName>style.visibility</p:attrName>
                                        </p:attrNameLst>
                                      </p:cBhvr>
                                      <p:to>
                                        <p:strVal val="visible"/>
                                      </p:to>
                                    </p:set>
                                    <p:animEffect transition="in" filter="fade">
                                      <p:cBhvr>
                                        <p:cTn id="9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p:bldP spid="14" grpId="0"/>
      <p:bldP spid="15" grpId="0" animBg="1"/>
      <p:bldP spid="17" grpId="0" animBg="1"/>
      <p:bldP spid="18" grpId="0" animBg="1"/>
      <p:bldP spid="19" grpId="0" animBg="1"/>
      <p:bldP spid="20" grpId="0" animBg="1"/>
      <p:bldP spid="21" grpId="0" animBg="1"/>
      <p:bldP spid="22" grpId="0" animBg="1"/>
      <p:bldP spid="23" grpId="0" animBg="1"/>
      <p:bldP spid="24" grpId="0" animBg="1"/>
      <p:bldP spid="3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Many-to-One relationship (N – 1)</a:t>
            </a:r>
          </a:p>
        </p:txBody>
      </p:sp>
      <p:sp>
        <p:nvSpPr>
          <p:cNvPr id="5" name="Content Placeholder 4"/>
          <p:cNvSpPr>
            <a:spLocks noGrp="1"/>
          </p:cNvSpPr>
          <p:nvPr>
            <p:ph idx="1"/>
          </p:nvPr>
        </p:nvSpPr>
        <p:spPr/>
        <p:txBody>
          <a:bodyPr/>
          <a:lstStyle/>
          <a:p>
            <a:r>
              <a:rPr lang="en-GB" dirty="0"/>
              <a:t>An entity in </a:t>
            </a:r>
            <a:r>
              <a:rPr lang="en-GB" b="1" dirty="0">
                <a:solidFill>
                  <a:schemeClr val="accent6"/>
                </a:solidFill>
              </a:rPr>
              <a:t>A is associated with only one entity in B </a:t>
            </a:r>
            <a:r>
              <a:rPr lang="en-GB" dirty="0"/>
              <a:t>and an entity in </a:t>
            </a:r>
            <a:r>
              <a:rPr lang="en-GB" b="1" dirty="0">
                <a:solidFill>
                  <a:schemeClr val="accent6"/>
                </a:solidFill>
              </a:rPr>
              <a:t>B is associated with more than one entities in A</a:t>
            </a:r>
            <a:r>
              <a:rPr lang="en-GB" dirty="0"/>
              <a:t>.</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Example: A </a:t>
            </a:r>
            <a:r>
              <a:rPr lang="en-GB" b="1" dirty="0">
                <a:solidFill>
                  <a:schemeClr val="accent6"/>
                </a:solidFill>
              </a:rPr>
              <a:t>loan is connected with more than one customer </a:t>
            </a:r>
            <a:r>
              <a:rPr lang="en-GB" dirty="0"/>
              <a:t>using borrower and a </a:t>
            </a:r>
            <a:r>
              <a:rPr lang="en-GB" b="1" dirty="0">
                <a:solidFill>
                  <a:schemeClr val="accent6"/>
                </a:solidFill>
              </a:rPr>
              <a:t>customer is connected with only one loan</a:t>
            </a:r>
            <a:r>
              <a:rPr lang="en-GB" dirty="0"/>
              <a:t> using borrower.</a:t>
            </a:r>
          </a:p>
        </p:txBody>
      </p:sp>
      <p:sp>
        <p:nvSpPr>
          <p:cNvPr id="6" name="Oval 5"/>
          <p:cNvSpPr/>
          <p:nvPr/>
        </p:nvSpPr>
        <p:spPr>
          <a:xfrm>
            <a:off x="1238250" y="2019300"/>
            <a:ext cx="1219200" cy="19812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7" name="Rectangle 6"/>
          <p:cNvSpPr/>
          <p:nvPr/>
        </p:nvSpPr>
        <p:spPr>
          <a:xfrm>
            <a:off x="1543050" y="2324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A1</a:t>
            </a:r>
            <a:endParaRPr lang="en-IN" dirty="0"/>
          </a:p>
        </p:txBody>
      </p:sp>
      <p:sp>
        <p:nvSpPr>
          <p:cNvPr id="8" name="Rectangle 7"/>
          <p:cNvSpPr/>
          <p:nvPr/>
        </p:nvSpPr>
        <p:spPr>
          <a:xfrm>
            <a:off x="1543050" y="3086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A2</a:t>
            </a:r>
            <a:endParaRPr lang="en-IN" dirty="0"/>
          </a:p>
        </p:txBody>
      </p:sp>
      <p:sp>
        <p:nvSpPr>
          <p:cNvPr id="9" name="Oval 8"/>
          <p:cNvSpPr/>
          <p:nvPr/>
        </p:nvSpPr>
        <p:spPr>
          <a:xfrm>
            <a:off x="3067050" y="2019300"/>
            <a:ext cx="1219200" cy="19812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10" name="Rectangle 9"/>
          <p:cNvSpPr/>
          <p:nvPr/>
        </p:nvSpPr>
        <p:spPr>
          <a:xfrm>
            <a:off x="3371850" y="2324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B1</a:t>
            </a:r>
            <a:endParaRPr lang="en-IN" dirty="0"/>
          </a:p>
        </p:txBody>
      </p:sp>
      <p:sp>
        <p:nvSpPr>
          <p:cNvPr id="11" name="Rectangle 10"/>
          <p:cNvSpPr/>
          <p:nvPr/>
        </p:nvSpPr>
        <p:spPr>
          <a:xfrm>
            <a:off x="3371850" y="3086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B2</a:t>
            </a:r>
            <a:endParaRPr lang="en-IN" dirty="0"/>
          </a:p>
        </p:txBody>
      </p:sp>
      <p:cxnSp>
        <p:nvCxnSpPr>
          <p:cNvPr id="12" name="Straight Connector 11"/>
          <p:cNvCxnSpPr>
            <a:stCxn id="7" idx="3"/>
            <a:endCxn id="10" idx="1"/>
          </p:cNvCxnSpPr>
          <p:nvPr/>
        </p:nvCxnSpPr>
        <p:spPr>
          <a:xfrm>
            <a:off x="2152650" y="2628900"/>
            <a:ext cx="1219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238250" y="4000500"/>
            <a:ext cx="1219200" cy="400110"/>
          </a:xfrm>
          <a:prstGeom prst="rect">
            <a:avLst/>
          </a:prstGeom>
          <a:noFill/>
        </p:spPr>
        <p:txBody>
          <a:bodyPr wrap="square" rtlCol="0">
            <a:spAutoFit/>
          </a:bodyPr>
          <a:lstStyle/>
          <a:p>
            <a:pPr algn="ctr"/>
            <a:r>
              <a:rPr lang="en-US" sz="2000" dirty="0"/>
              <a:t>A</a:t>
            </a:r>
            <a:endParaRPr lang="en-IN" sz="2000" dirty="0"/>
          </a:p>
        </p:txBody>
      </p:sp>
      <p:sp>
        <p:nvSpPr>
          <p:cNvPr id="14" name="TextBox 13"/>
          <p:cNvSpPr txBox="1"/>
          <p:nvPr/>
        </p:nvSpPr>
        <p:spPr>
          <a:xfrm>
            <a:off x="3067050" y="4012167"/>
            <a:ext cx="1219200" cy="400110"/>
          </a:xfrm>
          <a:prstGeom prst="rect">
            <a:avLst/>
          </a:prstGeom>
          <a:noFill/>
        </p:spPr>
        <p:txBody>
          <a:bodyPr wrap="square" rtlCol="0">
            <a:spAutoFit/>
          </a:bodyPr>
          <a:lstStyle/>
          <a:p>
            <a:pPr algn="ctr"/>
            <a:r>
              <a:rPr lang="en-US" sz="2000" dirty="0"/>
              <a:t>B</a:t>
            </a:r>
            <a:endParaRPr lang="en-IN" sz="2000" dirty="0"/>
          </a:p>
        </p:txBody>
      </p:sp>
      <p:sp>
        <p:nvSpPr>
          <p:cNvPr id="15" name="Rectangle 14"/>
          <p:cNvSpPr/>
          <p:nvPr/>
        </p:nvSpPr>
        <p:spPr>
          <a:xfrm>
            <a:off x="6307720" y="2171700"/>
            <a:ext cx="12954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customer</a:t>
            </a:r>
            <a:endParaRPr lang="en-IN" dirty="0">
              <a:solidFill>
                <a:schemeClr val="tx1"/>
              </a:solidFill>
            </a:endParaRPr>
          </a:p>
        </p:txBody>
      </p:sp>
      <p:cxnSp>
        <p:nvCxnSpPr>
          <p:cNvPr id="16" name="Straight Connector 15"/>
          <p:cNvCxnSpPr>
            <a:stCxn id="8" idx="3"/>
          </p:cNvCxnSpPr>
          <p:nvPr/>
        </p:nvCxnSpPr>
        <p:spPr>
          <a:xfrm flipV="1">
            <a:off x="2152650" y="2628900"/>
            <a:ext cx="1219200" cy="762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0346320" y="2171700"/>
            <a:ext cx="6858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loan</a:t>
            </a:r>
            <a:endParaRPr lang="en-IN" dirty="0">
              <a:solidFill>
                <a:schemeClr val="tx1"/>
              </a:solidFill>
            </a:endParaRPr>
          </a:p>
        </p:txBody>
      </p:sp>
      <p:sp>
        <p:nvSpPr>
          <p:cNvPr id="18" name="Diamond 17"/>
          <p:cNvSpPr/>
          <p:nvPr/>
        </p:nvSpPr>
        <p:spPr>
          <a:xfrm>
            <a:off x="7988131" y="2095500"/>
            <a:ext cx="1977189" cy="6096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borrow</a:t>
            </a:r>
            <a:endParaRPr lang="en-IN" dirty="0">
              <a:solidFill>
                <a:schemeClr val="tx1"/>
              </a:solidFill>
            </a:endParaRPr>
          </a:p>
        </p:txBody>
      </p:sp>
      <p:sp>
        <p:nvSpPr>
          <p:cNvPr id="19" name="Rectangle 18"/>
          <p:cNvSpPr/>
          <p:nvPr/>
        </p:nvSpPr>
        <p:spPr>
          <a:xfrm>
            <a:off x="7145920" y="27813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C1</a:t>
            </a:r>
            <a:endParaRPr lang="en-IN" dirty="0"/>
          </a:p>
        </p:txBody>
      </p:sp>
      <p:sp>
        <p:nvSpPr>
          <p:cNvPr id="20" name="Rectangle 19"/>
          <p:cNvSpPr/>
          <p:nvPr/>
        </p:nvSpPr>
        <p:spPr>
          <a:xfrm>
            <a:off x="7145920" y="33147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C2</a:t>
            </a:r>
            <a:endParaRPr lang="en-IN" dirty="0"/>
          </a:p>
        </p:txBody>
      </p:sp>
      <p:sp>
        <p:nvSpPr>
          <p:cNvPr id="21" name="Rectangle 20"/>
          <p:cNvSpPr/>
          <p:nvPr/>
        </p:nvSpPr>
        <p:spPr>
          <a:xfrm>
            <a:off x="10346320" y="27813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L1</a:t>
            </a:r>
            <a:endParaRPr lang="en-IN" dirty="0"/>
          </a:p>
        </p:txBody>
      </p:sp>
      <p:sp>
        <p:nvSpPr>
          <p:cNvPr id="22" name="Rectangle 21"/>
          <p:cNvSpPr/>
          <p:nvPr/>
        </p:nvSpPr>
        <p:spPr>
          <a:xfrm>
            <a:off x="10346320" y="33147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L2</a:t>
            </a:r>
            <a:endParaRPr lang="en-IN" dirty="0"/>
          </a:p>
        </p:txBody>
      </p:sp>
      <p:sp>
        <p:nvSpPr>
          <p:cNvPr id="23" name="Rectangle 22"/>
          <p:cNvSpPr/>
          <p:nvPr/>
        </p:nvSpPr>
        <p:spPr>
          <a:xfrm>
            <a:off x="7145920" y="38481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C3</a:t>
            </a:r>
            <a:endParaRPr lang="en-IN" dirty="0"/>
          </a:p>
        </p:txBody>
      </p:sp>
      <p:sp>
        <p:nvSpPr>
          <p:cNvPr id="24" name="Rectangle 23"/>
          <p:cNvSpPr/>
          <p:nvPr/>
        </p:nvSpPr>
        <p:spPr>
          <a:xfrm>
            <a:off x="10346320" y="38481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L3</a:t>
            </a:r>
            <a:endParaRPr lang="en-IN" dirty="0"/>
          </a:p>
        </p:txBody>
      </p:sp>
      <p:cxnSp>
        <p:nvCxnSpPr>
          <p:cNvPr id="25" name="Straight Connector 24"/>
          <p:cNvCxnSpPr>
            <a:stCxn id="19" idx="3"/>
            <a:endCxn id="21" idx="1"/>
          </p:cNvCxnSpPr>
          <p:nvPr/>
        </p:nvCxnSpPr>
        <p:spPr>
          <a:xfrm>
            <a:off x="7577920" y="2979300"/>
            <a:ext cx="2768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20" idx="3"/>
            <a:endCxn id="21" idx="1"/>
          </p:cNvCxnSpPr>
          <p:nvPr/>
        </p:nvCxnSpPr>
        <p:spPr>
          <a:xfrm flipV="1">
            <a:off x="7577920" y="2979300"/>
            <a:ext cx="2768400"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23" idx="3"/>
            <a:endCxn id="22" idx="1"/>
          </p:cNvCxnSpPr>
          <p:nvPr/>
        </p:nvCxnSpPr>
        <p:spPr>
          <a:xfrm flipV="1">
            <a:off x="7577920" y="3512700"/>
            <a:ext cx="2768400"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9965320" y="2400300"/>
            <a:ext cx="381000" cy="0"/>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7145920" y="4386629"/>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C4</a:t>
            </a:r>
            <a:endParaRPr lang="en-IN" dirty="0"/>
          </a:p>
        </p:txBody>
      </p:sp>
      <p:cxnSp>
        <p:nvCxnSpPr>
          <p:cNvPr id="32" name="Straight Connector 31"/>
          <p:cNvCxnSpPr>
            <a:stCxn id="30" idx="3"/>
            <a:endCxn id="22" idx="1"/>
          </p:cNvCxnSpPr>
          <p:nvPr/>
        </p:nvCxnSpPr>
        <p:spPr>
          <a:xfrm flipV="1">
            <a:off x="7577920" y="3512700"/>
            <a:ext cx="2768400" cy="107192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7607229" y="2400300"/>
            <a:ext cx="385011"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134899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500"/>
                                        <p:tgtEl>
                                          <p:spTgt spid="30"/>
                                        </p:tgtEl>
                                      </p:cBhvr>
                                    </p:animEffect>
                                  </p:childTnLst>
                                </p:cTn>
                              </p:par>
                              <p:par>
                                <p:cTn id="79" presetID="10" presetClass="entr" presetSubtype="0"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par>
                                <p:cTn id="82" presetID="10" presetClass="entr" presetSubtype="0" fill="hold" nodeType="withEffect">
                                  <p:stCondLst>
                                    <p:cond delay="0"/>
                                  </p:stCondLst>
                                  <p:childTnLst>
                                    <p:set>
                                      <p:cBhvr>
                                        <p:cTn id="83" dur="1" fill="hold">
                                          <p:stCondLst>
                                            <p:cond delay="0"/>
                                          </p:stCondLst>
                                        </p:cTn>
                                        <p:tgtEl>
                                          <p:spTgt spid="42"/>
                                        </p:tgtEl>
                                        <p:attrNameLst>
                                          <p:attrName>style.visibility</p:attrName>
                                        </p:attrNameLst>
                                      </p:cBhvr>
                                      <p:to>
                                        <p:strVal val="visible"/>
                                      </p:to>
                                    </p:set>
                                    <p:animEffect transition="in" filter="fade">
                                      <p:cBhvr>
                                        <p:cTn id="84" dur="500"/>
                                        <p:tgtEl>
                                          <p:spTgt spid="42"/>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500"/>
                                        <p:tgtEl>
                                          <p:spTgt spid="32"/>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5">
                                            <p:txEl>
                                              <p:pRg st="9" end="9"/>
                                            </p:txEl>
                                          </p:spTgt>
                                        </p:tgtEl>
                                        <p:attrNameLst>
                                          <p:attrName>style.visibility</p:attrName>
                                        </p:attrNameLst>
                                      </p:cBhvr>
                                      <p:to>
                                        <p:strVal val="visible"/>
                                      </p:to>
                                    </p:set>
                                    <p:animEffect transition="in" filter="fade">
                                      <p:cBhvr>
                                        <p:cTn id="92"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p:bldP spid="14" grpId="0"/>
      <p:bldP spid="15" grpId="0" animBg="1"/>
      <p:bldP spid="17" grpId="0" animBg="1"/>
      <p:bldP spid="18" grpId="0" animBg="1"/>
      <p:bldP spid="19" grpId="0" animBg="1"/>
      <p:bldP spid="20" grpId="0" animBg="1"/>
      <p:bldP spid="21" grpId="0" animBg="1"/>
      <p:bldP spid="22" grpId="0" animBg="1"/>
      <p:bldP spid="23" grpId="0" animBg="1"/>
      <p:bldP spid="24" grpId="0" animBg="1"/>
      <p:bldP spid="3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Many-to-Many relationship (N – N)</a:t>
            </a:r>
          </a:p>
        </p:txBody>
      </p:sp>
      <p:sp>
        <p:nvSpPr>
          <p:cNvPr id="5" name="Content Placeholder 4"/>
          <p:cNvSpPr>
            <a:spLocks noGrp="1"/>
          </p:cNvSpPr>
          <p:nvPr>
            <p:ph idx="1"/>
          </p:nvPr>
        </p:nvSpPr>
        <p:spPr/>
        <p:txBody>
          <a:bodyPr/>
          <a:lstStyle/>
          <a:p>
            <a:r>
              <a:rPr lang="en-GB" dirty="0"/>
              <a:t>An entity in </a:t>
            </a:r>
            <a:r>
              <a:rPr lang="en-GB" b="1" dirty="0">
                <a:solidFill>
                  <a:schemeClr val="accent6"/>
                </a:solidFill>
              </a:rPr>
              <a:t>A is associated with more than one entities in B</a:t>
            </a:r>
            <a:r>
              <a:rPr lang="en-GB" dirty="0"/>
              <a:t> and an entity in </a:t>
            </a:r>
            <a:r>
              <a:rPr lang="en-GB" b="1" dirty="0">
                <a:solidFill>
                  <a:schemeClr val="accent6"/>
                </a:solidFill>
              </a:rPr>
              <a:t>B is associated with more than one entities in A</a:t>
            </a:r>
            <a:r>
              <a:rPr lang="en-GB" dirty="0"/>
              <a:t>.</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Example: A </a:t>
            </a:r>
            <a:r>
              <a:rPr lang="en-GB" b="1" dirty="0">
                <a:solidFill>
                  <a:schemeClr val="accent6"/>
                </a:solidFill>
              </a:rPr>
              <a:t>customer is connected with more than one loan </a:t>
            </a:r>
            <a:r>
              <a:rPr lang="en-GB" dirty="0"/>
              <a:t>using borrower and a </a:t>
            </a:r>
            <a:r>
              <a:rPr lang="en-GB" b="1" dirty="0">
                <a:solidFill>
                  <a:schemeClr val="accent6"/>
                </a:solidFill>
              </a:rPr>
              <a:t>loan is connected with more than one customer</a:t>
            </a:r>
            <a:r>
              <a:rPr lang="en-GB" dirty="0"/>
              <a:t> using borrower.</a:t>
            </a:r>
          </a:p>
        </p:txBody>
      </p:sp>
      <p:sp>
        <p:nvSpPr>
          <p:cNvPr id="6" name="Oval 5"/>
          <p:cNvSpPr/>
          <p:nvPr/>
        </p:nvSpPr>
        <p:spPr>
          <a:xfrm>
            <a:off x="1238250" y="2019300"/>
            <a:ext cx="1219200" cy="19812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7" name="Rectangle 6"/>
          <p:cNvSpPr/>
          <p:nvPr/>
        </p:nvSpPr>
        <p:spPr>
          <a:xfrm>
            <a:off x="1543050" y="2324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A1</a:t>
            </a:r>
            <a:endParaRPr lang="en-IN" dirty="0"/>
          </a:p>
        </p:txBody>
      </p:sp>
      <p:sp>
        <p:nvSpPr>
          <p:cNvPr id="8" name="Rectangle 7"/>
          <p:cNvSpPr/>
          <p:nvPr/>
        </p:nvSpPr>
        <p:spPr>
          <a:xfrm>
            <a:off x="1543050" y="3086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A2</a:t>
            </a:r>
            <a:endParaRPr lang="en-IN" dirty="0"/>
          </a:p>
        </p:txBody>
      </p:sp>
      <p:sp>
        <p:nvSpPr>
          <p:cNvPr id="9" name="Oval 8"/>
          <p:cNvSpPr/>
          <p:nvPr/>
        </p:nvSpPr>
        <p:spPr>
          <a:xfrm>
            <a:off x="3067050" y="2019300"/>
            <a:ext cx="1219200" cy="1981200"/>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10" name="Rectangle 9"/>
          <p:cNvSpPr/>
          <p:nvPr/>
        </p:nvSpPr>
        <p:spPr>
          <a:xfrm>
            <a:off x="3371850" y="2324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B1</a:t>
            </a:r>
            <a:endParaRPr lang="en-IN" dirty="0"/>
          </a:p>
        </p:txBody>
      </p:sp>
      <p:sp>
        <p:nvSpPr>
          <p:cNvPr id="11" name="Rectangle 10"/>
          <p:cNvSpPr/>
          <p:nvPr/>
        </p:nvSpPr>
        <p:spPr>
          <a:xfrm>
            <a:off x="3371850" y="3086100"/>
            <a:ext cx="609600" cy="609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B2</a:t>
            </a:r>
            <a:endParaRPr lang="en-IN" dirty="0"/>
          </a:p>
        </p:txBody>
      </p:sp>
      <p:cxnSp>
        <p:nvCxnSpPr>
          <p:cNvPr id="12" name="Straight Connector 11"/>
          <p:cNvCxnSpPr>
            <a:stCxn id="7" idx="3"/>
            <a:endCxn id="10" idx="1"/>
          </p:cNvCxnSpPr>
          <p:nvPr/>
        </p:nvCxnSpPr>
        <p:spPr>
          <a:xfrm>
            <a:off x="2152650" y="2628900"/>
            <a:ext cx="1219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238250" y="4000500"/>
            <a:ext cx="1219200" cy="400110"/>
          </a:xfrm>
          <a:prstGeom prst="rect">
            <a:avLst/>
          </a:prstGeom>
          <a:noFill/>
        </p:spPr>
        <p:txBody>
          <a:bodyPr wrap="square" rtlCol="0">
            <a:spAutoFit/>
          </a:bodyPr>
          <a:lstStyle/>
          <a:p>
            <a:pPr algn="ctr"/>
            <a:r>
              <a:rPr lang="en-US" sz="2000" dirty="0"/>
              <a:t>A</a:t>
            </a:r>
            <a:endParaRPr lang="en-IN" sz="2000" dirty="0"/>
          </a:p>
        </p:txBody>
      </p:sp>
      <p:sp>
        <p:nvSpPr>
          <p:cNvPr id="14" name="TextBox 13"/>
          <p:cNvSpPr txBox="1"/>
          <p:nvPr/>
        </p:nvSpPr>
        <p:spPr>
          <a:xfrm>
            <a:off x="3067050" y="4012167"/>
            <a:ext cx="1219200" cy="400110"/>
          </a:xfrm>
          <a:prstGeom prst="rect">
            <a:avLst/>
          </a:prstGeom>
          <a:noFill/>
        </p:spPr>
        <p:txBody>
          <a:bodyPr wrap="square" rtlCol="0">
            <a:spAutoFit/>
          </a:bodyPr>
          <a:lstStyle/>
          <a:p>
            <a:pPr algn="ctr"/>
            <a:r>
              <a:rPr lang="en-US" sz="2000" dirty="0"/>
              <a:t>B</a:t>
            </a:r>
            <a:endParaRPr lang="en-IN" sz="2000" dirty="0"/>
          </a:p>
        </p:txBody>
      </p:sp>
      <p:sp>
        <p:nvSpPr>
          <p:cNvPr id="15" name="Rectangle 14"/>
          <p:cNvSpPr/>
          <p:nvPr/>
        </p:nvSpPr>
        <p:spPr>
          <a:xfrm>
            <a:off x="6307720" y="2171700"/>
            <a:ext cx="12954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customer</a:t>
            </a:r>
            <a:endParaRPr lang="en-IN" dirty="0">
              <a:solidFill>
                <a:schemeClr val="tx1"/>
              </a:solidFill>
            </a:endParaRPr>
          </a:p>
        </p:txBody>
      </p:sp>
      <p:cxnSp>
        <p:nvCxnSpPr>
          <p:cNvPr id="16" name="Straight Connector 15"/>
          <p:cNvCxnSpPr>
            <a:stCxn id="8" idx="3"/>
          </p:cNvCxnSpPr>
          <p:nvPr/>
        </p:nvCxnSpPr>
        <p:spPr>
          <a:xfrm flipV="1">
            <a:off x="2152650" y="2628900"/>
            <a:ext cx="1219200" cy="7620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0346320" y="2171700"/>
            <a:ext cx="6858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loan</a:t>
            </a:r>
            <a:endParaRPr lang="en-IN" dirty="0">
              <a:solidFill>
                <a:schemeClr val="tx1"/>
              </a:solidFill>
            </a:endParaRPr>
          </a:p>
        </p:txBody>
      </p:sp>
      <p:sp>
        <p:nvSpPr>
          <p:cNvPr id="18" name="Diamond 17"/>
          <p:cNvSpPr/>
          <p:nvPr/>
        </p:nvSpPr>
        <p:spPr>
          <a:xfrm>
            <a:off x="7988131" y="2095500"/>
            <a:ext cx="1977189" cy="6096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borrow</a:t>
            </a:r>
            <a:endParaRPr lang="en-IN" dirty="0">
              <a:solidFill>
                <a:schemeClr val="tx1"/>
              </a:solidFill>
            </a:endParaRPr>
          </a:p>
        </p:txBody>
      </p:sp>
      <p:sp>
        <p:nvSpPr>
          <p:cNvPr id="19" name="Rectangle 18"/>
          <p:cNvSpPr/>
          <p:nvPr/>
        </p:nvSpPr>
        <p:spPr>
          <a:xfrm>
            <a:off x="7145920" y="27813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C1</a:t>
            </a:r>
            <a:endParaRPr lang="en-IN" dirty="0"/>
          </a:p>
        </p:txBody>
      </p:sp>
      <p:sp>
        <p:nvSpPr>
          <p:cNvPr id="20" name="Rectangle 19"/>
          <p:cNvSpPr/>
          <p:nvPr/>
        </p:nvSpPr>
        <p:spPr>
          <a:xfrm>
            <a:off x="7145920" y="33147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C2</a:t>
            </a:r>
            <a:endParaRPr lang="en-IN" dirty="0"/>
          </a:p>
        </p:txBody>
      </p:sp>
      <p:sp>
        <p:nvSpPr>
          <p:cNvPr id="21" name="Rectangle 20"/>
          <p:cNvSpPr/>
          <p:nvPr/>
        </p:nvSpPr>
        <p:spPr>
          <a:xfrm>
            <a:off x="10346320" y="27813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L1</a:t>
            </a:r>
            <a:endParaRPr lang="en-IN" dirty="0"/>
          </a:p>
        </p:txBody>
      </p:sp>
      <p:sp>
        <p:nvSpPr>
          <p:cNvPr id="22" name="Rectangle 21"/>
          <p:cNvSpPr/>
          <p:nvPr/>
        </p:nvSpPr>
        <p:spPr>
          <a:xfrm>
            <a:off x="10346320" y="33147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L2</a:t>
            </a:r>
            <a:endParaRPr lang="en-IN" dirty="0"/>
          </a:p>
        </p:txBody>
      </p:sp>
      <p:sp>
        <p:nvSpPr>
          <p:cNvPr id="23" name="Rectangle 22"/>
          <p:cNvSpPr/>
          <p:nvPr/>
        </p:nvSpPr>
        <p:spPr>
          <a:xfrm>
            <a:off x="7145920" y="38481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C3</a:t>
            </a:r>
            <a:endParaRPr lang="en-IN" dirty="0"/>
          </a:p>
        </p:txBody>
      </p:sp>
      <p:sp>
        <p:nvSpPr>
          <p:cNvPr id="24" name="Rectangle 23"/>
          <p:cNvSpPr/>
          <p:nvPr/>
        </p:nvSpPr>
        <p:spPr>
          <a:xfrm>
            <a:off x="10346320" y="3848100"/>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L3</a:t>
            </a:r>
            <a:endParaRPr lang="en-IN" dirty="0"/>
          </a:p>
        </p:txBody>
      </p:sp>
      <p:cxnSp>
        <p:nvCxnSpPr>
          <p:cNvPr id="25" name="Straight Connector 24"/>
          <p:cNvCxnSpPr>
            <a:stCxn id="19" idx="3"/>
            <a:endCxn id="21" idx="1"/>
          </p:cNvCxnSpPr>
          <p:nvPr/>
        </p:nvCxnSpPr>
        <p:spPr>
          <a:xfrm>
            <a:off x="7577920" y="2979300"/>
            <a:ext cx="2768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20" idx="3"/>
            <a:endCxn id="21" idx="1"/>
          </p:cNvCxnSpPr>
          <p:nvPr/>
        </p:nvCxnSpPr>
        <p:spPr>
          <a:xfrm flipV="1">
            <a:off x="7577920" y="2979300"/>
            <a:ext cx="2768400"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23" idx="3"/>
            <a:endCxn id="22" idx="1"/>
          </p:cNvCxnSpPr>
          <p:nvPr/>
        </p:nvCxnSpPr>
        <p:spPr>
          <a:xfrm flipV="1">
            <a:off x="7577920" y="3512700"/>
            <a:ext cx="2768400" cy="5334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7145920" y="4386629"/>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C4</a:t>
            </a:r>
            <a:endParaRPr lang="en-IN" dirty="0"/>
          </a:p>
        </p:txBody>
      </p:sp>
      <p:cxnSp>
        <p:nvCxnSpPr>
          <p:cNvPr id="32" name="Straight Connector 31"/>
          <p:cNvCxnSpPr>
            <a:stCxn id="30" idx="3"/>
            <a:endCxn id="24" idx="1"/>
          </p:cNvCxnSpPr>
          <p:nvPr/>
        </p:nvCxnSpPr>
        <p:spPr>
          <a:xfrm flipV="1">
            <a:off x="7577920" y="4046100"/>
            <a:ext cx="2768400" cy="53852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7607229" y="2400300"/>
            <a:ext cx="385011"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p:cNvCxnSpPr/>
          <p:nvPr/>
        </p:nvCxnSpPr>
        <p:spPr>
          <a:xfrm>
            <a:off x="2152650" y="3390900"/>
            <a:ext cx="1219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7" idx="3"/>
            <a:endCxn id="11" idx="1"/>
          </p:cNvCxnSpPr>
          <p:nvPr/>
        </p:nvCxnSpPr>
        <p:spPr>
          <a:xfrm>
            <a:off x="2152650" y="2628900"/>
            <a:ext cx="1219200" cy="762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9965320" y="2400048"/>
            <a:ext cx="385011"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p:cNvCxnSpPr>
            <a:stCxn id="19" idx="3"/>
            <a:endCxn id="22" idx="1"/>
          </p:cNvCxnSpPr>
          <p:nvPr/>
        </p:nvCxnSpPr>
        <p:spPr>
          <a:xfrm>
            <a:off x="7577920" y="2979300"/>
            <a:ext cx="2768400" cy="5334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10346320" y="4381499"/>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L4</a:t>
            </a:r>
            <a:endParaRPr lang="en-IN" dirty="0"/>
          </a:p>
        </p:txBody>
      </p:sp>
      <p:cxnSp>
        <p:nvCxnSpPr>
          <p:cNvPr id="39" name="Straight Connector 38"/>
          <p:cNvCxnSpPr>
            <a:stCxn id="20" idx="3"/>
          </p:cNvCxnSpPr>
          <p:nvPr/>
        </p:nvCxnSpPr>
        <p:spPr>
          <a:xfrm>
            <a:off x="7577920" y="3512700"/>
            <a:ext cx="2768400" cy="53339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7577920" y="4046099"/>
            <a:ext cx="2768400" cy="5334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7577920" y="4588171"/>
            <a:ext cx="27684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692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500"/>
                                        <p:tgtEl>
                                          <p:spTgt spid="31"/>
                                        </p:tgtEl>
                                      </p:cBhvr>
                                    </p:animEffect>
                                  </p:childTnLst>
                                </p:cTn>
                              </p:par>
                              <p:par>
                                <p:cTn id="41" presetID="10"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500"/>
                                        <p:tgtEl>
                                          <p:spTgt spid="1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500"/>
                                        <p:tgtEl>
                                          <p:spTgt spid="42"/>
                                        </p:tgtEl>
                                      </p:cBhvr>
                                    </p:animEffect>
                                  </p:childTnLst>
                                </p:cTn>
                              </p:par>
                              <p:par>
                                <p:cTn id="88" presetID="10" presetClass="entr" presetSubtype="0" fill="hold"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par>
                                <p:cTn id="91" presetID="10"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500"/>
                                        <p:tgtEl>
                                          <p:spTgt spid="34"/>
                                        </p:tgtEl>
                                      </p:cBhvr>
                                    </p:animEffect>
                                  </p:childTnLst>
                                </p:cTn>
                              </p:par>
                              <p:par>
                                <p:cTn id="94" presetID="10" presetClass="entr" presetSubtype="0" fill="hold"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500"/>
                                        <p:tgtEl>
                                          <p:spTgt spid="3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fade">
                                      <p:cBhvr>
                                        <p:cTn id="99" dur="500"/>
                                        <p:tgtEl>
                                          <p:spTgt spid="38"/>
                                        </p:tgtEl>
                                      </p:cBhvr>
                                    </p:animEffect>
                                  </p:childTnLst>
                                </p:cTn>
                              </p:par>
                              <p:par>
                                <p:cTn id="100" presetID="10" presetClass="entr" presetSubtype="0" fill="hold" nodeType="withEffect">
                                  <p:stCondLst>
                                    <p:cond delay="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2" dur="500"/>
                                        <p:tgtEl>
                                          <p:spTgt spid="39"/>
                                        </p:tgtEl>
                                      </p:cBhvr>
                                    </p:animEffect>
                                  </p:childTnLst>
                                </p:cTn>
                              </p:par>
                              <p:par>
                                <p:cTn id="103" presetID="10" presetClass="entr" presetSubtype="0" fill="hold" nodeType="withEffect">
                                  <p:stCondLst>
                                    <p:cond delay="0"/>
                                  </p:stCondLst>
                                  <p:childTnLst>
                                    <p:set>
                                      <p:cBhvr>
                                        <p:cTn id="104" dur="1" fill="hold">
                                          <p:stCondLst>
                                            <p:cond delay="0"/>
                                          </p:stCondLst>
                                        </p:cTn>
                                        <p:tgtEl>
                                          <p:spTgt spid="41"/>
                                        </p:tgtEl>
                                        <p:attrNameLst>
                                          <p:attrName>style.visibility</p:attrName>
                                        </p:attrNameLst>
                                      </p:cBhvr>
                                      <p:to>
                                        <p:strVal val="visible"/>
                                      </p:to>
                                    </p:set>
                                    <p:animEffect transition="in" filter="fade">
                                      <p:cBhvr>
                                        <p:cTn id="105" dur="500"/>
                                        <p:tgtEl>
                                          <p:spTgt spid="41"/>
                                        </p:tgtEl>
                                      </p:cBhvr>
                                    </p:animEffect>
                                  </p:childTnLst>
                                </p:cTn>
                              </p:par>
                              <p:par>
                                <p:cTn id="106" presetID="10" presetClass="entr" presetSubtype="0" fill="hold" nodeType="with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fade">
                                      <p:cBhvr>
                                        <p:cTn id="108" dur="500"/>
                                        <p:tgtEl>
                                          <p:spTgt spid="43"/>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nodeType="clickEffect">
                                  <p:stCondLst>
                                    <p:cond delay="0"/>
                                  </p:stCondLst>
                                  <p:childTnLst>
                                    <p:set>
                                      <p:cBhvr>
                                        <p:cTn id="112" dur="1" fill="hold">
                                          <p:stCondLst>
                                            <p:cond delay="0"/>
                                          </p:stCondLst>
                                        </p:cTn>
                                        <p:tgtEl>
                                          <p:spTgt spid="5">
                                            <p:txEl>
                                              <p:pRg st="9" end="9"/>
                                            </p:txEl>
                                          </p:spTgt>
                                        </p:tgtEl>
                                        <p:attrNameLst>
                                          <p:attrName>style.visibility</p:attrName>
                                        </p:attrNameLst>
                                      </p:cBhvr>
                                      <p:to>
                                        <p:strVal val="visible"/>
                                      </p:to>
                                    </p:set>
                                    <p:animEffect transition="in" filter="fade">
                                      <p:cBhvr>
                                        <p:cTn id="113"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p:bldP spid="14" grpId="0"/>
      <p:bldP spid="15" grpId="0" animBg="1"/>
      <p:bldP spid="17" grpId="0" animBg="1"/>
      <p:bldP spid="18" grpId="0" animBg="1"/>
      <p:bldP spid="19" grpId="0" animBg="1"/>
      <p:bldP spid="20" grpId="0" animBg="1"/>
      <p:bldP spid="21" grpId="0" animBg="1"/>
      <p:bldP spid="22" grpId="0" animBg="1"/>
      <p:bldP spid="23" grpId="0" animBg="1"/>
      <p:bldP spid="24" grpId="0" animBg="1"/>
      <p:bldP spid="30" grpId="0" animBg="1"/>
      <p:bldP spid="3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Mapping Cardinality (Cardinality Constraints) </a:t>
            </a:r>
            <a:r>
              <a:rPr lang="en-GB" dirty="0">
                <a:solidFill>
                  <a:schemeClr val="tx1">
                    <a:lumMod val="50000"/>
                    <a:lumOff val="50000"/>
                  </a:schemeClr>
                </a:solidFill>
              </a:rPr>
              <a:t>[Exercise]</a:t>
            </a:r>
          </a:p>
        </p:txBody>
      </p:sp>
      <p:sp>
        <p:nvSpPr>
          <p:cNvPr id="5" name="Content Placeholder 4"/>
          <p:cNvSpPr>
            <a:spLocks noGrp="1"/>
          </p:cNvSpPr>
          <p:nvPr>
            <p:ph idx="1"/>
          </p:nvPr>
        </p:nvSpPr>
        <p:spPr/>
        <p:txBody>
          <a:bodyPr/>
          <a:lstStyle/>
          <a:p>
            <a:r>
              <a:rPr lang="en-GB" dirty="0"/>
              <a:t>Draw an E-R diagram and specify which type of mapping cardinality will be there in the following examples:</a:t>
            </a:r>
          </a:p>
          <a:p>
            <a:pPr lvl="1"/>
            <a:r>
              <a:rPr lang="en-GB" dirty="0"/>
              <a:t>Each customer has only one account in the bank and each account is held by only one customer. [single account]</a:t>
            </a:r>
          </a:p>
          <a:p>
            <a:pPr lvl="1"/>
            <a:r>
              <a:rPr lang="en-GB" dirty="0"/>
              <a:t>Each customer has only one account in the bank but an account can be held by more than one customer. [joint account]</a:t>
            </a:r>
          </a:p>
          <a:p>
            <a:pPr lvl="1"/>
            <a:r>
              <a:rPr lang="en-GB" dirty="0"/>
              <a:t>A customer may have more than one account in the bank but each account is held by only one customer. [multiple accounts]</a:t>
            </a:r>
          </a:p>
          <a:p>
            <a:pPr lvl="1"/>
            <a:r>
              <a:rPr lang="en-GB" dirty="0"/>
              <a:t>A customer may have more than one account in the bank and each account is held by more than one customer. [join account as well as multiple accounts]</a:t>
            </a:r>
          </a:p>
          <a:p>
            <a:pPr lvl="1"/>
            <a:r>
              <a:rPr lang="en-US" dirty="0"/>
              <a:t>A student can work in more than one project and a project can be done by more than one student.</a:t>
            </a:r>
          </a:p>
          <a:p>
            <a:pPr lvl="1"/>
            <a:r>
              <a:rPr lang="en-US" dirty="0"/>
              <a:t>A student can issue more than one book but a book is issued to only one student.</a:t>
            </a:r>
            <a:endParaRPr lang="en-GB" dirty="0"/>
          </a:p>
          <a:p>
            <a:pPr lvl="1"/>
            <a:r>
              <a:rPr lang="en-US" dirty="0"/>
              <a:t>A subject is taught by more than one faculty and a faculty can teach more than one subject.</a:t>
            </a:r>
            <a:endParaRPr lang="en-GB" dirty="0"/>
          </a:p>
        </p:txBody>
      </p:sp>
    </p:spTree>
    <p:extLst>
      <p:ext uri="{BB962C8B-B14F-4D97-AF65-F5344CB8AC3E}">
        <p14:creationId xmlns:p14="http://schemas.microsoft.com/office/powerpoint/2010/main" val="239353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Participation Constraints</a:t>
            </a:r>
          </a:p>
        </p:txBody>
      </p:sp>
      <p:sp>
        <p:nvSpPr>
          <p:cNvPr id="5" name="Text Placeholder 4"/>
          <p:cNvSpPr>
            <a:spLocks noGrp="1"/>
          </p:cNvSpPr>
          <p:nvPr>
            <p:ph type="body" idx="1"/>
          </p:nvPr>
        </p:nvSpPr>
        <p:spPr/>
        <p:txBody>
          <a:bodyPr/>
          <a:lstStyle/>
          <a:p>
            <a:r>
              <a:rPr lang="en-US" dirty="0"/>
              <a:t>Section - 4</a:t>
            </a:r>
          </a:p>
          <a:p>
            <a:endParaRPr lang="en-US" dirty="0"/>
          </a:p>
        </p:txBody>
      </p:sp>
    </p:spTree>
    <p:extLst>
      <p:ext uri="{BB962C8B-B14F-4D97-AF65-F5344CB8AC3E}">
        <p14:creationId xmlns:p14="http://schemas.microsoft.com/office/powerpoint/2010/main" val="32563871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ular Callout 19"/>
          <p:cNvSpPr/>
          <p:nvPr/>
        </p:nvSpPr>
        <p:spPr>
          <a:xfrm>
            <a:off x="6583309" y="2478322"/>
            <a:ext cx="5400000" cy="1440000"/>
          </a:xfrm>
          <a:prstGeom prst="wedgeRoundRectCallout">
            <a:avLst>
              <a:gd name="adj1" fmla="val -33981"/>
              <a:gd name="adj2" fmla="val 95347"/>
              <a:gd name="adj3" fmla="val 16667"/>
            </a:avLst>
          </a:prstGeom>
          <a:solidFill>
            <a:schemeClr val="accent6">
              <a:lumMod val="20000"/>
              <a:lumOff val="80000"/>
            </a:schemeClr>
          </a:solidFill>
          <a:ln>
            <a:solidFill>
              <a:schemeClr val="accent6"/>
            </a:solidFill>
          </a:ln>
        </p:spPr>
        <p:txBody>
          <a:bodyPr vert="horz" wrap="square" lIns="91440" tIns="45720" rIns="91440" bIns="45720" numCol="1" anchor="ctr" anchorCtr="0" compatLnSpc="1">
            <a:prstTxWarp prst="textNoShape">
              <a:avLst/>
            </a:prstTxWarp>
          </a:bodyPr>
          <a:lstStyle/>
          <a:p>
            <a:r>
              <a:rPr lang="en-IN" b="1" dirty="0">
                <a:solidFill>
                  <a:schemeClr val="accent6"/>
                </a:solidFill>
              </a:rPr>
              <a:t>Total participation</a:t>
            </a:r>
          </a:p>
          <a:p>
            <a:pPr marL="285750" indent="-285750">
              <a:buFont typeface="Arial" panose="020B0604020202020204" pitchFamily="34" charset="0"/>
              <a:buChar char="•"/>
            </a:pPr>
            <a:r>
              <a:rPr lang="en-IN" dirty="0">
                <a:solidFill>
                  <a:schemeClr val="tx1"/>
                </a:solidFill>
              </a:rPr>
              <a:t>every entity in the entity set participates in at least one relationship in the relationship set.</a:t>
            </a:r>
          </a:p>
          <a:p>
            <a:pPr marL="285750" indent="-285750">
              <a:buFont typeface="Arial" panose="020B0604020202020204" pitchFamily="34" charset="0"/>
              <a:buChar char="•"/>
            </a:pPr>
            <a:r>
              <a:rPr lang="en-IN" dirty="0">
                <a:solidFill>
                  <a:schemeClr val="tx1"/>
                </a:solidFill>
              </a:rPr>
              <a:t>indicated by </a:t>
            </a:r>
            <a:r>
              <a:rPr lang="en-IN" dirty="0">
                <a:solidFill>
                  <a:schemeClr val="accent6"/>
                </a:solidFill>
              </a:rPr>
              <a:t>double line</a:t>
            </a:r>
          </a:p>
        </p:txBody>
      </p:sp>
      <p:sp>
        <p:nvSpPr>
          <p:cNvPr id="21" name="Rounded Rectangular Callout 20"/>
          <p:cNvSpPr/>
          <p:nvPr/>
        </p:nvSpPr>
        <p:spPr>
          <a:xfrm>
            <a:off x="626806" y="2462722"/>
            <a:ext cx="5400000" cy="1440000"/>
          </a:xfrm>
          <a:prstGeom prst="wedgeRoundRectCallout">
            <a:avLst>
              <a:gd name="adj1" fmla="val 34452"/>
              <a:gd name="adj2" fmla="val 99857"/>
              <a:gd name="adj3" fmla="val 16667"/>
            </a:avLst>
          </a:prstGeom>
          <a:solidFill>
            <a:schemeClr val="accent6">
              <a:lumMod val="20000"/>
              <a:lumOff val="80000"/>
            </a:schemeClr>
          </a:solidFill>
          <a:ln>
            <a:solidFill>
              <a:schemeClr val="accent6"/>
            </a:solidFill>
          </a:ln>
        </p:spPr>
        <p:txBody>
          <a:bodyPr vert="horz" wrap="square" lIns="91440" tIns="45720" rIns="91440" bIns="45720" numCol="1" anchor="ctr" anchorCtr="0" compatLnSpc="1">
            <a:prstTxWarp prst="textNoShape">
              <a:avLst/>
            </a:prstTxWarp>
          </a:bodyPr>
          <a:lstStyle/>
          <a:p>
            <a:r>
              <a:rPr lang="en-IN" b="1" dirty="0">
                <a:solidFill>
                  <a:schemeClr val="accent6"/>
                </a:solidFill>
              </a:rPr>
              <a:t>Partial participation</a:t>
            </a:r>
          </a:p>
          <a:p>
            <a:pPr marL="285750" indent="-285750">
              <a:buFont typeface="Arial" panose="020B0604020202020204" pitchFamily="34" charset="0"/>
              <a:buChar char="•"/>
            </a:pPr>
            <a:r>
              <a:rPr lang="en-IN" dirty="0">
                <a:solidFill>
                  <a:schemeClr val="tx1"/>
                </a:solidFill>
              </a:rPr>
              <a:t>some entities in the entity set may not participate in any relationship in the relationship set.</a:t>
            </a:r>
          </a:p>
          <a:p>
            <a:pPr marL="285750" indent="-285750">
              <a:buFont typeface="Arial" panose="020B0604020202020204" pitchFamily="34" charset="0"/>
              <a:buChar char="•"/>
            </a:pPr>
            <a:r>
              <a:rPr lang="en-IN" dirty="0">
                <a:solidFill>
                  <a:schemeClr val="tx1"/>
                </a:solidFill>
              </a:rPr>
              <a:t>indicated by </a:t>
            </a:r>
            <a:r>
              <a:rPr lang="en-IN" dirty="0">
                <a:solidFill>
                  <a:schemeClr val="accent6"/>
                </a:solidFill>
              </a:rPr>
              <a:t>single line</a:t>
            </a:r>
          </a:p>
        </p:txBody>
      </p:sp>
      <p:sp>
        <p:nvSpPr>
          <p:cNvPr id="4" name="Title 3"/>
          <p:cNvSpPr>
            <a:spLocks noGrp="1"/>
          </p:cNvSpPr>
          <p:nvPr>
            <p:ph type="title"/>
          </p:nvPr>
        </p:nvSpPr>
        <p:spPr/>
        <p:txBody>
          <a:bodyPr/>
          <a:lstStyle/>
          <a:p>
            <a:r>
              <a:rPr lang="en-GB" dirty="0"/>
              <a:t>Participation Constraints</a:t>
            </a:r>
          </a:p>
        </p:txBody>
      </p:sp>
      <p:sp>
        <p:nvSpPr>
          <p:cNvPr id="5" name="Content Placeholder 4"/>
          <p:cNvSpPr>
            <a:spLocks noGrp="1"/>
          </p:cNvSpPr>
          <p:nvPr>
            <p:ph idx="1"/>
          </p:nvPr>
        </p:nvSpPr>
        <p:spPr/>
        <p:txBody>
          <a:bodyPr/>
          <a:lstStyle/>
          <a:p>
            <a:r>
              <a:rPr lang="en-GB" dirty="0"/>
              <a:t>It specifies the </a:t>
            </a:r>
            <a:r>
              <a:rPr lang="en-GB" b="1" dirty="0">
                <a:solidFill>
                  <a:schemeClr val="accent6"/>
                </a:solidFill>
              </a:rPr>
              <a:t>participation of an entity set </a:t>
            </a:r>
            <a:r>
              <a:rPr lang="en-GB" dirty="0"/>
              <a:t>in a relationship set.</a:t>
            </a:r>
          </a:p>
          <a:p>
            <a:r>
              <a:rPr lang="en-GB" dirty="0"/>
              <a:t>There are two types participation constraints</a:t>
            </a:r>
          </a:p>
          <a:p>
            <a:pPr lvl="1"/>
            <a:r>
              <a:rPr lang="en-GB" dirty="0"/>
              <a:t>Total participation</a:t>
            </a:r>
          </a:p>
          <a:p>
            <a:pPr lvl="1"/>
            <a:r>
              <a:rPr lang="en-GB" dirty="0"/>
              <a:t>Partial participation</a:t>
            </a:r>
          </a:p>
        </p:txBody>
      </p:sp>
      <p:sp>
        <p:nvSpPr>
          <p:cNvPr id="6" name="Rectangle 5"/>
          <p:cNvSpPr/>
          <p:nvPr/>
        </p:nvSpPr>
        <p:spPr>
          <a:xfrm>
            <a:off x="3637927" y="4411357"/>
            <a:ext cx="12954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customer</a:t>
            </a:r>
            <a:endParaRPr lang="en-IN" dirty="0">
              <a:solidFill>
                <a:schemeClr val="tx1"/>
              </a:solidFill>
            </a:endParaRPr>
          </a:p>
        </p:txBody>
      </p:sp>
      <p:sp>
        <p:nvSpPr>
          <p:cNvPr id="7" name="Rectangle 6"/>
          <p:cNvSpPr/>
          <p:nvPr/>
        </p:nvSpPr>
        <p:spPr>
          <a:xfrm>
            <a:off x="7676527" y="4411357"/>
            <a:ext cx="6858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loan</a:t>
            </a:r>
            <a:endParaRPr lang="en-IN" dirty="0">
              <a:solidFill>
                <a:schemeClr val="tx1"/>
              </a:solidFill>
            </a:endParaRPr>
          </a:p>
        </p:txBody>
      </p:sp>
      <p:sp>
        <p:nvSpPr>
          <p:cNvPr id="8" name="Diamond 7"/>
          <p:cNvSpPr/>
          <p:nvPr/>
        </p:nvSpPr>
        <p:spPr>
          <a:xfrm>
            <a:off x="5318338" y="4335157"/>
            <a:ext cx="1977189" cy="6096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borrow</a:t>
            </a:r>
            <a:endParaRPr lang="en-IN" dirty="0">
              <a:solidFill>
                <a:schemeClr val="tx1"/>
              </a:solidFill>
            </a:endParaRPr>
          </a:p>
        </p:txBody>
      </p:sp>
      <p:cxnSp>
        <p:nvCxnSpPr>
          <p:cNvPr id="9" name="Straight Connector 8"/>
          <p:cNvCxnSpPr>
            <a:stCxn id="6" idx="3"/>
            <a:endCxn id="8" idx="1"/>
          </p:cNvCxnSpPr>
          <p:nvPr/>
        </p:nvCxnSpPr>
        <p:spPr>
          <a:xfrm>
            <a:off x="4933327" y="4639957"/>
            <a:ext cx="385011"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p:cNvCxnSpPr/>
          <p:nvPr/>
        </p:nvCxnSpPr>
        <p:spPr>
          <a:xfrm>
            <a:off x="7168179" y="4588809"/>
            <a:ext cx="504000"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11" name="Rectangle 10"/>
          <p:cNvSpPr/>
          <p:nvPr/>
        </p:nvSpPr>
        <p:spPr>
          <a:xfrm>
            <a:off x="4476127" y="5005957"/>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C1</a:t>
            </a:r>
            <a:endParaRPr lang="en-IN" dirty="0"/>
          </a:p>
        </p:txBody>
      </p:sp>
      <p:sp>
        <p:nvSpPr>
          <p:cNvPr id="12" name="Rectangle 11"/>
          <p:cNvSpPr/>
          <p:nvPr/>
        </p:nvSpPr>
        <p:spPr>
          <a:xfrm>
            <a:off x="4476127" y="5539357"/>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C2</a:t>
            </a:r>
            <a:endParaRPr lang="en-IN" dirty="0"/>
          </a:p>
        </p:txBody>
      </p:sp>
      <p:sp>
        <p:nvSpPr>
          <p:cNvPr id="13" name="Rectangle 12"/>
          <p:cNvSpPr/>
          <p:nvPr/>
        </p:nvSpPr>
        <p:spPr>
          <a:xfrm>
            <a:off x="7676527" y="5005957"/>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L1</a:t>
            </a:r>
            <a:endParaRPr lang="en-IN" dirty="0"/>
          </a:p>
        </p:txBody>
      </p:sp>
      <p:sp>
        <p:nvSpPr>
          <p:cNvPr id="14" name="Rectangle 13"/>
          <p:cNvSpPr/>
          <p:nvPr/>
        </p:nvSpPr>
        <p:spPr>
          <a:xfrm>
            <a:off x="7676527" y="5539357"/>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L2</a:t>
            </a:r>
            <a:endParaRPr lang="en-IN" dirty="0"/>
          </a:p>
        </p:txBody>
      </p:sp>
      <p:sp>
        <p:nvSpPr>
          <p:cNvPr id="15" name="Rectangle 14"/>
          <p:cNvSpPr/>
          <p:nvPr/>
        </p:nvSpPr>
        <p:spPr>
          <a:xfrm>
            <a:off x="4476127" y="6072757"/>
            <a:ext cx="432000" cy="396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C3</a:t>
            </a:r>
            <a:endParaRPr lang="en-IN" dirty="0"/>
          </a:p>
        </p:txBody>
      </p:sp>
      <p:cxnSp>
        <p:nvCxnSpPr>
          <p:cNvPr id="16" name="Straight Connector 15"/>
          <p:cNvCxnSpPr>
            <a:stCxn id="11" idx="3"/>
            <a:endCxn id="13" idx="1"/>
          </p:cNvCxnSpPr>
          <p:nvPr/>
        </p:nvCxnSpPr>
        <p:spPr>
          <a:xfrm>
            <a:off x="4908127" y="5203957"/>
            <a:ext cx="2768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2" idx="3"/>
            <a:endCxn id="14" idx="1"/>
          </p:cNvCxnSpPr>
          <p:nvPr/>
        </p:nvCxnSpPr>
        <p:spPr>
          <a:xfrm>
            <a:off x="4908127" y="5737357"/>
            <a:ext cx="27684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962575" y="5347427"/>
            <a:ext cx="2286000" cy="646331"/>
          </a:xfrm>
          <a:prstGeom prst="rect">
            <a:avLst/>
          </a:prstGeom>
          <a:noFill/>
        </p:spPr>
        <p:txBody>
          <a:bodyPr wrap="square" rtlCol="0">
            <a:spAutoFit/>
          </a:bodyPr>
          <a:lstStyle/>
          <a:p>
            <a:pPr algn="ctr"/>
            <a:r>
              <a:rPr lang="en-US" dirty="0"/>
              <a:t>Each customer has maximum one  loan</a:t>
            </a:r>
            <a:endParaRPr lang="en-IN" dirty="0"/>
          </a:p>
        </p:txBody>
      </p:sp>
      <p:cxnSp>
        <p:nvCxnSpPr>
          <p:cNvPr id="19" name="Straight Connector 18"/>
          <p:cNvCxnSpPr/>
          <p:nvPr/>
        </p:nvCxnSpPr>
        <p:spPr>
          <a:xfrm>
            <a:off x="7168179" y="4691105"/>
            <a:ext cx="504000"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486163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500"/>
                                        <p:tgtEl>
                                          <p:spTgt spid="1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500"/>
                                        <p:tgtEl>
                                          <p:spTgt spid="1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00"/>
                                        <p:tgtEl>
                                          <p:spTgt spid="1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00"/>
                                        <p:tgtEl>
                                          <p:spTgt spid="17"/>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500"/>
                                        <p:tgtEl>
                                          <p:spTgt spid="21"/>
                                        </p:tgtEl>
                                      </p:cBhvr>
                                    </p:animEffect>
                                  </p:childTnLst>
                                </p:cTn>
                              </p:par>
                              <p:par>
                                <p:cTn id="80" presetID="10" presetClass="entr" presetSubtype="0" fill="hold" nodeType="withEffect">
                                  <p:stCondLst>
                                    <p:cond delay="0"/>
                                  </p:stCondLst>
                                  <p:childTnLst>
                                    <p:set>
                                      <p:cBhvr>
                                        <p:cTn id="81" dur="1" fill="hold">
                                          <p:stCondLst>
                                            <p:cond delay="0"/>
                                          </p:stCondLst>
                                        </p:cTn>
                                        <p:tgtEl>
                                          <p:spTgt spid="21">
                                            <p:txEl>
                                              <p:pRg st="0" end="0"/>
                                            </p:txEl>
                                          </p:spTgt>
                                        </p:tgtEl>
                                        <p:attrNameLst>
                                          <p:attrName>style.visibility</p:attrName>
                                        </p:attrNameLst>
                                      </p:cBhvr>
                                      <p:to>
                                        <p:strVal val="visible"/>
                                      </p:to>
                                    </p:set>
                                    <p:animEffect transition="in" filter="fade">
                                      <p:cBhvr>
                                        <p:cTn id="82" dur="500"/>
                                        <p:tgtEl>
                                          <p:spTgt spid="21">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21">
                                            <p:txEl>
                                              <p:pRg st="1" end="1"/>
                                            </p:txEl>
                                          </p:spTgt>
                                        </p:tgtEl>
                                        <p:attrNameLst>
                                          <p:attrName>style.visibility</p:attrName>
                                        </p:attrNameLst>
                                      </p:cBhvr>
                                      <p:to>
                                        <p:strVal val="visible"/>
                                      </p:to>
                                    </p:set>
                                    <p:animEffect transition="in" filter="fade">
                                      <p:cBhvr>
                                        <p:cTn id="87" dur="500"/>
                                        <p:tgtEl>
                                          <p:spTgt spid="21">
                                            <p:txEl>
                                              <p:pRg st="1" end="1"/>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21">
                                            <p:txEl>
                                              <p:pRg st="2" end="2"/>
                                            </p:txEl>
                                          </p:spTgt>
                                        </p:tgtEl>
                                        <p:attrNameLst>
                                          <p:attrName>style.visibility</p:attrName>
                                        </p:attrNameLst>
                                      </p:cBhvr>
                                      <p:to>
                                        <p:strVal val="visible"/>
                                      </p:to>
                                    </p:set>
                                    <p:animEffect transition="in" filter="fade">
                                      <p:cBhvr>
                                        <p:cTn id="92" dur="500"/>
                                        <p:tgtEl>
                                          <p:spTgt spid="21">
                                            <p:txEl>
                                              <p:pRg st="2" end="2"/>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500"/>
                                        <p:tgtEl>
                                          <p:spTgt spid="20"/>
                                        </p:tgtEl>
                                      </p:cBhvr>
                                    </p:animEffect>
                                  </p:childTnLst>
                                </p:cTn>
                              </p:par>
                              <p:par>
                                <p:cTn id="98" presetID="10" presetClass="entr" presetSubtype="0" fill="hold" nodeType="withEffect">
                                  <p:stCondLst>
                                    <p:cond delay="0"/>
                                  </p:stCondLst>
                                  <p:childTnLst>
                                    <p:set>
                                      <p:cBhvr>
                                        <p:cTn id="99" dur="1" fill="hold">
                                          <p:stCondLst>
                                            <p:cond delay="0"/>
                                          </p:stCondLst>
                                        </p:cTn>
                                        <p:tgtEl>
                                          <p:spTgt spid="20">
                                            <p:txEl>
                                              <p:pRg st="0" end="0"/>
                                            </p:txEl>
                                          </p:spTgt>
                                        </p:tgtEl>
                                        <p:attrNameLst>
                                          <p:attrName>style.visibility</p:attrName>
                                        </p:attrNameLst>
                                      </p:cBhvr>
                                      <p:to>
                                        <p:strVal val="visible"/>
                                      </p:to>
                                    </p:set>
                                    <p:animEffect transition="in" filter="fade">
                                      <p:cBhvr>
                                        <p:cTn id="100" dur="500"/>
                                        <p:tgtEl>
                                          <p:spTgt spid="20">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20">
                                            <p:txEl>
                                              <p:pRg st="1" end="1"/>
                                            </p:txEl>
                                          </p:spTgt>
                                        </p:tgtEl>
                                        <p:attrNameLst>
                                          <p:attrName>style.visibility</p:attrName>
                                        </p:attrNameLst>
                                      </p:cBhvr>
                                      <p:to>
                                        <p:strVal val="visible"/>
                                      </p:to>
                                    </p:set>
                                    <p:animEffect transition="in" filter="fade">
                                      <p:cBhvr>
                                        <p:cTn id="105" dur="500"/>
                                        <p:tgtEl>
                                          <p:spTgt spid="20">
                                            <p:txEl>
                                              <p:pRg st="1" end="1"/>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20">
                                            <p:txEl>
                                              <p:pRg st="2" end="2"/>
                                            </p:txEl>
                                          </p:spTgt>
                                        </p:tgtEl>
                                        <p:attrNameLst>
                                          <p:attrName>style.visibility</p:attrName>
                                        </p:attrNameLst>
                                      </p:cBhvr>
                                      <p:to>
                                        <p:strVal val="visible"/>
                                      </p:to>
                                    </p:set>
                                    <p:animEffect transition="in" filter="fade">
                                      <p:cBhvr>
                                        <p:cTn id="110" dur="500"/>
                                        <p:tgtEl>
                                          <p:spTgt spid="2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6" grpId="0" animBg="1"/>
      <p:bldP spid="7" grpId="0" animBg="1"/>
      <p:bldP spid="8" grpId="0" animBg="1"/>
      <p:bldP spid="11" grpId="0" animBg="1"/>
      <p:bldP spid="12" grpId="0" animBg="1"/>
      <p:bldP spid="13" grpId="0" animBg="1"/>
      <p:bldP spid="14" grpId="0" animBg="1"/>
      <p:bldP spid="15" grpId="0" animBg="1"/>
      <p:bldP spid="1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Weak Entity Set</a:t>
            </a:r>
          </a:p>
        </p:txBody>
      </p:sp>
      <p:sp>
        <p:nvSpPr>
          <p:cNvPr id="5" name="Text Placeholder 4"/>
          <p:cNvSpPr>
            <a:spLocks noGrp="1"/>
          </p:cNvSpPr>
          <p:nvPr>
            <p:ph type="body" idx="1"/>
          </p:nvPr>
        </p:nvSpPr>
        <p:spPr/>
        <p:txBody>
          <a:bodyPr/>
          <a:lstStyle/>
          <a:p>
            <a:r>
              <a:rPr lang="en-US" dirty="0"/>
              <a:t>Section - 5</a:t>
            </a:r>
          </a:p>
          <a:p>
            <a:endParaRPr lang="en-US" dirty="0"/>
          </a:p>
        </p:txBody>
      </p:sp>
    </p:spTree>
    <p:extLst>
      <p:ext uri="{BB962C8B-B14F-4D97-AF65-F5344CB8AC3E}">
        <p14:creationId xmlns:p14="http://schemas.microsoft.com/office/powerpoint/2010/main" val="2328780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Weak Entity Set</a:t>
            </a:r>
          </a:p>
        </p:txBody>
      </p:sp>
      <p:sp>
        <p:nvSpPr>
          <p:cNvPr id="5" name="Content Placeholder 4"/>
          <p:cNvSpPr>
            <a:spLocks noGrp="1"/>
          </p:cNvSpPr>
          <p:nvPr>
            <p:ph idx="1"/>
          </p:nvPr>
        </p:nvSpPr>
        <p:spPr/>
        <p:txBody>
          <a:bodyPr/>
          <a:lstStyle/>
          <a:p>
            <a:r>
              <a:rPr lang="en-GB" dirty="0"/>
              <a:t>An </a:t>
            </a:r>
            <a:r>
              <a:rPr lang="en-GB" b="1" dirty="0">
                <a:solidFill>
                  <a:schemeClr val="accent6"/>
                </a:solidFill>
              </a:rPr>
              <a:t>entity set that does not have a primary key </a:t>
            </a:r>
            <a:r>
              <a:rPr lang="en-GB" dirty="0"/>
              <a:t>is called weak entity set.</a:t>
            </a:r>
          </a:p>
        </p:txBody>
      </p:sp>
      <p:sp>
        <p:nvSpPr>
          <p:cNvPr id="42" name="Rectangle 41"/>
          <p:cNvSpPr/>
          <p:nvPr/>
        </p:nvSpPr>
        <p:spPr>
          <a:xfrm>
            <a:off x="7129572" y="2952750"/>
            <a:ext cx="1398477" cy="6480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3" name="Rectangle 42"/>
          <p:cNvSpPr/>
          <p:nvPr/>
        </p:nvSpPr>
        <p:spPr>
          <a:xfrm>
            <a:off x="3184068" y="3046557"/>
            <a:ext cx="12954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loan</a:t>
            </a:r>
            <a:endParaRPr lang="en-IN" dirty="0">
              <a:solidFill>
                <a:schemeClr val="tx1"/>
              </a:solidFill>
            </a:endParaRPr>
          </a:p>
        </p:txBody>
      </p:sp>
      <p:sp>
        <p:nvSpPr>
          <p:cNvPr id="44" name="Rectangle 43"/>
          <p:cNvSpPr/>
          <p:nvPr/>
        </p:nvSpPr>
        <p:spPr>
          <a:xfrm>
            <a:off x="7222668" y="3046557"/>
            <a:ext cx="12192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payment</a:t>
            </a:r>
            <a:endParaRPr lang="en-IN" dirty="0">
              <a:solidFill>
                <a:schemeClr val="tx1"/>
              </a:solidFill>
            </a:endParaRPr>
          </a:p>
        </p:txBody>
      </p:sp>
      <p:sp>
        <p:nvSpPr>
          <p:cNvPr id="45" name="Diamond 44"/>
          <p:cNvSpPr/>
          <p:nvPr/>
        </p:nvSpPr>
        <p:spPr>
          <a:xfrm>
            <a:off x="4864479" y="2970357"/>
            <a:ext cx="1977189" cy="6096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cxnSp>
        <p:nvCxnSpPr>
          <p:cNvPr id="46" name="Straight Connector 45"/>
          <p:cNvCxnSpPr>
            <a:stCxn id="43" idx="3"/>
            <a:endCxn id="45" idx="1"/>
          </p:cNvCxnSpPr>
          <p:nvPr/>
        </p:nvCxnSpPr>
        <p:spPr>
          <a:xfrm>
            <a:off x="4479468" y="3275157"/>
            <a:ext cx="385011"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p:cNvCxnSpPr/>
          <p:nvPr/>
        </p:nvCxnSpPr>
        <p:spPr>
          <a:xfrm>
            <a:off x="6695272" y="3224009"/>
            <a:ext cx="432000"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p:cNvCxnSpPr/>
          <p:nvPr/>
        </p:nvCxnSpPr>
        <p:spPr>
          <a:xfrm>
            <a:off x="6695272" y="3326305"/>
            <a:ext cx="432000"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p:cNvCxnSpPr>
            <a:stCxn id="50" idx="4"/>
            <a:endCxn id="43" idx="0"/>
          </p:cNvCxnSpPr>
          <p:nvPr/>
        </p:nvCxnSpPr>
        <p:spPr>
          <a:xfrm>
            <a:off x="2716489" y="2623511"/>
            <a:ext cx="1115279" cy="423046"/>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50" name="Oval 49"/>
          <p:cNvSpPr/>
          <p:nvPr/>
        </p:nvSpPr>
        <p:spPr>
          <a:xfrm>
            <a:off x="2000250" y="2038046"/>
            <a:ext cx="1432477" cy="585465"/>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loan-no</a:t>
            </a:r>
          </a:p>
        </p:txBody>
      </p:sp>
      <p:cxnSp>
        <p:nvCxnSpPr>
          <p:cNvPr id="51" name="Straight Connector 50"/>
          <p:cNvCxnSpPr>
            <a:stCxn id="52" idx="4"/>
            <a:endCxn id="43" idx="0"/>
          </p:cNvCxnSpPr>
          <p:nvPr/>
        </p:nvCxnSpPr>
        <p:spPr>
          <a:xfrm flipH="1">
            <a:off x="3831768" y="2610003"/>
            <a:ext cx="656059" cy="43655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52" name="Oval 51"/>
          <p:cNvSpPr/>
          <p:nvPr/>
        </p:nvSpPr>
        <p:spPr>
          <a:xfrm>
            <a:off x="3771588" y="2024538"/>
            <a:ext cx="1432477" cy="585465"/>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amount</a:t>
            </a:r>
          </a:p>
        </p:txBody>
      </p:sp>
      <p:cxnSp>
        <p:nvCxnSpPr>
          <p:cNvPr id="53" name="Straight Connector 52"/>
          <p:cNvCxnSpPr>
            <a:stCxn id="54" idx="4"/>
            <a:endCxn id="42" idx="0"/>
          </p:cNvCxnSpPr>
          <p:nvPr/>
        </p:nvCxnSpPr>
        <p:spPr>
          <a:xfrm>
            <a:off x="6445553" y="2637019"/>
            <a:ext cx="1383258" cy="315731"/>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54" name="Oval 53"/>
          <p:cNvSpPr/>
          <p:nvPr/>
        </p:nvSpPr>
        <p:spPr>
          <a:xfrm>
            <a:off x="5504337" y="2051554"/>
            <a:ext cx="1882431" cy="585465"/>
          </a:xfrm>
          <a:prstGeom prst="ellipse">
            <a:avLst/>
          </a:prstGeom>
          <a:solidFill>
            <a:schemeClr val="bg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dashLong" dirty="0">
                <a:solidFill>
                  <a:schemeClr val="tx1"/>
                </a:solidFill>
              </a:rPr>
              <a:t>payment-no</a:t>
            </a:r>
          </a:p>
        </p:txBody>
      </p:sp>
      <p:cxnSp>
        <p:nvCxnSpPr>
          <p:cNvPr id="55" name="Straight Connector 54"/>
          <p:cNvCxnSpPr>
            <a:stCxn id="56" idx="4"/>
            <a:endCxn id="42" idx="0"/>
          </p:cNvCxnSpPr>
          <p:nvPr/>
        </p:nvCxnSpPr>
        <p:spPr>
          <a:xfrm flipH="1">
            <a:off x="7828811" y="2038046"/>
            <a:ext cx="3457" cy="91470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56" name="Oval 55"/>
          <p:cNvSpPr/>
          <p:nvPr/>
        </p:nvSpPr>
        <p:spPr>
          <a:xfrm>
            <a:off x="6754776" y="1452581"/>
            <a:ext cx="2154983" cy="585465"/>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Payment-date</a:t>
            </a:r>
          </a:p>
        </p:txBody>
      </p:sp>
      <p:cxnSp>
        <p:nvCxnSpPr>
          <p:cNvPr id="57" name="Straight Connector 56"/>
          <p:cNvCxnSpPr>
            <a:stCxn id="59" idx="4"/>
            <a:endCxn id="42" idx="0"/>
          </p:cNvCxnSpPr>
          <p:nvPr/>
        </p:nvCxnSpPr>
        <p:spPr>
          <a:xfrm flipH="1">
            <a:off x="7828811" y="2637018"/>
            <a:ext cx="1699999" cy="315732"/>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58" name="Diamond 57"/>
          <p:cNvSpPr/>
          <p:nvPr/>
        </p:nvSpPr>
        <p:spPr>
          <a:xfrm>
            <a:off x="5116271" y="3059157"/>
            <a:ext cx="1473605" cy="4320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L_P</a:t>
            </a:r>
            <a:endParaRPr lang="en-IN" dirty="0">
              <a:solidFill>
                <a:schemeClr val="tx1"/>
              </a:solidFill>
            </a:endParaRPr>
          </a:p>
        </p:txBody>
      </p:sp>
      <p:sp>
        <p:nvSpPr>
          <p:cNvPr id="59" name="Oval 58"/>
          <p:cNvSpPr/>
          <p:nvPr/>
        </p:nvSpPr>
        <p:spPr>
          <a:xfrm>
            <a:off x="8248650" y="2051553"/>
            <a:ext cx="2560320" cy="585465"/>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Payment-amount</a:t>
            </a:r>
          </a:p>
        </p:txBody>
      </p:sp>
      <p:sp>
        <p:nvSpPr>
          <p:cNvPr id="60" name="Rounded Rectangular Callout 59"/>
          <p:cNvSpPr/>
          <p:nvPr/>
        </p:nvSpPr>
        <p:spPr>
          <a:xfrm>
            <a:off x="3184068" y="3817035"/>
            <a:ext cx="1487905" cy="720000"/>
          </a:xfrm>
          <a:prstGeom prst="wedgeRoundRectCallout">
            <a:avLst>
              <a:gd name="adj1" fmla="val -12298"/>
              <a:gd name="adj2" fmla="val -93422"/>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Strong Entity Set</a:t>
            </a:r>
            <a:endParaRPr lang="en-IN" dirty="0">
              <a:solidFill>
                <a:schemeClr val="tx1"/>
              </a:solidFill>
            </a:endParaRPr>
          </a:p>
        </p:txBody>
      </p:sp>
      <p:sp>
        <p:nvSpPr>
          <p:cNvPr id="61" name="Rounded Rectangular Callout 60"/>
          <p:cNvSpPr/>
          <p:nvPr/>
        </p:nvSpPr>
        <p:spPr>
          <a:xfrm>
            <a:off x="7040144" y="3817035"/>
            <a:ext cx="1487905" cy="720000"/>
          </a:xfrm>
          <a:prstGeom prst="wedgeRoundRectCallout">
            <a:avLst>
              <a:gd name="adj1" fmla="val 505"/>
              <a:gd name="adj2" fmla="val -87500"/>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Weak Entity Set</a:t>
            </a:r>
            <a:endParaRPr lang="en-IN" dirty="0">
              <a:solidFill>
                <a:schemeClr val="tx1"/>
              </a:solidFill>
            </a:endParaRPr>
          </a:p>
        </p:txBody>
      </p:sp>
      <p:sp>
        <p:nvSpPr>
          <p:cNvPr id="62" name="Rounded Rectangular Callout 61"/>
          <p:cNvSpPr/>
          <p:nvPr/>
        </p:nvSpPr>
        <p:spPr>
          <a:xfrm>
            <a:off x="5109120" y="3817035"/>
            <a:ext cx="1487905" cy="720000"/>
          </a:xfrm>
          <a:prstGeom prst="wedgeRoundRectCallout">
            <a:avLst>
              <a:gd name="adj1" fmla="val 505"/>
              <a:gd name="adj2" fmla="val -87500"/>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Weak Entity Relationship</a:t>
            </a:r>
            <a:endParaRPr lang="en-IN" dirty="0">
              <a:solidFill>
                <a:schemeClr val="tx1"/>
              </a:solidFill>
            </a:endParaRPr>
          </a:p>
        </p:txBody>
      </p:sp>
      <p:sp>
        <p:nvSpPr>
          <p:cNvPr id="63" name="TextBox 62"/>
          <p:cNvSpPr txBox="1"/>
          <p:nvPr/>
        </p:nvSpPr>
        <p:spPr>
          <a:xfrm>
            <a:off x="2503552" y="5022858"/>
            <a:ext cx="7884000" cy="1328023"/>
          </a:xfrm>
          <a:prstGeom prst="round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defPPr>
              <a:defRPr lang="en-US"/>
            </a:defPPr>
            <a:lvl1pPr algn="ctr">
              <a:defRPr sz="2400">
                <a:solidFill>
                  <a:schemeClr val="lt1"/>
                </a:solidFill>
              </a:defRPr>
            </a:lvl1pPr>
          </a:lstStyle>
          <a:p>
            <a:pPr marL="342900" indent="-342900" algn="l">
              <a:buFont typeface="Arial" panose="020B0604020202020204" pitchFamily="34" charset="0"/>
              <a:buChar char="•"/>
            </a:pPr>
            <a:r>
              <a:rPr lang="en-IN" dirty="0"/>
              <a:t>Weak entity set is indicated by double rectangle.</a:t>
            </a:r>
          </a:p>
          <a:p>
            <a:pPr marL="342900" indent="-342900" algn="l">
              <a:buFont typeface="Arial" panose="020B0604020202020204" pitchFamily="34" charset="0"/>
              <a:buChar char="•"/>
            </a:pPr>
            <a:r>
              <a:rPr lang="en-IN" dirty="0"/>
              <a:t>Weak entity relationship set is indicated by double diamond.</a:t>
            </a:r>
          </a:p>
        </p:txBody>
      </p:sp>
    </p:spTree>
    <p:extLst>
      <p:ext uri="{BB962C8B-B14F-4D97-AF65-F5344CB8AC3E}">
        <p14:creationId xmlns:p14="http://schemas.microsoft.com/office/powerpoint/2010/main" val="1137259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500"/>
                                        <p:tgtEl>
                                          <p:spTgt spid="4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9"/>
                                        </p:tgtEl>
                                        <p:attrNameLst>
                                          <p:attrName>style.visibility</p:attrName>
                                        </p:attrNameLst>
                                      </p:cBhvr>
                                      <p:to>
                                        <p:strVal val="visible"/>
                                      </p:to>
                                    </p:set>
                                    <p:animEffect transition="in" filter="fade">
                                      <p:cBhvr>
                                        <p:cTn id="23" dur="500"/>
                                        <p:tgtEl>
                                          <p:spTgt spid="4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fade">
                                      <p:cBhvr>
                                        <p:cTn id="26" dur="500"/>
                                        <p:tgtEl>
                                          <p:spTgt spid="50"/>
                                        </p:tgtEl>
                                      </p:cBhvr>
                                    </p:animEffect>
                                  </p:childTnLst>
                                </p:cTn>
                              </p:par>
                              <p:par>
                                <p:cTn id="27" presetID="10" presetClass="entr" presetSubtype="0" fill="hold" nodeType="with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fade">
                                      <p:cBhvr>
                                        <p:cTn id="29" dur="500"/>
                                        <p:tgtEl>
                                          <p:spTgt spid="5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fade">
                                      <p:cBhvr>
                                        <p:cTn id="37" dur="500"/>
                                        <p:tgtEl>
                                          <p:spTgt spid="5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fade">
                                      <p:cBhvr>
                                        <p:cTn id="40" dur="500"/>
                                        <p:tgtEl>
                                          <p:spTgt spid="54"/>
                                        </p:tgtEl>
                                      </p:cBhvr>
                                    </p:animEffect>
                                  </p:childTnLst>
                                </p:cTn>
                              </p:par>
                              <p:par>
                                <p:cTn id="41" presetID="10" presetClass="entr" presetSubtype="0" fill="hold"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6"/>
                                        </p:tgtEl>
                                        <p:attrNameLst>
                                          <p:attrName>style.visibility</p:attrName>
                                        </p:attrNameLst>
                                      </p:cBhvr>
                                      <p:to>
                                        <p:strVal val="visible"/>
                                      </p:to>
                                    </p:set>
                                    <p:animEffect transition="in" filter="fade">
                                      <p:cBhvr>
                                        <p:cTn id="46" dur="500"/>
                                        <p:tgtEl>
                                          <p:spTgt spid="56"/>
                                        </p:tgtEl>
                                      </p:cBhvr>
                                    </p:animEffect>
                                  </p:childTnLst>
                                </p:cTn>
                              </p:par>
                              <p:par>
                                <p:cTn id="47" presetID="10" presetClass="entr" presetSubtype="0" fill="hold" nodeType="with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fade">
                                      <p:cBhvr>
                                        <p:cTn id="49" dur="500"/>
                                        <p:tgtEl>
                                          <p:spTgt spid="5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9"/>
                                        </p:tgtEl>
                                        <p:attrNameLst>
                                          <p:attrName>style.visibility</p:attrName>
                                        </p:attrNameLst>
                                      </p:cBhvr>
                                      <p:to>
                                        <p:strVal val="visible"/>
                                      </p:to>
                                    </p:set>
                                    <p:animEffect transition="in" filter="fade">
                                      <p:cBhvr>
                                        <p:cTn id="52" dur="500"/>
                                        <p:tgtEl>
                                          <p:spTgt spid="5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fade">
                                      <p:cBhvr>
                                        <p:cTn id="57" dur="500"/>
                                        <p:tgtEl>
                                          <p:spTgt spid="45"/>
                                        </p:tgtEl>
                                      </p:cBhvr>
                                    </p:animEffect>
                                  </p:childTnLst>
                                </p:cTn>
                              </p:par>
                              <p:par>
                                <p:cTn id="58" presetID="10" presetClass="entr" presetSubtype="0" fill="hold" nodeType="with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fade">
                                      <p:cBhvr>
                                        <p:cTn id="60" dur="500"/>
                                        <p:tgtEl>
                                          <p:spTgt spid="46"/>
                                        </p:tgtEl>
                                      </p:cBhvr>
                                    </p:animEffect>
                                  </p:childTnLst>
                                </p:cTn>
                              </p:par>
                              <p:par>
                                <p:cTn id="61" presetID="10" presetClass="entr" presetSubtype="0" fill="hold" nodeType="with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fade">
                                      <p:cBhvr>
                                        <p:cTn id="63" dur="500"/>
                                        <p:tgtEl>
                                          <p:spTgt spid="47"/>
                                        </p:tgtEl>
                                      </p:cBhvr>
                                    </p:animEffect>
                                  </p:childTnLst>
                                </p:cTn>
                              </p:par>
                              <p:par>
                                <p:cTn id="64" presetID="10" presetClass="entr" presetSubtype="0" fill="hold" nodeType="with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500"/>
                                        <p:tgtEl>
                                          <p:spTgt spid="4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8"/>
                                        </p:tgtEl>
                                        <p:attrNameLst>
                                          <p:attrName>style.visibility</p:attrName>
                                        </p:attrNameLst>
                                      </p:cBhvr>
                                      <p:to>
                                        <p:strVal val="visible"/>
                                      </p:to>
                                    </p:set>
                                    <p:animEffect transition="in" filter="fade">
                                      <p:cBhvr>
                                        <p:cTn id="69" dur="500"/>
                                        <p:tgtEl>
                                          <p:spTgt spid="58"/>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60"/>
                                        </p:tgtEl>
                                        <p:attrNameLst>
                                          <p:attrName>style.visibility</p:attrName>
                                        </p:attrNameLst>
                                      </p:cBhvr>
                                      <p:to>
                                        <p:strVal val="visible"/>
                                      </p:to>
                                    </p:set>
                                    <p:animEffect transition="in" filter="fade">
                                      <p:cBhvr>
                                        <p:cTn id="74" dur="500"/>
                                        <p:tgtEl>
                                          <p:spTgt spid="60"/>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61"/>
                                        </p:tgtEl>
                                        <p:attrNameLst>
                                          <p:attrName>style.visibility</p:attrName>
                                        </p:attrNameLst>
                                      </p:cBhvr>
                                      <p:to>
                                        <p:strVal val="visible"/>
                                      </p:to>
                                    </p:set>
                                    <p:animEffect transition="in" filter="fade">
                                      <p:cBhvr>
                                        <p:cTn id="79" dur="500"/>
                                        <p:tgtEl>
                                          <p:spTgt spid="6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62"/>
                                        </p:tgtEl>
                                        <p:attrNameLst>
                                          <p:attrName>style.visibility</p:attrName>
                                        </p:attrNameLst>
                                      </p:cBhvr>
                                      <p:to>
                                        <p:strVal val="visible"/>
                                      </p:to>
                                    </p:set>
                                    <p:animEffect transition="in" filter="fade">
                                      <p:cBhvr>
                                        <p:cTn id="84" dur="500"/>
                                        <p:tgtEl>
                                          <p:spTgt spid="62"/>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63"/>
                                        </p:tgtEl>
                                        <p:attrNameLst>
                                          <p:attrName>style.visibility</p:attrName>
                                        </p:attrNameLst>
                                      </p:cBhvr>
                                      <p:to>
                                        <p:strVal val="visible"/>
                                      </p:to>
                                    </p:set>
                                    <p:animEffect transition="in" filter="fade">
                                      <p:cBhvr>
                                        <p:cTn id="89"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45" grpId="0" animBg="1"/>
      <p:bldP spid="50" grpId="0" animBg="1"/>
      <p:bldP spid="52" grpId="0" animBg="1"/>
      <p:bldP spid="54" grpId="0" animBg="1"/>
      <p:bldP spid="56" grpId="0" animBg="1"/>
      <p:bldP spid="58" grpId="0" animBg="1"/>
      <p:bldP spid="59" grpId="0" animBg="1"/>
      <p:bldP spid="60" grpId="0" animBg="1"/>
      <p:bldP spid="61" grpId="0" animBg="1"/>
      <p:bldP spid="62" grpId="0" animBg="1"/>
      <p:bldP spid="6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Weak Entity Set</a:t>
            </a:r>
          </a:p>
        </p:txBody>
      </p:sp>
      <p:sp>
        <p:nvSpPr>
          <p:cNvPr id="5" name="Content Placeholder 4"/>
          <p:cNvSpPr>
            <a:spLocks noGrp="1"/>
          </p:cNvSpPr>
          <p:nvPr>
            <p:ph idx="1"/>
          </p:nvPr>
        </p:nvSpPr>
        <p:spPr/>
        <p:txBody>
          <a:bodyPr/>
          <a:lstStyle/>
          <a:p>
            <a:r>
              <a:rPr lang="en-GB" dirty="0"/>
              <a:t>The </a:t>
            </a:r>
            <a:r>
              <a:rPr lang="en-GB" b="1" dirty="0">
                <a:solidFill>
                  <a:schemeClr val="accent6"/>
                </a:solidFill>
              </a:rPr>
              <a:t>existence of a weak entity set</a:t>
            </a:r>
            <a:r>
              <a:rPr lang="en-GB" dirty="0"/>
              <a:t> depends on the </a:t>
            </a:r>
            <a:r>
              <a:rPr lang="en-GB" b="1" dirty="0">
                <a:solidFill>
                  <a:schemeClr val="accent6"/>
                </a:solidFill>
              </a:rPr>
              <a:t>existence of a strong entity set</a:t>
            </a:r>
            <a:r>
              <a:rPr lang="en-GB" dirty="0"/>
              <a:t>.</a:t>
            </a:r>
          </a:p>
          <a:p>
            <a:r>
              <a:rPr lang="en-GB" dirty="0"/>
              <a:t>The </a:t>
            </a:r>
            <a:r>
              <a:rPr lang="en-GB" b="1" dirty="0">
                <a:solidFill>
                  <a:schemeClr val="accent6"/>
                </a:solidFill>
              </a:rPr>
              <a:t>discriminator (partial key) </a:t>
            </a:r>
            <a:r>
              <a:rPr lang="en-GB" dirty="0"/>
              <a:t>of a weak entity set is the set of </a:t>
            </a:r>
            <a:r>
              <a:rPr lang="en-GB" b="1" dirty="0">
                <a:solidFill>
                  <a:schemeClr val="accent6"/>
                </a:solidFill>
              </a:rPr>
              <a:t>attributes that distinguishes all the entities</a:t>
            </a:r>
            <a:r>
              <a:rPr lang="en-GB" dirty="0"/>
              <a:t> of a weak entity set.</a:t>
            </a:r>
          </a:p>
          <a:p>
            <a:r>
              <a:rPr lang="en-GB" dirty="0"/>
              <a:t>The </a:t>
            </a:r>
            <a:r>
              <a:rPr lang="en-GB" b="1" dirty="0">
                <a:solidFill>
                  <a:schemeClr val="accent6"/>
                </a:solidFill>
              </a:rPr>
              <a:t>primary key </a:t>
            </a:r>
            <a:r>
              <a:rPr lang="en-GB" dirty="0"/>
              <a:t>of a weak entity set is created by </a:t>
            </a:r>
            <a:r>
              <a:rPr lang="en-GB" b="1" dirty="0">
                <a:solidFill>
                  <a:schemeClr val="accent6"/>
                </a:solidFill>
              </a:rPr>
              <a:t>combining the primary key of the strong entity set</a:t>
            </a:r>
            <a:r>
              <a:rPr lang="en-GB" dirty="0"/>
              <a:t> on which the weak entity set is existence dependent and the </a:t>
            </a:r>
            <a:r>
              <a:rPr lang="en-GB" b="1" dirty="0">
                <a:solidFill>
                  <a:schemeClr val="accent6"/>
                </a:solidFill>
              </a:rPr>
              <a:t>weak entity set’s discriminator</a:t>
            </a:r>
            <a:r>
              <a:rPr lang="en-GB" dirty="0"/>
              <a:t>.</a:t>
            </a:r>
          </a:p>
          <a:p>
            <a:r>
              <a:rPr lang="en-GB" dirty="0"/>
              <a:t>We underline the discriminator attribute of a weak entity set with a </a:t>
            </a:r>
            <a:r>
              <a:rPr lang="en-GB" b="1" dirty="0">
                <a:solidFill>
                  <a:schemeClr val="accent6"/>
                </a:solidFill>
              </a:rPr>
              <a:t>dashed line</a:t>
            </a:r>
            <a:r>
              <a:rPr lang="en-GB" dirty="0"/>
              <a:t>.</a:t>
            </a:r>
          </a:p>
          <a:p>
            <a:r>
              <a:rPr lang="en-GB" dirty="0"/>
              <a:t>Payment entity has payment-no which is discriminator.</a:t>
            </a:r>
          </a:p>
          <a:p>
            <a:r>
              <a:rPr lang="en-GB" dirty="0"/>
              <a:t>Loan entity has loan-no as primary key.</a:t>
            </a:r>
          </a:p>
          <a:p>
            <a:r>
              <a:rPr lang="en-GB" dirty="0"/>
              <a:t>So primary key for payment is </a:t>
            </a:r>
            <a:r>
              <a:rPr lang="en-GB" b="1" dirty="0">
                <a:solidFill>
                  <a:schemeClr val="accent6"/>
                </a:solidFill>
              </a:rPr>
              <a:t>(loan-no, payment-no).</a:t>
            </a:r>
          </a:p>
        </p:txBody>
      </p:sp>
    </p:spTree>
    <p:extLst>
      <p:ext uri="{BB962C8B-B14F-4D97-AF65-F5344CB8AC3E}">
        <p14:creationId xmlns:p14="http://schemas.microsoft.com/office/powerpoint/2010/main" val="2891652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Superclass v/s Subclass</a:t>
            </a:r>
          </a:p>
        </p:txBody>
      </p:sp>
      <p:sp>
        <p:nvSpPr>
          <p:cNvPr id="5" name="Text Placeholder 4"/>
          <p:cNvSpPr>
            <a:spLocks noGrp="1"/>
          </p:cNvSpPr>
          <p:nvPr>
            <p:ph type="body" idx="1"/>
          </p:nvPr>
        </p:nvSpPr>
        <p:spPr/>
        <p:txBody>
          <a:bodyPr/>
          <a:lstStyle/>
          <a:p>
            <a:r>
              <a:rPr lang="en-US" dirty="0"/>
              <a:t>Section - 6</a:t>
            </a:r>
          </a:p>
          <a:p>
            <a:endParaRPr lang="en-US" dirty="0"/>
          </a:p>
        </p:txBody>
      </p:sp>
    </p:spTree>
    <p:extLst>
      <p:ext uri="{BB962C8B-B14F-4D97-AF65-F5344CB8AC3E}">
        <p14:creationId xmlns:p14="http://schemas.microsoft.com/office/powerpoint/2010/main" val="2406099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Superclass v/s Subclass</a:t>
            </a:r>
          </a:p>
        </p:txBody>
      </p:sp>
      <p:sp>
        <p:nvSpPr>
          <p:cNvPr id="5" name="Content Placeholder 4"/>
          <p:cNvSpPr>
            <a:spLocks noGrp="1"/>
          </p:cNvSpPr>
          <p:nvPr>
            <p:ph idx="1"/>
          </p:nvPr>
        </p:nvSpPr>
        <p:spPr/>
        <p:txBody>
          <a:bodyPr/>
          <a:lstStyle/>
          <a:p>
            <a:endParaRPr lang="en-GB" dirty="0"/>
          </a:p>
        </p:txBody>
      </p:sp>
      <p:graphicFrame>
        <p:nvGraphicFramePr>
          <p:cNvPr id="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4220538976"/>
              </p:ext>
            </p:extLst>
          </p:nvPr>
        </p:nvGraphicFramePr>
        <p:xfrm>
          <a:off x="131178" y="859690"/>
          <a:ext cx="11929642" cy="630000"/>
        </p:xfrm>
        <a:graphic>
          <a:graphicData uri="http://schemas.openxmlformats.org/drawingml/2006/table">
            <a:tbl>
              <a:tblPr firstRow="1" bandRow="1">
                <a:tableStyleId>{8EC20E35-A176-4012-BC5E-935CFFF8708E}</a:tableStyleId>
              </a:tblPr>
              <a:tblGrid>
                <a:gridCol w="5964821">
                  <a:extLst>
                    <a:ext uri="{9D8B030D-6E8A-4147-A177-3AD203B41FA5}">
                      <a16:colId xmlns:a16="http://schemas.microsoft.com/office/drawing/2014/main" val="20000"/>
                    </a:ext>
                  </a:extLst>
                </a:gridCol>
                <a:gridCol w="5964821">
                  <a:extLst>
                    <a:ext uri="{9D8B030D-6E8A-4147-A177-3AD203B41FA5}">
                      <a16:colId xmlns:a16="http://schemas.microsoft.com/office/drawing/2014/main" val="20001"/>
                    </a:ext>
                  </a:extLst>
                </a:gridCol>
              </a:tblGrid>
              <a:tr h="630000">
                <a:tc>
                  <a:txBody>
                    <a:bodyPr/>
                    <a:lstStyle/>
                    <a:p>
                      <a:pPr algn="l"/>
                      <a:r>
                        <a:rPr lang="en-US" sz="2400" b="1" dirty="0">
                          <a:solidFill>
                            <a:schemeClr val="tx1"/>
                          </a:solidFill>
                        </a:rPr>
                        <a:t>Super Class</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2400" kern="1200" dirty="0">
                          <a:solidFill>
                            <a:schemeClr val="tx1"/>
                          </a:solidFill>
                        </a:rPr>
                        <a:t>Sub Class</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7"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499862757"/>
              </p:ext>
            </p:extLst>
          </p:nvPr>
        </p:nvGraphicFramePr>
        <p:xfrm>
          <a:off x="131178" y="1503193"/>
          <a:ext cx="11929642" cy="822960"/>
        </p:xfrm>
        <a:graphic>
          <a:graphicData uri="http://schemas.openxmlformats.org/drawingml/2006/table">
            <a:tbl>
              <a:tblPr firstRow="1" bandRow="1">
                <a:tableStyleId>{8EC20E35-A176-4012-BC5E-935CFFF8708E}</a:tableStyleId>
              </a:tblPr>
              <a:tblGrid>
                <a:gridCol w="5964821">
                  <a:extLst>
                    <a:ext uri="{9D8B030D-6E8A-4147-A177-3AD203B41FA5}">
                      <a16:colId xmlns:a16="http://schemas.microsoft.com/office/drawing/2014/main" val="20000"/>
                    </a:ext>
                  </a:extLst>
                </a:gridCol>
                <a:gridCol w="5964821">
                  <a:extLst>
                    <a:ext uri="{9D8B030D-6E8A-4147-A177-3AD203B41FA5}">
                      <a16:colId xmlns:a16="http://schemas.microsoft.com/office/drawing/2014/main" val="20001"/>
                    </a:ext>
                  </a:extLst>
                </a:gridCol>
              </a:tblGrid>
              <a:tr h="540000">
                <a:tc>
                  <a:txBody>
                    <a:bodyPr/>
                    <a:lstStyle/>
                    <a:p>
                      <a:r>
                        <a:rPr lang="en-GB" sz="2400" b="0" kern="1200" dirty="0">
                          <a:solidFill>
                            <a:schemeClr val="dk1"/>
                          </a:solidFill>
                          <a:latin typeface="+mn-lt"/>
                          <a:ea typeface="+mn-ea"/>
                          <a:cs typeface="+mn-cs"/>
                        </a:rPr>
                        <a:t>A superclass is an entity from which </a:t>
                      </a:r>
                      <a:r>
                        <a:rPr lang="en-GB" sz="2400" b="1" kern="1200" dirty="0">
                          <a:solidFill>
                            <a:schemeClr val="accent6"/>
                          </a:solidFill>
                          <a:latin typeface="+mn-lt"/>
                          <a:ea typeface="+mn-ea"/>
                          <a:cs typeface="+mn-cs"/>
                        </a:rPr>
                        <a:t>another entities can be derived</a:t>
                      </a:r>
                      <a:r>
                        <a:rPr lang="en-GB" sz="2400" b="0" kern="1200" dirty="0">
                          <a:solidFill>
                            <a:schemeClr val="dk1"/>
                          </a:solidFill>
                          <a:latin typeface="+mn-lt"/>
                          <a:ea typeface="+mn-ea"/>
                          <a:cs typeface="+mn-cs"/>
                        </a:rPr>
                        <a:t>.</a:t>
                      </a:r>
                      <a:endParaRPr lang="en-US"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GB" sz="2400" b="0" kern="1200" dirty="0">
                          <a:solidFill>
                            <a:schemeClr val="dk1"/>
                          </a:solidFill>
                          <a:latin typeface="+mn-lt"/>
                          <a:ea typeface="+mn-ea"/>
                          <a:cs typeface="+mn-cs"/>
                        </a:rPr>
                        <a:t>A subclass is an entity that is </a:t>
                      </a:r>
                      <a:r>
                        <a:rPr lang="en-GB" sz="2400" b="1" kern="1200" dirty="0">
                          <a:solidFill>
                            <a:schemeClr val="accent6"/>
                          </a:solidFill>
                          <a:latin typeface="+mn-lt"/>
                          <a:ea typeface="+mn-ea"/>
                          <a:cs typeface="+mn-cs"/>
                        </a:rPr>
                        <a:t>derived from another entity</a:t>
                      </a:r>
                      <a:r>
                        <a:rPr lang="en-GB" sz="2400" b="0" kern="1200" dirty="0">
                          <a:solidFill>
                            <a:schemeClr val="dk1"/>
                          </a:solidFill>
                          <a:latin typeface="+mn-lt"/>
                          <a:ea typeface="+mn-ea"/>
                          <a:cs typeface="+mn-cs"/>
                        </a:rPr>
                        <a:t>.</a:t>
                      </a:r>
                      <a:endParaRPr lang="en-US"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947681539"/>
              </p:ext>
            </p:extLst>
          </p:nvPr>
        </p:nvGraphicFramePr>
        <p:xfrm>
          <a:off x="131178" y="2319178"/>
          <a:ext cx="11929642" cy="1920240"/>
        </p:xfrm>
        <a:graphic>
          <a:graphicData uri="http://schemas.openxmlformats.org/drawingml/2006/table">
            <a:tbl>
              <a:tblPr firstRow="1" bandRow="1">
                <a:tableStyleId>{8EC20E35-A176-4012-BC5E-935CFFF8708E}</a:tableStyleId>
              </a:tblPr>
              <a:tblGrid>
                <a:gridCol w="5964821">
                  <a:extLst>
                    <a:ext uri="{9D8B030D-6E8A-4147-A177-3AD203B41FA5}">
                      <a16:colId xmlns:a16="http://schemas.microsoft.com/office/drawing/2014/main" val="20000"/>
                    </a:ext>
                  </a:extLst>
                </a:gridCol>
                <a:gridCol w="5964821">
                  <a:extLst>
                    <a:ext uri="{9D8B030D-6E8A-4147-A177-3AD203B41FA5}">
                      <a16:colId xmlns:a16="http://schemas.microsoft.com/office/drawing/2014/main" val="20001"/>
                    </a:ext>
                  </a:extLst>
                </a:gridCol>
              </a:tblGrid>
              <a:tr h="540000">
                <a:tc>
                  <a:txBody>
                    <a:bodyPr/>
                    <a:lstStyle/>
                    <a:p>
                      <a:r>
                        <a:rPr lang="en-GB" sz="2400" b="0" kern="1200" dirty="0" err="1">
                          <a:solidFill>
                            <a:schemeClr val="dk1"/>
                          </a:solidFill>
                          <a:latin typeface="+mn-lt"/>
                          <a:ea typeface="+mn-ea"/>
                          <a:cs typeface="+mn-cs"/>
                        </a:rPr>
                        <a:t>E.g</a:t>
                      </a:r>
                      <a:r>
                        <a:rPr lang="en-GB" sz="2400" b="0" kern="1200" dirty="0">
                          <a:solidFill>
                            <a:schemeClr val="dk1"/>
                          </a:solidFill>
                          <a:latin typeface="+mn-lt"/>
                          <a:ea typeface="+mn-ea"/>
                          <a:cs typeface="+mn-cs"/>
                        </a:rPr>
                        <a:t>, </a:t>
                      </a:r>
                    </a:p>
                    <a:p>
                      <a:r>
                        <a:rPr lang="en-GB" sz="2400" b="0" kern="1200" dirty="0">
                          <a:solidFill>
                            <a:schemeClr val="dk1"/>
                          </a:solidFill>
                          <a:latin typeface="+mn-lt"/>
                          <a:ea typeface="+mn-ea"/>
                          <a:cs typeface="+mn-cs"/>
                        </a:rPr>
                        <a:t>an entity account has two subsets </a:t>
                      </a:r>
                    </a:p>
                    <a:p>
                      <a:r>
                        <a:rPr lang="en-GB" sz="2400" b="0" kern="1200" dirty="0" err="1">
                          <a:solidFill>
                            <a:schemeClr val="dk1"/>
                          </a:solidFill>
                          <a:latin typeface="+mn-lt"/>
                          <a:ea typeface="+mn-ea"/>
                          <a:cs typeface="+mn-cs"/>
                        </a:rPr>
                        <a:t>saving_account</a:t>
                      </a:r>
                      <a:r>
                        <a:rPr lang="en-GB" sz="2400" b="0" kern="1200" dirty="0">
                          <a:solidFill>
                            <a:schemeClr val="dk1"/>
                          </a:solidFill>
                          <a:latin typeface="+mn-lt"/>
                          <a:ea typeface="+mn-ea"/>
                          <a:cs typeface="+mn-cs"/>
                        </a:rPr>
                        <a:t> and </a:t>
                      </a:r>
                      <a:r>
                        <a:rPr lang="en-GB" sz="2400" b="0" kern="1200" dirty="0" err="1">
                          <a:solidFill>
                            <a:schemeClr val="dk1"/>
                          </a:solidFill>
                          <a:latin typeface="+mn-lt"/>
                          <a:ea typeface="+mn-ea"/>
                          <a:cs typeface="+mn-cs"/>
                        </a:rPr>
                        <a:t>current_account</a:t>
                      </a:r>
                      <a:endParaRPr lang="en-GB" sz="2400" b="0" kern="1200" dirty="0">
                        <a:solidFill>
                          <a:schemeClr val="dk1"/>
                        </a:solidFill>
                        <a:latin typeface="+mn-lt"/>
                        <a:ea typeface="+mn-ea"/>
                        <a:cs typeface="+mn-cs"/>
                      </a:endParaRPr>
                    </a:p>
                    <a:p>
                      <a:r>
                        <a:rPr lang="en-GB" sz="2400" b="0" kern="1200" dirty="0">
                          <a:solidFill>
                            <a:schemeClr val="dk1"/>
                          </a:solidFill>
                          <a:latin typeface="+mn-lt"/>
                          <a:ea typeface="+mn-ea"/>
                          <a:cs typeface="+mn-cs"/>
                        </a:rPr>
                        <a:t>So an </a:t>
                      </a:r>
                      <a:r>
                        <a:rPr lang="en-GB" sz="2400" b="1" kern="1200" dirty="0">
                          <a:solidFill>
                            <a:schemeClr val="accent6"/>
                          </a:solidFill>
                          <a:latin typeface="+mn-lt"/>
                          <a:ea typeface="+mn-ea"/>
                          <a:cs typeface="+mn-cs"/>
                        </a:rPr>
                        <a:t>account is superclass</a:t>
                      </a:r>
                      <a:r>
                        <a:rPr lang="en-GB" sz="2400" b="0" kern="1200" dirty="0">
                          <a:solidFill>
                            <a:schemeClr val="dk1"/>
                          </a:solidFill>
                          <a:latin typeface="+mn-lt"/>
                          <a:ea typeface="+mn-ea"/>
                          <a:cs typeface="+mn-cs"/>
                        </a:rPr>
                        <a:t>.</a:t>
                      </a:r>
                      <a:endParaRPr lang="en-US" sz="24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GB" sz="2400" b="0" kern="1200" dirty="0" err="1">
                          <a:solidFill>
                            <a:schemeClr val="dk1"/>
                          </a:solidFill>
                          <a:latin typeface="+mn-lt"/>
                          <a:ea typeface="+mn-ea"/>
                          <a:cs typeface="+mn-cs"/>
                        </a:rPr>
                        <a:t>E.g</a:t>
                      </a:r>
                      <a:r>
                        <a:rPr lang="en-GB" sz="2400" b="0" kern="1200" dirty="0">
                          <a:solidFill>
                            <a:schemeClr val="dk1"/>
                          </a:solidFill>
                          <a:latin typeface="+mn-lt"/>
                          <a:ea typeface="+mn-ea"/>
                          <a:cs typeface="+mn-cs"/>
                        </a:rPr>
                        <a:t>, </a:t>
                      </a:r>
                    </a:p>
                    <a:p>
                      <a:pPr marL="0" algn="l" defTabSz="914400" rtl="0" eaLnBrk="1" latinLnBrk="0" hangingPunct="1"/>
                      <a:r>
                        <a:rPr lang="en-GB" sz="2400" b="0" kern="1200" dirty="0" err="1">
                          <a:solidFill>
                            <a:schemeClr val="dk1"/>
                          </a:solidFill>
                          <a:latin typeface="+mn-lt"/>
                          <a:ea typeface="+mn-ea"/>
                          <a:cs typeface="+mn-cs"/>
                        </a:rPr>
                        <a:t>saving_account</a:t>
                      </a:r>
                      <a:r>
                        <a:rPr lang="en-GB" sz="2400" b="0" kern="1200" dirty="0">
                          <a:solidFill>
                            <a:schemeClr val="dk1"/>
                          </a:solidFill>
                          <a:latin typeface="+mn-lt"/>
                          <a:ea typeface="+mn-ea"/>
                          <a:cs typeface="+mn-cs"/>
                        </a:rPr>
                        <a:t> and </a:t>
                      </a:r>
                      <a:r>
                        <a:rPr lang="en-GB" sz="2400" b="0" kern="1200" dirty="0" err="1">
                          <a:solidFill>
                            <a:schemeClr val="dk1"/>
                          </a:solidFill>
                          <a:latin typeface="+mn-lt"/>
                          <a:ea typeface="+mn-ea"/>
                          <a:cs typeface="+mn-cs"/>
                        </a:rPr>
                        <a:t>current_account</a:t>
                      </a:r>
                      <a:r>
                        <a:rPr lang="en-GB" sz="2400" b="0" kern="1200" dirty="0">
                          <a:solidFill>
                            <a:schemeClr val="dk1"/>
                          </a:solidFill>
                          <a:latin typeface="+mn-lt"/>
                          <a:ea typeface="+mn-ea"/>
                          <a:cs typeface="+mn-cs"/>
                        </a:rPr>
                        <a:t> entities are derived from entity account. </a:t>
                      </a:r>
                    </a:p>
                    <a:p>
                      <a:pPr marL="0" algn="l" defTabSz="914400" rtl="0" eaLnBrk="1" latinLnBrk="0" hangingPunct="1"/>
                      <a:r>
                        <a:rPr lang="en-GB" sz="2400" b="0" kern="1200" dirty="0">
                          <a:solidFill>
                            <a:schemeClr val="dk1"/>
                          </a:solidFill>
                          <a:latin typeface="+mn-lt"/>
                          <a:ea typeface="+mn-ea"/>
                          <a:cs typeface="+mn-cs"/>
                        </a:rPr>
                        <a:t>So </a:t>
                      </a:r>
                      <a:r>
                        <a:rPr lang="en-GB" sz="2400" b="1" kern="1200" dirty="0" err="1">
                          <a:solidFill>
                            <a:schemeClr val="accent6"/>
                          </a:solidFill>
                          <a:latin typeface="+mn-lt"/>
                          <a:ea typeface="+mn-ea"/>
                          <a:cs typeface="+mn-cs"/>
                        </a:rPr>
                        <a:t>saving_account</a:t>
                      </a:r>
                      <a:r>
                        <a:rPr lang="en-GB" sz="2400" b="1" kern="1200" dirty="0">
                          <a:solidFill>
                            <a:schemeClr val="accent6"/>
                          </a:solidFill>
                          <a:latin typeface="+mn-lt"/>
                          <a:ea typeface="+mn-ea"/>
                          <a:cs typeface="+mn-cs"/>
                        </a:rPr>
                        <a:t> and </a:t>
                      </a:r>
                      <a:r>
                        <a:rPr lang="en-GB" sz="2400" b="1" kern="1200" dirty="0" err="1">
                          <a:solidFill>
                            <a:schemeClr val="accent6"/>
                          </a:solidFill>
                          <a:latin typeface="+mn-lt"/>
                          <a:ea typeface="+mn-ea"/>
                          <a:cs typeface="+mn-cs"/>
                        </a:rPr>
                        <a:t>current_account</a:t>
                      </a:r>
                      <a:r>
                        <a:rPr lang="en-GB" sz="2400" b="1" kern="1200" dirty="0">
                          <a:solidFill>
                            <a:schemeClr val="accent6"/>
                          </a:solidFill>
                          <a:latin typeface="+mn-lt"/>
                          <a:ea typeface="+mn-ea"/>
                          <a:cs typeface="+mn-cs"/>
                        </a:rPr>
                        <a:t> are subclass</a:t>
                      </a:r>
                      <a:r>
                        <a:rPr lang="en-GB" sz="2400" b="0" kern="1200" dirty="0">
                          <a:solidFill>
                            <a:schemeClr val="dk1"/>
                          </a:solidFill>
                          <a:latin typeface="+mn-lt"/>
                          <a:ea typeface="+mn-ea"/>
                          <a:cs typeface="+mn-cs"/>
                        </a:rPr>
                        <a:t>.</a:t>
                      </a:r>
                      <a:endParaRPr lang="en-US"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1" name="Rectangle 40"/>
          <p:cNvSpPr/>
          <p:nvPr/>
        </p:nvSpPr>
        <p:spPr>
          <a:xfrm>
            <a:off x="3312696" y="4366391"/>
            <a:ext cx="1828800" cy="5400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Account</a:t>
            </a:r>
          </a:p>
        </p:txBody>
      </p:sp>
      <p:sp>
        <p:nvSpPr>
          <p:cNvPr id="42" name="Rectangle 41"/>
          <p:cNvSpPr/>
          <p:nvPr/>
        </p:nvSpPr>
        <p:spPr>
          <a:xfrm>
            <a:off x="2169696" y="5179595"/>
            <a:ext cx="1828800" cy="5400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Saving_Account</a:t>
            </a:r>
            <a:endParaRPr lang="en-US" dirty="0">
              <a:solidFill>
                <a:schemeClr val="tx1"/>
              </a:solidFill>
            </a:endParaRPr>
          </a:p>
        </p:txBody>
      </p:sp>
      <p:sp>
        <p:nvSpPr>
          <p:cNvPr id="43" name="Rectangle 42"/>
          <p:cNvSpPr/>
          <p:nvPr/>
        </p:nvSpPr>
        <p:spPr>
          <a:xfrm>
            <a:off x="4455696" y="5179595"/>
            <a:ext cx="1828800" cy="5400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Current_Account</a:t>
            </a:r>
            <a:endParaRPr lang="en-US" dirty="0">
              <a:solidFill>
                <a:schemeClr val="tx1"/>
              </a:solidFill>
            </a:endParaRPr>
          </a:p>
        </p:txBody>
      </p:sp>
      <p:cxnSp>
        <p:nvCxnSpPr>
          <p:cNvPr id="44" name="Straight Connector 43"/>
          <p:cNvCxnSpPr>
            <a:stCxn id="41" idx="2"/>
            <a:endCxn id="42" idx="0"/>
          </p:cNvCxnSpPr>
          <p:nvPr/>
        </p:nvCxnSpPr>
        <p:spPr>
          <a:xfrm flipH="1">
            <a:off x="3084096" y="4906391"/>
            <a:ext cx="1143000" cy="27320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41" idx="2"/>
            <a:endCxn id="43" idx="0"/>
          </p:cNvCxnSpPr>
          <p:nvPr/>
        </p:nvCxnSpPr>
        <p:spPr>
          <a:xfrm>
            <a:off x="4227096" y="4906391"/>
            <a:ext cx="1143000" cy="27320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8341896" y="4346621"/>
            <a:ext cx="1371600" cy="205740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7" name="Oval 46"/>
          <p:cNvSpPr/>
          <p:nvPr/>
        </p:nvSpPr>
        <p:spPr>
          <a:xfrm>
            <a:off x="8722896" y="4460921"/>
            <a:ext cx="609600" cy="76200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8" name="Oval 47"/>
          <p:cNvSpPr/>
          <p:nvPr/>
        </p:nvSpPr>
        <p:spPr>
          <a:xfrm>
            <a:off x="8722896" y="5489621"/>
            <a:ext cx="609600" cy="762000"/>
          </a:xfrm>
          <a:prstGeom prst="ellipse">
            <a:avLst/>
          </a:prstGeom>
          <a:ln>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9" name="TextBox 48"/>
          <p:cNvSpPr txBox="1"/>
          <p:nvPr/>
        </p:nvSpPr>
        <p:spPr>
          <a:xfrm>
            <a:off x="6498809" y="4344274"/>
            <a:ext cx="1295400" cy="369332"/>
          </a:xfrm>
          <a:prstGeom prst="rect">
            <a:avLst/>
          </a:prstGeom>
          <a:noFill/>
        </p:spPr>
        <p:txBody>
          <a:bodyPr wrap="square" rtlCol="0">
            <a:spAutoFit/>
          </a:bodyPr>
          <a:lstStyle/>
          <a:p>
            <a:pPr algn="ctr"/>
            <a:r>
              <a:rPr lang="en-US" dirty="0"/>
              <a:t>Super Class</a:t>
            </a:r>
          </a:p>
        </p:txBody>
      </p:sp>
      <p:sp>
        <p:nvSpPr>
          <p:cNvPr id="50" name="TextBox 49"/>
          <p:cNvSpPr txBox="1"/>
          <p:nvPr/>
        </p:nvSpPr>
        <p:spPr>
          <a:xfrm>
            <a:off x="6513096" y="6067563"/>
            <a:ext cx="1295400" cy="369332"/>
          </a:xfrm>
          <a:prstGeom prst="rect">
            <a:avLst/>
          </a:prstGeom>
          <a:noFill/>
        </p:spPr>
        <p:txBody>
          <a:bodyPr wrap="square" rtlCol="0">
            <a:spAutoFit/>
          </a:bodyPr>
          <a:lstStyle/>
          <a:p>
            <a:pPr algn="ctr"/>
            <a:r>
              <a:rPr lang="en-US" dirty="0"/>
              <a:t>Sub Class</a:t>
            </a:r>
          </a:p>
        </p:txBody>
      </p:sp>
      <p:cxnSp>
        <p:nvCxnSpPr>
          <p:cNvPr id="51" name="Straight Arrow Connector 50"/>
          <p:cNvCxnSpPr>
            <a:stCxn id="49" idx="3"/>
            <a:endCxn id="46" idx="1"/>
          </p:cNvCxnSpPr>
          <p:nvPr/>
        </p:nvCxnSpPr>
        <p:spPr>
          <a:xfrm>
            <a:off x="7794209" y="4528940"/>
            <a:ext cx="748553" cy="118980"/>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49" idx="1"/>
            <a:endCxn id="41" idx="3"/>
          </p:cNvCxnSpPr>
          <p:nvPr/>
        </p:nvCxnSpPr>
        <p:spPr>
          <a:xfrm flipH="1">
            <a:off x="5141496" y="4528940"/>
            <a:ext cx="1357313" cy="107451"/>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50" idx="1"/>
          </p:cNvCxnSpPr>
          <p:nvPr/>
        </p:nvCxnSpPr>
        <p:spPr>
          <a:xfrm flipH="1" flipV="1">
            <a:off x="3084096" y="5719595"/>
            <a:ext cx="3429000" cy="532634"/>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endCxn id="43" idx="2"/>
          </p:cNvCxnSpPr>
          <p:nvPr/>
        </p:nvCxnSpPr>
        <p:spPr>
          <a:xfrm flipH="1" flipV="1">
            <a:off x="5370096" y="5719595"/>
            <a:ext cx="1128714" cy="532634"/>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50" idx="3"/>
          </p:cNvCxnSpPr>
          <p:nvPr/>
        </p:nvCxnSpPr>
        <p:spPr>
          <a:xfrm flipV="1">
            <a:off x="7808496" y="4841921"/>
            <a:ext cx="914400" cy="1410308"/>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50" idx="3"/>
            <a:endCxn id="48" idx="2"/>
          </p:cNvCxnSpPr>
          <p:nvPr/>
        </p:nvCxnSpPr>
        <p:spPr>
          <a:xfrm flipV="1">
            <a:off x="7808496" y="5870621"/>
            <a:ext cx="914400" cy="381608"/>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9304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500"/>
                                        <p:tgtEl>
                                          <p:spTgt spid="44"/>
                                        </p:tgtEl>
                                      </p:cBhvr>
                                    </p:animEffect>
                                  </p:childTnLst>
                                </p:cTn>
                              </p:par>
                              <p:par>
                                <p:cTn id="23" presetID="10"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fade">
                                      <p:cBhvr>
                                        <p:cTn id="25" dur="500"/>
                                        <p:tgtEl>
                                          <p:spTgt spid="4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500"/>
                                        <p:tgtEl>
                                          <p:spTgt spid="4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500"/>
                                        <p:tgtEl>
                                          <p:spTgt spid="4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fade">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fade">
                                      <p:cBhvr>
                                        <p:cTn id="41" dur="500"/>
                                        <p:tgtEl>
                                          <p:spTgt spid="4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8"/>
                                        </p:tgtEl>
                                        <p:attrNameLst>
                                          <p:attrName>style.visibility</p:attrName>
                                        </p:attrNameLst>
                                      </p:cBhvr>
                                      <p:to>
                                        <p:strVal val="visible"/>
                                      </p:to>
                                    </p:set>
                                    <p:animEffect transition="in" filter="fade">
                                      <p:cBhvr>
                                        <p:cTn id="44" dur="500"/>
                                        <p:tgtEl>
                                          <p:spTgt spid="4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fade">
                                      <p:cBhvr>
                                        <p:cTn id="49" dur="500"/>
                                        <p:tgtEl>
                                          <p:spTgt spid="49"/>
                                        </p:tgtEl>
                                      </p:cBhvr>
                                    </p:animEffect>
                                  </p:childTnLst>
                                </p:cTn>
                              </p:par>
                              <p:par>
                                <p:cTn id="50" presetID="10" presetClass="entr" presetSubtype="0" fill="hold" nodeType="withEffect">
                                  <p:stCondLst>
                                    <p:cond delay="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500"/>
                                        <p:tgtEl>
                                          <p:spTgt spid="52"/>
                                        </p:tgtEl>
                                      </p:cBhvr>
                                    </p:animEffect>
                                  </p:childTnLst>
                                </p:cTn>
                              </p:par>
                              <p:par>
                                <p:cTn id="53" presetID="10" presetClass="entr" presetSubtype="0" fill="hold" nodeType="withEffect">
                                  <p:stCondLst>
                                    <p:cond delay="0"/>
                                  </p:stCondLst>
                                  <p:childTnLst>
                                    <p:set>
                                      <p:cBhvr>
                                        <p:cTn id="54" dur="1" fill="hold">
                                          <p:stCondLst>
                                            <p:cond delay="0"/>
                                          </p:stCondLst>
                                        </p:cTn>
                                        <p:tgtEl>
                                          <p:spTgt spid="51"/>
                                        </p:tgtEl>
                                        <p:attrNameLst>
                                          <p:attrName>style.visibility</p:attrName>
                                        </p:attrNameLst>
                                      </p:cBhvr>
                                      <p:to>
                                        <p:strVal val="visible"/>
                                      </p:to>
                                    </p:set>
                                    <p:animEffect transition="in" filter="fade">
                                      <p:cBhvr>
                                        <p:cTn id="55" dur="500"/>
                                        <p:tgtEl>
                                          <p:spTgt spid="5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54"/>
                                        </p:tgtEl>
                                        <p:attrNameLst>
                                          <p:attrName>style.visibility</p:attrName>
                                        </p:attrNameLst>
                                      </p:cBhvr>
                                      <p:to>
                                        <p:strVal val="visible"/>
                                      </p:to>
                                    </p:set>
                                    <p:animEffect transition="in" filter="fade">
                                      <p:cBhvr>
                                        <p:cTn id="60" dur="500"/>
                                        <p:tgtEl>
                                          <p:spTgt spid="54"/>
                                        </p:tgtEl>
                                      </p:cBhvr>
                                    </p:animEffect>
                                  </p:childTnLst>
                                </p:cTn>
                              </p:par>
                              <p:par>
                                <p:cTn id="61" presetID="10" presetClass="entr" presetSubtype="0" fill="hold" nodeType="with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fade">
                                      <p:cBhvr>
                                        <p:cTn id="63" dur="500"/>
                                        <p:tgtEl>
                                          <p:spTgt spid="53"/>
                                        </p:tgtEl>
                                      </p:cBhvr>
                                    </p:animEffect>
                                  </p:childTnLst>
                                </p:cTn>
                              </p:par>
                              <p:par>
                                <p:cTn id="64" presetID="10" presetClass="entr" presetSubtype="0" fill="hold" nodeType="withEffect">
                                  <p:stCondLst>
                                    <p:cond delay="0"/>
                                  </p:stCondLst>
                                  <p:childTnLst>
                                    <p:set>
                                      <p:cBhvr>
                                        <p:cTn id="65" dur="1" fill="hold">
                                          <p:stCondLst>
                                            <p:cond delay="0"/>
                                          </p:stCondLst>
                                        </p:cTn>
                                        <p:tgtEl>
                                          <p:spTgt spid="55"/>
                                        </p:tgtEl>
                                        <p:attrNameLst>
                                          <p:attrName>style.visibility</p:attrName>
                                        </p:attrNameLst>
                                      </p:cBhvr>
                                      <p:to>
                                        <p:strVal val="visible"/>
                                      </p:to>
                                    </p:set>
                                    <p:animEffect transition="in" filter="fade">
                                      <p:cBhvr>
                                        <p:cTn id="66" dur="500"/>
                                        <p:tgtEl>
                                          <p:spTgt spid="55"/>
                                        </p:tgtEl>
                                      </p:cBhvr>
                                    </p:animEffect>
                                  </p:childTnLst>
                                </p:cTn>
                              </p:par>
                              <p:par>
                                <p:cTn id="67" presetID="10" presetClass="entr" presetSubtype="0" fill="hold" nodeType="withEffect">
                                  <p:stCondLst>
                                    <p:cond delay="0"/>
                                  </p:stCondLst>
                                  <p:childTnLst>
                                    <p:set>
                                      <p:cBhvr>
                                        <p:cTn id="68" dur="1" fill="hold">
                                          <p:stCondLst>
                                            <p:cond delay="0"/>
                                          </p:stCondLst>
                                        </p:cTn>
                                        <p:tgtEl>
                                          <p:spTgt spid="56"/>
                                        </p:tgtEl>
                                        <p:attrNameLst>
                                          <p:attrName>style.visibility</p:attrName>
                                        </p:attrNameLst>
                                      </p:cBhvr>
                                      <p:to>
                                        <p:strVal val="visible"/>
                                      </p:to>
                                    </p:set>
                                    <p:animEffect transition="in" filter="fade">
                                      <p:cBhvr>
                                        <p:cTn id="69" dur="500"/>
                                        <p:tgtEl>
                                          <p:spTgt spid="5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fade">
                                      <p:cBhvr>
                                        <p:cTn id="72" dur="500"/>
                                        <p:tgtEl>
                                          <p:spTgt spid="5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6" grpId="0" animBg="1"/>
      <p:bldP spid="47" grpId="0" animBg="1"/>
      <p:bldP spid="48" grpId="0" animBg="1"/>
      <p:bldP spid="49" grpId="0"/>
      <p:bldP spid="5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Generalization v/s Specialization</a:t>
            </a:r>
          </a:p>
        </p:txBody>
      </p:sp>
      <p:sp>
        <p:nvSpPr>
          <p:cNvPr id="5" name="Text Placeholder 4"/>
          <p:cNvSpPr>
            <a:spLocks noGrp="1"/>
          </p:cNvSpPr>
          <p:nvPr>
            <p:ph type="body" idx="1"/>
          </p:nvPr>
        </p:nvSpPr>
        <p:spPr/>
        <p:txBody>
          <a:bodyPr/>
          <a:lstStyle/>
          <a:p>
            <a:r>
              <a:rPr lang="en-US" dirty="0"/>
              <a:t>Section - 7</a:t>
            </a:r>
          </a:p>
          <a:p>
            <a:endParaRPr lang="en-US" dirty="0"/>
          </a:p>
        </p:txBody>
      </p:sp>
    </p:spTree>
    <p:extLst>
      <p:ext uri="{BB962C8B-B14F-4D97-AF65-F5344CB8AC3E}">
        <p14:creationId xmlns:p14="http://schemas.microsoft.com/office/powerpoint/2010/main" val="30781654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Generalization v/s Specialization</a:t>
            </a:r>
          </a:p>
        </p:txBody>
      </p:sp>
      <p:sp>
        <p:nvSpPr>
          <p:cNvPr id="5" name="Content Placeholder 4"/>
          <p:cNvSpPr>
            <a:spLocks noGrp="1"/>
          </p:cNvSpPr>
          <p:nvPr>
            <p:ph idx="1"/>
          </p:nvPr>
        </p:nvSpPr>
        <p:spPr/>
        <p:txBody>
          <a:bodyPr/>
          <a:lstStyle/>
          <a:p>
            <a:endParaRPr lang="en-GB" dirty="0"/>
          </a:p>
        </p:txBody>
      </p:sp>
      <p:graphicFrame>
        <p:nvGraphicFramePr>
          <p:cNvPr id="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985795425"/>
              </p:ext>
            </p:extLst>
          </p:nvPr>
        </p:nvGraphicFramePr>
        <p:xfrm>
          <a:off x="131178" y="859690"/>
          <a:ext cx="11929642" cy="630000"/>
        </p:xfrm>
        <a:graphic>
          <a:graphicData uri="http://schemas.openxmlformats.org/drawingml/2006/table">
            <a:tbl>
              <a:tblPr firstRow="1" bandRow="1">
                <a:tableStyleId>{8EC20E35-A176-4012-BC5E-935CFFF8708E}</a:tableStyleId>
              </a:tblPr>
              <a:tblGrid>
                <a:gridCol w="5964821">
                  <a:extLst>
                    <a:ext uri="{9D8B030D-6E8A-4147-A177-3AD203B41FA5}">
                      <a16:colId xmlns:a16="http://schemas.microsoft.com/office/drawing/2014/main" val="20000"/>
                    </a:ext>
                  </a:extLst>
                </a:gridCol>
                <a:gridCol w="5964821">
                  <a:extLst>
                    <a:ext uri="{9D8B030D-6E8A-4147-A177-3AD203B41FA5}">
                      <a16:colId xmlns:a16="http://schemas.microsoft.com/office/drawing/2014/main" val="20001"/>
                    </a:ext>
                  </a:extLst>
                </a:gridCol>
              </a:tblGrid>
              <a:tr h="630000">
                <a:tc>
                  <a:txBody>
                    <a:bodyPr/>
                    <a:lstStyle/>
                    <a:p>
                      <a:pPr algn="l"/>
                      <a:r>
                        <a:rPr lang="en-US" sz="2400" b="1" dirty="0">
                          <a:solidFill>
                            <a:schemeClr val="tx1"/>
                          </a:solidFill>
                        </a:rPr>
                        <a:t>Generalization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2400" kern="1200" dirty="0">
                          <a:solidFill>
                            <a:schemeClr val="tx1"/>
                          </a:solidFill>
                        </a:rPr>
                        <a:t>Specialization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7"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516730260"/>
              </p:ext>
            </p:extLst>
          </p:nvPr>
        </p:nvGraphicFramePr>
        <p:xfrm>
          <a:off x="131178" y="1503193"/>
          <a:ext cx="11929642" cy="822960"/>
        </p:xfrm>
        <a:graphic>
          <a:graphicData uri="http://schemas.openxmlformats.org/drawingml/2006/table">
            <a:tbl>
              <a:tblPr firstRow="1" bandRow="1">
                <a:tableStyleId>{8EC20E35-A176-4012-BC5E-935CFFF8708E}</a:tableStyleId>
              </a:tblPr>
              <a:tblGrid>
                <a:gridCol w="5964821">
                  <a:extLst>
                    <a:ext uri="{9D8B030D-6E8A-4147-A177-3AD203B41FA5}">
                      <a16:colId xmlns:a16="http://schemas.microsoft.com/office/drawing/2014/main" val="20000"/>
                    </a:ext>
                  </a:extLst>
                </a:gridCol>
                <a:gridCol w="5964821">
                  <a:extLst>
                    <a:ext uri="{9D8B030D-6E8A-4147-A177-3AD203B41FA5}">
                      <a16:colId xmlns:a16="http://schemas.microsoft.com/office/drawing/2014/main" val="20001"/>
                    </a:ext>
                  </a:extLst>
                </a:gridCol>
              </a:tblGrid>
              <a:tr h="540000">
                <a:tc>
                  <a:txBody>
                    <a:bodyPr/>
                    <a:lstStyle/>
                    <a:p>
                      <a:r>
                        <a:rPr lang="en-US" sz="2400" b="0" kern="1200" dirty="0">
                          <a:solidFill>
                            <a:schemeClr val="dk1"/>
                          </a:solidFill>
                          <a:latin typeface="+mn-lt"/>
                          <a:ea typeface="+mn-ea"/>
                          <a:cs typeface="+mn-cs"/>
                        </a:rPr>
                        <a:t>It </a:t>
                      </a:r>
                      <a:r>
                        <a:rPr lang="en-US" sz="2400" b="1" kern="1200" dirty="0">
                          <a:solidFill>
                            <a:schemeClr val="accent6"/>
                          </a:solidFill>
                          <a:latin typeface="+mn-lt"/>
                          <a:ea typeface="+mn-ea"/>
                          <a:cs typeface="+mn-cs"/>
                        </a:rPr>
                        <a:t>extracts the common features </a:t>
                      </a:r>
                      <a:r>
                        <a:rPr lang="en-US" sz="2400" b="0" kern="1200" dirty="0">
                          <a:solidFill>
                            <a:schemeClr val="dk1"/>
                          </a:solidFill>
                          <a:latin typeface="+mn-lt"/>
                          <a:ea typeface="+mn-ea"/>
                          <a:cs typeface="+mn-cs"/>
                        </a:rPr>
                        <a:t>of </a:t>
                      </a:r>
                      <a:r>
                        <a:rPr lang="en-US" sz="2400" b="1" kern="1200" dirty="0">
                          <a:solidFill>
                            <a:schemeClr val="accent6"/>
                          </a:solidFill>
                          <a:latin typeface="+mn-lt"/>
                          <a:ea typeface="+mn-ea"/>
                          <a:cs typeface="+mn-cs"/>
                        </a:rPr>
                        <a:t>multiple entities</a:t>
                      </a:r>
                      <a:r>
                        <a:rPr lang="en-US" sz="2400" b="0" kern="1200" dirty="0">
                          <a:solidFill>
                            <a:schemeClr val="dk1"/>
                          </a:solidFill>
                          <a:latin typeface="+mn-lt"/>
                          <a:ea typeface="+mn-ea"/>
                          <a:cs typeface="+mn-cs"/>
                        </a:rPr>
                        <a:t> to </a:t>
                      </a:r>
                      <a:r>
                        <a:rPr lang="en-US" sz="2400" b="1" kern="1200" dirty="0">
                          <a:solidFill>
                            <a:schemeClr val="accent6"/>
                          </a:solidFill>
                          <a:latin typeface="+mn-lt"/>
                          <a:ea typeface="+mn-ea"/>
                          <a:cs typeface="+mn-cs"/>
                        </a:rPr>
                        <a:t>form a new entity</a:t>
                      </a:r>
                      <a:r>
                        <a:rPr lang="en-US" sz="2400" b="0" kern="1200" dirty="0">
                          <a:solidFill>
                            <a:schemeClr val="dk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dirty="0">
                          <a:solidFill>
                            <a:schemeClr val="dk1"/>
                          </a:solidFill>
                          <a:latin typeface="+mn-lt"/>
                          <a:ea typeface="+mn-ea"/>
                          <a:cs typeface="+mn-cs"/>
                        </a:rPr>
                        <a:t>It </a:t>
                      </a:r>
                      <a:r>
                        <a:rPr lang="en-US" sz="2400" b="1" kern="1200" dirty="0">
                          <a:solidFill>
                            <a:schemeClr val="accent6"/>
                          </a:solidFill>
                          <a:latin typeface="+mn-lt"/>
                          <a:ea typeface="+mn-ea"/>
                          <a:cs typeface="+mn-cs"/>
                        </a:rPr>
                        <a:t>splits an entity to form multiple new entities </a:t>
                      </a:r>
                      <a:r>
                        <a:rPr lang="en-US" sz="2400" b="0" kern="1200" dirty="0">
                          <a:solidFill>
                            <a:schemeClr val="dk1"/>
                          </a:solidFill>
                          <a:latin typeface="+mn-lt"/>
                          <a:ea typeface="+mn-ea"/>
                          <a:cs typeface="+mn-cs"/>
                        </a:rPr>
                        <a:t>that </a:t>
                      </a:r>
                      <a:r>
                        <a:rPr lang="en-US" sz="2400" b="1" kern="1200" dirty="0">
                          <a:solidFill>
                            <a:schemeClr val="accent6"/>
                          </a:solidFill>
                          <a:latin typeface="+mn-lt"/>
                          <a:ea typeface="+mn-ea"/>
                          <a:cs typeface="+mn-cs"/>
                        </a:rPr>
                        <a:t>inherit some feature of the splitting entity</a:t>
                      </a:r>
                      <a:r>
                        <a:rPr lang="en-US" sz="2400" b="0" kern="1200" dirty="0">
                          <a:solidFill>
                            <a:schemeClr val="dk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615797905"/>
              </p:ext>
            </p:extLst>
          </p:nvPr>
        </p:nvGraphicFramePr>
        <p:xfrm>
          <a:off x="131178" y="2319178"/>
          <a:ext cx="11929642" cy="4114800"/>
        </p:xfrm>
        <a:graphic>
          <a:graphicData uri="http://schemas.openxmlformats.org/drawingml/2006/table">
            <a:tbl>
              <a:tblPr firstRow="1" bandRow="1">
                <a:tableStyleId>{8EC20E35-A176-4012-BC5E-935CFFF8708E}</a:tableStyleId>
              </a:tblPr>
              <a:tblGrid>
                <a:gridCol w="5964821">
                  <a:extLst>
                    <a:ext uri="{9D8B030D-6E8A-4147-A177-3AD203B41FA5}">
                      <a16:colId xmlns:a16="http://schemas.microsoft.com/office/drawing/2014/main" val="20000"/>
                    </a:ext>
                  </a:extLst>
                </a:gridCol>
                <a:gridCol w="5964821">
                  <a:extLst>
                    <a:ext uri="{9D8B030D-6E8A-4147-A177-3AD203B41FA5}">
                      <a16:colId xmlns:a16="http://schemas.microsoft.com/office/drawing/2014/main" val="20001"/>
                    </a:ext>
                  </a:extLst>
                </a:gridCol>
              </a:tblGrid>
              <a:tr h="540000">
                <a:tc>
                  <a:txBody>
                    <a:bodyPr/>
                    <a:lstStyle/>
                    <a:p>
                      <a:endParaRPr lang="en-US" sz="2400" b="0" kern="1200" dirty="0">
                        <a:solidFill>
                          <a:schemeClr val="dk1"/>
                        </a:solidFill>
                        <a:latin typeface="+mn-lt"/>
                        <a:ea typeface="+mn-ea"/>
                        <a:cs typeface="+mn-cs"/>
                      </a:endParaRPr>
                    </a:p>
                    <a:p>
                      <a:endParaRPr lang="en-US" sz="2400" b="0" kern="1200" dirty="0">
                        <a:solidFill>
                          <a:schemeClr val="dk1"/>
                        </a:solidFill>
                        <a:latin typeface="+mn-lt"/>
                        <a:ea typeface="+mn-ea"/>
                        <a:cs typeface="+mn-cs"/>
                      </a:endParaRPr>
                    </a:p>
                    <a:p>
                      <a:endParaRPr lang="en-US" sz="2400" b="0" kern="1200" dirty="0">
                        <a:solidFill>
                          <a:schemeClr val="dk1"/>
                        </a:solidFill>
                        <a:latin typeface="+mn-lt"/>
                        <a:ea typeface="+mn-ea"/>
                        <a:cs typeface="+mn-cs"/>
                      </a:endParaRPr>
                    </a:p>
                    <a:p>
                      <a:endParaRPr lang="en-US" sz="2400" b="0" kern="1200" dirty="0">
                        <a:solidFill>
                          <a:schemeClr val="dk1"/>
                        </a:solidFill>
                        <a:latin typeface="+mn-lt"/>
                        <a:ea typeface="+mn-ea"/>
                        <a:cs typeface="+mn-cs"/>
                      </a:endParaRPr>
                    </a:p>
                    <a:p>
                      <a:endParaRPr lang="en-US" sz="2400" b="0" kern="1200" dirty="0">
                        <a:solidFill>
                          <a:schemeClr val="dk1"/>
                        </a:solidFill>
                        <a:latin typeface="+mn-lt"/>
                        <a:ea typeface="+mn-ea"/>
                        <a:cs typeface="+mn-cs"/>
                      </a:endParaRPr>
                    </a:p>
                    <a:p>
                      <a:endParaRPr lang="en-US" sz="2400" b="0" kern="1200" dirty="0">
                        <a:solidFill>
                          <a:schemeClr val="dk1"/>
                        </a:solidFill>
                        <a:latin typeface="+mn-lt"/>
                        <a:ea typeface="+mn-ea"/>
                        <a:cs typeface="+mn-cs"/>
                      </a:endParaRPr>
                    </a:p>
                    <a:p>
                      <a:endParaRPr lang="en-US" sz="2400" b="0" kern="1200" dirty="0">
                        <a:solidFill>
                          <a:schemeClr val="dk1"/>
                        </a:solidFill>
                        <a:latin typeface="+mn-lt"/>
                        <a:ea typeface="+mn-ea"/>
                        <a:cs typeface="+mn-cs"/>
                      </a:endParaRPr>
                    </a:p>
                    <a:p>
                      <a:endParaRPr lang="en-US" sz="2400" b="0" kern="1200" dirty="0">
                        <a:solidFill>
                          <a:schemeClr val="dk1"/>
                        </a:solidFill>
                        <a:latin typeface="+mn-lt"/>
                        <a:ea typeface="+mn-ea"/>
                        <a:cs typeface="+mn-cs"/>
                      </a:endParaRPr>
                    </a:p>
                    <a:p>
                      <a:endParaRPr lang="en-US" sz="2400" b="0" kern="1200" dirty="0">
                        <a:solidFill>
                          <a:schemeClr val="dk1"/>
                        </a:solidFill>
                        <a:latin typeface="+mn-lt"/>
                        <a:ea typeface="+mn-ea"/>
                        <a:cs typeface="+mn-cs"/>
                      </a:endParaRPr>
                    </a:p>
                    <a:p>
                      <a:endParaRPr lang="en-US" sz="2400" b="0" kern="1200" dirty="0">
                        <a:solidFill>
                          <a:schemeClr val="dk1"/>
                        </a:solidFill>
                        <a:latin typeface="+mn-lt"/>
                        <a:ea typeface="+mn-ea"/>
                        <a:cs typeface="+mn-cs"/>
                      </a:endParaRPr>
                    </a:p>
                    <a:p>
                      <a:endParaRPr lang="en-US" sz="24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endParaRPr lang="en-US"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5" name="Rectangle 64"/>
          <p:cNvSpPr/>
          <p:nvPr/>
        </p:nvSpPr>
        <p:spPr>
          <a:xfrm>
            <a:off x="1084967" y="4748953"/>
            <a:ext cx="146304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Student</a:t>
            </a:r>
          </a:p>
        </p:txBody>
      </p:sp>
      <p:sp>
        <p:nvSpPr>
          <p:cNvPr id="66" name="Rectangle 65"/>
          <p:cNvSpPr/>
          <p:nvPr/>
        </p:nvSpPr>
        <p:spPr>
          <a:xfrm>
            <a:off x="3370967" y="4748953"/>
            <a:ext cx="146304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Faculty</a:t>
            </a:r>
          </a:p>
        </p:txBody>
      </p:sp>
      <p:sp>
        <p:nvSpPr>
          <p:cNvPr id="67" name="Oval 66"/>
          <p:cNvSpPr/>
          <p:nvPr/>
        </p:nvSpPr>
        <p:spPr>
          <a:xfrm>
            <a:off x="828527" y="3615438"/>
            <a:ext cx="1047750"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Name</a:t>
            </a:r>
          </a:p>
        </p:txBody>
      </p:sp>
      <p:sp>
        <p:nvSpPr>
          <p:cNvPr id="68" name="Oval 67"/>
          <p:cNvSpPr/>
          <p:nvPr/>
        </p:nvSpPr>
        <p:spPr>
          <a:xfrm>
            <a:off x="1658471" y="4052118"/>
            <a:ext cx="1357625"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Address</a:t>
            </a:r>
          </a:p>
        </p:txBody>
      </p:sp>
      <p:sp>
        <p:nvSpPr>
          <p:cNvPr id="69" name="Oval 68"/>
          <p:cNvSpPr/>
          <p:nvPr/>
        </p:nvSpPr>
        <p:spPr>
          <a:xfrm>
            <a:off x="1353671" y="5611287"/>
            <a:ext cx="907413"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SPI</a:t>
            </a:r>
          </a:p>
        </p:txBody>
      </p:sp>
      <p:sp>
        <p:nvSpPr>
          <p:cNvPr id="70" name="Oval 69"/>
          <p:cNvSpPr/>
          <p:nvPr/>
        </p:nvSpPr>
        <p:spPr>
          <a:xfrm>
            <a:off x="2815759" y="3618020"/>
            <a:ext cx="1071563"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Name</a:t>
            </a:r>
          </a:p>
        </p:txBody>
      </p:sp>
      <p:sp>
        <p:nvSpPr>
          <p:cNvPr id="71" name="Oval 70"/>
          <p:cNvSpPr/>
          <p:nvPr/>
        </p:nvSpPr>
        <p:spPr>
          <a:xfrm>
            <a:off x="3715871" y="4056490"/>
            <a:ext cx="1404937"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Address</a:t>
            </a:r>
          </a:p>
        </p:txBody>
      </p:sp>
      <p:sp>
        <p:nvSpPr>
          <p:cNvPr id="72" name="Oval 71"/>
          <p:cNvSpPr/>
          <p:nvPr/>
        </p:nvSpPr>
        <p:spPr>
          <a:xfrm>
            <a:off x="3564583" y="5611288"/>
            <a:ext cx="1064575"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Salary</a:t>
            </a:r>
          </a:p>
        </p:txBody>
      </p:sp>
      <p:cxnSp>
        <p:nvCxnSpPr>
          <p:cNvPr id="73" name="Straight Connector 72"/>
          <p:cNvCxnSpPr>
            <a:stCxn id="65" idx="0"/>
            <a:endCxn id="67" idx="4"/>
          </p:cNvCxnSpPr>
          <p:nvPr/>
        </p:nvCxnSpPr>
        <p:spPr>
          <a:xfrm flipH="1" flipV="1">
            <a:off x="1352402" y="4026918"/>
            <a:ext cx="464085" cy="722035"/>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Straight Connector 73"/>
          <p:cNvCxnSpPr>
            <a:stCxn id="65" idx="0"/>
            <a:endCxn id="68" idx="4"/>
          </p:cNvCxnSpPr>
          <p:nvPr/>
        </p:nvCxnSpPr>
        <p:spPr>
          <a:xfrm flipV="1">
            <a:off x="1816487" y="4463598"/>
            <a:ext cx="520797" cy="285355"/>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Straight Connector 74"/>
          <p:cNvCxnSpPr>
            <a:stCxn id="66" idx="0"/>
            <a:endCxn id="70" idx="4"/>
          </p:cNvCxnSpPr>
          <p:nvPr/>
        </p:nvCxnSpPr>
        <p:spPr>
          <a:xfrm flipH="1" flipV="1">
            <a:off x="3351541" y="4029500"/>
            <a:ext cx="750946" cy="719453"/>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Straight Connector 75"/>
          <p:cNvCxnSpPr>
            <a:stCxn id="66" idx="0"/>
            <a:endCxn id="71" idx="4"/>
          </p:cNvCxnSpPr>
          <p:nvPr/>
        </p:nvCxnSpPr>
        <p:spPr>
          <a:xfrm flipV="1">
            <a:off x="4102487" y="4467970"/>
            <a:ext cx="315853" cy="280983"/>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p:cNvCxnSpPr>
            <a:stCxn id="65" idx="2"/>
            <a:endCxn id="69" idx="0"/>
          </p:cNvCxnSpPr>
          <p:nvPr/>
        </p:nvCxnSpPr>
        <p:spPr>
          <a:xfrm flipH="1">
            <a:off x="1807378" y="5206153"/>
            <a:ext cx="9109" cy="40513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p:cNvCxnSpPr>
            <a:stCxn id="66" idx="2"/>
            <a:endCxn id="72" idx="0"/>
          </p:cNvCxnSpPr>
          <p:nvPr/>
        </p:nvCxnSpPr>
        <p:spPr>
          <a:xfrm flipH="1">
            <a:off x="4096871" y="5206153"/>
            <a:ext cx="5616" cy="405135"/>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79" name="Rectangle 78"/>
          <p:cNvSpPr/>
          <p:nvPr/>
        </p:nvSpPr>
        <p:spPr>
          <a:xfrm>
            <a:off x="2218442" y="3228329"/>
            <a:ext cx="146304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Person</a:t>
            </a:r>
          </a:p>
        </p:txBody>
      </p:sp>
      <p:sp>
        <p:nvSpPr>
          <p:cNvPr id="80" name="Oval 79"/>
          <p:cNvSpPr/>
          <p:nvPr/>
        </p:nvSpPr>
        <p:spPr>
          <a:xfrm>
            <a:off x="1899990" y="2501882"/>
            <a:ext cx="1071563"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Name</a:t>
            </a:r>
          </a:p>
        </p:txBody>
      </p:sp>
      <p:sp>
        <p:nvSpPr>
          <p:cNvPr id="81" name="Oval 80"/>
          <p:cNvSpPr/>
          <p:nvPr/>
        </p:nvSpPr>
        <p:spPr>
          <a:xfrm>
            <a:off x="3072934" y="2466329"/>
            <a:ext cx="1404937"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Address</a:t>
            </a:r>
          </a:p>
        </p:txBody>
      </p:sp>
      <p:cxnSp>
        <p:nvCxnSpPr>
          <p:cNvPr id="82" name="Straight Connector 81"/>
          <p:cNvCxnSpPr>
            <a:stCxn id="66" idx="0"/>
            <a:endCxn id="79" idx="2"/>
          </p:cNvCxnSpPr>
          <p:nvPr/>
        </p:nvCxnSpPr>
        <p:spPr>
          <a:xfrm flipH="1" flipV="1">
            <a:off x="2949962" y="3685529"/>
            <a:ext cx="1152525" cy="106342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p:cNvCxnSpPr>
            <a:stCxn id="65" idx="0"/>
            <a:endCxn id="79" idx="2"/>
          </p:cNvCxnSpPr>
          <p:nvPr/>
        </p:nvCxnSpPr>
        <p:spPr>
          <a:xfrm flipV="1">
            <a:off x="1816487" y="3685529"/>
            <a:ext cx="1133475" cy="106342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84" name="Straight Connector 83"/>
          <p:cNvCxnSpPr>
            <a:stCxn id="79" idx="0"/>
            <a:endCxn id="80" idx="4"/>
          </p:cNvCxnSpPr>
          <p:nvPr/>
        </p:nvCxnSpPr>
        <p:spPr>
          <a:xfrm flipH="1" flipV="1">
            <a:off x="2435772" y="2913362"/>
            <a:ext cx="514190" cy="314967"/>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85" name="Straight Connector 84"/>
          <p:cNvCxnSpPr>
            <a:stCxn id="81" idx="4"/>
            <a:endCxn id="79" idx="0"/>
          </p:cNvCxnSpPr>
          <p:nvPr/>
        </p:nvCxnSpPr>
        <p:spPr>
          <a:xfrm flipH="1">
            <a:off x="2949962" y="2877809"/>
            <a:ext cx="825441" cy="350520"/>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86" name="Flowchart: Merge 85"/>
          <p:cNvSpPr/>
          <p:nvPr/>
        </p:nvSpPr>
        <p:spPr>
          <a:xfrm>
            <a:off x="2536362" y="3994098"/>
            <a:ext cx="812798" cy="544671"/>
          </a:xfrm>
          <a:prstGeom prst="flowChartMerg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ISA</a:t>
            </a:r>
          </a:p>
        </p:txBody>
      </p:sp>
      <p:cxnSp>
        <p:nvCxnSpPr>
          <p:cNvPr id="87" name="Straight Connector 86"/>
          <p:cNvCxnSpPr>
            <a:stCxn id="79" idx="2"/>
            <a:endCxn id="86" idx="0"/>
          </p:cNvCxnSpPr>
          <p:nvPr/>
        </p:nvCxnSpPr>
        <p:spPr>
          <a:xfrm flipH="1">
            <a:off x="2942761" y="3685529"/>
            <a:ext cx="7201" cy="30856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88" name="Straight Connector 87"/>
          <p:cNvCxnSpPr>
            <a:stCxn id="65" idx="0"/>
            <a:endCxn id="86" idx="1"/>
          </p:cNvCxnSpPr>
          <p:nvPr/>
        </p:nvCxnSpPr>
        <p:spPr>
          <a:xfrm flipV="1">
            <a:off x="1816487" y="4266434"/>
            <a:ext cx="923075" cy="48251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Straight Connector 88"/>
          <p:cNvCxnSpPr>
            <a:stCxn id="66" idx="0"/>
            <a:endCxn id="86" idx="3"/>
          </p:cNvCxnSpPr>
          <p:nvPr/>
        </p:nvCxnSpPr>
        <p:spPr>
          <a:xfrm flipH="1" flipV="1">
            <a:off x="3145961" y="4266434"/>
            <a:ext cx="956526" cy="48251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90" name="Up Arrow 89"/>
          <p:cNvSpPr/>
          <p:nvPr/>
        </p:nvSpPr>
        <p:spPr>
          <a:xfrm>
            <a:off x="2615730" y="4024099"/>
            <a:ext cx="673546" cy="219456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scene3d>
              <a:camera prst="orthographicFront">
                <a:rot lat="0" lon="0" rev="0"/>
              </a:camera>
              <a:lightRig rig="threePt" dir="t"/>
            </a:scene3d>
          </a:bodyPr>
          <a:lstStyle/>
          <a:p>
            <a:pPr algn="ctr"/>
            <a:r>
              <a:rPr lang="en-US" dirty="0"/>
              <a:t>Bottom-up approach</a:t>
            </a:r>
            <a:endParaRPr lang="en-US" dirty="0">
              <a:pattFill prst="pct5">
                <a:fgClr>
                  <a:schemeClr val="accent1"/>
                </a:fgClr>
                <a:bgClr>
                  <a:schemeClr val="bg1"/>
                </a:bgClr>
              </a:pattFill>
            </a:endParaRPr>
          </a:p>
        </p:txBody>
      </p:sp>
      <p:sp>
        <p:nvSpPr>
          <p:cNvPr id="91" name="Rectangle 90"/>
          <p:cNvSpPr/>
          <p:nvPr/>
        </p:nvSpPr>
        <p:spPr>
          <a:xfrm>
            <a:off x="7129716" y="4746106"/>
            <a:ext cx="146304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Student</a:t>
            </a:r>
          </a:p>
        </p:txBody>
      </p:sp>
      <p:sp>
        <p:nvSpPr>
          <p:cNvPr id="92" name="Rectangle 91"/>
          <p:cNvSpPr/>
          <p:nvPr/>
        </p:nvSpPr>
        <p:spPr>
          <a:xfrm>
            <a:off x="9415716" y="4746106"/>
            <a:ext cx="146304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Faculty</a:t>
            </a:r>
          </a:p>
        </p:txBody>
      </p:sp>
      <p:sp>
        <p:nvSpPr>
          <p:cNvPr id="93" name="Rectangle 92"/>
          <p:cNvSpPr/>
          <p:nvPr/>
        </p:nvSpPr>
        <p:spPr>
          <a:xfrm>
            <a:off x="8315327" y="3226114"/>
            <a:ext cx="146304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Person</a:t>
            </a:r>
          </a:p>
        </p:txBody>
      </p:sp>
      <p:sp>
        <p:nvSpPr>
          <p:cNvPr id="94" name="Oval 93"/>
          <p:cNvSpPr/>
          <p:nvPr/>
        </p:nvSpPr>
        <p:spPr>
          <a:xfrm>
            <a:off x="7996875" y="2499667"/>
            <a:ext cx="1071563"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Name</a:t>
            </a:r>
          </a:p>
        </p:txBody>
      </p:sp>
      <p:sp>
        <p:nvSpPr>
          <p:cNvPr id="95" name="Oval 94"/>
          <p:cNvSpPr/>
          <p:nvPr/>
        </p:nvSpPr>
        <p:spPr>
          <a:xfrm>
            <a:off x="9169819" y="2464114"/>
            <a:ext cx="1404937"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Address</a:t>
            </a:r>
          </a:p>
        </p:txBody>
      </p:sp>
      <p:cxnSp>
        <p:nvCxnSpPr>
          <p:cNvPr id="96" name="Straight Connector 95"/>
          <p:cNvCxnSpPr>
            <a:stCxn id="93" idx="0"/>
            <a:endCxn id="94" idx="4"/>
          </p:cNvCxnSpPr>
          <p:nvPr/>
        </p:nvCxnSpPr>
        <p:spPr>
          <a:xfrm flipH="1" flipV="1">
            <a:off x="8532657" y="2911147"/>
            <a:ext cx="514190" cy="314967"/>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Straight Connector 96"/>
          <p:cNvCxnSpPr>
            <a:stCxn id="95" idx="4"/>
            <a:endCxn id="93" idx="0"/>
          </p:cNvCxnSpPr>
          <p:nvPr/>
        </p:nvCxnSpPr>
        <p:spPr>
          <a:xfrm flipH="1">
            <a:off x="9046847" y="2875594"/>
            <a:ext cx="825441" cy="350520"/>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98" name="Oval 97"/>
          <p:cNvSpPr/>
          <p:nvPr/>
        </p:nvSpPr>
        <p:spPr>
          <a:xfrm>
            <a:off x="7044241" y="3049579"/>
            <a:ext cx="907413"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SPI</a:t>
            </a:r>
          </a:p>
        </p:txBody>
      </p:sp>
      <p:sp>
        <p:nvSpPr>
          <p:cNvPr id="99" name="Oval 98"/>
          <p:cNvSpPr/>
          <p:nvPr/>
        </p:nvSpPr>
        <p:spPr>
          <a:xfrm>
            <a:off x="10172906" y="3049579"/>
            <a:ext cx="1064575"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Salary</a:t>
            </a:r>
          </a:p>
        </p:txBody>
      </p:sp>
      <p:cxnSp>
        <p:nvCxnSpPr>
          <p:cNvPr id="100" name="Straight Connector 99"/>
          <p:cNvCxnSpPr>
            <a:stCxn id="99" idx="3"/>
            <a:endCxn id="93" idx="3"/>
          </p:cNvCxnSpPr>
          <p:nvPr/>
        </p:nvCxnSpPr>
        <p:spPr>
          <a:xfrm flipH="1">
            <a:off x="9778367" y="3400799"/>
            <a:ext cx="550442" cy="53915"/>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01" name="Straight Connector 100"/>
          <p:cNvCxnSpPr>
            <a:stCxn id="93" idx="1"/>
            <a:endCxn id="98" idx="5"/>
          </p:cNvCxnSpPr>
          <p:nvPr/>
        </p:nvCxnSpPr>
        <p:spPr>
          <a:xfrm flipH="1" flipV="1">
            <a:off x="7818766" y="3400799"/>
            <a:ext cx="496561" cy="53915"/>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02" name="Oval 101"/>
          <p:cNvSpPr/>
          <p:nvPr/>
        </p:nvSpPr>
        <p:spPr>
          <a:xfrm>
            <a:off x="7328427" y="5596372"/>
            <a:ext cx="907413"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SPI</a:t>
            </a:r>
          </a:p>
        </p:txBody>
      </p:sp>
      <p:sp>
        <p:nvSpPr>
          <p:cNvPr id="103" name="Oval 102"/>
          <p:cNvSpPr/>
          <p:nvPr/>
        </p:nvSpPr>
        <p:spPr>
          <a:xfrm>
            <a:off x="9568938" y="5608440"/>
            <a:ext cx="1064575"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Salary</a:t>
            </a:r>
          </a:p>
        </p:txBody>
      </p:sp>
      <p:cxnSp>
        <p:nvCxnSpPr>
          <p:cNvPr id="104" name="Straight Connector 103"/>
          <p:cNvCxnSpPr/>
          <p:nvPr/>
        </p:nvCxnSpPr>
        <p:spPr>
          <a:xfrm flipH="1">
            <a:off x="7782134" y="5203938"/>
            <a:ext cx="3493" cy="402336"/>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 name="Straight Connector 104"/>
          <p:cNvCxnSpPr/>
          <p:nvPr/>
        </p:nvCxnSpPr>
        <p:spPr>
          <a:xfrm>
            <a:off x="10101226" y="5216004"/>
            <a:ext cx="0" cy="402336"/>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Straight Connector 105"/>
          <p:cNvCxnSpPr>
            <a:stCxn id="92" idx="0"/>
            <a:endCxn id="93" idx="2"/>
          </p:cNvCxnSpPr>
          <p:nvPr/>
        </p:nvCxnSpPr>
        <p:spPr>
          <a:xfrm flipH="1" flipV="1">
            <a:off x="9046847" y="3683314"/>
            <a:ext cx="1100389" cy="1062792"/>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07" name="Straight Connector 106"/>
          <p:cNvCxnSpPr>
            <a:stCxn id="91" idx="0"/>
            <a:endCxn id="93" idx="2"/>
          </p:cNvCxnSpPr>
          <p:nvPr/>
        </p:nvCxnSpPr>
        <p:spPr>
          <a:xfrm flipV="1">
            <a:off x="7861236" y="3683314"/>
            <a:ext cx="1185611" cy="1062792"/>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08" name="Flowchart: Merge 107"/>
          <p:cNvSpPr/>
          <p:nvPr/>
        </p:nvSpPr>
        <p:spPr>
          <a:xfrm>
            <a:off x="8643022" y="3991251"/>
            <a:ext cx="812798" cy="544671"/>
          </a:xfrm>
          <a:prstGeom prst="flowChartMerg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ISA</a:t>
            </a:r>
            <a:endParaRPr lang="en-US" sz="1400" dirty="0">
              <a:solidFill>
                <a:schemeClr val="tx1"/>
              </a:solidFill>
            </a:endParaRPr>
          </a:p>
        </p:txBody>
      </p:sp>
      <p:cxnSp>
        <p:nvCxnSpPr>
          <p:cNvPr id="109" name="Straight Connector 108"/>
          <p:cNvCxnSpPr>
            <a:stCxn id="93" idx="2"/>
            <a:endCxn id="108" idx="0"/>
          </p:cNvCxnSpPr>
          <p:nvPr/>
        </p:nvCxnSpPr>
        <p:spPr>
          <a:xfrm>
            <a:off x="9046847" y="3683314"/>
            <a:ext cx="2574" cy="307937"/>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110" name="Straight Connector 109"/>
          <p:cNvCxnSpPr>
            <a:stCxn id="91" idx="0"/>
            <a:endCxn id="108" idx="1"/>
          </p:cNvCxnSpPr>
          <p:nvPr/>
        </p:nvCxnSpPr>
        <p:spPr>
          <a:xfrm flipV="1">
            <a:off x="7861236" y="4263587"/>
            <a:ext cx="984986" cy="48251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111" name="Straight Connector 110"/>
          <p:cNvCxnSpPr>
            <a:stCxn id="92" idx="0"/>
            <a:endCxn id="108" idx="3"/>
          </p:cNvCxnSpPr>
          <p:nvPr/>
        </p:nvCxnSpPr>
        <p:spPr>
          <a:xfrm flipH="1" flipV="1">
            <a:off x="9252621" y="4263587"/>
            <a:ext cx="894615" cy="48251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112" name="Up Arrow 111"/>
          <p:cNvSpPr/>
          <p:nvPr/>
        </p:nvSpPr>
        <p:spPr>
          <a:xfrm flipV="1">
            <a:off x="8708109" y="4021252"/>
            <a:ext cx="673546" cy="219740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vert="vert" rtlCol="0" anchor="ctr">
            <a:scene3d>
              <a:camera prst="orthographicFront">
                <a:rot lat="0" lon="0" rev="0"/>
              </a:camera>
              <a:lightRig rig="threePt" dir="t"/>
            </a:scene3d>
          </a:bodyPr>
          <a:lstStyle/>
          <a:p>
            <a:pPr algn="ctr"/>
            <a:r>
              <a:rPr lang="en-US" dirty="0">
                <a:pattFill prst="pct5">
                  <a:fgClr>
                    <a:schemeClr val="accent1"/>
                  </a:fgClr>
                  <a:bgClr>
                    <a:schemeClr val="bg1"/>
                  </a:bgClr>
                </a:pattFill>
              </a:rPr>
              <a:t>Top-down approach</a:t>
            </a:r>
          </a:p>
        </p:txBody>
      </p:sp>
    </p:spTree>
    <p:extLst>
      <p:ext uri="{BB962C8B-B14F-4D97-AF65-F5344CB8AC3E}">
        <p14:creationId xmlns:p14="http://schemas.microsoft.com/office/powerpoint/2010/main" val="3461794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fade">
                                      <p:cBhvr>
                                        <p:cTn id="22" dur="500"/>
                                        <p:tgtEl>
                                          <p:spTgt spid="6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6"/>
                                        </p:tgtEl>
                                        <p:attrNameLst>
                                          <p:attrName>style.visibility</p:attrName>
                                        </p:attrNameLst>
                                      </p:cBhvr>
                                      <p:to>
                                        <p:strVal val="visible"/>
                                      </p:to>
                                    </p:set>
                                    <p:animEffect transition="in" filter="fade">
                                      <p:cBhvr>
                                        <p:cTn id="25" dur="500"/>
                                        <p:tgtEl>
                                          <p:spTgt spid="66"/>
                                        </p:tgtEl>
                                      </p:cBhvr>
                                    </p:animEffect>
                                  </p:childTnLst>
                                </p:cTn>
                              </p:par>
                              <p:par>
                                <p:cTn id="26" presetID="10" presetClass="entr" presetSubtype="0" fill="hold" nodeType="withEffect">
                                  <p:stCondLst>
                                    <p:cond delay="0"/>
                                  </p:stCondLst>
                                  <p:childTnLst>
                                    <p:set>
                                      <p:cBhvr>
                                        <p:cTn id="27" dur="1" fill="hold">
                                          <p:stCondLst>
                                            <p:cond delay="0"/>
                                          </p:stCondLst>
                                        </p:cTn>
                                        <p:tgtEl>
                                          <p:spTgt spid="77"/>
                                        </p:tgtEl>
                                        <p:attrNameLst>
                                          <p:attrName>style.visibility</p:attrName>
                                        </p:attrNameLst>
                                      </p:cBhvr>
                                      <p:to>
                                        <p:strVal val="visible"/>
                                      </p:to>
                                    </p:set>
                                    <p:animEffect transition="in" filter="fade">
                                      <p:cBhvr>
                                        <p:cTn id="28" dur="500"/>
                                        <p:tgtEl>
                                          <p:spTgt spid="77"/>
                                        </p:tgtEl>
                                      </p:cBhvr>
                                    </p:animEffect>
                                  </p:childTnLst>
                                </p:cTn>
                              </p:par>
                              <p:par>
                                <p:cTn id="29" presetID="10" presetClass="entr" presetSubtype="0" fill="hold" nodeType="withEffect">
                                  <p:stCondLst>
                                    <p:cond delay="0"/>
                                  </p:stCondLst>
                                  <p:childTnLst>
                                    <p:set>
                                      <p:cBhvr>
                                        <p:cTn id="30" dur="1" fill="hold">
                                          <p:stCondLst>
                                            <p:cond delay="0"/>
                                          </p:stCondLst>
                                        </p:cTn>
                                        <p:tgtEl>
                                          <p:spTgt spid="78"/>
                                        </p:tgtEl>
                                        <p:attrNameLst>
                                          <p:attrName>style.visibility</p:attrName>
                                        </p:attrNameLst>
                                      </p:cBhvr>
                                      <p:to>
                                        <p:strVal val="visible"/>
                                      </p:to>
                                    </p:set>
                                    <p:animEffect transition="in" filter="fade">
                                      <p:cBhvr>
                                        <p:cTn id="31" dur="500"/>
                                        <p:tgtEl>
                                          <p:spTgt spid="7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2"/>
                                        </p:tgtEl>
                                        <p:attrNameLst>
                                          <p:attrName>style.visibility</p:attrName>
                                        </p:attrNameLst>
                                      </p:cBhvr>
                                      <p:to>
                                        <p:strVal val="visible"/>
                                      </p:to>
                                    </p:set>
                                    <p:animEffect transition="in" filter="fade">
                                      <p:cBhvr>
                                        <p:cTn id="34" dur="500"/>
                                        <p:tgtEl>
                                          <p:spTgt spid="7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fade">
                                      <p:cBhvr>
                                        <p:cTn id="37" dur="500"/>
                                        <p:tgtEl>
                                          <p:spTgt spid="69"/>
                                        </p:tgtEl>
                                      </p:cBhvr>
                                    </p:animEffect>
                                  </p:childTnLst>
                                </p:cTn>
                              </p:par>
                              <p:par>
                                <p:cTn id="38" presetID="10" presetClass="entr" presetSubtype="0" fill="hold" nodeType="withEffect">
                                  <p:stCondLst>
                                    <p:cond delay="0"/>
                                  </p:stCondLst>
                                  <p:childTnLst>
                                    <p:set>
                                      <p:cBhvr>
                                        <p:cTn id="39" dur="1" fill="hold">
                                          <p:stCondLst>
                                            <p:cond delay="0"/>
                                          </p:stCondLst>
                                        </p:cTn>
                                        <p:tgtEl>
                                          <p:spTgt spid="73"/>
                                        </p:tgtEl>
                                        <p:attrNameLst>
                                          <p:attrName>style.visibility</p:attrName>
                                        </p:attrNameLst>
                                      </p:cBhvr>
                                      <p:to>
                                        <p:strVal val="visible"/>
                                      </p:to>
                                    </p:set>
                                    <p:animEffect transition="in" filter="fade">
                                      <p:cBhvr>
                                        <p:cTn id="40" dur="500"/>
                                        <p:tgtEl>
                                          <p:spTgt spid="7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7"/>
                                        </p:tgtEl>
                                        <p:attrNameLst>
                                          <p:attrName>style.visibility</p:attrName>
                                        </p:attrNameLst>
                                      </p:cBhvr>
                                      <p:to>
                                        <p:strVal val="visible"/>
                                      </p:to>
                                    </p:set>
                                    <p:animEffect transition="in" filter="fade">
                                      <p:cBhvr>
                                        <p:cTn id="43" dur="500"/>
                                        <p:tgtEl>
                                          <p:spTgt spid="67"/>
                                        </p:tgtEl>
                                      </p:cBhvr>
                                    </p:animEffect>
                                  </p:childTnLst>
                                </p:cTn>
                              </p:par>
                              <p:par>
                                <p:cTn id="44" presetID="10" presetClass="entr" presetSubtype="0" fill="hold" nodeType="withEffect">
                                  <p:stCondLst>
                                    <p:cond delay="0"/>
                                  </p:stCondLst>
                                  <p:childTnLst>
                                    <p:set>
                                      <p:cBhvr>
                                        <p:cTn id="45" dur="1" fill="hold">
                                          <p:stCondLst>
                                            <p:cond delay="0"/>
                                          </p:stCondLst>
                                        </p:cTn>
                                        <p:tgtEl>
                                          <p:spTgt spid="74"/>
                                        </p:tgtEl>
                                        <p:attrNameLst>
                                          <p:attrName>style.visibility</p:attrName>
                                        </p:attrNameLst>
                                      </p:cBhvr>
                                      <p:to>
                                        <p:strVal val="visible"/>
                                      </p:to>
                                    </p:set>
                                    <p:animEffect transition="in" filter="fade">
                                      <p:cBhvr>
                                        <p:cTn id="46" dur="500"/>
                                        <p:tgtEl>
                                          <p:spTgt spid="7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8"/>
                                        </p:tgtEl>
                                        <p:attrNameLst>
                                          <p:attrName>style.visibility</p:attrName>
                                        </p:attrNameLst>
                                      </p:cBhvr>
                                      <p:to>
                                        <p:strVal val="visible"/>
                                      </p:to>
                                    </p:set>
                                    <p:animEffect transition="in" filter="fade">
                                      <p:cBhvr>
                                        <p:cTn id="49" dur="500"/>
                                        <p:tgtEl>
                                          <p:spTgt spid="68"/>
                                        </p:tgtEl>
                                      </p:cBhvr>
                                    </p:animEffect>
                                  </p:childTnLst>
                                </p:cTn>
                              </p:par>
                              <p:par>
                                <p:cTn id="50" presetID="10" presetClass="entr" presetSubtype="0" fill="hold" nodeType="withEffect">
                                  <p:stCondLst>
                                    <p:cond delay="0"/>
                                  </p:stCondLst>
                                  <p:childTnLst>
                                    <p:set>
                                      <p:cBhvr>
                                        <p:cTn id="51" dur="1" fill="hold">
                                          <p:stCondLst>
                                            <p:cond delay="0"/>
                                          </p:stCondLst>
                                        </p:cTn>
                                        <p:tgtEl>
                                          <p:spTgt spid="75"/>
                                        </p:tgtEl>
                                        <p:attrNameLst>
                                          <p:attrName>style.visibility</p:attrName>
                                        </p:attrNameLst>
                                      </p:cBhvr>
                                      <p:to>
                                        <p:strVal val="visible"/>
                                      </p:to>
                                    </p:set>
                                    <p:animEffect transition="in" filter="fade">
                                      <p:cBhvr>
                                        <p:cTn id="52" dur="500"/>
                                        <p:tgtEl>
                                          <p:spTgt spid="7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0"/>
                                        </p:tgtEl>
                                        <p:attrNameLst>
                                          <p:attrName>style.visibility</p:attrName>
                                        </p:attrNameLst>
                                      </p:cBhvr>
                                      <p:to>
                                        <p:strVal val="visible"/>
                                      </p:to>
                                    </p:set>
                                    <p:animEffect transition="in" filter="fade">
                                      <p:cBhvr>
                                        <p:cTn id="55" dur="500"/>
                                        <p:tgtEl>
                                          <p:spTgt spid="70"/>
                                        </p:tgtEl>
                                      </p:cBhvr>
                                    </p:animEffect>
                                  </p:childTnLst>
                                </p:cTn>
                              </p:par>
                              <p:par>
                                <p:cTn id="56" presetID="10" presetClass="entr" presetSubtype="0" fill="hold" nodeType="withEffect">
                                  <p:stCondLst>
                                    <p:cond delay="0"/>
                                  </p:stCondLst>
                                  <p:childTnLst>
                                    <p:set>
                                      <p:cBhvr>
                                        <p:cTn id="57" dur="1" fill="hold">
                                          <p:stCondLst>
                                            <p:cond delay="0"/>
                                          </p:stCondLst>
                                        </p:cTn>
                                        <p:tgtEl>
                                          <p:spTgt spid="76"/>
                                        </p:tgtEl>
                                        <p:attrNameLst>
                                          <p:attrName>style.visibility</p:attrName>
                                        </p:attrNameLst>
                                      </p:cBhvr>
                                      <p:to>
                                        <p:strVal val="visible"/>
                                      </p:to>
                                    </p:set>
                                    <p:animEffect transition="in" filter="fade">
                                      <p:cBhvr>
                                        <p:cTn id="58" dur="500"/>
                                        <p:tgtEl>
                                          <p:spTgt spid="7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71"/>
                                        </p:tgtEl>
                                        <p:attrNameLst>
                                          <p:attrName>style.visibility</p:attrName>
                                        </p:attrNameLst>
                                      </p:cBhvr>
                                      <p:to>
                                        <p:strVal val="visible"/>
                                      </p:to>
                                    </p:set>
                                    <p:animEffect transition="in" filter="fade">
                                      <p:cBhvr>
                                        <p:cTn id="61" dur="500"/>
                                        <p:tgtEl>
                                          <p:spTgt spid="71"/>
                                        </p:tgtEl>
                                      </p:cBhvr>
                                    </p:animEffect>
                                  </p:childTnLst>
                                </p:cTn>
                              </p:par>
                            </p:childTnLst>
                          </p:cTn>
                        </p:par>
                      </p:childTnLst>
                    </p:cTn>
                  </p:par>
                  <p:par>
                    <p:cTn id="62" fill="hold">
                      <p:stCondLst>
                        <p:cond delay="indefinite"/>
                      </p:stCondLst>
                      <p:childTnLst>
                        <p:par>
                          <p:cTn id="63" fill="hold">
                            <p:stCondLst>
                              <p:cond delay="0"/>
                            </p:stCondLst>
                            <p:childTnLst>
                              <p:par>
                                <p:cTn id="64" presetID="7" presetClass="emph" presetSubtype="2" fill="hold" nodeType="clickEffect">
                                  <p:stCondLst>
                                    <p:cond delay="0"/>
                                  </p:stCondLst>
                                  <p:childTnLst>
                                    <p:animClr clrSpc="rgb" dir="cw">
                                      <p:cBhvr>
                                        <p:cTn id="65" dur="2000" fill="hold"/>
                                        <p:tgtEl>
                                          <p:spTgt spid="67"/>
                                        </p:tgtEl>
                                        <p:attrNameLst>
                                          <p:attrName>stroke.color</p:attrName>
                                        </p:attrNameLst>
                                      </p:cBhvr>
                                      <p:to>
                                        <a:schemeClr val="accent2"/>
                                      </p:to>
                                    </p:animClr>
                                    <p:set>
                                      <p:cBhvr>
                                        <p:cTn id="66" dur="2000" fill="hold"/>
                                        <p:tgtEl>
                                          <p:spTgt spid="67"/>
                                        </p:tgtEl>
                                        <p:attrNameLst>
                                          <p:attrName>stroke.on</p:attrName>
                                        </p:attrNameLst>
                                      </p:cBhvr>
                                      <p:to>
                                        <p:strVal val="true"/>
                                      </p:to>
                                    </p:set>
                                  </p:childTnLst>
                                </p:cTn>
                              </p:par>
                              <p:par>
                                <p:cTn id="67" presetID="7" presetClass="emph" presetSubtype="2" fill="hold" nodeType="withEffect">
                                  <p:stCondLst>
                                    <p:cond delay="0"/>
                                  </p:stCondLst>
                                  <p:childTnLst>
                                    <p:animClr clrSpc="rgb" dir="cw">
                                      <p:cBhvr>
                                        <p:cTn id="68" dur="2000" fill="hold"/>
                                        <p:tgtEl>
                                          <p:spTgt spid="68"/>
                                        </p:tgtEl>
                                        <p:attrNameLst>
                                          <p:attrName>stroke.color</p:attrName>
                                        </p:attrNameLst>
                                      </p:cBhvr>
                                      <p:to>
                                        <a:schemeClr val="accent2"/>
                                      </p:to>
                                    </p:animClr>
                                    <p:set>
                                      <p:cBhvr>
                                        <p:cTn id="69" dur="2000" fill="hold"/>
                                        <p:tgtEl>
                                          <p:spTgt spid="68"/>
                                        </p:tgtEl>
                                        <p:attrNameLst>
                                          <p:attrName>stroke.on</p:attrName>
                                        </p:attrNameLst>
                                      </p:cBhvr>
                                      <p:to>
                                        <p:strVal val="true"/>
                                      </p:to>
                                    </p:set>
                                  </p:childTnLst>
                                </p:cTn>
                              </p:par>
                              <p:par>
                                <p:cTn id="70" presetID="7" presetClass="emph" presetSubtype="2" fill="hold" nodeType="withEffect">
                                  <p:stCondLst>
                                    <p:cond delay="0"/>
                                  </p:stCondLst>
                                  <p:childTnLst>
                                    <p:animClr clrSpc="rgb" dir="cw">
                                      <p:cBhvr>
                                        <p:cTn id="71" dur="2000" fill="hold"/>
                                        <p:tgtEl>
                                          <p:spTgt spid="70"/>
                                        </p:tgtEl>
                                        <p:attrNameLst>
                                          <p:attrName>stroke.color</p:attrName>
                                        </p:attrNameLst>
                                      </p:cBhvr>
                                      <p:to>
                                        <a:schemeClr val="accent2"/>
                                      </p:to>
                                    </p:animClr>
                                    <p:set>
                                      <p:cBhvr>
                                        <p:cTn id="72" dur="2000" fill="hold"/>
                                        <p:tgtEl>
                                          <p:spTgt spid="70"/>
                                        </p:tgtEl>
                                        <p:attrNameLst>
                                          <p:attrName>stroke.on</p:attrName>
                                        </p:attrNameLst>
                                      </p:cBhvr>
                                      <p:to>
                                        <p:strVal val="true"/>
                                      </p:to>
                                    </p:set>
                                  </p:childTnLst>
                                </p:cTn>
                              </p:par>
                              <p:par>
                                <p:cTn id="73" presetID="7" presetClass="emph" presetSubtype="2" fill="hold" nodeType="withEffect">
                                  <p:stCondLst>
                                    <p:cond delay="0"/>
                                  </p:stCondLst>
                                  <p:childTnLst>
                                    <p:animClr clrSpc="rgb" dir="cw">
                                      <p:cBhvr>
                                        <p:cTn id="74" dur="2000" fill="hold"/>
                                        <p:tgtEl>
                                          <p:spTgt spid="71"/>
                                        </p:tgtEl>
                                        <p:attrNameLst>
                                          <p:attrName>stroke.color</p:attrName>
                                        </p:attrNameLst>
                                      </p:cBhvr>
                                      <p:to>
                                        <a:schemeClr val="accent2"/>
                                      </p:to>
                                    </p:animClr>
                                    <p:set>
                                      <p:cBhvr>
                                        <p:cTn id="75" dur="2000" fill="hold"/>
                                        <p:tgtEl>
                                          <p:spTgt spid="71"/>
                                        </p:tgtEl>
                                        <p:attrNameLst>
                                          <p:attrName>stroke.on</p:attrName>
                                        </p:attrNameLst>
                                      </p:cBhvr>
                                      <p:to>
                                        <p:strVal val="true"/>
                                      </p:to>
                                    </p:se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79"/>
                                        </p:tgtEl>
                                        <p:attrNameLst>
                                          <p:attrName>style.visibility</p:attrName>
                                        </p:attrNameLst>
                                      </p:cBhvr>
                                      <p:to>
                                        <p:strVal val="visible"/>
                                      </p:to>
                                    </p:set>
                                    <p:animEffect transition="in" filter="fade">
                                      <p:cBhvr>
                                        <p:cTn id="80" dur="500"/>
                                        <p:tgtEl>
                                          <p:spTgt spid="79"/>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xit" presetSubtype="0" fill="hold" nodeType="clickEffect">
                                  <p:stCondLst>
                                    <p:cond delay="0"/>
                                  </p:stCondLst>
                                  <p:childTnLst>
                                    <p:animEffect transition="out" filter="fade">
                                      <p:cBhvr>
                                        <p:cTn id="84" dur="500"/>
                                        <p:tgtEl>
                                          <p:spTgt spid="73"/>
                                        </p:tgtEl>
                                      </p:cBhvr>
                                    </p:animEffect>
                                    <p:set>
                                      <p:cBhvr>
                                        <p:cTn id="85" dur="1" fill="hold">
                                          <p:stCondLst>
                                            <p:cond delay="499"/>
                                          </p:stCondLst>
                                        </p:cTn>
                                        <p:tgtEl>
                                          <p:spTgt spid="73"/>
                                        </p:tgtEl>
                                        <p:attrNameLst>
                                          <p:attrName>style.visibility</p:attrName>
                                        </p:attrNameLst>
                                      </p:cBhvr>
                                      <p:to>
                                        <p:strVal val="hidden"/>
                                      </p:to>
                                    </p:set>
                                  </p:childTnLst>
                                </p:cTn>
                              </p:par>
                              <p:par>
                                <p:cTn id="86" presetID="10" presetClass="exit" presetSubtype="0" fill="hold" grpId="1" nodeType="withEffect">
                                  <p:stCondLst>
                                    <p:cond delay="0"/>
                                  </p:stCondLst>
                                  <p:childTnLst>
                                    <p:animEffect transition="out" filter="fade">
                                      <p:cBhvr>
                                        <p:cTn id="87" dur="500"/>
                                        <p:tgtEl>
                                          <p:spTgt spid="67"/>
                                        </p:tgtEl>
                                      </p:cBhvr>
                                    </p:animEffect>
                                    <p:set>
                                      <p:cBhvr>
                                        <p:cTn id="88" dur="1" fill="hold">
                                          <p:stCondLst>
                                            <p:cond delay="499"/>
                                          </p:stCondLst>
                                        </p:cTn>
                                        <p:tgtEl>
                                          <p:spTgt spid="67"/>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500"/>
                                        <p:tgtEl>
                                          <p:spTgt spid="74"/>
                                        </p:tgtEl>
                                      </p:cBhvr>
                                    </p:animEffect>
                                    <p:set>
                                      <p:cBhvr>
                                        <p:cTn id="91" dur="1" fill="hold">
                                          <p:stCondLst>
                                            <p:cond delay="499"/>
                                          </p:stCondLst>
                                        </p:cTn>
                                        <p:tgtEl>
                                          <p:spTgt spid="74"/>
                                        </p:tgtEl>
                                        <p:attrNameLst>
                                          <p:attrName>style.visibility</p:attrName>
                                        </p:attrNameLst>
                                      </p:cBhvr>
                                      <p:to>
                                        <p:strVal val="hidden"/>
                                      </p:to>
                                    </p:set>
                                  </p:childTnLst>
                                </p:cTn>
                              </p:par>
                              <p:par>
                                <p:cTn id="92" presetID="10" presetClass="exit" presetSubtype="0" fill="hold" grpId="1" nodeType="withEffect">
                                  <p:stCondLst>
                                    <p:cond delay="0"/>
                                  </p:stCondLst>
                                  <p:childTnLst>
                                    <p:animEffect transition="out" filter="fade">
                                      <p:cBhvr>
                                        <p:cTn id="93" dur="500"/>
                                        <p:tgtEl>
                                          <p:spTgt spid="68"/>
                                        </p:tgtEl>
                                      </p:cBhvr>
                                    </p:animEffect>
                                    <p:set>
                                      <p:cBhvr>
                                        <p:cTn id="94" dur="1" fill="hold">
                                          <p:stCondLst>
                                            <p:cond delay="499"/>
                                          </p:stCondLst>
                                        </p:cTn>
                                        <p:tgtEl>
                                          <p:spTgt spid="68"/>
                                        </p:tgtEl>
                                        <p:attrNameLst>
                                          <p:attrName>style.visibility</p:attrName>
                                        </p:attrNameLst>
                                      </p:cBhvr>
                                      <p:to>
                                        <p:strVal val="hidden"/>
                                      </p:to>
                                    </p:set>
                                  </p:childTnLst>
                                </p:cTn>
                              </p:par>
                              <p:par>
                                <p:cTn id="95" presetID="10" presetClass="exit" presetSubtype="0" fill="hold" nodeType="withEffect">
                                  <p:stCondLst>
                                    <p:cond delay="0"/>
                                  </p:stCondLst>
                                  <p:childTnLst>
                                    <p:animEffect transition="out" filter="fade">
                                      <p:cBhvr>
                                        <p:cTn id="96" dur="500"/>
                                        <p:tgtEl>
                                          <p:spTgt spid="75"/>
                                        </p:tgtEl>
                                      </p:cBhvr>
                                    </p:animEffect>
                                    <p:set>
                                      <p:cBhvr>
                                        <p:cTn id="97" dur="1" fill="hold">
                                          <p:stCondLst>
                                            <p:cond delay="499"/>
                                          </p:stCondLst>
                                        </p:cTn>
                                        <p:tgtEl>
                                          <p:spTgt spid="75"/>
                                        </p:tgtEl>
                                        <p:attrNameLst>
                                          <p:attrName>style.visibility</p:attrName>
                                        </p:attrNameLst>
                                      </p:cBhvr>
                                      <p:to>
                                        <p:strVal val="hidden"/>
                                      </p:to>
                                    </p:set>
                                  </p:childTnLst>
                                </p:cTn>
                              </p:par>
                              <p:par>
                                <p:cTn id="98" presetID="10" presetClass="exit" presetSubtype="0" fill="hold" grpId="1" nodeType="withEffect">
                                  <p:stCondLst>
                                    <p:cond delay="0"/>
                                  </p:stCondLst>
                                  <p:childTnLst>
                                    <p:animEffect transition="out" filter="fade">
                                      <p:cBhvr>
                                        <p:cTn id="99" dur="500"/>
                                        <p:tgtEl>
                                          <p:spTgt spid="70"/>
                                        </p:tgtEl>
                                      </p:cBhvr>
                                    </p:animEffect>
                                    <p:set>
                                      <p:cBhvr>
                                        <p:cTn id="100" dur="1" fill="hold">
                                          <p:stCondLst>
                                            <p:cond delay="499"/>
                                          </p:stCondLst>
                                        </p:cTn>
                                        <p:tgtEl>
                                          <p:spTgt spid="70"/>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500"/>
                                        <p:tgtEl>
                                          <p:spTgt spid="76"/>
                                        </p:tgtEl>
                                      </p:cBhvr>
                                    </p:animEffect>
                                    <p:set>
                                      <p:cBhvr>
                                        <p:cTn id="103" dur="1" fill="hold">
                                          <p:stCondLst>
                                            <p:cond delay="499"/>
                                          </p:stCondLst>
                                        </p:cTn>
                                        <p:tgtEl>
                                          <p:spTgt spid="76"/>
                                        </p:tgtEl>
                                        <p:attrNameLst>
                                          <p:attrName>style.visibility</p:attrName>
                                        </p:attrNameLst>
                                      </p:cBhvr>
                                      <p:to>
                                        <p:strVal val="hidden"/>
                                      </p:to>
                                    </p:set>
                                  </p:childTnLst>
                                </p:cTn>
                              </p:par>
                              <p:par>
                                <p:cTn id="104" presetID="10" presetClass="exit" presetSubtype="0" fill="hold" grpId="1" nodeType="withEffect">
                                  <p:stCondLst>
                                    <p:cond delay="0"/>
                                  </p:stCondLst>
                                  <p:childTnLst>
                                    <p:animEffect transition="out" filter="fade">
                                      <p:cBhvr>
                                        <p:cTn id="105" dur="500"/>
                                        <p:tgtEl>
                                          <p:spTgt spid="71"/>
                                        </p:tgtEl>
                                      </p:cBhvr>
                                    </p:animEffect>
                                    <p:set>
                                      <p:cBhvr>
                                        <p:cTn id="106" dur="1" fill="hold">
                                          <p:stCondLst>
                                            <p:cond delay="499"/>
                                          </p:stCondLst>
                                        </p:cTn>
                                        <p:tgtEl>
                                          <p:spTgt spid="71"/>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84"/>
                                        </p:tgtEl>
                                        <p:attrNameLst>
                                          <p:attrName>style.visibility</p:attrName>
                                        </p:attrNameLst>
                                      </p:cBhvr>
                                      <p:to>
                                        <p:strVal val="visible"/>
                                      </p:to>
                                    </p:set>
                                    <p:animEffect transition="in" filter="fade">
                                      <p:cBhvr>
                                        <p:cTn id="111" dur="500"/>
                                        <p:tgtEl>
                                          <p:spTgt spid="8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80"/>
                                        </p:tgtEl>
                                        <p:attrNameLst>
                                          <p:attrName>style.visibility</p:attrName>
                                        </p:attrNameLst>
                                      </p:cBhvr>
                                      <p:to>
                                        <p:strVal val="visible"/>
                                      </p:to>
                                    </p:set>
                                    <p:animEffect transition="in" filter="fade">
                                      <p:cBhvr>
                                        <p:cTn id="114" dur="500"/>
                                        <p:tgtEl>
                                          <p:spTgt spid="8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81"/>
                                        </p:tgtEl>
                                        <p:attrNameLst>
                                          <p:attrName>style.visibility</p:attrName>
                                        </p:attrNameLst>
                                      </p:cBhvr>
                                      <p:to>
                                        <p:strVal val="visible"/>
                                      </p:to>
                                    </p:set>
                                    <p:animEffect transition="in" filter="fade">
                                      <p:cBhvr>
                                        <p:cTn id="117" dur="500"/>
                                        <p:tgtEl>
                                          <p:spTgt spid="81"/>
                                        </p:tgtEl>
                                      </p:cBhvr>
                                    </p:animEffect>
                                  </p:childTnLst>
                                </p:cTn>
                              </p:par>
                              <p:par>
                                <p:cTn id="118" presetID="10" presetClass="entr" presetSubtype="0" fill="hold" nodeType="withEffect">
                                  <p:stCondLst>
                                    <p:cond delay="0"/>
                                  </p:stCondLst>
                                  <p:childTnLst>
                                    <p:set>
                                      <p:cBhvr>
                                        <p:cTn id="119" dur="1" fill="hold">
                                          <p:stCondLst>
                                            <p:cond delay="0"/>
                                          </p:stCondLst>
                                        </p:cTn>
                                        <p:tgtEl>
                                          <p:spTgt spid="85"/>
                                        </p:tgtEl>
                                        <p:attrNameLst>
                                          <p:attrName>style.visibility</p:attrName>
                                        </p:attrNameLst>
                                      </p:cBhvr>
                                      <p:to>
                                        <p:strVal val="visible"/>
                                      </p:to>
                                    </p:set>
                                    <p:animEffect transition="in" filter="fade">
                                      <p:cBhvr>
                                        <p:cTn id="120" dur="500"/>
                                        <p:tgtEl>
                                          <p:spTgt spid="85"/>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83"/>
                                        </p:tgtEl>
                                        <p:attrNameLst>
                                          <p:attrName>style.visibility</p:attrName>
                                        </p:attrNameLst>
                                      </p:cBhvr>
                                      <p:to>
                                        <p:strVal val="visible"/>
                                      </p:to>
                                    </p:set>
                                    <p:animEffect transition="in" filter="fade">
                                      <p:cBhvr>
                                        <p:cTn id="125" dur="500"/>
                                        <p:tgtEl>
                                          <p:spTgt spid="83"/>
                                        </p:tgtEl>
                                      </p:cBhvr>
                                    </p:animEffect>
                                  </p:childTnLst>
                                </p:cTn>
                              </p:par>
                              <p:par>
                                <p:cTn id="126" presetID="10" presetClass="entr" presetSubtype="0" fill="hold" nodeType="withEffect">
                                  <p:stCondLst>
                                    <p:cond delay="0"/>
                                  </p:stCondLst>
                                  <p:childTnLst>
                                    <p:set>
                                      <p:cBhvr>
                                        <p:cTn id="127" dur="1" fill="hold">
                                          <p:stCondLst>
                                            <p:cond delay="0"/>
                                          </p:stCondLst>
                                        </p:cTn>
                                        <p:tgtEl>
                                          <p:spTgt spid="82"/>
                                        </p:tgtEl>
                                        <p:attrNameLst>
                                          <p:attrName>style.visibility</p:attrName>
                                        </p:attrNameLst>
                                      </p:cBhvr>
                                      <p:to>
                                        <p:strVal val="visible"/>
                                      </p:to>
                                    </p:set>
                                    <p:animEffect transition="in" filter="fade">
                                      <p:cBhvr>
                                        <p:cTn id="128" dur="500"/>
                                        <p:tgtEl>
                                          <p:spTgt spid="82"/>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xit" presetSubtype="0" fill="hold" nodeType="clickEffect">
                                  <p:stCondLst>
                                    <p:cond delay="0"/>
                                  </p:stCondLst>
                                  <p:childTnLst>
                                    <p:animEffect transition="out" filter="fade">
                                      <p:cBhvr>
                                        <p:cTn id="132" dur="500"/>
                                        <p:tgtEl>
                                          <p:spTgt spid="83"/>
                                        </p:tgtEl>
                                      </p:cBhvr>
                                    </p:animEffect>
                                    <p:set>
                                      <p:cBhvr>
                                        <p:cTn id="133" dur="1" fill="hold">
                                          <p:stCondLst>
                                            <p:cond delay="499"/>
                                          </p:stCondLst>
                                        </p:cTn>
                                        <p:tgtEl>
                                          <p:spTgt spid="83"/>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500"/>
                                        <p:tgtEl>
                                          <p:spTgt spid="82"/>
                                        </p:tgtEl>
                                      </p:cBhvr>
                                    </p:animEffect>
                                    <p:set>
                                      <p:cBhvr>
                                        <p:cTn id="136" dur="1" fill="hold">
                                          <p:stCondLst>
                                            <p:cond delay="499"/>
                                          </p:stCondLst>
                                        </p:cTn>
                                        <p:tgtEl>
                                          <p:spTgt spid="82"/>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87"/>
                                        </p:tgtEl>
                                        <p:attrNameLst>
                                          <p:attrName>style.visibility</p:attrName>
                                        </p:attrNameLst>
                                      </p:cBhvr>
                                      <p:to>
                                        <p:strVal val="visible"/>
                                      </p:to>
                                    </p:set>
                                    <p:animEffect transition="in" filter="fade">
                                      <p:cBhvr>
                                        <p:cTn id="141" dur="500"/>
                                        <p:tgtEl>
                                          <p:spTgt spid="87"/>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86"/>
                                        </p:tgtEl>
                                        <p:attrNameLst>
                                          <p:attrName>style.visibility</p:attrName>
                                        </p:attrNameLst>
                                      </p:cBhvr>
                                      <p:to>
                                        <p:strVal val="visible"/>
                                      </p:to>
                                    </p:set>
                                    <p:animEffect transition="in" filter="fade">
                                      <p:cBhvr>
                                        <p:cTn id="144" dur="500"/>
                                        <p:tgtEl>
                                          <p:spTgt spid="86"/>
                                        </p:tgtEl>
                                      </p:cBhvr>
                                    </p:animEffect>
                                  </p:childTnLst>
                                </p:cTn>
                              </p:par>
                              <p:par>
                                <p:cTn id="145" presetID="10" presetClass="entr" presetSubtype="0" fill="hold" nodeType="withEffect">
                                  <p:stCondLst>
                                    <p:cond delay="0"/>
                                  </p:stCondLst>
                                  <p:childTnLst>
                                    <p:set>
                                      <p:cBhvr>
                                        <p:cTn id="146" dur="1" fill="hold">
                                          <p:stCondLst>
                                            <p:cond delay="0"/>
                                          </p:stCondLst>
                                        </p:cTn>
                                        <p:tgtEl>
                                          <p:spTgt spid="88"/>
                                        </p:tgtEl>
                                        <p:attrNameLst>
                                          <p:attrName>style.visibility</p:attrName>
                                        </p:attrNameLst>
                                      </p:cBhvr>
                                      <p:to>
                                        <p:strVal val="visible"/>
                                      </p:to>
                                    </p:set>
                                    <p:animEffect transition="in" filter="fade">
                                      <p:cBhvr>
                                        <p:cTn id="147" dur="500"/>
                                        <p:tgtEl>
                                          <p:spTgt spid="88"/>
                                        </p:tgtEl>
                                      </p:cBhvr>
                                    </p:animEffect>
                                  </p:childTnLst>
                                </p:cTn>
                              </p:par>
                              <p:par>
                                <p:cTn id="148" presetID="10" presetClass="entr" presetSubtype="0" fill="hold" nodeType="withEffect">
                                  <p:stCondLst>
                                    <p:cond delay="0"/>
                                  </p:stCondLst>
                                  <p:childTnLst>
                                    <p:set>
                                      <p:cBhvr>
                                        <p:cTn id="149" dur="1" fill="hold">
                                          <p:stCondLst>
                                            <p:cond delay="0"/>
                                          </p:stCondLst>
                                        </p:cTn>
                                        <p:tgtEl>
                                          <p:spTgt spid="89"/>
                                        </p:tgtEl>
                                        <p:attrNameLst>
                                          <p:attrName>style.visibility</p:attrName>
                                        </p:attrNameLst>
                                      </p:cBhvr>
                                      <p:to>
                                        <p:strVal val="visible"/>
                                      </p:to>
                                    </p:set>
                                    <p:animEffect transition="in" filter="fade">
                                      <p:cBhvr>
                                        <p:cTn id="150" dur="500"/>
                                        <p:tgtEl>
                                          <p:spTgt spid="89"/>
                                        </p:tgtEl>
                                      </p:cBhvr>
                                    </p:animEffec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grpId="0" nodeType="clickEffect">
                                  <p:stCondLst>
                                    <p:cond delay="0"/>
                                  </p:stCondLst>
                                  <p:childTnLst>
                                    <p:set>
                                      <p:cBhvr>
                                        <p:cTn id="154" dur="1" fill="hold">
                                          <p:stCondLst>
                                            <p:cond delay="0"/>
                                          </p:stCondLst>
                                        </p:cTn>
                                        <p:tgtEl>
                                          <p:spTgt spid="90"/>
                                        </p:tgtEl>
                                        <p:attrNameLst>
                                          <p:attrName>style.visibility</p:attrName>
                                        </p:attrNameLst>
                                      </p:cBhvr>
                                      <p:to>
                                        <p:strVal val="visible"/>
                                      </p:to>
                                    </p:set>
                                    <p:animEffect transition="in" filter="fade">
                                      <p:cBhvr>
                                        <p:cTn id="155" dur="500"/>
                                        <p:tgtEl>
                                          <p:spTgt spid="90"/>
                                        </p:tgtEl>
                                      </p:cBhvr>
                                    </p:animEffect>
                                  </p:childTnLst>
                                </p:cTn>
                              </p:par>
                            </p:childTnLst>
                          </p:cTn>
                        </p:par>
                      </p:childTnLst>
                    </p:cTn>
                  </p:par>
                  <p:par>
                    <p:cTn id="156" fill="hold">
                      <p:stCondLst>
                        <p:cond delay="indefinite"/>
                      </p:stCondLst>
                      <p:childTnLst>
                        <p:par>
                          <p:cTn id="157" fill="hold">
                            <p:stCondLst>
                              <p:cond delay="0"/>
                            </p:stCondLst>
                            <p:childTnLst>
                              <p:par>
                                <p:cTn id="158" presetID="10" presetClass="entr" presetSubtype="0" fill="hold" grpId="0" nodeType="clickEffect">
                                  <p:stCondLst>
                                    <p:cond delay="0"/>
                                  </p:stCondLst>
                                  <p:childTnLst>
                                    <p:set>
                                      <p:cBhvr>
                                        <p:cTn id="159" dur="1" fill="hold">
                                          <p:stCondLst>
                                            <p:cond delay="0"/>
                                          </p:stCondLst>
                                        </p:cTn>
                                        <p:tgtEl>
                                          <p:spTgt spid="93"/>
                                        </p:tgtEl>
                                        <p:attrNameLst>
                                          <p:attrName>style.visibility</p:attrName>
                                        </p:attrNameLst>
                                      </p:cBhvr>
                                      <p:to>
                                        <p:strVal val="visible"/>
                                      </p:to>
                                    </p:set>
                                    <p:animEffect transition="in" filter="fade">
                                      <p:cBhvr>
                                        <p:cTn id="160" dur="500"/>
                                        <p:tgtEl>
                                          <p:spTgt spid="93"/>
                                        </p:tgtEl>
                                      </p:cBhvr>
                                    </p:animEffec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nodeType="clickEffect">
                                  <p:stCondLst>
                                    <p:cond delay="0"/>
                                  </p:stCondLst>
                                  <p:childTnLst>
                                    <p:set>
                                      <p:cBhvr>
                                        <p:cTn id="164" dur="1" fill="hold">
                                          <p:stCondLst>
                                            <p:cond delay="0"/>
                                          </p:stCondLst>
                                        </p:cTn>
                                        <p:tgtEl>
                                          <p:spTgt spid="96"/>
                                        </p:tgtEl>
                                        <p:attrNameLst>
                                          <p:attrName>style.visibility</p:attrName>
                                        </p:attrNameLst>
                                      </p:cBhvr>
                                      <p:to>
                                        <p:strVal val="visible"/>
                                      </p:to>
                                    </p:set>
                                    <p:animEffect transition="in" filter="fade">
                                      <p:cBhvr>
                                        <p:cTn id="165" dur="500"/>
                                        <p:tgtEl>
                                          <p:spTgt spid="96"/>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94"/>
                                        </p:tgtEl>
                                        <p:attrNameLst>
                                          <p:attrName>style.visibility</p:attrName>
                                        </p:attrNameLst>
                                      </p:cBhvr>
                                      <p:to>
                                        <p:strVal val="visible"/>
                                      </p:to>
                                    </p:set>
                                    <p:animEffect transition="in" filter="fade">
                                      <p:cBhvr>
                                        <p:cTn id="168" dur="500"/>
                                        <p:tgtEl>
                                          <p:spTgt spid="94"/>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95"/>
                                        </p:tgtEl>
                                        <p:attrNameLst>
                                          <p:attrName>style.visibility</p:attrName>
                                        </p:attrNameLst>
                                      </p:cBhvr>
                                      <p:to>
                                        <p:strVal val="visible"/>
                                      </p:to>
                                    </p:set>
                                    <p:animEffect transition="in" filter="fade">
                                      <p:cBhvr>
                                        <p:cTn id="171" dur="500"/>
                                        <p:tgtEl>
                                          <p:spTgt spid="95"/>
                                        </p:tgtEl>
                                      </p:cBhvr>
                                    </p:animEffect>
                                  </p:childTnLst>
                                </p:cTn>
                              </p:par>
                              <p:par>
                                <p:cTn id="172" presetID="10" presetClass="entr" presetSubtype="0" fill="hold" nodeType="withEffect">
                                  <p:stCondLst>
                                    <p:cond delay="0"/>
                                  </p:stCondLst>
                                  <p:childTnLst>
                                    <p:set>
                                      <p:cBhvr>
                                        <p:cTn id="173" dur="1" fill="hold">
                                          <p:stCondLst>
                                            <p:cond delay="0"/>
                                          </p:stCondLst>
                                        </p:cTn>
                                        <p:tgtEl>
                                          <p:spTgt spid="97"/>
                                        </p:tgtEl>
                                        <p:attrNameLst>
                                          <p:attrName>style.visibility</p:attrName>
                                        </p:attrNameLst>
                                      </p:cBhvr>
                                      <p:to>
                                        <p:strVal val="visible"/>
                                      </p:to>
                                    </p:set>
                                    <p:animEffect transition="in" filter="fade">
                                      <p:cBhvr>
                                        <p:cTn id="174" dur="500"/>
                                        <p:tgtEl>
                                          <p:spTgt spid="97"/>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99"/>
                                        </p:tgtEl>
                                        <p:attrNameLst>
                                          <p:attrName>style.visibility</p:attrName>
                                        </p:attrNameLst>
                                      </p:cBhvr>
                                      <p:to>
                                        <p:strVal val="visible"/>
                                      </p:to>
                                    </p:set>
                                    <p:animEffect transition="in" filter="fade">
                                      <p:cBhvr>
                                        <p:cTn id="177" dur="500"/>
                                        <p:tgtEl>
                                          <p:spTgt spid="99"/>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98"/>
                                        </p:tgtEl>
                                        <p:attrNameLst>
                                          <p:attrName>style.visibility</p:attrName>
                                        </p:attrNameLst>
                                      </p:cBhvr>
                                      <p:to>
                                        <p:strVal val="visible"/>
                                      </p:to>
                                    </p:set>
                                    <p:animEffect transition="in" filter="fade">
                                      <p:cBhvr>
                                        <p:cTn id="180" dur="500"/>
                                        <p:tgtEl>
                                          <p:spTgt spid="98"/>
                                        </p:tgtEl>
                                      </p:cBhvr>
                                    </p:animEffect>
                                  </p:childTnLst>
                                </p:cTn>
                              </p:par>
                              <p:par>
                                <p:cTn id="181" presetID="10" presetClass="entr" presetSubtype="0" fill="hold" nodeType="withEffect">
                                  <p:stCondLst>
                                    <p:cond delay="0"/>
                                  </p:stCondLst>
                                  <p:childTnLst>
                                    <p:set>
                                      <p:cBhvr>
                                        <p:cTn id="182" dur="1" fill="hold">
                                          <p:stCondLst>
                                            <p:cond delay="0"/>
                                          </p:stCondLst>
                                        </p:cTn>
                                        <p:tgtEl>
                                          <p:spTgt spid="100"/>
                                        </p:tgtEl>
                                        <p:attrNameLst>
                                          <p:attrName>style.visibility</p:attrName>
                                        </p:attrNameLst>
                                      </p:cBhvr>
                                      <p:to>
                                        <p:strVal val="visible"/>
                                      </p:to>
                                    </p:set>
                                    <p:animEffect transition="in" filter="fade">
                                      <p:cBhvr>
                                        <p:cTn id="183" dur="500"/>
                                        <p:tgtEl>
                                          <p:spTgt spid="100"/>
                                        </p:tgtEl>
                                      </p:cBhvr>
                                    </p:animEffect>
                                  </p:childTnLst>
                                </p:cTn>
                              </p:par>
                              <p:par>
                                <p:cTn id="184" presetID="10" presetClass="entr" presetSubtype="0" fill="hold" nodeType="withEffect">
                                  <p:stCondLst>
                                    <p:cond delay="0"/>
                                  </p:stCondLst>
                                  <p:childTnLst>
                                    <p:set>
                                      <p:cBhvr>
                                        <p:cTn id="185" dur="1" fill="hold">
                                          <p:stCondLst>
                                            <p:cond delay="0"/>
                                          </p:stCondLst>
                                        </p:cTn>
                                        <p:tgtEl>
                                          <p:spTgt spid="101"/>
                                        </p:tgtEl>
                                        <p:attrNameLst>
                                          <p:attrName>style.visibility</p:attrName>
                                        </p:attrNameLst>
                                      </p:cBhvr>
                                      <p:to>
                                        <p:strVal val="visible"/>
                                      </p:to>
                                    </p:set>
                                    <p:animEffect transition="in" filter="fade">
                                      <p:cBhvr>
                                        <p:cTn id="186" dur="500"/>
                                        <p:tgtEl>
                                          <p:spTgt spid="101"/>
                                        </p:tgtEl>
                                      </p:cBhvr>
                                    </p:animEffect>
                                  </p:childTnLst>
                                </p:cTn>
                              </p:par>
                            </p:childTnLst>
                          </p:cTn>
                        </p:par>
                      </p:childTnLst>
                    </p:cTn>
                  </p:par>
                  <p:par>
                    <p:cTn id="187" fill="hold">
                      <p:stCondLst>
                        <p:cond delay="indefinite"/>
                      </p:stCondLst>
                      <p:childTnLst>
                        <p:par>
                          <p:cTn id="188" fill="hold">
                            <p:stCondLst>
                              <p:cond delay="0"/>
                            </p:stCondLst>
                            <p:childTnLst>
                              <p:par>
                                <p:cTn id="189" presetID="7" presetClass="emph" presetSubtype="2" fill="hold" nodeType="clickEffect">
                                  <p:stCondLst>
                                    <p:cond delay="0"/>
                                  </p:stCondLst>
                                  <p:childTnLst>
                                    <p:animClr clrSpc="rgb" dir="cw">
                                      <p:cBhvr>
                                        <p:cTn id="190" dur="2000" fill="hold"/>
                                        <p:tgtEl>
                                          <p:spTgt spid="99"/>
                                        </p:tgtEl>
                                        <p:attrNameLst>
                                          <p:attrName>stroke.color</p:attrName>
                                        </p:attrNameLst>
                                      </p:cBhvr>
                                      <p:to>
                                        <a:schemeClr val="accent2"/>
                                      </p:to>
                                    </p:animClr>
                                    <p:set>
                                      <p:cBhvr>
                                        <p:cTn id="191" dur="2000" fill="hold"/>
                                        <p:tgtEl>
                                          <p:spTgt spid="99"/>
                                        </p:tgtEl>
                                        <p:attrNameLst>
                                          <p:attrName>stroke.on</p:attrName>
                                        </p:attrNameLst>
                                      </p:cBhvr>
                                      <p:to>
                                        <p:strVal val="true"/>
                                      </p:to>
                                    </p:set>
                                  </p:childTnLst>
                                </p:cTn>
                              </p:par>
                              <p:par>
                                <p:cTn id="192" presetID="7" presetClass="emph" presetSubtype="2" fill="hold" nodeType="withEffect">
                                  <p:stCondLst>
                                    <p:cond delay="0"/>
                                  </p:stCondLst>
                                  <p:childTnLst>
                                    <p:animClr clrSpc="rgb" dir="cw">
                                      <p:cBhvr>
                                        <p:cTn id="193" dur="2000" fill="hold"/>
                                        <p:tgtEl>
                                          <p:spTgt spid="98"/>
                                        </p:tgtEl>
                                        <p:attrNameLst>
                                          <p:attrName>stroke.color</p:attrName>
                                        </p:attrNameLst>
                                      </p:cBhvr>
                                      <p:to>
                                        <a:schemeClr val="accent2"/>
                                      </p:to>
                                    </p:animClr>
                                    <p:set>
                                      <p:cBhvr>
                                        <p:cTn id="194" dur="2000" fill="hold"/>
                                        <p:tgtEl>
                                          <p:spTgt spid="98"/>
                                        </p:tgtEl>
                                        <p:attrNameLst>
                                          <p:attrName>stroke.on</p:attrName>
                                        </p:attrNameLst>
                                      </p:cBhvr>
                                      <p:to>
                                        <p:strVal val="true"/>
                                      </p:to>
                                    </p:set>
                                  </p:childTnLst>
                                </p:cTn>
                              </p:par>
                            </p:childTnLst>
                          </p:cTn>
                        </p:par>
                      </p:childTnLst>
                    </p:cTn>
                  </p:par>
                  <p:par>
                    <p:cTn id="195" fill="hold">
                      <p:stCondLst>
                        <p:cond delay="indefinite"/>
                      </p:stCondLst>
                      <p:childTnLst>
                        <p:par>
                          <p:cTn id="196" fill="hold">
                            <p:stCondLst>
                              <p:cond delay="0"/>
                            </p:stCondLst>
                            <p:childTnLst>
                              <p:par>
                                <p:cTn id="197" presetID="10" presetClass="entr" presetSubtype="0" fill="hold" grpId="0" nodeType="clickEffect">
                                  <p:stCondLst>
                                    <p:cond delay="0"/>
                                  </p:stCondLst>
                                  <p:childTnLst>
                                    <p:set>
                                      <p:cBhvr>
                                        <p:cTn id="198" dur="1" fill="hold">
                                          <p:stCondLst>
                                            <p:cond delay="0"/>
                                          </p:stCondLst>
                                        </p:cTn>
                                        <p:tgtEl>
                                          <p:spTgt spid="91"/>
                                        </p:tgtEl>
                                        <p:attrNameLst>
                                          <p:attrName>style.visibility</p:attrName>
                                        </p:attrNameLst>
                                      </p:cBhvr>
                                      <p:to>
                                        <p:strVal val="visible"/>
                                      </p:to>
                                    </p:set>
                                    <p:animEffect transition="in" filter="fade">
                                      <p:cBhvr>
                                        <p:cTn id="199" dur="500"/>
                                        <p:tgtEl>
                                          <p:spTgt spid="91"/>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92"/>
                                        </p:tgtEl>
                                        <p:attrNameLst>
                                          <p:attrName>style.visibility</p:attrName>
                                        </p:attrNameLst>
                                      </p:cBhvr>
                                      <p:to>
                                        <p:strVal val="visible"/>
                                      </p:to>
                                    </p:set>
                                    <p:animEffect transition="in" filter="fade">
                                      <p:cBhvr>
                                        <p:cTn id="202" dur="500"/>
                                        <p:tgtEl>
                                          <p:spTgt spid="92"/>
                                        </p:tgtEl>
                                      </p:cBhvr>
                                    </p:animEffect>
                                  </p:childTnLst>
                                </p:cTn>
                              </p:par>
                            </p:childTnLst>
                          </p:cTn>
                        </p:par>
                      </p:childTnLst>
                    </p:cTn>
                  </p:par>
                  <p:par>
                    <p:cTn id="203" fill="hold">
                      <p:stCondLst>
                        <p:cond delay="indefinite"/>
                      </p:stCondLst>
                      <p:childTnLst>
                        <p:par>
                          <p:cTn id="204" fill="hold">
                            <p:stCondLst>
                              <p:cond delay="0"/>
                            </p:stCondLst>
                            <p:childTnLst>
                              <p:par>
                                <p:cTn id="205" presetID="10" presetClass="exit" presetSubtype="0" fill="hold" grpId="1" nodeType="clickEffect">
                                  <p:stCondLst>
                                    <p:cond delay="0"/>
                                  </p:stCondLst>
                                  <p:childTnLst>
                                    <p:animEffect transition="out" filter="fade">
                                      <p:cBhvr>
                                        <p:cTn id="206" dur="500"/>
                                        <p:tgtEl>
                                          <p:spTgt spid="99"/>
                                        </p:tgtEl>
                                      </p:cBhvr>
                                    </p:animEffect>
                                    <p:set>
                                      <p:cBhvr>
                                        <p:cTn id="207" dur="1" fill="hold">
                                          <p:stCondLst>
                                            <p:cond delay="499"/>
                                          </p:stCondLst>
                                        </p:cTn>
                                        <p:tgtEl>
                                          <p:spTgt spid="99"/>
                                        </p:tgtEl>
                                        <p:attrNameLst>
                                          <p:attrName>style.visibility</p:attrName>
                                        </p:attrNameLst>
                                      </p:cBhvr>
                                      <p:to>
                                        <p:strVal val="hidden"/>
                                      </p:to>
                                    </p:set>
                                  </p:childTnLst>
                                </p:cTn>
                              </p:par>
                              <p:par>
                                <p:cTn id="208" presetID="10" presetClass="exit" presetSubtype="0" fill="hold" grpId="1" nodeType="withEffect">
                                  <p:stCondLst>
                                    <p:cond delay="0"/>
                                  </p:stCondLst>
                                  <p:childTnLst>
                                    <p:animEffect transition="out" filter="fade">
                                      <p:cBhvr>
                                        <p:cTn id="209" dur="500"/>
                                        <p:tgtEl>
                                          <p:spTgt spid="98"/>
                                        </p:tgtEl>
                                      </p:cBhvr>
                                    </p:animEffect>
                                    <p:set>
                                      <p:cBhvr>
                                        <p:cTn id="210" dur="1" fill="hold">
                                          <p:stCondLst>
                                            <p:cond delay="499"/>
                                          </p:stCondLst>
                                        </p:cTn>
                                        <p:tgtEl>
                                          <p:spTgt spid="98"/>
                                        </p:tgtEl>
                                        <p:attrNameLst>
                                          <p:attrName>style.visibility</p:attrName>
                                        </p:attrNameLst>
                                      </p:cBhvr>
                                      <p:to>
                                        <p:strVal val="hidden"/>
                                      </p:to>
                                    </p:set>
                                  </p:childTnLst>
                                </p:cTn>
                              </p:par>
                              <p:par>
                                <p:cTn id="211" presetID="10" presetClass="exit" presetSubtype="0" fill="hold" nodeType="withEffect">
                                  <p:stCondLst>
                                    <p:cond delay="0"/>
                                  </p:stCondLst>
                                  <p:childTnLst>
                                    <p:animEffect transition="out" filter="fade">
                                      <p:cBhvr>
                                        <p:cTn id="212" dur="500"/>
                                        <p:tgtEl>
                                          <p:spTgt spid="100"/>
                                        </p:tgtEl>
                                      </p:cBhvr>
                                    </p:animEffect>
                                    <p:set>
                                      <p:cBhvr>
                                        <p:cTn id="213" dur="1" fill="hold">
                                          <p:stCondLst>
                                            <p:cond delay="499"/>
                                          </p:stCondLst>
                                        </p:cTn>
                                        <p:tgtEl>
                                          <p:spTgt spid="100"/>
                                        </p:tgtEl>
                                        <p:attrNameLst>
                                          <p:attrName>style.visibility</p:attrName>
                                        </p:attrNameLst>
                                      </p:cBhvr>
                                      <p:to>
                                        <p:strVal val="hidden"/>
                                      </p:to>
                                    </p:set>
                                  </p:childTnLst>
                                </p:cTn>
                              </p:par>
                              <p:par>
                                <p:cTn id="214" presetID="10" presetClass="exit" presetSubtype="0" fill="hold" nodeType="withEffect">
                                  <p:stCondLst>
                                    <p:cond delay="0"/>
                                  </p:stCondLst>
                                  <p:childTnLst>
                                    <p:animEffect transition="out" filter="fade">
                                      <p:cBhvr>
                                        <p:cTn id="215" dur="500"/>
                                        <p:tgtEl>
                                          <p:spTgt spid="101"/>
                                        </p:tgtEl>
                                      </p:cBhvr>
                                    </p:animEffect>
                                    <p:set>
                                      <p:cBhvr>
                                        <p:cTn id="216" dur="1" fill="hold">
                                          <p:stCondLst>
                                            <p:cond delay="499"/>
                                          </p:stCondLst>
                                        </p:cTn>
                                        <p:tgtEl>
                                          <p:spTgt spid="101"/>
                                        </p:tgtEl>
                                        <p:attrNameLst>
                                          <p:attrName>style.visibility</p:attrName>
                                        </p:attrNameLst>
                                      </p:cBhvr>
                                      <p:to>
                                        <p:strVal val="hidden"/>
                                      </p:to>
                                    </p:set>
                                  </p:childTnLst>
                                </p:cTn>
                              </p:par>
                            </p:childTnLst>
                          </p:cTn>
                        </p:par>
                      </p:childTnLst>
                    </p:cTn>
                  </p:par>
                  <p:par>
                    <p:cTn id="217" fill="hold">
                      <p:stCondLst>
                        <p:cond delay="indefinite"/>
                      </p:stCondLst>
                      <p:childTnLst>
                        <p:par>
                          <p:cTn id="218" fill="hold">
                            <p:stCondLst>
                              <p:cond delay="0"/>
                            </p:stCondLst>
                            <p:childTnLst>
                              <p:par>
                                <p:cTn id="219" presetID="10" presetClass="entr" presetSubtype="0" fill="hold" nodeType="clickEffect">
                                  <p:stCondLst>
                                    <p:cond delay="0"/>
                                  </p:stCondLst>
                                  <p:childTnLst>
                                    <p:set>
                                      <p:cBhvr>
                                        <p:cTn id="220" dur="1" fill="hold">
                                          <p:stCondLst>
                                            <p:cond delay="0"/>
                                          </p:stCondLst>
                                        </p:cTn>
                                        <p:tgtEl>
                                          <p:spTgt spid="104"/>
                                        </p:tgtEl>
                                        <p:attrNameLst>
                                          <p:attrName>style.visibility</p:attrName>
                                        </p:attrNameLst>
                                      </p:cBhvr>
                                      <p:to>
                                        <p:strVal val="visible"/>
                                      </p:to>
                                    </p:set>
                                    <p:animEffect transition="in" filter="fade">
                                      <p:cBhvr>
                                        <p:cTn id="221" dur="500"/>
                                        <p:tgtEl>
                                          <p:spTgt spid="104"/>
                                        </p:tgtEl>
                                      </p:cBhvr>
                                    </p:animEffect>
                                  </p:childTnLst>
                                </p:cTn>
                              </p:par>
                              <p:par>
                                <p:cTn id="222" presetID="10" presetClass="entr" presetSubtype="0" fill="hold" nodeType="withEffect">
                                  <p:stCondLst>
                                    <p:cond delay="0"/>
                                  </p:stCondLst>
                                  <p:childTnLst>
                                    <p:set>
                                      <p:cBhvr>
                                        <p:cTn id="223" dur="1" fill="hold">
                                          <p:stCondLst>
                                            <p:cond delay="0"/>
                                          </p:stCondLst>
                                        </p:cTn>
                                        <p:tgtEl>
                                          <p:spTgt spid="105"/>
                                        </p:tgtEl>
                                        <p:attrNameLst>
                                          <p:attrName>style.visibility</p:attrName>
                                        </p:attrNameLst>
                                      </p:cBhvr>
                                      <p:to>
                                        <p:strVal val="visible"/>
                                      </p:to>
                                    </p:set>
                                    <p:animEffect transition="in" filter="fade">
                                      <p:cBhvr>
                                        <p:cTn id="224" dur="500"/>
                                        <p:tgtEl>
                                          <p:spTgt spid="105"/>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103"/>
                                        </p:tgtEl>
                                        <p:attrNameLst>
                                          <p:attrName>style.visibility</p:attrName>
                                        </p:attrNameLst>
                                      </p:cBhvr>
                                      <p:to>
                                        <p:strVal val="visible"/>
                                      </p:to>
                                    </p:set>
                                    <p:animEffect transition="in" filter="fade">
                                      <p:cBhvr>
                                        <p:cTn id="227" dur="500"/>
                                        <p:tgtEl>
                                          <p:spTgt spid="103"/>
                                        </p:tgtEl>
                                      </p:cBhvr>
                                    </p:animEffect>
                                  </p:childTnLst>
                                </p:cTn>
                              </p:par>
                              <p:par>
                                <p:cTn id="228" presetID="10" presetClass="entr" presetSubtype="0" fill="hold" grpId="0" nodeType="withEffect">
                                  <p:stCondLst>
                                    <p:cond delay="0"/>
                                  </p:stCondLst>
                                  <p:childTnLst>
                                    <p:set>
                                      <p:cBhvr>
                                        <p:cTn id="229" dur="1" fill="hold">
                                          <p:stCondLst>
                                            <p:cond delay="0"/>
                                          </p:stCondLst>
                                        </p:cTn>
                                        <p:tgtEl>
                                          <p:spTgt spid="102"/>
                                        </p:tgtEl>
                                        <p:attrNameLst>
                                          <p:attrName>style.visibility</p:attrName>
                                        </p:attrNameLst>
                                      </p:cBhvr>
                                      <p:to>
                                        <p:strVal val="visible"/>
                                      </p:to>
                                    </p:set>
                                    <p:animEffect transition="in" filter="fade">
                                      <p:cBhvr>
                                        <p:cTn id="230" dur="500"/>
                                        <p:tgtEl>
                                          <p:spTgt spid="102"/>
                                        </p:tgtEl>
                                      </p:cBhvr>
                                    </p:animEffect>
                                  </p:childTnLst>
                                </p:cTn>
                              </p:par>
                            </p:childTnLst>
                          </p:cTn>
                        </p:par>
                      </p:childTnLst>
                    </p:cTn>
                  </p:par>
                  <p:par>
                    <p:cTn id="231" fill="hold">
                      <p:stCondLst>
                        <p:cond delay="indefinite"/>
                      </p:stCondLst>
                      <p:childTnLst>
                        <p:par>
                          <p:cTn id="232" fill="hold">
                            <p:stCondLst>
                              <p:cond delay="0"/>
                            </p:stCondLst>
                            <p:childTnLst>
                              <p:par>
                                <p:cTn id="233" presetID="10" presetClass="entr" presetSubtype="0" fill="hold" nodeType="clickEffect">
                                  <p:stCondLst>
                                    <p:cond delay="0"/>
                                  </p:stCondLst>
                                  <p:childTnLst>
                                    <p:set>
                                      <p:cBhvr>
                                        <p:cTn id="234" dur="1" fill="hold">
                                          <p:stCondLst>
                                            <p:cond delay="0"/>
                                          </p:stCondLst>
                                        </p:cTn>
                                        <p:tgtEl>
                                          <p:spTgt spid="107"/>
                                        </p:tgtEl>
                                        <p:attrNameLst>
                                          <p:attrName>style.visibility</p:attrName>
                                        </p:attrNameLst>
                                      </p:cBhvr>
                                      <p:to>
                                        <p:strVal val="visible"/>
                                      </p:to>
                                    </p:set>
                                    <p:animEffect transition="in" filter="fade">
                                      <p:cBhvr>
                                        <p:cTn id="235" dur="500"/>
                                        <p:tgtEl>
                                          <p:spTgt spid="107"/>
                                        </p:tgtEl>
                                      </p:cBhvr>
                                    </p:animEffect>
                                  </p:childTnLst>
                                </p:cTn>
                              </p:par>
                              <p:par>
                                <p:cTn id="236" presetID="10" presetClass="entr" presetSubtype="0" fill="hold" nodeType="withEffect">
                                  <p:stCondLst>
                                    <p:cond delay="0"/>
                                  </p:stCondLst>
                                  <p:childTnLst>
                                    <p:set>
                                      <p:cBhvr>
                                        <p:cTn id="237" dur="1" fill="hold">
                                          <p:stCondLst>
                                            <p:cond delay="0"/>
                                          </p:stCondLst>
                                        </p:cTn>
                                        <p:tgtEl>
                                          <p:spTgt spid="106"/>
                                        </p:tgtEl>
                                        <p:attrNameLst>
                                          <p:attrName>style.visibility</p:attrName>
                                        </p:attrNameLst>
                                      </p:cBhvr>
                                      <p:to>
                                        <p:strVal val="visible"/>
                                      </p:to>
                                    </p:set>
                                    <p:animEffect transition="in" filter="fade">
                                      <p:cBhvr>
                                        <p:cTn id="238" dur="500"/>
                                        <p:tgtEl>
                                          <p:spTgt spid="106"/>
                                        </p:tgtEl>
                                      </p:cBhvr>
                                    </p:animEffect>
                                  </p:childTnLst>
                                </p:cTn>
                              </p:par>
                            </p:childTnLst>
                          </p:cTn>
                        </p:par>
                      </p:childTnLst>
                    </p:cTn>
                  </p:par>
                  <p:par>
                    <p:cTn id="239" fill="hold">
                      <p:stCondLst>
                        <p:cond delay="indefinite"/>
                      </p:stCondLst>
                      <p:childTnLst>
                        <p:par>
                          <p:cTn id="240" fill="hold">
                            <p:stCondLst>
                              <p:cond delay="0"/>
                            </p:stCondLst>
                            <p:childTnLst>
                              <p:par>
                                <p:cTn id="241" presetID="10" presetClass="exit" presetSubtype="0" fill="hold" nodeType="clickEffect">
                                  <p:stCondLst>
                                    <p:cond delay="0"/>
                                  </p:stCondLst>
                                  <p:childTnLst>
                                    <p:animEffect transition="out" filter="fade">
                                      <p:cBhvr>
                                        <p:cTn id="242" dur="500"/>
                                        <p:tgtEl>
                                          <p:spTgt spid="107"/>
                                        </p:tgtEl>
                                      </p:cBhvr>
                                    </p:animEffect>
                                    <p:set>
                                      <p:cBhvr>
                                        <p:cTn id="243" dur="1" fill="hold">
                                          <p:stCondLst>
                                            <p:cond delay="499"/>
                                          </p:stCondLst>
                                        </p:cTn>
                                        <p:tgtEl>
                                          <p:spTgt spid="107"/>
                                        </p:tgtEl>
                                        <p:attrNameLst>
                                          <p:attrName>style.visibility</p:attrName>
                                        </p:attrNameLst>
                                      </p:cBhvr>
                                      <p:to>
                                        <p:strVal val="hidden"/>
                                      </p:to>
                                    </p:set>
                                  </p:childTnLst>
                                </p:cTn>
                              </p:par>
                              <p:par>
                                <p:cTn id="244" presetID="10" presetClass="exit" presetSubtype="0" fill="hold" nodeType="withEffect">
                                  <p:stCondLst>
                                    <p:cond delay="0"/>
                                  </p:stCondLst>
                                  <p:childTnLst>
                                    <p:animEffect transition="out" filter="fade">
                                      <p:cBhvr>
                                        <p:cTn id="245" dur="500"/>
                                        <p:tgtEl>
                                          <p:spTgt spid="106"/>
                                        </p:tgtEl>
                                      </p:cBhvr>
                                    </p:animEffect>
                                    <p:set>
                                      <p:cBhvr>
                                        <p:cTn id="246" dur="1" fill="hold">
                                          <p:stCondLst>
                                            <p:cond delay="499"/>
                                          </p:stCondLst>
                                        </p:cTn>
                                        <p:tgtEl>
                                          <p:spTgt spid="106"/>
                                        </p:tgtEl>
                                        <p:attrNameLst>
                                          <p:attrName>style.visibility</p:attrName>
                                        </p:attrNameLst>
                                      </p:cBhvr>
                                      <p:to>
                                        <p:strVal val="hidden"/>
                                      </p:to>
                                    </p:set>
                                  </p:childTnLst>
                                </p:cTn>
                              </p:par>
                            </p:childTnLst>
                          </p:cTn>
                        </p:par>
                      </p:childTnLst>
                    </p:cTn>
                  </p:par>
                  <p:par>
                    <p:cTn id="247" fill="hold">
                      <p:stCondLst>
                        <p:cond delay="indefinite"/>
                      </p:stCondLst>
                      <p:childTnLst>
                        <p:par>
                          <p:cTn id="248" fill="hold">
                            <p:stCondLst>
                              <p:cond delay="0"/>
                            </p:stCondLst>
                            <p:childTnLst>
                              <p:par>
                                <p:cTn id="249" presetID="10" presetClass="entr" presetSubtype="0" fill="hold" nodeType="clickEffect">
                                  <p:stCondLst>
                                    <p:cond delay="0"/>
                                  </p:stCondLst>
                                  <p:childTnLst>
                                    <p:set>
                                      <p:cBhvr>
                                        <p:cTn id="250" dur="1" fill="hold">
                                          <p:stCondLst>
                                            <p:cond delay="0"/>
                                          </p:stCondLst>
                                        </p:cTn>
                                        <p:tgtEl>
                                          <p:spTgt spid="109"/>
                                        </p:tgtEl>
                                        <p:attrNameLst>
                                          <p:attrName>style.visibility</p:attrName>
                                        </p:attrNameLst>
                                      </p:cBhvr>
                                      <p:to>
                                        <p:strVal val="visible"/>
                                      </p:to>
                                    </p:set>
                                    <p:animEffect transition="in" filter="fade">
                                      <p:cBhvr>
                                        <p:cTn id="251" dur="500"/>
                                        <p:tgtEl>
                                          <p:spTgt spid="109"/>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108"/>
                                        </p:tgtEl>
                                        <p:attrNameLst>
                                          <p:attrName>style.visibility</p:attrName>
                                        </p:attrNameLst>
                                      </p:cBhvr>
                                      <p:to>
                                        <p:strVal val="visible"/>
                                      </p:to>
                                    </p:set>
                                    <p:animEffect transition="in" filter="fade">
                                      <p:cBhvr>
                                        <p:cTn id="254" dur="500"/>
                                        <p:tgtEl>
                                          <p:spTgt spid="108"/>
                                        </p:tgtEl>
                                      </p:cBhvr>
                                    </p:animEffect>
                                  </p:childTnLst>
                                </p:cTn>
                              </p:par>
                              <p:par>
                                <p:cTn id="255" presetID="10" presetClass="entr" presetSubtype="0" fill="hold" nodeType="withEffect">
                                  <p:stCondLst>
                                    <p:cond delay="0"/>
                                  </p:stCondLst>
                                  <p:childTnLst>
                                    <p:set>
                                      <p:cBhvr>
                                        <p:cTn id="256" dur="1" fill="hold">
                                          <p:stCondLst>
                                            <p:cond delay="0"/>
                                          </p:stCondLst>
                                        </p:cTn>
                                        <p:tgtEl>
                                          <p:spTgt spid="110"/>
                                        </p:tgtEl>
                                        <p:attrNameLst>
                                          <p:attrName>style.visibility</p:attrName>
                                        </p:attrNameLst>
                                      </p:cBhvr>
                                      <p:to>
                                        <p:strVal val="visible"/>
                                      </p:to>
                                    </p:set>
                                    <p:animEffect transition="in" filter="fade">
                                      <p:cBhvr>
                                        <p:cTn id="257" dur="500"/>
                                        <p:tgtEl>
                                          <p:spTgt spid="110"/>
                                        </p:tgtEl>
                                      </p:cBhvr>
                                    </p:animEffect>
                                  </p:childTnLst>
                                </p:cTn>
                              </p:par>
                              <p:par>
                                <p:cTn id="258" presetID="10" presetClass="entr" presetSubtype="0" fill="hold" nodeType="withEffect">
                                  <p:stCondLst>
                                    <p:cond delay="0"/>
                                  </p:stCondLst>
                                  <p:childTnLst>
                                    <p:set>
                                      <p:cBhvr>
                                        <p:cTn id="259" dur="1" fill="hold">
                                          <p:stCondLst>
                                            <p:cond delay="0"/>
                                          </p:stCondLst>
                                        </p:cTn>
                                        <p:tgtEl>
                                          <p:spTgt spid="111"/>
                                        </p:tgtEl>
                                        <p:attrNameLst>
                                          <p:attrName>style.visibility</p:attrName>
                                        </p:attrNameLst>
                                      </p:cBhvr>
                                      <p:to>
                                        <p:strVal val="visible"/>
                                      </p:to>
                                    </p:set>
                                    <p:animEffect transition="in" filter="fade">
                                      <p:cBhvr>
                                        <p:cTn id="260" dur="500"/>
                                        <p:tgtEl>
                                          <p:spTgt spid="111"/>
                                        </p:tgtEl>
                                      </p:cBhvr>
                                    </p:animEffect>
                                  </p:childTnLst>
                                </p:cTn>
                              </p:par>
                            </p:childTnLst>
                          </p:cTn>
                        </p:par>
                      </p:childTnLst>
                    </p:cTn>
                  </p:par>
                  <p:par>
                    <p:cTn id="261" fill="hold">
                      <p:stCondLst>
                        <p:cond delay="indefinite"/>
                      </p:stCondLst>
                      <p:childTnLst>
                        <p:par>
                          <p:cTn id="262" fill="hold">
                            <p:stCondLst>
                              <p:cond delay="0"/>
                            </p:stCondLst>
                            <p:childTnLst>
                              <p:par>
                                <p:cTn id="263" presetID="10" presetClass="entr" presetSubtype="0" fill="hold" grpId="0" nodeType="clickEffect">
                                  <p:stCondLst>
                                    <p:cond delay="0"/>
                                  </p:stCondLst>
                                  <p:childTnLst>
                                    <p:set>
                                      <p:cBhvr>
                                        <p:cTn id="264" dur="1" fill="hold">
                                          <p:stCondLst>
                                            <p:cond delay="0"/>
                                          </p:stCondLst>
                                        </p:cTn>
                                        <p:tgtEl>
                                          <p:spTgt spid="112"/>
                                        </p:tgtEl>
                                        <p:attrNameLst>
                                          <p:attrName>style.visibility</p:attrName>
                                        </p:attrNameLst>
                                      </p:cBhvr>
                                      <p:to>
                                        <p:strVal val="visible"/>
                                      </p:to>
                                    </p:set>
                                    <p:animEffect transition="in" filter="fade">
                                      <p:cBhvr>
                                        <p:cTn id="265"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animBg="1"/>
      <p:bldP spid="67" grpId="0" animBg="1"/>
      <p:bldP spid="67" grpId="1" animBg="1"/>
      <p:bldP spid="68" grpId="0" animBg="1"/>
      <p:bldP spid="68" grpId="1" animBg="1"/>
      <p:bldP spid="69" grpId="0" animBg="1"/>
      <p:bldP spid="70" grpId="0" animBg="1"/>
      <p:bldP spid="70" grpId="1" animBg="1"/>
      <p:bldP spid="71" grpId="0" animBg="1"/>
      <p:bldP spid="71" grpId="1" animBg="1"/>
      <p:bldP spid="72" grpId="0" animBg="1"/>
      <p:bldP spid="79" grpId="0" animBg="1"/>
      <p:bldP spid="80" grpId="0" animBg="1"/>
      <p:bldP spid="81" grpId="0" animBg="1"/>
      <p:bldP spid="86" grpId="0" animBg="1"/>
      <p:bldP spid="90" grpId="0" animBg="1"/>
      <p:bldP spid="91" grpId="0" animBg="1"/>
      <p:bldP spid="92" grpId="0" animBg="1"/>
      <p:bldP spid="93" grpId="0" animBg="1"/>
      <p:bldP spid="94" grpId="0" animBg="1"/>
      <p:bldP spid="95" grpId="0" animBg="1"/>
      <p:bldP spid="98" grpId="0" animBg="1"/>
      <p:bldP spid="98" grpId="1" animBg="1"/>
      <p:bldP spid="99" grpId="0" animBg="1"/>
      <p:bldP spid="99" grpId="1" animBg="1"/>
      <p:bldP spid="102" grpId="0" animBg="1"/>
      <p:bldP spid="103" grpId="0" animBg="1"/>
      <p:bldP spid="108" grpId="0" animBg="1"/>
      <p:bldP spid="11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Generalization v/s Specialization</a:t>
            </a:r>
          </a:p>
        </p:txBody>
      </p:sp>
      <p:sp>
        <p:nvSpPr>
          <p:cNvPr id="2" name="Content Placeholder 1"/>
          <p:cNvSpPr>
            <a:spLocks noGrp="1"/>
          </p:cNvSpPr>
          <p:nvPr>
            <p:ph idx="1"/>
          </p:nvPr>
        </p:nvSpPr>
        <p:spPr/>
        <p:txBody>
          <a:bodyPr/>
          <a:lstStyle/>
          <a:p>
            <a:endParaRPr lang="en-US"/>
          </a:p>
        </p:txBody>
      </p:sp>
      <p:graphicFrame>
        <p:nvGraphicFramePr>
          <p:cNvPr id="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4220538976"/>
              </p:ext>
            </p:extLst>
          </p:nvPr>
        </p:nvGraphicFramePr>
        <p:xfrm>
          <a:off x="131178" y="859690"/>
          <a:ext cx="11929642" cy="630000"/>
        </p:xfrm>
        <a:graphic>
          <a:graphicData uri="http://schemas.openxmlformats.org/drawingml/2006/table">
            <a:tbl>
              <a:tblPr firstRow="1" bandRow="1">
                <a:tableStyleId>{8EC20E35-A176-4012-BC5E-935CFFF8708E}</a:tableStyleId>
              </a:tblPr>
              <a:tblGrid>
                <a:gridCol w="5964821">
                  <a:extLst>
                    <a:ext uri="{9D8B030D-6E8A-4147-A177-3AD203B41FA5}">
                      <a16:colId xmlns:a16="http://schemas.microsoft.com/office/drawing/2014/main" val="20000"/>
                    </a:ext>
                  </a:extLst>
                </a:gridCol>
                <a:gridCol w="5964821">
                  <a:extLst>
                    <a:ext uri="{9D8B030D-6E8A-4147-A177-3AD203B41FA5}">
                      <a16:colId xmlns:a16="http://schemas.microsoft.com/office/drawing/2014/main" val="20001"/>
                    </a:ext>
                  </a:extLst>
                </a:gridCol>
              </a:tblGrid>
              <a:tr h="630000">
                <a:tc>
                  <a:txBody>
                    <a:bodyPr/>
                    <a:lstStyle/>
                    <a:p>
                      <a:pPr algn="l"/>
                      <a:r>
                        <a:rPr lang="en-US" sz="2400" b="1" dirty="0">
                          <a:solidFill>
                            <a:schemeClr val="tx1"/>
                          </a:solidFill>
                        </a:rPr>
                        <a:t>Generalization</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2400" kern="1200" dirty="0">
                          <a:solidFill>
                            <a:schemeClr val="tx1"/>
                          </a:solidFill>
                        </a:rPr>
                        <a:t>Specialization</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7"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89654535"/>
              </p:ext>
            </p:extLst>
          </p:nvPr>
        </p:nvGraphicFramePr>
        <p:xfrm>
          <a:off x="131179" y="1493668"/>
          <a:ext cx="11929642" cy="822960"/>
        </p:xfrm>
        <a:graphic>
          <a:graphicData uri="http://schemas.openxmlformats.org/drawingml/2006/table">
            <a:tbl>
              <a:tblPr firstRow="1" bandRow="1">
                <a:tableStyleId>{8EC20E35-A176-4012-BC5E-935CFFF8708E}</a:tableStyleId>
              </a:tblPr>
              <a:tblGrid>
                <a:gridCol w="5964821">
                  <a:extLst>
                    <a:ext uri="{9D8B030D-6E8A-4147-A177-3AD203B41FA5}">
                      <a16:colId xmlns:a16="http://schemas.microsoft.com/office/drawing/2014/main" val="20000"/>
                    </a:ext>
                  </a:extLst>
                </a:gridCol>
                <a:gridCol w="5964821">
                  <a:extLst>
                    <a:ext uri="{9D8B030D-6E8A-4147-A177-3AD203B41FA5}">
                      <a16:colId xmlns:a16="http://schemas.microsoft.com/office/drawing/2014/main" val="20001"/>
                    </a:ext>
                  </a:extLst>
                </a:gridCol>
              </a:tblGrid>
              <a:tr h="540000">
                <a:tc>
                  <a:txBody>
                    <a:bodyPr/>
                    <a:lstStyle/>
                    <a:p>
                      <a:r>
                        <a:rPr lang="en-US" sz="2400" b="0" kern="1200" dirty="0">
                          <a:solidFill>
                            <a:schemeClr val="dk1"/>
                          </a:solidFill>
                          <a:latin typeface="+mn-lt"/>
                          <a:ea typeface="+mn-ea"/>
                          <a:cs typeface="+mn-cs"/>
                        </a:rPr>
                        <a:t>The process of </a:t>
                      </a:r>
                      <a:r>
                        <a:rPr lang="en-US" sz="2400" b="1" kern="1200" dirty="0">
                          <a:solidFill>
                            <a:schemeClr val="accent6"/>
                          </a:solidFill>
                          <a:latin typeface="+mn-lt"/>
                          <a:ea typeface="+mn-ea"/>
                          <a:cs typeface="+mn-cs"/>
                        </a:rPr>
                        <a:t>creation of group from various entities</a:t>
                      </a:r>
                      <a:r>
                        <a:rPr lang="en-US" sz="2400" b="0" kern="1200" dirty="0">
                          <a:solidFill>
                            <a:schemeClr val="dk1"/>
                          </a:solidFill>
                          <a:latin typeface="+mn-lt"/>
                          <a:ea typeface="+mn-ea"/>
                          <a:cs typeface="+mn-cs"/>
                        </a:rPr>
                        <a:t> is called generalization.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dirty="0">
                          <a:solidFill>
                            <a:schemeClr val="dk1"/>
                          </a:solidFill>
                          <a:latin typeface="+mn-lt"/>
                          <a:ea typeface="+mn-ea"/>
                          <a:cs typeface="+mn-cs"/>
                        </a:rPr>
                        <a:t>The process of </a:t>
                      </a:r>
                      <a:r>
                        <a:rPr lang="en-US" sz="2400" b="1" kern="1200" dirty="0">
                          <a:solidFill>
                            <a:schemeClr val="accent6"/>
                          </a:solidFill>
                          <a:latin typeface="+mn-lt"/>
                          <a:ea typeface="+mn-ea"/>
                          <a:cs typeface="+mn-cs"/>
                        </a:rPr>
                        <a:t>creation of sub-groups within an entity</a:t>
                      </a:r>
                      <a:r>
                        <a:rPr lang="en-US" sz="2400" b="0" kern="1200" dirty="0">
                          <a:solidFill>
                            <a:schemeClr val="dk1"/>
                          </a:solidFill>
                          <a:latin typeface="+mn-lt"/>
                          <a:ea typeface="+mn-ea"/>
                          <a:cs typeface="+mn-cs"/>
                        </a:rPr>
                        <a:t> is called specialization.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148392357"/>
              </p:ext>
            </p:extLst>
          </p:nvPr>
        </p:nvGraphicFramePr>
        <p:xfrm>
          <a:off x="131179" y="2319178"/>
          <a:ext cx="11929642" cy="540000"/>
        </p:xfrm>
        <a:graphic>
          <a:graphicData uri="http://schemas.openxmlformats.org/drawingml/2006/table">
            <a:tbl>
              <a:tblPr firstRow="1" bandRow="1">
                <a:tableStyleId>{8EC20E35-A176-4012-BC5E-935CFFF8708E}</a:tableStyleId>
              </a:tblPr>
              <a:tblGrid>
                <a:gridCol w="5964821">
                  <a:extLst>
                    <a:ext uri="{9D8B030D-6E8A-4147-A177-3AD203B41FA5}">
                      <a16:colId xmlns:a16="http://schemas.microsoft.com/office/drawing/2014/main" val="20000"/>
                    </a:ext>
                  </a:extLst>
                </a:gridCol>
                <a:gridCol w="5964821">
                  <a:extLst>
                    <a:ext uri="{9D8B030D-6E8A-4147-A177-3AD203B41FA5}">
                      <a16:colId xmlns:a16="http://schemas.microsoft.com/office/drawing/2014/main" val="20001"/>
                    </a:ext>
                  </a:extLst>
                </a:gridCol>
              </a:tblGrid>
              <a:tr h="540000">
                <a:tc>
                  <a:txBody>
                    <a:bodyPr/>
                    <a:lstStyle/>
                    <a:p>
                      <a:r>
                        <a:rPr lang="en-GB" sz="2400" b="0" kern="1200" dirty="0">
                          <a:solidFill>
                            <a:schemeClr val="dk1"/>
                          </a:solidFill>
                          <a:latin typeface="+mn-lt"/>
                          <a:ea typeface="+mn-ea"/>
                          <a:cs typeface="+mn-cs"/>
                        </a:rPr>
                        <a:t>It is </a:t>
                      </a:r>
                      <a:r>
                        <a:rPr lang="en-GB" sz="2400" b="1" kern="1200" dirty="0">
                          <a:solidFill>
                            <a:schemeClr val="accent6"/>
                          </a:solidFill>
                          <a:latin typeface="+mn-lt"/>
                          <a:ea typeface="+mn-ea"/>
                          <a:cs typeface="+mn-cs"/>
                        </a:rPr>
                        <a:t>Bottom-up</a:t>
                      </a:r>
                      <a:r>
                        <a:rPr lang="en-GB" sz="2400" b="0" kern="1200" dirty="0">
                          <a:solidFill>
                            <a:schemeClr val="dk1"/>
                          </a:solidFill>
                          <a:latin typeface="+mn-lt"/>
                          <a:ea typeface="+mn-ea"/>
                          <a:cs typeface="+mn-cs"/>
                        </a:rPr>
                        <a:t> approach.</a:t>
                      </a:r>
                      <a:endParaRPr lang="en-US" sz="24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GB" sz="2400" b="0" kern="1200" dirty="0">
                          <a:solidFill>
                            <a:schemeClr val="dk1"/>
                          </a:solidFill>
                          <a:latin typeface="+mn-lt"/>
                          <a:ea typeface="+mn-ea"/>
                          <a:cs typeface="+mn-cs"/>
                        </a:rPr>
                        <a:t>It is </a:t>
                      </a:r>
                      <a:r>
                        <a:rPr lang="en-GB" sz="2400" b="1" kern="1200" dirty="0">
                          <a:solidFill>
                            <a:schemeClr val="accent6"/>
                          </a:solidFill>
                          <a:latin typeface="+mn-lt"/>
                          <a:ea typeface="+mn-ea"/>
                          <a:cs typeface="+mn-cs"/>
                        </a:rPr>
                        <a:t>Top-down</a:t>
                      </a:r>
                      <a:r>
                        <a:rPr lang="en-GB" sz="2400" b="0" kern="1200" dirty="0">
                          <a:solidFill>
                            <a:schemeClr val="dk1"/>
                          </a:solidFill>
                          <a:latin typeface="+mn-lt"/>
                          <a:ea typeface="+mn-ea"/>
                          <a:cs typeface="+mn-cs"/>
                        </a:rPr>
                        <a:t> approach.</a:t>
                      </a:r>
                      <a:endParaRPr lang="en-US"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3"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24258681"/>
              </p:ext>
            </p:extLst>
          </p:nvPr>
        </p:nvGraphicFramePr>
        <p:xfrm>
          <a:off x="131180" y="2861744"/>
          <a:ext cx="11929642" cy="1188720"/>
        </p:xfrm>
        <a:graphic>
          <a:graphicData uri="http://schemas.openxmlformats.org/drawingml/2006/table">
            <a:tbl>
              <a:tblPr firstRow="1" bandRow="1">
                <a:tableStyleId>{8EC20E35-A176-4012-BC5E-935CFFF8708E}</a:tableStyleId>
              </a:tblPr>
              <a:tblGrid>
                <a:gridCol w="5964821">
                  <a:extLst>
                    <a:ext uri="{9D8B030D-6E8A-4147-A177-3AD203B41FA5}">
                      <a16:colId xmlns:a16="http://schemas.microsoft.com/office/drawing/2014/main" val="20000"/>
                    </a:ext>
                  </a:extLst>
                </a:gridCol>
                <a:gridCol w="5964821">
                  <a:extLst>
                    <a:ext uri="{9D8B030D-6E8A-4147-A177-3AD203B41FA5}">
                      <a16:colId xmlns:a16="http://schemas.microsoft.com/office/drawing/2014/main" val="20001"/>
                    </a:ext>
                  </a:extLst>
                </a:gridCol>
              </a:tblGrid>
              <a:tr h="540000">
                <a:tc>
                  <a:txBody>
                    <a:bodyPr/>
                    <a:lstStyle/>
                    <a:p>
                      <a:r>
                        <a:rPr lang="en-US" sz="2400" b="0" kern="1200" dirty="0">
                          <a:solidFill>
                            <a:schemeClr val="dk1"/>
                          </a:solidFill>
                          <a:latin typeface="+mn-lt"/>
                          <a:ea typeface="+mn-ea"/>
                          <a:cs typeface="+mn-cs"/>
                        </a:rPr>
                        <a:t>The process of taking the </a:t>
                      </a:r>
                      <a:r>
                        <a:rPr lang="en-US" sz="2400" b="1" kern="1200" dirty="0">
                          <a:solidFill>
                            <a:schemeClr val="accent6"/>
                          </a:solidFill>
                          <a:latin typeface="+mn-lt"/>
                          <a:ea typeface="+mn-ea"/>
                          <a:cs typeface="+mn-cs"/>
                        </a:rPr>
                        <a:t>union of two or more lower level entity </a:t>
                      </a:r>
                      <a:r>
                        <a:rPr lang="en-US" sz="2400" b="0" kern="1200" dirty="0">
                          <a:solidFill>
                            <a:schemeClr val="dk1"/>
                          </a:solidFill>
                          <a:latin typeface="+mn-lt"/>
                          <a:ea typeface="+mn-ea"/>
                          <a:cs typeface="+mn-cs"/>
                        </a:rPr>
                        <a:t>sets to produce a higher level entity set.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dirty="0">
                          <a:solidFill>
                            <a:schemeClr val="dk1"/>
                          </a:solidFill>
                          <a:latin typeface="+mn-lt"/>
                          <a:ea typeface="+mn-ea"/>
                          <a:cs typeface="+mn-cs"/>
                        </a:rPr>
                        <a:t>The process of taking a </a:t>
                      </a:r>
                      <a:r>
                        <a:rPr lang="en-US" sz="2400" b="1" kern="1200" dirty="0">
                          <a:solidFill>
                            <a:schemeClr val="accent6"/>
                          </a:solidFill>
                          <a:latin typeface="+mn-lt"/>
                          <a:ea typeface="+mn-ea"/>
                          <a:cs typeface="+mn-cs"/>
                        </a:rPr>
                        <a:t>sub set of higher level entity set</a:t>
                      </a:r>
                      <a:r>
                        <a:rPr lang="en-US" sz="2400" b="0" kern="1200" dirty="0">
                          <a:solidFill>
                            <a:schemeClr val="dk1"/>
                          </a:solidFill>
                          <a:latin typeface="+mn-lt"/>
                          <a:ea typeface="+mn-ea"/>
                          <a:cs typeface="+mn-cs"/>
                        </a:rPr>
                        <a:t> to form a lower level entity set.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4"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993258081"/>
              </p:ext>
            </p:extLst>
          </p:nvPr>
        </p:nvGraphicFramePr>
        <p:xfrm>
          <a:off x="131180" y="4037727"/>
          <a:ext cx="11929642" cy="1188720"/>
        </p:xfrm>
        <a:graphic>
          <a:graphicData uri="http://schemas.openxmlformats.org/drawingml/2006/table">
            <a:tbl>
              <a:tblPr firstRow="1" bandRow="1">
                <a:tableStyleId>{8EC20E35-A176-4012-BC5E-935CFFF8708E}</a:tableStyleId>
              </a:tblPr>
              <a:tblGrid>
                <a:gridCol w="5964821">
                  <a:extLst>
                    <a:ext uri="{9D8B030D-6E8A-4147-A177-3AD203B41FA5}">
                      <a16:colId xmlns:a16="http://schemas.microsoft.com/office/drawing/2014/main" val="20000"/>
                    </a:ext>
                  </a:extLst>
                </a:gridCol>
                <a:gridCol w="5964821">
                  <a:extLst>
                    <a:ext uri="{9D8B030D-6E8A-4147-A177-3AD203B41FA5}">
                      <a16:colId xmlns:a16="http://schemas.microsoft.com/office/drawing/2014/main" val="20001"/>
                    </a:ext>
                  </a:extLst>
                </a:gridCol>
              </a:tblGrid>
              <a:tr h="540000">
                <a:tc>
                  <a:txBody>
                    <a:bodyPr/>
                    <a:lstStyle/>
                    <a:p>
                      <a:r>
                        <a:rPr lang="en-US" sz="2400" b="0" kern="1200" dirty="0">
                          <a:solidFill>
                            <a:schemeClr val="dk1"/>
                          </a:solidFill>
                          <a:latin typeface="+mn-lt"/>
                          <a:ea typeface="+mn-ea"/>
                          <a:cs typeface="+mn-cs"/>
                        </a:rPr>
                        <a:t>It starts from the number of entity sets and creates high level entity set using some common features.</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dirty="0">
                          <a:solidFill>
                            <a:schemeClr val="dk1"/>
                          </a:solidFill>
                          <a:latin typeface="+mn-lt"/>
                          <a:ea typeface="+mn-ea"/>
                          <a:cs typeface="+mn-cs"/>
                        </a:rPr>
                        <a:t>It starts from a single entity set and creates different low level entity sets using some different features.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81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 &amp; Specialization example</a:t>
            </a:r>
          </a:p>
        </p:txBody>
      </p:sp>
      <p:sp>
        <p:nvSpPr>
          <p:cNvPr id="3" name="Content Placeholder 2"/>
          <p:cNvSpPr>
            <a:spLocks noGrp="1"/>
          </p:cNvSpPr>
          <p:nvPr>
            <p:ph idx="1"/>
          </p:nvPr>
        </p:nvSpPr>
        <p:spPr/>
        <p:txBody>
          <a:bodyPr/>
          <a:lstStyle/>
          <a:p>
            <a:pPr marL="0" indent="0">
              <a:buNone/>
            </a:pPr>
            <a:endParaRPr lang="en-US" dirty="0"/>
          </a:p>
        </p:txBody>
      </p:sp>
      <p:sp>
        <p:nvSpPr>
          <p:cNvPr id="33" name="Rectangle 32"/>
          <p:cNvSpPr/>
          <p:nvPr/>
        </p:nvSpPr>
        <p:spPr>
          <a:xfrm>
            <a:off x="4684601" y="3348792"/>
            <a:ext cx="146304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Employee</a:t>
            </a:r>
          </a:p>
        </p:txBody>
      </p:sp>
      <p:sp>
        <p:nvSpPr>
          <p:cNvPr id="34" name="Rectangle 33"/>
          <p:cNvSpPr/>
          <p:nvPr/>
        </p:nvSpPr>
        <p:spPr>
          <a:xfrm>
            <a:off x="6970601" y="3348792"/>
            <a:ext cx="146304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Customer</a:t>
            </a:r>
          </a:p>
        </p:txBody>
      </p:sp>
      <p:sp>
        <p:nvSpPr>
          <p:cNvPr id="35" name="Rectangle 34"/>
          <p:cNvSpPr/>
          <p:nvPr/>
        </p:nvSpPr>
        <p:spPr>
          <a:xfrm>
            <a:off x="5870212" y="1828800"/>
            <a:ext cx="146304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Person</a:t>
            </a:r>
          </a:p>
        </p:txBody>
      </p:sp>
      <p:sp>
        <p:nvSpPr>
          <p:cNvPr id="36" name="Oval 35"/>
          <p:cNvSpPr/>
          <p:nvPr/>
        </p:nvSpPr>
        <p:spPr>
          <a:xfrm>
            <a:off x="5551760" y="1102353"/>
            <a:ext cx="1071563"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Name</a:t>
            </a:r>
          </a:p>
        </p:txBody>
      </p:sp>
      <p:sp>
        <p:nvSpPr>
          <p:cNvPr id="37" name="Oval 36"/>
          <p:cNvSpPr/>
          <p:nvPr/>
        </p:nvSpPr>
        <p:spPr>
          <a:xfrm>
            <a:off x="6724704" y="1066800"/>
            <a:ext cx="1404937"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Address</a:t>
            </a:r>
          </a:p>
        </p:txBody>
      </p:sp>
      <p:cxnSp>
        <p:nvCxnSpPr>
          <p:cNvPr id="38" name="Straight Connector 37"/>
          <p:cNvCxnSpPr>
            <a:stCxn id="35" idx="0"/>
            <a:endCxn id="36" idx="4"/>
          </p:cNvCxnSpPr>
          <p:nvPr/>
        </p:nvCxnSpPr>
        <p:spPr>
          <a:xfrm flipH="1" flipV="1">
            <a:off x="6087542" y="1513833"/>
            <a:ext cx="514190" cy="314967"/>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p:cNvCxnSpPr>
            <a:stCxn id="37" idx="4"/>
            <a:endCxn id="35" idx="0"/>
          </p:cNvCxnSpPr>
          <p:nvPr/>
        </p:nvCxnSpPr>
        <p:spPr>
          <a:xfrm flipH="1">
            <a:off x="6601732" y="1478280"/>
            <a:ext cx="825441" cy="350520"/>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40" name="Oval 39"/>
          <p:cNvSpPr/>
          <p:nvPr/>
        </p:nvSpPr>
        <p:spPr>
          <a:xfrm>
            <a:off x="4599126" y="1652265"/>
            <a:ext cx="907413"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PID</a:t>
            </a:r>
          </a:p>
        </p:txBody>
      </p:sp>
      <p:sp>
        <p:nvSpPr>
          <p:cNvPr id="41" name="Oval 40"/>
          <p:cNvSpPr/>
          <p:nvPr/>
        </p:nvSpPr>
        <p:spPr>
          <a:xfrm>
            <a:off x="7727791" y="1652265"/>
            <a:ext cx="1064575"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City</a:t>
            </a:r>
          </a:p>
        </p:txBody>
      </p:sp>
      <p:cxnSp>
        <p:nvCxnSpPr>
          <p:cNvPr id="42" name="Straight Connector 41"/>
          <p:cNvCxnSpPr>
            <a:stCxn id="41" idx="3"/>
            <a:endCxn id="35" idx="3"/>
          </p:cNvCxnSpPr>
          <p:nvPr/>
        </p:nvCxnSpPr>
        <p:spPr>
          <a:xfrm flipH="1">
            <a:off x="7333252" y="2003485"/>
            <a:ext cx="550442" cy="53915"/>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p:cNvCxnSpPr>
            <a:stCxn id="35" idx="1"/>
            <a:endCxn id="40" idx="5"/>
          </p:cNvCxnSpPr>
          <p:nvPr/>
        </p:nvCxnSpPr>
        <p:spPr>
          <a:xfrm flipH="1" flipV="1">
            <a:off x="5373651" y="2003485"/>
            <a:ext cx="496561" cy="53915"/>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44" name="Oval 43"/>
          <p:cNvSpPr/>
          <p:nvPr/>
        </p:nvSpPr>
        <p:spPr>
          <a:xfrm>
            <a:off x="3151325" y="3373176"/>
            <a:ext cx="1080000"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Salary</a:t>
            </a:r>
          </a:p>
        </p:txBody>
      </p:sp>
      <p:sp>
        <p:nvSpPr>
          <p:cNvPr id="45" name="Oval 44"/>
          <p:cNvSpPr/>
          <p:nvPr/>
        </p:nvSpPr>
        <p:spPr>
          <a:xfrm>
            <a:off x="9018725" y="3371652"/>
            <a:ext cx="1296000"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Balance</a:t>
            </a:r>
          </a:p>
        </p:txBody>
      </p:sp>
      <p:cxnSp>
        <p:nvCxnSpPr>
          <p:cNvPr id="46" name="Straight Connector 45"/>
          <p:cNvCxnSpPr>
            <a:stCxn id="44" idx="6"/>
            <a:endCxn id="33" idx="1"/>
          </p:cNvCxnSpPr>
          <p:nvPr/>
        </p:nvCxnSpPr>
        <p:spPr>
          <a:xfrm flipV="1">
            <a:off x="4231325" y="3577392"/>
            <a:ext cx="453276" cy="152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p:cNvCxnSpPr>
            <a:endCxn id="45" idx="2"/>
          </p:cNvCxnSpPr>
          <p:nvPr/>
        </p:nvCxnSpPr>
        <p:spPr>
          <a:xfrm flipV="1">
            <a:off x="8433641" y="3577392"/>
            <a:ext cx="585084" cy="152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48" name="Flowchart: Merge 47"/>
          <p:cNvSpPr/>
          <p:nvPr/>
        </p:nvSpPr>
        <p:spPr>
          <a:xfrm>
            <a:off x="6197907" y="2593937"/>
            <a:ext cx="812798" cy="544671"/>
          </a:xfrm>
          <a:prstGeom prst="flowChartMerg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ISA</a:t>
            </a:r>
          </a:p>
        </p:txBody>
      </p:sp>
      <p:cxnSp>
        <p:nvCxnSpPr>
          <p:cNvPr id="49" name="Straight Connector 48"/>
          <p:cNvCxnSpPr>
            <a:stCxn id="35" idx="2"/>
            <a:endCxn id="48" idx="0"/>
          </p:cNvCxnSpPr>
          <p:nvPr/>
        </p:nvCxnSpPr>
        <p:spPr>
          <a:xfrm>
            <a:off x="6601732" y="2286000"/>
            <a:ext cx="2574" cy="307937"/>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p:cNvCxnSpPr>
            <a:stCxn id="33" idx="0"/>
            <a:endCxn id="48" idx="1"/>
          </p:cNvCxnSpPr>
          <p:nvPr/>
        </p:nvCxnSpPr>
        <p:spPr>
          <a:xfrm flipV="1">
            <a:off x="5416121" y="2866273"/>
            <a:ext cx="984986" cy="48251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p:cNvCxnSpPr>
            <a:stCxn id="34" idx="0"/>
            <a:endCxn id="48" idx="3"/>
          </p:cNvCxnSpPr>
          <p:nvPr/>
        </p:nvCxnSpPr>
        <p:spPr>
          <a:xfrm flipH="1" flipV="1">
            <a:off x="6807506" y="2866273"/>
            <a:ext cx="894615" cy="48251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52" name="Rectangle 51"/>
          <p:cNvSpPr/>
          <p:nvPr/>
        </p:nvSpPr>
        <p:spPr>
          <a:xfrm>
            <a:off x="3493709" y="4868990"/>
            <a:ext cx="146304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Full Time</a:t>
            </a:r>
          </a:p>
        </p:txBody>
      </p:sp>
      <p:sp>
        <p:nvSpPr>
          <p:cNvPr id="53" name="Rectangle 52"/>
          <p:cNvSpPr/>
          <p:nvPr/>
        </p:nvSpPr>
        <p:spPr>
          <a:xfrm>
            <a:off x="5779709" y="4868990"/>
            <a:ext cx="146304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Part Time</a:t>
            </a:r>
          </a:p>
        </p:txBody>
      </p:sp>
      <p:sp>
        <p:nvSpPr>
          <p:cNvPr id="54" name="Oval 53"/>
          <p:cNvSpPr/>
          <p:nvPr/>
        </p:nvSpPr>
        <p:spPr>
          <a:xfrm>
            <a:off x="3227526" y="5715000"/>
            <a:ext cx="1980000"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Days Worked</a:t>
            </a:r>
          </a:p>
        </p:txBody>
      </p:sp>
      <p:sp>
        <p:nvSpPr>
          <p:cNvPr id="55" name="Oval 54"/>
          <p:cNvSpPr/>
          <p:nvPr/>
        </p:nvSpPr>
        <p:spPr>
          <a:xfrm>
            <a:off x="5504852" y="5715000"/>
            <a:ext cx="2016000" cy="41148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Hour Worked</a:t>
            </a:r>
          </a:p>
        </p:txBody>
      </p:sp>
      <p:cxnSp>
        <p:nvCxnSpPr>
          <p:cNvPr id="56" name="Straight Connector 55"/>
          <p:cNvCxnSpPr>
            <a:stCxn id="54" idx="0"/>
            <a:endCxn id="52" idx="2"/>
          </p:cNvCxnSpPr>
          <p:nvPr/>
        </p:nvCxnSpPr>
        <p:spPr>
          <a:xfrm flipV="1">
            <a:off x="4217526" y="5326190"/>
            <a:ext cx="7703" cy="388810"/>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p:cNvCxnSpPr>
            <a:stCxn id="53" idx="2"/>
            <a:endCxn id="55" idx="0"/>
          </p:cNvCxnSpPr>
          <p:nvPr/>
        </p:nvCxnSpPr>
        <p:spPr>
          <a:xfrm>
            <a:off x="6511229" y="5326190"/>
            <a:ext cx="1623" cy="388810"/>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58" name="Flowchart: Merge 57"/>
          <p:cNvSpPr/>
          <p:nvPr/>
        </p:nvSpPr>
        <p:spPr>
          <a:xfrm>
            <a:off x="5007015" y="4114135"/>
            <a:ext cx="812798" cy="544671"/>
          </a:xfrm>
          <a:prstGeom prst="flowChartMerg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ISA</a:t>
            </a:r>
          </a:p>
        </p:txBody>
      </p:sp>
      <p:cxnSp>
        <p:nvCxnSpPr>
          <p:cNvPr id="59" name="Straight Connector 58"/>
          <p:cNvCxnSpPr>
            <a:endCxn id="58" idx="0"/>
          </p:cNvCxnSpPr>
          <p:nvPr/>
        </p:nvCxnSpPr>
        <p:spPr>
          <a:xfrm>
            <a:off x="5410840" y="3806198"/>
            <a:ext cx="2574" cy="307937"/>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p:cNvCxnSpPr>
            <a:stCxn id="52" idx="0"/>
            <a:endCxn id="58" idx="1"/>
          </p:cNvCxnSpPr>
          <p:nvPr/>
        </p:nvCxnSpPr>
        <p:spPr>
          <a:xfrm flipV="1">
            <a:off x="4225229" y="4386471"/>
            <a:ext cx="984986" cy="48251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p:cNvCxnSpPr>
            <a:stCxn id="53" idx="0"/>
            <a:endCxn id="58" idx="3"/>
          </p:cNvCxnSpPr>
          <p:nvPr/>
        </p:nvCxnSpPr>
        <p:spPr>
          <a:xfrm flipH="1" flipV="1">
            <a:off x="5616614" y="4386471"/>
            <a:ext cx="894615" cy="48251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16565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500"/>
                                        <p:tgtEl>
                                          <p:spTgt spid="3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8" dur="500"/>
                                        <p:tgtEl>
                                          <p:spTgt spid="37"/>
                                        </p:tgtEl>
                                      </p:cBhvr>
                                    </p:animEffect>
                                  </p:childTnLst>
                                </p:cTn>
                              </p:par>
                              <p:par>
                                <p:cTn id="19" presetID="10"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fade">
                                      <p:cBhvr>
                                        <p:cTn id="21" dur="500"/>
                                        <p:tgtEl>
                                          <p:spTgt spid="3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fade">
                                      <p:cBhvr>
                                        <p:cTn id="24" dur="500"/>
                                        <p:tgtEl>
                                          <p:spTgt spid="4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500"/>
                                        <p:tgtEl>
                                          <p:spTgt spid="40"/>
                                        </p:tgtEl>
                                      </p:cBhvr>
                                    </p:animEffect>
                                  </p:childTnLst>
                                </p:cTn>
                              </p:par>
                              <p:par>
                                <p:cTn id="28" presetID="10" presetClass="entr" presetSubtype="0" fill="hold" nodeType="with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childTnLst>
                                </p:cTn>
                              </p:par>
                              <p:par>
                                <p:cTn id="31" presetID="10"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500"/>
                                        <p:tgtEl>
                                          <p:spTgt spid="46"/>
                                        </p:tgtEl>
                                      </p:cBhvr>
                                    </p:animEffect>
                                  </p:childTnLst>
                                </p:cTn>
                              </p:par>
                              <p:par>
                                <p:cTn id="47" presetID="10" presetClass="entr" presetSubtype="0"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fade">
                                      <p:cBhvr>
                                        <p:cTn id="49" dur="500"/>
                                        <p:tgtEl>
                                          <p:spTgt spid="4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5"/>
                                        </p:tgtEl>
                                        <p:attrNameLst>
                                          <p:attrName>style.visibility</p:attrName>
                                        </p:attrNameLst>
                                      </p:cBhvr>
                                      <p:to>
                                        <p:strVal val="visible"/>
                                      </p:to>
                                    </p:set>
                                    <p:animEffect transition="in" filter="fade">
                                      <p:cBhvr>
                                        <p:cTn id="52" dur="500"/>
                                        <p:tgtEl>
                                          <p:spTgt spid="4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animEffect transition="in" filter="fade">
                                      <p:cBhvr>
                                        <p:cTn id="55" dur="500"/>
                                        <p:tgtEl>
                                          <p:spTgt spid="4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500"/>
                                        <p:tgtEl>
                                          <p:spTgt spid="4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fade">
                                      <p:cBhvr>
                                        <p:cTn id="63" dur="500"/>
                                        <p:tgtEl>
                                          <p:spTgt spid="48"/>
                                        </p:tgtEl>
                                      </p:cBhvr>
                                    </p:animEffect>
                                  </p:childTnLst>
                                </p:cTn>
                              </p:par>
                              <p:par>
                                <p:cTn id="64" presetID="10" presetClass="entr" presetSubtype="0" fill="hold" nodeType="with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fade">
                                      <p:cBhvr>
                                        <p:cTn id="66" dur="500"/>
                                        <p:tgtEl>
                                          <p:spTgt spid="50"/>
                                        </p:tgtEl>
                                      </p:cBhvr>
                                    </p:animEffect>
                                  </p:childTnLst>
                                </p:cTn>
                              </p:par>
                              <p:par>
                                <p:cTn id="67" presetID="10" presetClass="entr" presetSubtype="0" fill="hold" nodeType="withEffect">
                                  <p:stCondLst>
                                    <p:cond delay="0"/>
                                  </p:stCondLst>
                                  <p:childTnLst>
                                    <p:set>
                                      <p:cBhvr>
                                        <p:cTn id="68" dur="1" fill="hold">
                                          <p:stCondLst>
                                            <p:cond delay="0"/>
                                          </p:stCondLst>
                                        </p:cTn>
                                        <p:tgtEl>
                                          <p:spTgt spid="51"/>
                                        </p:tgtEl>
                                        <p:attrNameLst>
                                          <p:attrName>style.visibility</p:attrName>
                                        </p:attrNameLst>
                                      </p:cBhvr>
                                      <p:to>
                                        <p:strVal val="visible"/>
                                      </p:to>
                                    </p:set>
                                    <p:animEffect transition="in" filter="fade">
                                      <p:cBhvr>
                                        <p:cTn id="69" dur="500"/>
                                        <p:tgtEl>
                                          <p:spTgt spid="5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52"/>
                                        </p:tgtEl>
                                        <p:attrNameLst>
                                          <p:attrName>style.visibility</p:attrName>
                                        </p:attrNameLst>
                                      </p:cBhvr>
                                      <p:to>
                                        <p:strVal val="visible"/>
                                      </p:to>
                                    </p:set>
                                    <p:animEffect transition="in" filter="fade">
                                      <p:cBhvr>
                                        <p:cTn id="74" dur="500"/>
                                        <p:tgtEl>
                                          <p:spTgt spid="5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53"/>
                                        </p:tgtEl>
                                        <p:attrNameLst>
                                          <p:attrName>style.visibility</p:attrName>
                                        </p:attrNameLst>
                                      </p:cBhvr>
                                      <p:to>
                                        <p:strVal val="visible"/>
                                      </p:to>
                                    </p:set>
                                    <p:animEffect transition="in" filter="fade">
                                      <p:cBhvr>
                                        <p:cTn id="77" dur="500"/>
                                        <p:tgtEl>
                                          <p:spTgt spid="53"/>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fade">
                                      <p:cBhvr>
                                        <p:cTn id="82" dur="500"/>
                                        <p:tgtEl>
                                          <p:spTgt spid="56"/>
                                        </p:tgtEl>
                                      </p:cBhvr>
                                    </p:animEffect>
                                  </p:childTnLst>
                                </p:cTn>
                              </p:par>
                              <p:par>
                                <p:cTn id="83" presetID="10" presetClass="entr" presetSubtype="0" fill="hold" nodeType="withEffect">
                                  <p:stCondLst>
                                    <p:cond delay="0"/>
                                  </p:stCondLst>
                                  <p:childTnLst>
                                    <p:set>
                                      <p:cBhvr>
                                        <p:cTn id="84" dur="1" fill="hold">
                                          <p:stCondLst>
                                            <p:cond delay="0"/>
                                          </p:stCondLst>
                                        </p:cTn>
                                        <p:tgtEl>
                                          <p:spTgt spid="57"/>
                                        </p:tgtEl>
                                        <p:attrNameLst>
                                          <p:attrName>style.visibility</p:attrName>
                                        </p:attrNameLst>
                                      </p:cBhvr>
                                      <p:to>
                                        <p:strVal val="visible"/>
                                      </p:to>
                                    </p:set>
                                    <p:animEffect transition="in" filter="fade">
                                      <p:cBhvr>
                                        <p:cTn id="85" dur="500"/>
                                        <p:tgtEl>
                                          <p:spTgt spid="5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5"/>
                                        </p:tgtEl>
                                        <p:attrNameLst>
                                          <p:attrName>style.visibility</p:attrName>
                                        </p:attrNameLst>
                                      </p:cBhvr>
                                      <p:to>
                                        <p:strVal val="visible"/>
                                      </p:to>
                                    </p:set>
                                    <p:animEffect transition="in" filter="fade">
                                      <p:cBhvr>
                                        <p:cTn id="88" dur="500"/>
                                        <p:tgtEl>
                                          <p:spTgt spid="5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4"/>
                                        </p:tgtEl>
                                        <p:attrNameLst>
                                          <p:attrName>style.visibility</p:attrName>
                                        </p:attrNameLst>
                                      </p:cBhvr>
                                      <p:to>
                                        <p:strVal val="visible"/>
                                      </p:to>
                                    </p:set>
                                    <p:animEffect transition="in" filter="fade">
                                      <p:cBhvr>
                                        <p:cTn id="91" dur="500"/>
                                        <p:tgtEl>
                                          <p:spTgt spid="54"/>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59"/>
                                        </p:tgtEl>
                                        <p:attrNameLst>
                                          <p:attrName>style.visibility</p:attrName>
                                        </p:attrNameLst>
                                      </p:cBhvr>
                                      <p:to>
                                        <p:strVal val="visible"/>
                                      </p:to>
                                    </p:set>
                                    <p:animEffect transition="in" filter="fade">
                                      <p:cBhvr>
                                        <p:cTn id="96" dur="500"/>
                                        <p:tgtEl>
                                          <p:spTgt spid="59"/>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8"/>
                                        </p:tgtEl>
                                        <p:attrNameLst>
                                          <p:attrName>style.visibility</p:attrName>
                                        </p:attrNameLst>
                                      </p:cBhvr>
                                      <p:to>
                                        <p:strVal val="visible"/>
                                      </p:to>
                                    </p:set>
                                    <p:animEffect transition="in" filter="fade">
                                      <p:cBhvr>
                                        <p:cTn id="99" dur="500"/>
                                        <p:tgtEl>
                                          <p:spTgt spid="58"/>
                                        </p:tgtEl>
                                      </p:cBhvr>
                                    </p:animEffect>
                                  </p:childTnLst>
                                </p:cTn>
                              </p:par>
                              <p:par>
                                <p:cTn id="100" presetID="10" presetClass="entr" presetSubtype="0" fill="hold" nodeType="withEffect">
                                  <p:stCondLst>
                                    <p:cond delay="0"/>
                                  </p:stCondLst>
                                  <p:childTnLst>
                                    <p:set>
                                      <p:cBhvr>
                                        <p:cTn id="101" dur="1" fill="hold">
                                          <p:stCondLst>
                                            <p:cond delay="0"/>
                                          </p:stCondLst>
                                        </p:cTn>
                                        <p:tgtEl>
                                          <p:spTgt spid="60"/>
                                        </p:tgtEl>
                                        <p:attrNameLst>
                                          <p:attrName>style.visibility</p:attrName>
                                        </p:attrNameLst>
                                      </p:cBhvr>
                                      <p:to>
                                        <p:strVal val="visible"/>
                                      </p:to>
                                    </p:set>
                                    <p:animEffect transition="in" filter="fade">
                                      <p:cBhvr>
                                        <p:cTn id="102" dur="500"/>
                                        <p:tgtEl>
                                          <p:spTgt spid="60"/>
                                        </p:tgtEl>
                                      </p:cBhvr>
                                    </p:animEffect>
                                  </p:childTnLst>
                                </p:cTn>
                              </p:par>
                              <p:par>
                                <p:cTn id="103" presetID="10" presetClass="entr" presetSubtype="0" fill="hold" nodeType="withEffect">
                                  <p:stCondLst>
                                    <p:cond delay="0"/>
                                  </p:stCondLst>
                                  <p:childTnLst>
                                    <p:set>
                                      <p:cBhvr>
                                        <p:cTn id="104" dur="1" fill="hold">
                                          <p:stCondLst>
                                            <p:cond delay="0"/>
                                          </p:stCondLst>
                                        </p:cTn>
                                        <p:tgtEl>
                                          <p:spTgt spid="61"/>
                                        </p:tgtEl>
                                        <p:attrNameLst>
                                          <p:attrName>style.visibility</p:attrName>
                                        </p:attrNameLst>
                                      </p:cBhvr>
                                      <p:to>
                                        <p:strVal val="visible"/>
                                      </p:to>
                                    </p:set>
                                    <p:animEffect transition="in" filter="fade">
                                      <p:cBhvr>
                                        <p:cTn id="105"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P spid="40" grpId="0" animBg="1"/>
      <p:bldP spid="41" grpId="0" animBg="1"/>
      <p:bldP spid="44" grpId="0" animBg="1"/>
      <p:bldP spid="45" grpId="0" animBg="1"/>
      <p:bldP spid="48" grpId="0" animBg="1"/>
      <p:bldP spid="52" grpId="0" animBg="1"/>
      <p:bldP spid="53" grpId="0" animBg="1"/>
      <p:bldP spid="54" grpId="0" animBg="1"/>
      <p:bldP spid="55" grpId="0" animBg="1"/>
      <p:bldP spid="5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Exercise</a:t>
            </a:r>
          </a:p>
        </p:txBody>
      </p:sp>
      <p:sp>
        <p:nvSpPr>
          <p:cNvPr id="5" name="Content Placeholder 4"/>
          <p:cNvSpPr>
            <a:spLocks noGrp="1"/>
          </p:cNvSpPr>
          <p:nvPr>
            <p:ph idx="1"/>
          </p:nvPr>
        </p:nvSpPr>
        <p:spPr/>
        <p:txBody>
          <a:bodyPr/>
          <a:lstStyle/>
          <a:p>
            <a:r>
              <a:rPr lang="en-US" dirty="0"/>
              <a:t>Give the examples of Generalization/Specialization in the following E-R diagram</a:t>
            </a:r>
            <a:r>
              <a:rPr lang="en-GB" dirty="0"/>
              <a:t>:</a:t>
            </a:r>
          </a:p>
          <a:p>
            <a:pPr lvl="1"/>
            <a:r>
              <a:rPr lang="en-US" dirty="0"/>
              <a:t>Hospital Management System.</a:t>
            </a:r>
          </a:p>
          <a:p>
            <a:pPr lvl="1"/>
            <a:r>
              <a:rPr lang="en-US" dirty="0"/>
              <a:t>College Management System.</a:t>
            </a:r>
          </a:p>
          <a:p>
            <a:pPr lvl="1"/>
            <a:r>
              <a:rPr lang="en-US" dirty="0"/>
              <a:t>Bank Management System.</a:t>
            </a:r>
          </a:p>
          <a:p>
            <a:pPr lvl="1"/>
            <a:r>
              <a:rPr lang="en-US" dirty="0"/>
              <a:t>Insurance Company.</a:t>
            </a:r>
          </a:p>
        </p:txBody>
      </p:sp>
    </p:spTree>
    <p:extLst>
      <p:ext uri="{BB962C8B-B14F-4D97-AF65-F5344CB8AC3E}">
        <p14:creationId xmlns:p14="http://schemas.microsoft.com/office/powerpoint/2010/main" val="4026823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Constraints on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Specialization and Generalization</a:t>
            </a:r>
          </a:p>
        </p:txBody>
      </p:sp>
      <p:sp>
        <p:nvSpPr>
          <p:cNvPr id="5" name="Text Placeholder 4"/>
          <p:cNvSpPr>
            <a:spLocks noGrp="1"/>
          </p:cNvSpPr>
          <p:nvPr>
            <p:ph type="body" idx="1"/>
          </p:nvPr>
        </p:nvSpPr>
        <p:spPr/>
        <p:txBody>
          <a:bodyPr/>
          <a:lstStyle/>
          <a:p>
            <a:r>
              <a:rPr lang="en-US" dirty="0"/>
              <a:t>Section - 8</a:t>
            </a:r>
          </a:p>
          <a:p>
            <a:endParaRPr lang="en-US" dirty="0"/>
          </a:p>
        </p:txBody>
      </p:sp>
    </p:spTree>
    <p:extLst>
      <p:ext uri="{BB962C8B-B14F-4D97-AF65-F5344CB8AC3E}">
        <p14:creationId xmlns:p14="http://schemas.microsoft.com/office/powerpoint/2010/main" val="25556300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Constraints on Specialization and Generalization</a:t>
            </a:r>
          </a:p>
        </p:txBody>
      </p:sp>
      <p:sp>
        <p:nvSpPr>
          <p:cNvPr id="5" name="Content Placeholder 4"/>
          <p:cNvSpPr>
            <a:spLocks noGrp="1"/>
          </p:cNvSpPr>
          <p:nvPr>
            <p:ph idx="1"/>
          </p:nvPr>
        </p:nvSpPr>
        <p:spPr/>
        <p:txBody>
          <a:bodyPr/>
          <a:lstStyle/>
          <a:p>
            <a:pPr marL="0" indent="0">
              <a:buNone/>
            </a:pPr>
            <a:endParaRPr lang="en-US" dirty="0"/>
          </a:p>
        </p:txBody>
      </p:sp>
      <p:sp>
        <p:nvSpPr>
          <p:cNvPr id="6" name="Rectangle 5"/>
          <p:cNvSpPr/>
          <p:nvPr/>
        </p:nvSpPr>
        <p:spPr>
          <a:xfrm>
            <a:off x="3771899" y="1309255"/>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Constraints</a:t>
            </a:r>
          </a:p>
        </p:txBody>
      </p:sp>
      <p:cxnSp>
        <p:nvCxnSpPr>
          <p:cNvPr id="7" name="Straight Connector 6"/>
          <p:cNvCxnSpPr>
            <a:stCxn id="6" idx="2"/>
          </p:cNvCxnSpPr>
          <p:nvPr/>
        </p:nvCxnSpPr>
        <p:spPr>
          <a:xfrm>
            <a:off x="4686299" y="2147455"/>
            <a:ext cx="0" cy="51954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438400" y="2667000"/>
            <a:ext cx="449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11" idx="0"/>
          </p:cNvCxnSpPr>
          <p:nvPr/>
        </p:nvCxnSpPr>
        <p:spPr>
          <a:xfrm>
            <a:off x="2438400" y="2667000"/>
            <a:ext cx="0" cy="552432"/>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endCxn id="12" idx="0"/>
          </p:cNvCxnSpPr>
          <p:nvPr/>
        </p:nvCxnSpPr>
        <p:spPr>
          <a:xfrm>
            <a:off x="6934199" y="2667000"/>
            <a:ext cx="1" cy="5461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524000" y="3219432"/>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Disjoint</a:t>
            </a:r>
          </a:p>
        </p:txBody>
      </p:sp>
      <p:sp>
        <p:nvSpPr>
          <p:cNvPr id="12" name="Rectangle 11"/>
          <p:cNvSpPr/>
          <p:nvPr/>
        </p:nvSpPr>
        <p:spPr>
          <a:xfrm>
            <a:off x="6019800" y="321310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Participation</a:t>
            </a:r>
          </a:p>
        </p:txBody>
      </p:sp>
      <p:cxnSp>
        <p:nvCxnSpPr>
          <p:cNvPr id="13" name="Straight Connector 12"/>
          <p:cNvCxnSpPr/>
          <p:nvPr/>
        </p:nvCxnSpPr>
        <p:spPr>
          <a:xfrm flipH="1">
            <a:off x="2453055" y="4057632"/>
            <a:ext cx="1" cy="491157"/>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301264" y="4533888"/>
            <a:ext cx="2356336"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301264" y="4533888"/>
            <a:ext cx="486" cy="533401"/>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657600" y="4533888"/>
            <a:ext cx="0" cy="50311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87350" y="5010144"/>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Disjoint</a:t>
            </a:r>
          </a:p>
        </p:txBody>
      </p:sp>
      <p:sp>
        <p:nvSpPr>
          <p:cNvPr id="18" name="Rectangle 17"/>
          <p:cNvSpPr/>
          <p:nvPr/>
        </p:nvSpPr>
        <p:spPr>
          <a:xfrm>
            <a:off x="2661134" y="5037004"/>
            <a:ext cx="1972899"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Non-disjoint (Overlapping)</a:t>
            </a:r>
          </a:p>
        </p:txBody>
      </p:sp>
      <p:sp>
        <p:nvSpPr>
          <p:cNvPr id="19" name="Rectangle 18"/>
          <p:cNvSpPr/>
          <p:nvPr/>
        </p:nvSpPr>
        <p:spPr>
          <a:xfrm>
            <a:off x="4870940" y="503751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Total (Mandatory)</a:t>
            </a:r>
          </a:p>
        </p:txBody>
      </p:sp>
      <p:sp>
        <p:nvSpPr>
          <p:cNvPr id="20" name="Rectangle 19"/>
          <p:cNvSpPr/>
          <p:nvPr/>
        </p:nvSpPr>
        <p:spPr>
          <a:xfrm>
            <a:off x="7086600" y="502920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Partial (Optional)</a:t>
            </a:r>
          </a:p>
        </p:txBody>
      </p:sp>
      <p:cxnSp>
        <p:nvCxnSpPr>
          <p:cNvPr id="21" name="Straight Connector 20"/>
          <p:cNvCxnSpPr/>
          <p:nvPr/>
        </p:nvCxnSpPr>
        <p:spPr>
          <a:xfrm flipH="1">
            <a:off x="6934200" y="4051300"/>
            <a:ext cx="1" cy="491157"/>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5785340" y="4536893"/>
            <a:ext cx="2209805" cy="5564"/>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19" idx="0"/>
          </p:cNvCxnSpPr>
          <p:nvPr/>
        </p:nvCxnSpPr>
        <p:spPr>
          <a:xfrm>
            <a:off x="5785340" y="4542457"/>
            <a:ext cx="0" cy="49505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20" idx="0"/>
          </p:cNvCxnSpPr>
          <p:nvPr/>
        </p:nvCxnSpPr>
        <p:spPr>
          <a:xfrm>
            <a:off x="7995145" y="4535581"/>
            <a:ext cx="5855" cy="493619"/>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439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par>
                                <p:cTn id="39" presetID="10"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mph" presetSubtype="2" fill="hold" nodeType="clickEffect">
                                  <p:stCondLst>
                                    <p:cond delay="0"/>
                                  </p:stCondLst>
                                  <p:childTnLst>
                                    <p:animClr clrSpc="rgb" dir="cw">
                                      <p:cBhvr>
                                        <p:cTn id="71" dur="2000" fill="hold"/>
                                        <p:tgtEl>
                                          <p:spTgt spid="11"/>
                                        </p:tgtEl>
                                        <p:attrNameLst>
                                          <p:attrName>fillcolor</p:attrName>
                                        </p:attrNameLst>
                                      </p:cBhvr>
                                      <p:to>
                                        <a:srgbClr val="1D6FA9"/>
                                      </p:to>
                                    </p:animClr>
                                    <p:set>
                                      <p:cBhvr>
                                        <p:cTn id="72" dur="2000" fill="hold"/>
                                        <p:tgtEl>
                                          <p:spTgt spid="11"/>
                                        </p:tgtEl>
                                        <p:attrNameLst>
                                          <p:attrName>fill.type</p:attrName>
                                        </p:attrNameLst>
                                      </p:cBhvr>
                                      <p:to>
                                        <p:strVal val="solid"/>
                                      </p:to>
                                    </p:set>
                                    <p:set>
                                      <p:cBhvr>
                                        <p:cTn id="73" dur="2000" fill="hold"/>
                                        <p:tgtEl>
                                          <p:spTgt spid="1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2" grpId="0" animBg="1"/>
      <p:bldP spid="17" grpId="0" animBg="1"/>
      <p:bldP spid="18" grpId="0" animBg="1"/>
      <p:bldP spid="19" grpId="0" animBg="1"/>
      <p:bldP spid="2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Disjoint Constraint</a:t>
            </a:r>
          </a:p>
        </p:txBody>
      </p:sp>
      <p:sp>
        <p:nvSpPr>
          <p:cNvPr id="3" name="Content Placeholder 2"/>
          <p:cNvSpPr>
            <a:spLocks noGrp="1"/>
          </p:cNvSpPr>
          <p:nvPr>
            <p:ph idx="1"/>
          </p:nvPr>
        </p:nvSpPr>
        <p:spPr/>
        <p:txBody>
          <a:bodyPr/>
          <a:lstStyle/>
          <a:p>
            <a:r>
              <a:rPr lang="en-US" dirty="0"/>
              <a:t>It describes </a:t>
            </a:r>
            <a:r>
              <a:rPr lang="en-US" b="1" dirty="0">
                <a:solidFill>
                  <a:schemeClr val="accent6"/>
                </a:solidFill>
              </a:rPr>
              <a:t>relationship between members of the superclass and subclass </a:t>
            </a:r>
            <a:r>
              <a:rPr lang="en-US" dirty="0"/>
              <a:t>and indicates whether member of a superclass can be a member of one, or more than one subclass.</a:t>
            </a:r>
          </a:p>
          <a:p>
            <a:r>
              <a:rPr lang="en-US" dirty="0"/>
              <a:t>Types of disjoint constraints</a:t>
            </a:r>
          </a:p>
          <a:p>
            <a:pPr lvl="1"/>
            <a:r>
              <a:rPr lang="en-US" dirty="0"/>
              <a:t>Disjoint Constraint</a:t>
            </a:r>
          </a:p>
          <a:p>
            <a:pPr lvl="1"/>
            <a:r>
              <a:rPr lang="en-US" dirty="0"/>
              <a:t>Non-disjoint (Overlapping) Constraint</a:t>
            </a:r>
          </a:p>
        </p:txBody>
      </p:sp>
    </p:spTree>
    <p:extLst>
      <p:ext uri="{BB962C8B-B14F-4D97-AF65-F5344CB8AC3E}">
        <p14:creationId xmlns:p14="http://schemas.microsoft.com/office/powerpoint/2010/main" val="158412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Disjoint Constraint</a:t>
            </a:r>
          </a:p>
        </p:txBody>
      </p:sp>
      <p:sp>
        <p:nvSpPr>
          <p:cNvPr id="3" name="Content Placeholder 2"/>
          <p:cNvSpPr>
            <a:spLocks noGrp="1"/>
          </p:cNvSpPr>
          <p:nvPr>
            <p:ph idx="1"/>
          </p:nvPr>
        </p:nvSpPr>
        <p:spPr/>
        <p:txBody>
          <a:bodyPr/>
          <a:lstStyle/>
          <a:p>
            <a:r>
              <a:rPr lang="en-US" dirty="0"/>
              <a:t>It specifies that the </a:t>
            </a:r>
            <a:r>
              <a:rPr lang="en-US" b="1" dirty="0">
                <a:solidFill>
                  <a:schemeClr val="accent6"/>
                </a:solidFill>
              </a:rPr>
              <a:t>entity of a super class can belong to only one lower-level entity set</a:t>
            </a:r>
            <a:r>
              <a:rPr lang="en-US" dirty="0"/>
              <a:t> (sub class).</a:t>
            </a:r>
          </a:p>
          <a:p>
            <a:r>
              <a:rPr lang="en-US" dirty="0"/>
              <a:t>Specified by ‘</a:t>
            </a:r>
            <a:r>
              <a:rPr lang="en-US" b="1" dirty="0">
                <a:solidFill>
                  <a:schemeClr val="accent6"/>
                </a:solidFill>
              </a:rPr>
              <a:t>d</a:t>
            </a:r>
            <a:r>
              <a:rPr lang="en-US" dirty="0"/>
              <a:t>’ or by writing </a:t>
            </a:r>
            <a:r>
              <a:rPr lang="en-US" b="1" dirty="0">
                <a:solidFill>
                  <a:schemeClr val="accent6"/>
                </a:solidFill>
              </a:rPr>
              <a:t>disjoint</a:t>
            </a:r>
            <a:r>
              <a:rPr lang="en-US" dirty="0"/>
              <a:t> near to the ISA triangle.</a:t>
            </a:r>
          </a:p>
          <a:p>
            <a:pPr marL="0" indent="0">
              <a:buNone/>
            </a:pPr>
            <a:endParaRPr lang="en-US" dirty="0"/>
          </a:p>
        </p:txBody>
      </p:sp>
      <p:sp>
        <p:nvSpPr>
          <p:cNvPr id="4" name="Rectangle 3"/>
          <p:cNvSpPr/>
          <p:nvPr/>
        </p:nvSpPr>
        <p:spPr>
          <a:xfrm>
            <a:off x="2749928" y="211003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Cricketer</a:t>
            </a:r>
          </a:p>
          <a:p>
            <a:pPr algn="ctr"/>
            <a:r>
              <a:rPr lang="en-US" sz="2400" dirty="0">
                <a:solidFill>
                  <a:schemeClr val="bg1"/>
                </a:solidFill>
              </a:rPr>
              <a:t>(Super class)</a:t>
            </a:r>
          </a:p>
        </p:txBody>
      </p:sp>
      <p:cxnSp>
        <p:nvCxnSpPr>
          <p:cNvPr id="5" name="Straight Connector 4"/>
          <p:cNvCxnSpPr>
            <a:stCxn id="4" idx="2"/>
          </p:cNvCxnSpPr>
          <p:nvPr/>
        </p:nvCxnSpPr>
        <p:spPr>
          <a:xfrm>
            <a:off x="3664328" y="2948230"/>
            <a:ext cx="0" cy="2286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403569" y="3176830"/>
            <a:ext cx="4517136"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416428" y="3184450"/>
            <a:ext cx="0" cy="2286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502028" y="339908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Batsman</a:t>
            </a:r>
          </a:p>
          <a:p>
            <a:pPr algn="ctr"/>
            <a:r>
              <a:rPr lang="en-US" sz="2400" dirty="0">
                <a:solidFill>
                  <a:schemeClr val="bg1"/>
                </a:solidFill>
              </a:rPr>
              <a:t>(Sub class)</a:t>
            </a:r>
          </a:p>
        </p:txBody>
      </p:sp>
      <p:sp>
        <p:nvSpPr>
          <p:cNvPr id="9" name="Rectangle 8"/>
          <p:cNvSpPr/>
          <p:nvPr/>
        </p:nvSpPr>
        <p:spPr>
          <a:xfrm>
            <a:off x="4997828" y="3411072"/>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Bowler</a:t>
            </a:r>
          </a:p>
          <a:p>
            <a:pPr algn="ctr"/>
            <a:r>
              <a:rPr lang="en-US" sz="2400" dirty="0">
                <a:solidFill>
                  <a:schemeClr val="bg1"/>
                </a:solidFill>
              </a:rPr>
              <a:t>(Sub class)</a:t>
            </a:r>
          </a:p>
        </p:txBody>
      </p:sp>
      <p:cxnSp>
        <p:nvCxnSpPr>
          <p:cNvPr id="10" name="Straight Connector 9"/>
          <p:cNvCxnSpPr/>
          <p:nvPr/>
        </p:nvCxnSpPr>
        <p:spPr>
          <a:xfrm>
            <a:off x="5912228" y="3178213"/>
            <a:ext cx="0" cy="2286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2" descr="https://hindi.sportzwiki.com/wp-content/uploads/2016/08/Gautam-Gambhir3.jpg"/>
          <p:cNvPicPr>
            <a:picLocks noChangeArrowheads="1"/>
          </p:cNvPicPr>
          <p:nvPr/>
        </p:nvPicPr>
        <p:blipFill rotWithShape="1">
          <a:blip r:embed="rId2">
            <a:extLst>
              <a:ext uri="{28A0092B-C50C-407E-A947-70E740481C1C}">
                <a14:useLocalDpi xmlns:a14="http://schemas.microsoft.com/office/drawing/2010/main" val="0"/>
              </a:ext>
            </a:extLst>
          </a:blip>
          <a:srcRect r="10139"/>
          <a:stretch/>
        </p:blipFill>
        <p:spPr bwMode="auto">
          <a:xfrm>
            <a:off x="730628" y="4536439"/>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Related image"/>
          <p:cNvPicPr>
            <a:picLocks noChangeArrowheads="1"/>
          </p:cNvPicPr>
          <p:nvPr/>
        </p:nvPicPr>
        <p:blipFill rotWithShape="1">
          <a:blip r:embed="rId3" cstate="print">
            <a:extLst>
              <a:ext uri="{28A0092B-C50C-407E-A947-70E740481C1C}">
                <a14:useLocalDpi xmlns:a14="http://schemas.microsoft.com/office/drawing/2010/main" val="0"/>
              </a:ext>
            </a:extLst>
          </a:blip>
          <a:srcRect l="21165" r="9438"/>
          <a:stretch/>
        </p:blipFill>
        <p:spPr bwMode="auto">
          <a:xfrm>
            <a:off x="5226428" y="4536439"/>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730627" y="6004633"/>
            <a:ext cx="7539313" cy="457200"/>
          </a:xfrm>
          <a:prstGeom prst="rect">
            <a:avLst/>
          </a:prstGeom>
          <a:solidFill>
            <a:schemeClr val="accent6">
              <a:lumMod val="20000"/>
              <a:lumOff val="80000"/>
            </a:schemeClr>
          </a:solidFill>
          <a:ln>
            <a:solidFill>
              <a:schemeClr val="accent6"/>
            </a:solidFill>
          </a:ln>
        </p:spPr>
        <p:txBody>
          <a:bodyPr vert="horz" wrap="square" lIns="91440" tIns="45720" rIns="91440" bIns="45720" numCol="1" anchor="ctr" anchorCtr="0" compatLnSpc="1">
            <a:prstTxWarp prst="textNoShape">
              <a:avLst/>
            </a:prstTxWarp>
          </a:bodyPr>
          <a:lstStyle>
            <a:defPPr>
              <a:defRPr lang="en-US"/>
            </a:defPPr>
            <a:lvl1pPr>
              <a:defRPr b="1">
                <a:solidFill>
                  <a:schemeClr val="accent6"/>
                </a:solidFill>
              </a:defRPr>
            </a:lvl1pPr>
          </a:lstStyle>
          <a:p>
            <a:r>
              <a:rPr lang="en-US" b="0" dirty="0">
                <a:solidFill>
                  <a:schemeClr val="tx1"/>
                </a:solidFill>
              </a:rPr>
              <a:t>All the players are associated with only one sub class either (Batsman or Bowler).</a:t>
            </a:r>
          </a:p>
        </p:txBody>
      </p:sp>
      <p:sp>
        <p:nvSpPr>
          <p:cNvPr id="14" name="Rectangle 13"/>
          <p:cNvSpPr/>
          <p:nvPr/>
        </p:nvSpPr>
        <p:spPr>
          <a:xfrm>
            <a:off x="8892977" y="1743634"/>
            <a:ext cx="1828800" cy="838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Employee</a:t>
            </a:r>
          </a:p>
          <a:p>
            <a:pPr algn="ctr"/>
            <a:r>
              <a:rPr lang="en-US" i="1" dirty="0">
                <a:solidFill>
                  <a:schemeClr val="bg1">
                    <a:lumMod val="65000"/>
                  </a:schemeClr>
                </a:solidFill>
              </a:rPr>
              <a:t>(Super class)</a:t>
            </a:r>
          </a:p>
        </p:txBody>
      </p:sp>
      <p:cxnSp>
        <p:nvCxnSpPr>
          <p:cNvPr id="15" name="Straight Connector 14"/>
          <p:cNvCxnSpPr/>
          <p:nvPr/>
        </p:nvCxnSpPr>
        <p:spPr>
          <a:xfrm>
            <a:off x="9809618" y="2578092"/>
            <a:ext cx="0" cy="100584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p:cNvCxnSpPr>
            <a:stCxn id="20" idx="1"/>
          </p:cNvCxnSpPr>
          <p:nvPr/>
        </p:nvCxnSpPr>
        <p:spPr>
          <a:xfrm flipH="1">
            <a:off x="8590421" y="4013522"/>
            <a:ext cx="895347" cy="87263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17" name="Rectangle 16"/>
          <p:cNvSpPr/>
          <p:nvPr/>
        </p:nvSpPr>
        <p:spPr>
          <a:xfrm>
            <a:off x="7656968" y="4886153"/>
            <a:ext cx="1828800" cy="838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Full-time</a:t>
            </a:r>
          </a:p>
          <a:p>
            <a:pPr algn="ctr"/>
            <a:r>
              <a:rPr lang="en-US" i="1" dirty="0">
                <a:solidFill>
                  <a:schemeClr val="bg1">
                    <a:lumMod val="65000"/>
                  </a:schemeClr>
                </a:solidFill>
              </a:rPr>
              <a:t>(Sub class)</a:t>
            </a:r>
          </a:p>
        </p:txBody>
      </p:sp>
      <p:sp>
        <p:nvSpPr>
          <p:cNvPr id="18" name="Rectangle 17"/>
          <p:cNvSpPr/>
          <p:nvPr/>
        </p:nvSpPr>
        <p:spPr>
          <a:xfrm>
            <a:off x="10228718" y="4886153"/>
            <a:ext cx="1828800" cy="838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Part-time</a:t>
            </a:r>
          </a:p>
          <a:p>
            <a:pPr algn="ctr"/>
            <a:r>
              <a:rPr lang="en-US" i="1" dirty="0">
                <a:solidFill>
                  <a:schemeClr val="bg1">
                    <a:lumMod val="65000"/>
                  </a:schemeClr>
                </a:solidFill>
              </a:rPr>
              <a:t>(Sub class)</a:t>
            </a:r>
          </a:p>
        </p:txBody>
      </p:sp>
      <p:cxnSp>
        <p:nvCxnSpPr>
          <p:cNvPr id="19" name="Straight Connector 18"/>
          <p:cNvCxnSpPr>
            <a:stCxn id="20" idx="3"/>
            <a:endCxn id="18" idx="0"/>
          </p:cNvCxnSpPr>
          <p:nvPr/>
        </p:nvCxnSpPr>
        <p:spPr>
          <a:xfrm>
            <a:off x="10133468" y="4013522"/>
            <a:ext cx="1009650" cy="87263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20" name="Flowchart: Merge 19"/>
          <p:cNvSpPr/>
          <p:nvPr/>
        </p:nvSpPr>
        <p:spPr>
          <a:xfrm>
            <a:off x="9161918" y="3607444"/>
            <a:ext cx="1295400" cy="812156"/>
          </a:xfrm>
          <a:prstGeom prst="flowChartMerg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ISA</a:t>
            </a:r>
          </a:p>
        </p:txBody>
      </p:sp>
      <p:sp>
        <p:nvSpPr>
          <p:cNvPr id="22" name="TextBox 21"/>
          <p:cNvSpPr txBox="1"/>
          <p:nvPr/>
        </p:nvSpPr>
        <p:spPr>
          <a:xfrm rot="16200000" flipH="1">
            <a:off x="9612702" y="2903374"/>
            <a:ext cx="822960" cy="365760"/>
          </a:xfrm>
          <a:prstGeom prst="rect">
            <a:avLst/>
          </a:prstGeom>
          <a:noFill/>
        </p:spPr>
        <p:txBody>
          <a:bodyPr wrap="square" rtlCol="0">
            <a:spAutoFit/>
          </a:bodyPr>
          <a:lstStyle/>
          <a:p>
            <a:pPr algn="ctr"/>
            <a:r>
              <a:rPr lang="en-US" sz="1600" dirty="0"/>
              <a:t>Disjoint</a:t>
            </a:r>
            <a:endParaRPr lang="en-US" dirty="0"/>
          </a:p>
        </p:txBody>
      </p:sp>
      <p:cxnSp>
        <p:nvCxnSpPr>
          <p:cNvPr id="26" name="Straight Connector 25"/>
          <p:cNvCxnSpPr/>
          <p:nvPr/>
        </p:nvCxnSpPr>
        <p:spPr>
          <a:xfrm flipH="1">
            <a:off x="7233932" y="2110030"/>
            <a:ext cx="13447" cy="3798009"/>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3" name="Picture 2" descr="https://hindi.sportzwiki.com/wp-content/uploads/2016/08/Gautam-Gambhir3.jpg"/>
          <p:cNvPicPr>
            <a:picLocks noChangeArrowheads="1"/>
          </p:cNvPicPr>
          <p:nvPr/>
        </p:nvPicPr>
        <p:blipFill rotWithShape="1">
          <a:blip r:embed="rId4" cstate="print">
            <a:extLst>
              <a:ext uri="{28A0092B-C50C-407E-A947-70E740481C1C}">
                <a14:useLocalDpi xmlns:a14="http://schemas.microsoft.com/office/drawing/2010/main" val="0"/>
              </a:ext>
            </a:extLst>
          </a:blip>
          <a:srcRect r="10139"/>
          <a:stretch/>
        </p:blipFill>
        <p:spPr bwMode="auto">
          <a:xfrm>
            <a:off x="604591" y="211003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Related image"/>
          <p:cNvPicPr>
            <a:picLocks noChangeArrowheads="1"/>
          </p:cNvPicPr>
          <p:nvPr/>
        </p:nvPicPr>
        <p:blipFill rotWithShape="1">
          <a:blip r:embed="rId3" cstate="print">
            <a:extLst>
              <a:ext uri="{28A0092B-C50C-407E-A947-70E740481C1C}">
                <a14:useLocalDpi xmlns:a14="http://schemas.microsoft.com/office/drawing/2010/main" val="0"/>
              </a:ext>
            </a:extLst>
          </a:blip>
          <a:srcRect l="21165" r="9438"/>
          <a:stretch/>
        </p:blipFill>
        <p:spPr bwMode="auto">
          <a:xfrm>
            <a:off x="1631876" y="2110030"/>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563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10"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500"/>
                                        <p:tgtEl>
                                          <p:spTgt spid="18"/>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500"/>
                                        <p:tgtEl>
                                          <p:spTgt spid="20"/>
                                        </p:tgtEl>
                                      </p:cBhvr>
                                    </p:animEffect>
                                  </p:childTnLst>
                                </p:cTn>
                              </p:par>
                              <p:par>
                                <p:cTn id="84" presetID="10" presetClass="entr" presetSubtype="0" fill="hold" nodeType="withEffect">
                                  <p:stCondLst>
                                    <p:cond delay="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500"/>
                                        <p:tgtEl>
                                          <p:spTgt spid="15"/>
                                        </p:tgtEl>
                                      </p:cBhvr>
                                    </p:animEffect>
                                  </p:childTnLst>
                                </p:cTn>
                              </p:par>
                              <p:par>
                                <p:cTn id="87" presetID="10" presetClass="entr" presetSubtype="0" fill="hold" nodeType="with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fade">
                                      <p:cBhvr>
                                        <p:cTn id="89" dur="500"/>
                                        <p:tgtEl>
                                          <p:spTgt spid="16"/>
                                        </p:tgtEl>
                                      </p:cBhvr>
                                    </p:animEffect>
                                  </p:childTnLst>
                                </p:cTn>
                              </p:par>
                              <p:par>
                                <p:cTn id="90" presetID="10" presetClass="entr" presetSubtype="0" fill="hold"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500"/>
                                        <p:tgtEl>
                                          <p:spTgt spid="1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3" grpId="0" animBg="1"/>
      <p:bldP spid="14" grpId="0" animBg="1"/>
      <p:bldP spid="17" grpId="0" animBg="1"/>
      <p:bldP spid="18" grpId="0" animBg="1"/>
      <p:bldP spid="20" grpId="0" animBg="1"/>
      <p:bldP spid="2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Non-disjoint (Overlapping) Constraint</a:t>
            </a:r>
          </a:p>
        </p:txBody>
      </p:sp>
      <p:sp>
        <p:nvSpPr>
          <p:cNvPr id="3" name="Content Placeholder 2"/>
          <p:cNvSpPr>
            <a:spLocks noGrp="1"/>
          </p:cNvSpPr>
          <p:nvPr>
            <p:ph idx="1"/>
          </p:nvPr>
        </p:nvSpPr>
        <p:spPr/>
        <p:txBody>
          <a:bodyPr/>
          <a:lstStyle/>
          <a:p>
            <a:r>
              <a:rPr lang="en-US" dirty="0"/>
              <a:t>It specifies that an </a:t>
            </a:r>
            <a:r>
              <a:rPr lang="en-US" b="1" dirty="0">
                <a:solidFill>
                  <a:schemeClr val="accent6"/>
                </a:solidFill>
              </a:rPr>
              <a:t>entity of a super class can belong to more than one lower-level entity </a:t>
            </a:r>
            <a:r>
              <a:rPr lang="en-US" dirty="0"/>
              <a:t>set (sub class).</a:t>
            </a:r>
          </a:p>
          <a:p>
            <a:r>
              <a:rPr lang="en-US" dirty="0"/>
              <a:t>Specified by ‘</a:t>
            </a:r>
            <a:r>
              <a:rPr lang="en-US" b="1" dirty="0">
                <a:solidFill>
                  <a:schemeClr val="accent6"/>
                </a:solidFill>
              </a:rPr>
              <a:t>o</a:t>
            </a:r>
            <a:r>
              <a:rPr lang="en-US" dirty="0"/>
              <a:t>’ or by writing </a:t>
            </a:r>
            <a:r>
              <a:rPr lang="en-US" b="1" dirty="0">
                <a:solidFill>
                  <a:schemeClr val="accent6"/>
                </a:solidFill>
              </a:rPr>
              <a:t>overlapping</a:t>
            </a:r>
            <a:r>
              <a:rPr lang="en-US" dirty="0"/>
              <a:t> near to the ISA triangle.</a:t>
            </a:r>
          </a:p>
          <a:p>
            <a:pPr marL="0" indent="0">
              <a:buNone/>
            </a:pPr>
            <a:endParaRPr lang="en-US" dirty="0"/>
          </a:p>
        </p:txBody>
      </p:sp>
      <p:sp>
        <p:nvSpPr>
          <p:cNvPr id="4" name="Rectangle 3"/>
          <p:cNvSpPr/>
          <p:nvPr/>
        </p:nvSpPr>
        <p:spPr>
          <a:xfrm>
            <a:off x="2749928" y="211003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Cricketer</a:t>
            </a:r>
          </a:p>
          <a:p>
            <a:pPr algn="ctr"/>
            <a:r>
              <a:rPr lang="en-US" sz="2400" dirty="0">
                <a:solidFill>
                  <a:schemeClr val="bg1"/>
                </a:solidFill>
              </a:rPr>
              <a:t>(Super class)</a:t>
            </a:r>
          </a:p>
        </p:txBody>
      </p:sp>
      <p:cxnSp>
        <p:nvCxnSpPr>
          <p:cNvPr id="5" name="Straight Connector 4"/>
          <p:cNvCxnSpPr>
            <a:stCxn id="4" idx="2"/>
          </p:cNvCxnSpPr>
          <p:nvPr/>
        </p:nvCxnSpPr>
        <p:spPr>
          <a:xfrm>
            <a:off x="3664328" y="2948230"/>
            <a:ext cx="0" cy="2286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403569" y="3176830"/>
            <a:ext cx="4517136"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416428" y="3184450"/>
            <a:ext cx="0" cy="2286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502028" y="339908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Batsman</a:t>
            </a:r>
          </a:p>
          <a:p>
            <a:pPr algn="ctr"/>
            <a:r>
              <a:rPr lang="en-US" sz="2400" dirty="0">
                <a:solidFill>
                  <a:schemeClr val="bg1"/>
                </a:solidFill>
              </a:rPr>
              <a:t>(Sub class)</a:t>
            </a:r>
          </a:p>
        </p:txBody>
      </p:sp>
      <p:sp>
        <p:nvSpPr>
          <p:cNvPr id="9" name="Rectangle 8"/>
          <p:cNvSpPr/>
          <p:nvPr/>
        </p:nvSpPr>
        <p:spPr>
          <a:xfrm>
            <a:off x="4997828" y="3411072"/>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Bowler</a:t>
            </a:r>
          </a:p>
          <a:p>
            <a:pPr algn="ctr"/>
            <a:r>
              <a:rPr lang="en-US" sz="2400" dirty="0">
                <a:solidFill>
                  <a:schemeClr val="bg1"/>
                </a:solidFill>
              </a:rPr>
              <a:t>(Sub class)</a:t>
            </a:r>
          </a:p>
        </p:txBody>
      </p:sp>
      <p:cxnSp>
        <p:nvCxnSpPr>
          <p:cNvPr id="10" name="Straight Connector 9"/>
          <p:cNvCxnSpPr/>
          <p:nvPr/>
        </p:nvCxnSpPr>
        <p:spPr>
          <a:xfrm>
            <a:off x="5912228" y="3178213"/>
            <a:ext cx="0" cy="2286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2" descr="https://hindi.sportzwiki.com/wp-content/uploads/2016/08/Gautam-Gambhir3.jpg"/>
          <p:cNvPicPr>
            <a:picLocks noChangeArrowheads="1"/>
          </p:cNvPicPr>
          <p:nvPr/>
        </p:nvPicPr>
        <p:blipFill rotWithShape="1">
          <a:blip r:embed="rId2">
            <a:extLst>
              <a:ext uri="{28A0092B-C50C-407E-A947-70E740481C1C}">
                <a14:useLocalDpi xmlns:a14="http://schemas.microsoft.com/office/drawing/2010/main" val="0"/>
              </a:ext>
            </a:extLst>
          </a:blip>
          <a:srcRect r="10139"/>
          <a:stretch/>
        </p:blipFill>
        <p:spPr bwMode="auto">
          <a:xfrm>
            <a:off x="730628" y="4536439"/>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Related image"/>
          <p:cNvPicPr>
            <a:picLocks noChangeArrowheads="1"/>
          </p:cNvPicPr>
          <p:nvPr/>
        </p:nvPicPr>
        <p:blipFill rotWithShape="1">
          <a:blip r:embed="rId3" cstate="print">
            <a:extLst>
              <a:ext uri="{28A0092B-C50C-407E-A947-70E740481C1C}">
                <a14:useLocalDpi xmlns:a14="http://schemas.microsoft.com/office/drawing/2010/main" val="0"/>
              </a:ext>
            </a:extLst>
          </a:blip>
          <a:srcRect l="21165" r="9438"/>
          <a:stretch/>
        </p:blipFill>
        <p:spPr bwMode="auto">
          <a:xfrm>
            <a:off x="5226428" y="4536439"/>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730627" y="6004633"/>
            <a:ext cx="6492240" cy="457200"/>
          </a:xfrm>
          <a:prstGeom prst="rect">
            <a:avLst/>
          </a:prstGeom>
          <a:solidFill>
            <a:schemeClr val="accent6">
              <a:lumMod val="20000"/>
              <a:lumOff val="80000"/>
            </a:schemeClr>
          </a:solidFill>
          <a:ln>
            <a:solidFill>
              <a:schemeClr val="accent6"/>
            </a:solidFill>
          </a:ln>
        </p:spPr>
        <p:txBody>
          <a:bodyPr vert="horz" wrap="square" lIns="91440" tIns="45720" rIns="91440" bIns="45720" numCol="1" anchor="ctr" anchorCtr="0" compatLnSpc="1">
            <a:prstTxWarp prst="textNoShape">
              <a:avLst/>
            </a:prstTxWarp>
          </a:bodyPr>
          <a:lstStyle>
            <a:defPPr>
              <a:defRPr lang="en-US"/>
            </a:defPPr>
            <a:lvl1pPr>
              <a:defRPr b="1">
                <a:solidFill>
                  <a:schemeClr val="accent6"/>
                </a:solidFill>
              </a:defRPr>
            </a:lvl1pPr>
          </a:lstStyle>
          <a:p>
            <a:r>
              <a:rPr lang="en-US" b="0" dirty="0">
                <a:solidFill>
                  <a:schemeClr val="tx1"/>
                </a:solidFill>
              </a:rPr>
              <a:t>One player (</a:t>
            </a:r>
            <a:r>
              <a:rPr lang="en-US" b="0" dirty="0" err="1">
                <a:solidFill>
                  <a:schemeClr val="tx1"/>
                </a:solidFill>
              </a:rPr>
              <a:t>Yuvraj</a:t>
            </a:r>
            <a:r>
              <a:rPr lang="en-US" b="0" dirty="0">
                <a:solidFill>
                  <a:schemeClr val="tx1"/>
                </a:solidFill>
              </a:rPr>
              <a:t> </a:t>
            </a:r>
            <a:r>
              <a:rPr lang="en-US" b="0" dirty="0" err="1">
                <a:solidFill>
                  <a:schemeClr val="tx1"/>
                </a:solidFill>
              </a:rPr>
              <a:t>singh</a:t>
            </a:r>
            <a:r>
              <a:rPr lang="en-US" b="0" dirty="0">
                <a:solidFill>
                  <a:schemeClr val="tx1"/>
                </a:solidFill>
              </a:rPr>
              <a:t>) is associated with more than one sub class.</a:t>
            </a:r>
          </a:p>
        </p:txBody>
      </p:sp>
      <p:sp>
        <p:nvSpPr>
          <p:cNvPr id="14" name="Rectangle 13"/>
          <p:cNvSpPr/>
          <p:nvPr/>
        </p:nvSpPr>
        <p:spPr>
          <a:xfrm>
            <a:off x="8892977" y="1743634"/>
            <a:ext cx="1828800" cy="838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Employee</a:t>
            </a:r>
          </a:p>
          <a:p>
            <a:pPr algn="ctr"/>
            <a:r>
              <a:rPr lang="en-US" i="1" dirty="0">
                <a:solidFill>
                  <a:schemeClr val="bg1">
                    <a:lumMod val="65000"/>
                  </a:schemeClr>
                </a:solidFill>
              </a:rPr>
              <a:t>(Super class)</a:t>
            </a:r>
          </a:p>
        </p:txBody>
      </p:sp>
      <p:cxnSp>
        <p:nvCxnSpPr>
          <p:cNvPr id="15" name="Straight Connector 14"/>
          <p:cNvCxnSpPr/>
          <p:nvPr/>
        </p:nvCxnSpPr>
        <p:spPr>
          <a:xfrm>
            <a:off x="9809618" y="2578092"/>
            <a:ext cx="0" cy="100584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p:cNvCxnSpPr>
            <a:stCxn id="20" idx="1"/>
          </p:cNvCxnSpPr>
          <p:nvPr/>
        </p:nvCxnSpPr>
        <p:spPr>
          <a:xfrm flipH="1">
            <a:off x="8590421" y="4013522"/>
            <a:ext cx="895347" cy="87263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17" name="Rectangle 16"/>
          <p:cNvSpPr/>
          <p:nvPr/>
        </p:nvSpPr>
        <p:spPr>
          <a:xfrm>
            <a:off x="7656968" y="4886153"/>
            <a:ext cx="1828800" cy="838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Faculty</a:t>
            </a:r>
          </a:p>
          <a:p>
            <a:pPr algn="ctr"/>
            <a:r>
              <a:rPr lang="en-US" i="1" dirty="0">
                <a:solidFill>
                  <a:schemeClr val="bg1">
                    <a:lumMod val="65000"/>
                  </a:schemeClr>
                </a:solidFill>
              </a:rPr>
              <a:t>(Sub class)</a:t>
            </a:r>
          </a:p>
        </p:txBody>
      </p:sp>
      <p:sp>
        <p:nvSpPr>
          <p:cNvPr id="18" name="Rectangle 17"/>
          <p:cNvSpPr/>
          <p:nvPr/>
        </p:nvSpPr>
        <p:spPr>
          <a:xfrm>
            <a:off x="10228718" y="4886153"/>
            <a:ext cx="1828800" cy="838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Head</a:t>
            </a:r>
          </a:p>
          <a:p>
            <a:pPr algn="ctr"/>
            <a:r>
              <a:rPr lang="en-US" i="1" dirty="0">
                <a:solidFill>
                  <a:schemeClr val="bg1">
                    <a:lumMod val="65000"/>
                  </a:schemeClr>
                </a:solidFill>
              </a:rPr>
              <a:t>(Sub class)</a:t>
            </a:r>
          </a:p>
        </p:txBody>
      </p:sp>
      <p:cxnSp>
        <p:nvCxnSpPr>
          <p:cNvPr id="19" name="Straight Connector 18"/>
          <p:cNvCxnSpPr>
            <a:stCxn id="20" idx="3"/>
            <a:endCxn id="18" idx="0"/>
          </p:cNvCxnSpPr>
          <p:nvPr/>
        </p:nvCxnSpPr>
        <p:spPr>
          <a:xfrm>
            <a:off x="10133468" y="4013522"/>
            <a:ext cx="1009650" cy="87263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20" name="Flowchart: Merge 19"/>
          <p:cNvSpPr/>
          <p:nvPr/>
        </p:nvSpPr>
        <p:spPr>
          <a:xfrm>
            <a:off x="9161918" y="3607444"/>
            <a:ext cx="1295400" cy="812156"/>
          </a:xfrm>
          <a:prstGeom prst="flowChartMerg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ISA</a:t>
            </a:r>
          </a:p>
        </p:txBody>
      </p:sp>
      <p:sp>
        <p:nvSpPr>
          <p:cNvPr id="22" name="TextBox 21"/>
          <p:cNvSpPr txBox="1"/>
          <p:nvPr/>
        </p:nvSpPr>
        <p:spPr>
          <a:xfrm rot="16200000" flipH="1">
            <a:off x="9612702" y="2959294"/>
            <a:ext cx="822960" cy="253916"/>
          </a:xfrm>
          <a:prstGeom prst="rect">
            <a:avLst/>
          </a:prstGeom>
          <a:noFill/>
        </p:spPr>
        <p:txBody>
          <a:bodyPr wrap="square" rtlCol="0">
            <a:spAutoFit/>
          </a:bodyPr>
          <a:lstStyle/>
          <a:p>
            <a:pPr algn="ctr"/>
            <a:r>
              <a:rPr lang="en-US" sz="1050" dirty="0"/>
              <a:t>Non-disjoint</a:t>
            </a:r>
          </a:p>
        </p:txBody>
      </p:sp>
      <p:cxnSp>
        <p:nvCxnSpPr>
          <p:cNvPr id="26" name="Straight Connector 25"/>
          <p:cNvCxnSpPr/>
          <p:nvPr/>
        </p:nvCxnSpPr>
        <p:spPr>
          <a:xfrm flipH="1">
            <a:off x="7233932" y="2110030"/>
            <a:ext cx="13447" cy="3798009"/>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23" name="Picture 2" descr="Related image"/>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78528" y="4536439"/>
            <a:ext cx="1371600" cy="1371600"/>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p:cNvCxnSpPr>
            <a:stCxn id="23" idx="0"/>
          </p:cNvCxnSpPr>
          <p:nvPr/>
        </p:nvCxnSpPr>
        <p:spPr>
          <a:xfrm flipH="1" flipV="1">
            <a:off x="2330828" y="3818180"/>
            <a:ext cx="1333500" cy="71825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23" idx="0"/>
          </p:cNvCxnSpPr>
          <p:nvPr/>
        </p:nvCxnSpPr>
        <p:spPr>
          <a:xfrm flipV="1">
            <a:off x="3664328" y="3830172"/>
            <a:ext cx="1333500" cy="70626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9" name="Picture 2" descr="Related image"/>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2380" y="211003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https://hindi.sportzwiki.com/wp-content/uploads/2016/08/Gautam-Gambhir3.jpg"/>
          <p:cNvPicPr>
            <a:picLocks noChangeArrowheads="1"/>
          </p:cNvPicPr>
          <p:nvPr/>
        </p:nvPicPr>
        <p:blipFill rotWithShape="1">
          <a:blip r:embed="rId5" cstate="print">
            <a:extLst>
              <a:ext uri="{28A0092B-C50C-407E-A947-70E740481C1C}">
                <a14:useLocalDpi xmlns:a14="http://schemas.microsoft.com/office/drawing/2010/main" val="0"/>
              </a:ext>
            </a:extLst>
          </a:blip>
          <a:srcRect r="10139"/>
          <a:stretch/>
        </p:blipFill>
        <p:spPr bwMode="auto">
          <a:xfrm>
            <a:off x="604591" y="211003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Related image"/>
          <p:cNvPicPr>
            <a:picLocks noChangeArrowheads="1"/>
          </p:cNvPicPr>
          <p:nvPr/>
        </p:nvPicPr>
        <p:blipFill rotWithShape="1">
          <a:blip r:embed="rId3" cstate="print">
            <a:extLst>
              <a:ext uri="{28A0092B-C50C-407E-A947-70E740481C1C}">
                <a14:useLocalDpi xmlns:a14="http://schemas.microsoft.com/office/drawing/2010/main" val="0"/>
              </a:ext>
            </a:extLst>
          </a:blip>
          <a:srcRect l="21165" r="9438"/>
          <a:stretch/>
        </p:blipFill>
        <p:spPr bwMode="auto">
          <a:xfrm>
            <a:off x="1631876" y="2110030"/>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5042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10"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par>
                                <p:cTn id="43" presetID="10"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fade">
                                      <p:cBhvr>
                                        <p:cTn id="45" dur="500"/>
                                        <p:tgtEl>
                                          <p:spTgt spid="30"/>
                                        </p:tgtEl>
                                      </p:cBhvr>
                                    </p:animEffect>
                                  </p:childTnLst>
                                </p:cTn>
                              </p:par>
                              <p:par>
                                <p:cTn id="46" presetID="10" presetClass="entr" presetSubtype="0" fill="hold"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500"/>
                                        <p:tgtEl>
                                          <p:spTgt spid="31"/>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5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fade">
                                      <p:cBhvr>
                                        <p:cTn id="76" dur="500"/>
                                        <p:tgtEl>
                                          <p:spTgt spid="13"/>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fade">
                                      <p:cBhvr>
                                        <p:cTn id="86" dur="500"/>
                                        <p:tgtEl>
                                          <p:spTgt spid="1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500"/>
                                        <p:tgtEl>
                                          <p:spTgt spid="17"/>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18"/>
                                        </p:tgtEl>
                                        <p:attrNameLst>
                                          <p:attrName>style.visibility</p:attrName>
                                        </p:attrNameLst>
                                      </p:cBhvr>
                                      <p:to>
                                        <p:strVal val="visible"/>
                                      </p:to>
                                    </p:set>
                                    <p:animEffect transition="in" filter="fade">
                                      <p:cBhvr>
                                        <p:cTn id="94" dur="500"/>
                                        <p:tgtEl>
                                          <p:spTgt spid="18"/>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20"/>
                                        </p:tgtEl>
                                        <p:attrNameLst>
                                          <p:attrName>style.visibility</p:attrName>
                                        </p:attrNameLst>
                                      </p:cBhvr>
                                      <p:to>
                                        <p:strVal val="visible"/>
                                      </p:to>
                                    </p:set>
                                    <p:animEffect transition="in" filter="fade">
                                      <p:cBhvr>
                                        <p:cTn id="99" dur="500"/>
                                        <p:tgtEl>
                                          <p:spTgt spid="20"/>
                                        </p:tgtEl>
                                      </p:cBhvr>
                                    </p:animEffect>
                                  </p:childTnLst>
                                </p:cTn>
                              </p:par>
                              <p:par>
                                <p:cTn id="100" presetID="10" presetClass="entr" presetSubtype="0" fill="hold" nodeType="withEffect">
                                  <p:stCondLst>
                                    <p:cond delay="0"/>
                                  </p:stCondLst>
                                  <p:childTnLst>
                                    <p:set>
                                      <p:cBhvr>
                                        <p:cTn id="101" dur="1" fill="hold">
                                          <p:stCondLst>
                                            <p:cond delay="0"/>
                                          </p:stCondLst>
                                        </p:cTn>
                                        <p:tgtEl>
                                          <p:spTgt spid="15"/>
                                        </p:tgtEl>
                                        <p:attrNameLst>
                                          <p:attrName>style.visibility</p:attrName>
                                        </p:attrNameLst>
                                      </p:cBhvr>
                                      <p:to>
                                        <p:strVal val="visible"/>
                                      </p:to>
                                    </p:set>
                                    <p:animEffect transition="in" filter="fade">
                                      <p:cBhvr>
                                        <p:cTn id="102" dur="500"/>
                                        <p:tgtEl>
                                          <p:spTgt spid="15"/>
                                        </p:tgtEl>
                                      </p:cBhvr>
                                    </p:animEffect>
                                  </p:childTnLst>
                                </p:cTn>
                              </p:par>
                              <p:par>
                                <p:cTn id="103" presetID="10" presetClass="entr" presetSubtype="0" fill="hold" nodeType="withEffect">
                                  <p:stCondLst>
                                    <p:cond delay="0"/>
                                  </p:stCondLst>
                                  <p:childTnLst>
                                    <p:set>
                                      <p:cBhvr>
                                        <p:cTn id="104" dur="1" fill="hold">
                                          <p:stCondLst>
                                            <p:cond delay="0"/>
                                          </p:stCondLst>
                                        </p:cTn>
                                        <p:tgtEl>
                                          <p:spTgt spid="16"/>
                                        </p:tgtEl>
                                        <p:attrNameLst>
                                          <p:attrName>style.visibility</p:attrName>
                                        </p:attrNameLst>
                                      </p:cBhvr>
                                      <p:to>
                                        <p:strVal val="visible"/>
                                      </p:to>
                                    </p:set>
                                    <p:animEffect transition="in" filter="fade">
                                      <p:cBhvr>
                                        <p:cTn id="105" dur="500"/>
                                        <p:tgtEl>
                                          <p:spTgt spid="16"/>
                                        </p:tgtEl>
                                      </p:cBhvr>
                                    </p:animEffect>
                                  </p:childTnLst>
                                </p:cTn>
                              </p:par>
                              <p:par>
                                <p:cTn id="106" presetID="10" presetClass="entr" presetSubtype="0" fill="hold" nodeType="withEffect">
                                  <p:stCondLst>
                                    <p:cond delay="0"/>
                                  </p:stCondLst>
                                  <p:childTnLst>
                                    <p:set>
                                      <p:cBhvr>
                                        <p:cTn id="107" dur="1" fill="hold">
                                          <p:stCondLst>
                                            <p:cond delay="0"/>
                                          </p:stCondLst>
                                        </p:cTn>
                                        <p:tgtEl>
                                          <p:spTgt spid="19"/>
                                        </p:tgtEl>
                                        <p:attrNameLst>
                                          <p:attrName>style.visibility</p:attrName>
                                        </p:attrNameLst>
                                      </p:cBhvr>
                                      <p:to>
                                        <p:strVal val="visible"/>
                                      </p:to>
                                    </p:set>
                                    <p:animEffect transition="in" filter="fade">
                                      <p:cBhvr>
                                        <p:cTn id="108" dur="500"/>
                                        <p:tgtEl>
                                          <p:spTgt spid="19"/>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22"/>
                                        </p:tgtEl>
                                        <p:attrNameLst>
                                          <p:attrName>style.visibility</p:attrName>
                                        </p:attrNameLst>
                                      </p:cBhvr>
                                      <p:to>
                                        <p:strVal val="visible"/>
                                      </p:to>
                                    </p:set>
                                    <p:animEffect transition="in" filter="fade">
                                      <p:cBhvr>
                                        <p:cTn id="11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3" grpId="0" animBg="1"/>
      <p:bldP spid="14" grpId="0" animBg="1"/>
      <p:bldP spid="17" grpId="0" animBg="1"/>
      <p:bldP spid="18" grpId="0" animBg="1"/>
      <p:bldP spid="20" grpId="0" animBg="1"/>
      <p:bldP spid="2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Constraints on Specialization and Generalization</a:t>
            </a:r>
          </a:p>
        </p:txBody>
      </p:sp>
      <p:sp>
        <p:nvSpPr>
          <p:cNvPr id="5" name="Content Placeholder 4"/>
          <p:cNvSpPr>
            <a:spLocks noGrp="1"/>
          </p:cNvSpPr>
          <p:nvPr>
            <p:ph idx="1"/>
          </p:nvPr>
        </p:nvSpPr>
        <p:spPr/>
        <p:txBody>
          <a:bodyPr/>
          <a:lstStyle/>
          <a:p>
            <a:pPr marL="0" indent="0">
              <a:buNone/>
            </a:pPr>
            <a:endParaRPr lang="en-US" dirty="0"/>
          </a:p>
        </p:txBody>
      </p:sp>
      <p:sp>
        <p:nvSpPr>
          <p:cNvPr id="6" name="Rectangle 5"/>
          <p:cNvSpPr/>
          <p:nvPr/>
        </p:nvSpPr>
        <p:spPr>
          <a:xfrm>
            <a:off x="3771899" y="1309255"/>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Constraints</a:t>
            </a:r>
          </a:p>
        </p:txBody>
      </p:sp>
      <p:cxnSp>
        <p:nvCxnSpPr>
          <p:cNvPr id="7" name="Straight Connector 6"/>
          <p:cNvCxnSpPr>
            <a:stCxn id="6" idx="2"/>
          </p:cNvCxnSpPr>
          <p:nvPr/>
        </p:nvCxnSpPr>
        <p:spPr>
          <a:xfrm>
            <a:off x="4686299" y="2147455"/>
            <a:ext cx="0" cy="51954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438400" y="2667000"/>
            <a:ext cx="449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endCxn id="11" idx="0"/>
          </p:cNvCxnSpPr>
          <p:nvPr/>
        </p:nvCxnSpPr>
        <p:spPr>
          <a:xfrm>
            <a:off x="2438400" y="2667000"/>
            <a:ext cx="0" cy="552432"/>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endCxn id="12" idx="0"/>
          </p:cNvCxnSpPr>
          <p:nvPr/>
        </p:nvCxnSpPr>
        <p:spPr>
          <a:xfrm>
            <a:off x="6934199" y="2667000"/>
            <a:ext cx="1" cy="5461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1524000" y="3219432"/>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Disjoint</a:t>
            </a:r>
          </a:p>
        </p:txBody>
      </p:sp>
      <p:sp>
        <p:nvSpPr>
          <p:cNvPr id="12" name="Rectangle 11"/>
          <p:cNvSpPr/>
          <p:nvPr/>
        </p:nvSpPr>
        <p:spPr>
          <a:xfrm>
            <a:off x="6019800" y="321310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Participation</a:t>
            </a:r>
          </a:p>
        </p:txBody>
      </p:sp>
      <p:cxnSp>
        <p:nvCxnSpPr>
          <p:cNvPr id="13" name="Straight Connector 12"/>
          <p:cNvCxnSpPr/>
          <p:nvPr/>
        </p:nvCxnSpPr>
        <p:spPr>
          <a:xfrm flipH="1">
            <a:off x="2453055" y="4057632"/>
            <a:ext cx="1" cy="491157"/>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301264" y="4533888"/>
            <a:ext cx="2356336"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301264" y="4533888"/>
            <a:ext cx="486" cy="533401"/>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657600" y="4533888"/>
            <a:ext cx="0" cy="50311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87350" y="5010144"/>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Disjoint</a:t>
            </a:r>
          </a:p>
        </p:txBody>
      </p:sp>
      <p:sp>
        <p:nvSpPr>
          <p:cNvPr id="18" name="Rectangle 17"/>
          <p:cNvSpPr/>
          <p:nvPr/>
        </p:nvSpPr>
        <p:spPr>
          <a:xfrm>
            <a:off x="2661134" y="5037004"/>
            <a:ext cx="1972899"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Non-disjoint (Overlapping)</a:t>
            </a:r>
          </a:p>
        </p:txBody>
      </p:sp>
      <p:sp>
        <p:nvSpPr>
          <p:cNvPr id="19" name="Rectangle 18"/>
          <p:cNvSpPr/>
          <p:nvPr/>
        </p:nvSpPr>
        <p:spPr>
          <a:xfrm>
            <a:off x="4870940" y="503751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Total (Mandatory)</a:t>
            </a:r>
          </a:p>
        </p:txBody>
      </p:sp>
      <p:sp>
        <p:nvSpPr>
          <p:cNvPr id="20" name="Rectangle 19"/>
          <p:cNvSpPr/>
          <p:nvPr/>
        </p:nvSpPr>
        <p:spPr>
          <a:xfrm>
            <a:off x="7086600" y="502920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Partial (Optional)</a:t>
            </a:r>
          </a:p>
        </p:txBody>
      </p:sp>
      <p:cxnSp>
        <p:nvCxnSpPr>
          <p:cNvPr id="21" name="Straight Connector 20"/>
          <p:cNvCxnSpPr/>
          <p:nvPr/>
        </p:nvCxnSpPr>
        <p:spPr>
          <a:xfrm flipH="1">
            <a:off x="6934200" y="4051300"/>
            <a:ext cx="1" cy="491157"/>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5785340" y="4536893"/>
            <a:ext cx="2209805" cy="5564"/>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19" idx="0"/>
          </p:cNvCxnSpPr>
          <p:nvPr/>
        </p:nvCxnSpPr>
        <p:spPr>
          <a:xfrm>
            <a:off x="5785340" y="4542457"/>
            <a:ext cx="0" cy="49505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20" idx="0"/>
          </p:cNvCxnSpPr>
          <p:nvPr/>
        </p:nvCxnSpPr>
        <p:spPr>
          <a:xfrm>
            <a:off x="7995145" y="4535581"/>
            <a:ext cx="5855" cy="493619"/>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072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2"/>
                                        </p:tgtEl>
                                        <p:attrNameLst>
                                          <p:attrName>fillcolor</p:attrName>
                                        </p:attrNameLst>
                                      </p:cBhvr>
                                      <p:to>
                                        <a:srgbClr val="1D6FA9"/>
                                      </p:to>
                                    </p:animClr>
                                    <p:set>
                                      <p:cBhvr>
                                        <p:cTn id="7" dur="2000" fill="hold"/>
                                        <p:tgtEl>
                                          <p:spTgt spid="12"/>
                                        </p:tgtEl>
                                        <p:attrNameLst>
                                          <p:attrName>fill.type</p:attrName>
                                        </p:attrNameLst>
                                      </p:cBhvr>
                                      <p:to>
                                        <p:strVal val="solid"/>
                                      </p:to>
                                    </p:set>
                                    <p:set>
                                      <p:cBhvr>
                                        <p:cTn id="8" dur="2000" fill="hold"/>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Participation (Completeness) Constraint</a:t>
            </a:r>
          </a:p>
        </p:txBody>
      </p:sp>
      <p:sp>
        <p:nvSpPr>
          <p:cNvPr id="3" name="Content Placeholder 2"/>
          <p:cNvSpPr>
            <a:spLocks noGrp="1"/>
          </p:cNvSpPr>
          <p:nvPr>
            <p:ph idx="1"/>
          </p:nvPr>
        </p:nvSpPr>
        <p:spPr/>
        <p:txBody>
          <a:bodyPr/>
          <a:lstStyle/>
          <a:p>
            <a:r>
              <a:rPr lang="en-US" dirty="0"/>
              <a:t>It determines </a:t>
            </a:r>
            <a:r>
              <a:rPr lang="en-US" b="1" dirty="0">
                <a:solidFill>
                  <a:schemeClr val="accent6"/>
                </a:solidFill>
              </a:rPr>
              <a:t>whether every member of super class must participate as a member of subclass or not</a:t>
            </a:r>
            <a:r>
              <a:rPr lang="en-US" dirty="0"/>
              <a:t>.</a:t>
            </a:r>
          </a:p>
          <a:p>
            <a:r>
              <a:rPr lang="en-US" dirty="0"/>
              <a:t>Types of participation (Completeness) Constraint</a:t>
            </a:r>
          </a:p>
          <a:p>
            <a:pPr lvl="1"/>
            <a:r>
              <a:rPr lang="en-US" dirty="0"/>
              <a:t>Total (Mandatory) participation</a:t>
            </a:r>
          </a:p>
          <a:p>
            <a:pPr lvl="1"/>
            <a:r>
              <a:rPr lang="en-US" dirty="0"/>
              <a:t>Partial (Optional) participation</a:t>
            </a:r>
          </a:p>
        </p:txBody>
      </p:sp>
    </p:spTree>
    <p:extLst>
      <p:ext uri="{BB962C8B-B14F-4D97-AF65-F5344CB8AC3E}">
        <p14:creationId xmlns:p14="http://schemas.microsoft.com/office/powerpoint/2010/main" val="289314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Total (Mandatory) Participation</a:t>
            </a:r>
          </a:p>
        </p:txBody>
      </p:sp>
      <p:sp>
        <p:nvSpPr>
          <p:cNvPr id="3" name="Content Placeholder 2"/>
          <p:cNvSpPr>
            <a:spLocks noGrp="1"/>
          </p:cNvSpPr>
          <p:nvPr>
            <p:ph idx="1"/>
          </p:nvPr>
        </p:nvSpPr>
        <p:spPr/>
        <p:txBody>
          <a:bodyPr/>
          <a:lstStyle/>
          <a:p>
            <a:r>
              <a:rPr lang="en-US" dirty="0"/>
              <a:t>Total participation specifies that </a:t>
            </a:r>
            <a:r>
              <a:rPr lang="en-US" b="1" dirty="0">
                <a:solidFill>
                  <a:schemeClr val="accent6"/>
                </a:solidFill>
              </a:rPr>
              <a:t>every entity in the superclass must be a member of some subclass</a:t>
            </a:r>
            <a:r>
              <a:rPr lang="en-US" dirty="0"/>
              <a:t> in the specialization.</a:t>
            </a:r>
          </a:p>
          <a:p>
            <a:r>
              <a:rPr lang="en-US" dirty="0"/>
              <a:t>Specified by a </a:t>
            </a:r>
            <a:r>
              <a:rPr lang="en-US" b="1" dirty="0">
                <a:solidFill>
                  <a:schemeClr val="accent6"/>
                </a:solidFill>
              </a:rPr>
              <a:t>double line </a:t>
            </a:r>
            <a:r>
              <a:rPr lang="en-US" dirty="0"/>
              <a:t>in E-R diagram.</a:t>
            </a:r>
          </a:p>
          <a:p>
            <a:pPr marL="0" indent="0">
              <a:buNone/>
            </a:pPr>
            <a:endParaRPr lang="en-US" dirty="0"/>
          </a:p>
        </p:txBody>
      </p:sp>
      <p:sp>
        <p:nvSpPr>
          <p:cNvPr id="4" name="Rectangle 3"/>
          <p:cNvSpPr/>
          <p:nvPr/>
        </p:nvSpPr>
        <p:spPr>
          <a:xfrm>
            <a:off x="2749928" y="211003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Cricketer</a:t>
            </a:r>
          </a:p>
          <a:p>
            <a:pPr algn="ctr"/>
            <a:r>
              <a:rPr lang="en-US" sz="2400" dirty="0">
                <a:solidFill>
                  <a:schemeClr val="bg1"/>
                </a:solidFill>
              </a:rPr>
              <a:t>(Super class)</a:t>
            </a:r>
          </a:p>
        </p:txBody>
      </p:sp>
      <p:cxnSp>
        <p:nvCxnSpPr>
          <p:cNvPr id="5" name="Straight Connector 4"/>
          <p:cNvCxnSpPr>
            <a:stCxn id="4" idx="2"/>
          </p:cNvCxnSpPr>
          <p:nvPr/>
        </p:nvCxnSpPr>
        <p:spPr>
          <a:xfrm>
            <a:off x="3664328" y="2948230"/>
            <a:ext cx="0" cy="2286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403569" y="3176830"/>
            <a:ext cx="4517136"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416428" y="3184450"/>
            <a:ext cx="0" cy="2286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502028" y="339908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Batsman</a:t>
            </a:r>
          </a:p>
          <a:p>
            <a:pPr algn="ctr"/>
            <a:r>
              <a:rPr lang="en-US" sz="2400" dirty="0">
                <a:solidFill>
                  <a:schemeClr val="bg1"/>
                </a:solidFill>
              </a:rPr>
              <a:t>(Sub class)</a:t>
            </a:r>
          </a:p>
        </p:txBody>
      </p:sp>
      <p:sp>
        <p:nvSpPr>
          <p:cNvPr id="9" name="Rectangle 8"/>
          <p:cNvSpPr/>
          <p:nvPr/>
        </p:nvSpPr>
        <p:spPr>
          <a:xfrm>
            <a:off x="4997828" y="3411072"/>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Bowler</a:t>
            </a:r>
          </a:p>
          <a:p>
            <a:pPr algn="ctr"/>
            <a:r>
              <a:rPr lang="en-US" sz="2400" dirty="0">
                <a:solidFill>
                  <a:schemeClr val="bg1"/>
                </a:solidFill>
              </a:rPr>
              <a:t>(Sub class)</a:t>
            </a:r>
          </a:p>
        </p:txBody>
      </p:sp>
      <p:cxnSp>
        <p:nvCxnSpPr>
          <p:cNvPr id="10" name="Straight Connector 9"/>
          <p:cNvCxnSpPr/>
          <p:nvPr/>
        </p:nvCxnSpPr>
        <p:spPr>
          <a:xfrm>
            <a:off x="5912228" y="3178213"/>
            <a:ext cx="0" cy="2286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2" descr="https://hindi.sportzwiki.com/wp-content/uploads/2016/08/Gautam-Gambhir3.jpg"/>
          <p:cNvPicPr>
            <a:picLocks noChangeArrowheads="1"/>
          </p:cNvPicPr>
          <p:nvPr/>
        </p:nvPicPr>
        <p:blipFill rotWithShape="1">
          <a:blip r:embed="rId2">
            <a:extLst>
              <a:ext uri="{28A0092B-C50C-407E-A947-70E740481C1C}">
                <a14:useLocalDpi xmlns:a14="http://schemas.microsoft.com/office/drawing/2010/main" val="0"/>
              </a:ext>
            </a:extLst>
          </a:blip>
          <a:srcRect r="10139"/>
          <a:stretch/>
        </p:blipFill>
        <p:spPr bwMode="auto">
          <a:xfrm>
            <a:off x="730628" y="4536439"/>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Related image"/>
          <p:cNvPicPr>
            <a:picLocks noChangeArrowheads="1"/>
          </p:cNvPicPr>
          <p:nvPr/>
        </p:nvPicPr>
        <p:blipFill rotWithShape="1">
          <a:blip r:embed="rId3" cstate="print">
            <a:extLst>
              <a:ext uri="{28A0092B-C50C-407E-A947-70E740481C1C}">
                <a14:useLocalDpi xmlns:a14="http://schemas.microsoft.com/office/drawing/2010/main" val="0"/>
              </a:ext>
            </a:extLst>
          </a:blip>
          <a:srcRect l="21165" r="9438"/>
          <a:stretch/>
        </p:blipFill>
        <p:spPr bwMode="auto">
          <a:xfrm>
            <a:off x="5226428" y="4536439"/>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730627" y="6004633"/>
            <a:ext cx="8046720" cy="457200"/>
          </a:xfrm>
          <a:prstGeom prst="rect">
            <a:avLst/>
          </a:prstGeom>
          <a:solidFill>
            <a:schemeClr val="accent6">
              <a:lumMod val="20000"/>
              <a:lumOff val="80000"/>
            </a:schemeClr>
          </a:solidFill>
          <a:ln>
            <a:solidFill>
              <a:schemeClr val="accent6"/>
            </a:solidFill>
          </a:ln>
        </p:spPr>
        <p:txBody>
          <a:bodyPr vert="horz" wrap="square" lIns="91440" tIns="45720" rIns="91440" bIns="45720" numCol="1" anchor="ctr" anchorCtr="0" compatLnSpc="1">
            <a:prstTxWarp prst="textNoShape">
              <a:avLst/>
            </a:prstTxWarp>
          </a:bodyPr>
          <a:lstStyle>
            <a:defPPr>
              <a:defRPr lang="en-US"/>
            </a:defPPr>
            <a:lvl1pPr>
              <a:defRPr b="1">
                <a:solidFill>
                  <a:schemeClr val="accent6"/>
                </a:solidFill>
              </a:defRPr>
            </a:lvl1pPr>
          </a:lstStyle>
          <a:p>
            <a:r>
              <a:rPr lang="en-US" b="0" dirty="0">
                <a:solidFill>
                  <a:schemeClr val="tx1"/>
                </a:solidFill>
              </a:rPr>
              <a:t>All the players are associated with minimum one sub class either (Batsman or Bowler).</a:t>
            </a:r>
          </a:p>
        </p:txBody>
      </p:sp>
      <p:sp>
        <p:nvSpPr>
          <p:cNvPr id="14" name="Rectangle 13"/>
          <p:cNvSpPr/>
          <p:nvPr/>
        </p:nvSpPr>
        <p:spPr>
          <a:xfrm>
            <a:off x="8892977" y="1743634"/>
            <a:ext cx="1828800" cy="838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Employee</a:t>
            </a:r>
          </a:p>
          <a:p>
            <a:pPr algn="ctr"/>
            <a:r>
              <a:rPr lang="en-US" i="1" dirty="0">
                <a:solidFill>
                  <a:schemeClr val="bg1">
                    <a:lumMod val="65000"/>
                  </a:schemeClr>
                </a:solidFill>
              </a:rPr>
              <a:t>(Super class)</a:t>
            </a:r>
          </a:p>
        </p:txBody>
      </p:sp>
      <p:cxnSp>
        <p:nvCxnSpPr>
          <p:cNvPr id="15" name="Straight Connector 14"/>
          <p:cNvCxnSpPr/>
          <p:nvPr/>
        </p:nvCxnSpPr>
        <p:spPr>
          <a:xfrm>
            <a:off x="9809618" y="2581267"/>
            <a:ext cx="0" cy="1024128"/>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p:cNvCxnSpPr>
            <a:stCxn id="20" idx="1"/>
          </p:cNvCxnSpPr>
          <p:nvPr/>
        </p:nvCxnSpPr>
        <p:spPr>
          <a:xfrm flipH="1">
            <a:off x="8590421" y="4013522"/>
            <a:ext cx="895347" cy="87263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17" name="Rectangle 16"/>
          <p:cNvSpPr/>
          <p:nvPr/>
        </p:nvSpPr>
        <p:spPr>
          <a:xfrm>
            <a:off x="7656968" y="4886153"/>
            <a:ext cx="1828800" cy="838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Professor</a:t>
            </a:r>
          </a:p>
          <a:p>
            <a:pPr algn="ctr"/>
            <a:r>
              <a:rPr lang="en-US" i="1" dirty="0">
                <a:solidFill>
                  <a:schemeClr val="bg1">
                    <a:lumMod val="65000"/>
                  </a:schemeClr>
                </a:solidFill>
              </a:rPr>
              <a:t>(Sub class)</a:t>
            </a:r>
          </a:p>
        </p:txBody>
      </p:sp>
      <p:sp>
        <p:nvSpPr>
          <p:cNvPr id="18" name="Rectangle 17"/>
          <p:cNvSpPr/>
          <p:nvPr/>
        </p:nvSpPr>
        <p:spPr>
          <a:xfrm>
            <a:off x="10228718" y="4886153"/>
            <a:ext cx="1828800" cy="838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Head</a:t>
            </a:r>
          </a:p>
          <a:p>
            <a:pPr algn="ctr"/>
            <a:r>
              <a:rPr lang="en-US" i="1" dirty="0">
                <a:solidFill>
                  <a:schemeClr val="bg1">
                    <a:lumMod val="65000"/>
                  </a:schemeClr>
                </a:solidFill>
              </a:rPr>
              <a:t>(Sub class)</a:t>
            </a:r>
          </a:p>
        </p:txBody>
      </p:sp>
      <p:cxnSp>
        <p:nvCxnSpPr>
          <p:cNvPr id="19" name="Straight Connector 18"/>
          <p:cNvCxnSpPr>
            <a:stCxn id="20" idx="3"/>
            <a:endCxn id="18" idx="0"/>
          </p:cNvCxnSpPr>
          <p:nvPr/>
        </p:nvCxnSpPr>
        <p:spPr>
          <a:xfrm>
            <a:off x="10133468" y="4013522"/>
            <a:ext cx="1009650" cy="87263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20" name="Flowchart: Merge 19"/>
          <p:cNvSpPr/>
          <p:nvPr/>
        </p:nvSpPr>
        <p:spPr>
          <a:xfrm>
            <a:off x="9161918" y="3607444"/>
            <a:ext cx="1295400" cy="812156"/>
          </a:xfrm>
          <a:prstGeom prst="flowChartMerg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ISA</a:t>
            </a:r>
          </a:p>
        </p:txBody>
      </p:sp>
      <p:cxnSp>
        <p:nvCxnSpPr>
          <p:cNvPr id="26" name="Straight Connector 25"/>
          <p:cNvCxnSpPr/>
          <p:nvPr/>
        </p:nvCxnSpPr>
        <p:spPr>
          <a:xfrm flipH="1">
            <a:off x="7233932" y="2110030"/>
            <a:ext cx="13447" cy="379800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9921677" y="2582575"/>
            <a:ext cx="0" cy="1024128"/>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pic>
        <p:nvPicPr>
          <p:cNvPr id="23" name="Picture 2" descr="https://hindi.sportzwiki.com/wp-content/uploads/2016/08/Gautam-Gambhir3.jpg"/>
          <p:cNvPicPr>
            <a:picLocks noChangeArrowheads="1"/>
          </p:cNvPicPr>
          <p:nvPr/>
        </p:nvPicPr>
        <p:blipFill rotWithShape="1">
          <a:blip r:embed="rId4" cstate="print">
            <a:extLst>
              <a:ext uri="{28A0092B-C50C-407E-A947-70E740481C1C}">
                <a14:useLocalDpi xmlns:a14="http://schemas.microsoft.com/office/drawing/2010/main" val="0"/>
              </a:ext>
            </a:extLst>
          </a:blip>
          <a:srcRect r="10139"/>
          <a:stretch/>
        </p:blipFill>
        <p:spPr bwMode="auto">
          <a:xfrm>
            <a:off x="604591" y="211003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Related image"/>
          <p:cNvPicPr>
            <a:picLocks noChangeArrowheads="1"/>
          </p:cNvPicPr>
          <p:nvPr/>
        </p:nvPicPr>
        <p:blipFill rotWithShape="1">
          <a:blip r:embed="rId3" cstate="print">
            <a:extLst>
              <a:ext uri="{28A0092B-C50C-407E-A947-70E740481C1C}">
                <a14:useLocalDpi xmlns:a14="http://schemas.microsoft.com/office/drawing/2010/main" val="0"/>
              </a:ext>
            </a:extLst>
          </a:blip>
          <a:srcRect l="21165" r="9438"/>
          <a:stretch/>
        </p:blipFill>
        <p:spPr bwMode="auto">
          <a:xfrm>
            <a:off x="1631876" y="2110030"/>
            <a:ext cx="9144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1757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10"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10" presetClass="entr" presetSubtype="0" fill="hold"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500"/>
                                        <p:tgtEl>
                                          <p:spTgt spid="18"/>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500"/>
                                        <p:tgtEl>
                                          <p:spTgt spid="20"/>
                                        </p:tgtEl>
                                      </p:cBhvr>
                                    </p:animEffect>
                                  </p:childTnLst>
                                </p:cTn>
                              </p:par>
                              <p:par>
                                <p:cTn id="84" presetID="10" presetClass="entr" presetSubtype="0" fill="hold" nodeType="withEffect">
                                  <p:stCondLst>
                                    <p:cond delay="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500"/>
                                        <p:tgtEl>
                                          <p:spTgt spid="15"/>
                                        </p:tgtEl>
                                      </p:cBhvr>
                                    </p:animEffect>
                                  </p:childTnLst>
                                </p:cTn>
                              </p:par>
                              <p:par>
                                <p:cTn id="87" presetID="10" presetClass="entr" presetSubtype="0" fill="hold" nodeType="with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fade">
                                      <p:cBhvr>
                                        <p:cTn id="89" dur="500"/>
                                        <p:tgtEl>
                                          <p:spTgt spid="16"/>
                                        </p:tgtEl>
                                      </p:cBhvr>
                                    </p:animEffect>
                                  </p:childTnLst>
                                </p:cTn>
                              </p:par>
                              <p:par>
                                <p:cTn id="90" presetID="10" presetClass="entr" presetSubtype="0" fill="hold"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500"/>
                                        <p:tgtEl>
                                          <p:spTgt spid="19"/>
                                        </p:tgtEl>
                                      </p:cBhvr>
                                    </p:animEffect>
                                  </p:childTnLst>
                                </p:cTn>
                              </p:par>
                              <p:par>
                                <p:cTn id="93" presetID="10" presetClass="entr" presetSubtype="0" fill="hold" nodeType="withEffect">
                                  <p:stCondLst>
                                    <p:cond delay="0"/>
                                  </p:stCondLst>
                                  <p:childTnLst>
                                    <p:set>
                                      <p:cBhvr>
                                        <p:cTn id="94" dur="1" fill="hold">
                                          <p:stCondLst>
                                            <p:cond delay="0"/>
                                          </p:stCondLst>
                                        </p:cTn>
                                        <p:tgtEl>
                                          <p:spTgt spid="27"/>
                                        </p:tgtEl>
                                        <p:attrNameLst>
                                          <p:attrName>style.visibility</p:attrName>
                                        </p:attrNameLst>
                                      </p:cBhvr>
                                      <p:to>
                                        <p:strVal val="visible"/>
                                      </p:to>
                                    </p:set>
                                    <p:animEffect transition="in" filter="fade">
                                      <p:cBhvr>
                                        <p:cTn id="9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3" grpId="0" animBg="1"/>
      <p:bldP spid="14" grpId="0" animBg="1"/>
      <p:bldP spid="17" grpId="0" animBg="1"/>
      <p:bldP spid="18" grpId="0" animBg="1"/>
      <p:bldP spid="2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Partial (Optional) Participation</a:t>
            </a:r>
          </a:p>
        </p:txBody>
      </p:sp>
      <p:sp>
        <p:nvSpPr>
          <p:cNvPr id="3" name="Content Placeholder 2"/>
          <p:cNvSpPr>
            <a:spLocks noGrp="1"/>
          </p:cNvSpPr>
          <p:nvPr>
            <p:ph idx="1"/>
          </p:nvPr>
        </p:nvSpPr>
        <p:spPr/>
        <p:txBody>
          <a:bodyPr/>
          <a:lstStyle/>
          <a:p>
            <a:r>
              <a:rPr lang="en-US" dirty="0"/>
              <a:t>Partial participation specifies that </a:t>
            </a:r>
            <a:r>
              <a:rPr lang="en-US" b="1" dirty="0">
                <a:solidFill>
                  <a:schemeClr val="accent6"/>
                </a:solidFill>
              </a:rPr>
              <a:t>every entity in the super class does not belong to any of the subclass </a:t>
            </a:r>
            <a:r>
              <a:rPr lang="en-US" dirty="0"/>
              <a:t>of specialization.</a:t>
            </a:r>
          </a:p>
          <a:p>
            <a:r>
              <a:rPr lang="en-US" dirty="0"/>
              <a:t>Specified by a </a:t>
            </a:r>
            <a:r>
              <a:rPr lang="en-US" b="1" dirty="0">
                <a:solidFill>
                  <a:schemeClr val="accent6"/>
                </a:solidFill>
              </a:rPr>
              <a:t>single line </a:t>
            </a:r>
            <a:r>
              <a:rPr lang="en-US" dirty="0"/>
              <a:t>in E-R diagram.</a:t>
            </a:r>
          </a:p>
          <a:p>
            <a:pPr marL="0" indent="0">
              <a:buNone/>
            </a:pPr>
            <a:endParaRPr lang="en-US" dirty="0"/>
          </a:p>
        </p:txBody>
      </p:sp>
      <p:sp>
        <p:nvSpPr>
          <p:cNvPr id="4" name="Rectangle 3"/>
          <p:cNvSpPr/>
          <p:nvPr/>
        </p:nvSpPr>
        <p:spPr>
          <a:xfrm>
            <a:off x="2749928" y="211003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Cricketer</a:t>
            </a:r>
          </a:p>
          <a:p>
            <a:pPr algn="ctr"/>
            <a:r>
              <a:rPr lang="en-US" sz="2400" dirty="0">
                <a:solidFill>
                  <a:schemeClr val="bg1"/>
                </a:solidFill>
              </a:rPr>
              <a:t>(Super class)</a:t>
            </a:r>
          </a:p>
        </p:txBody>
      </p:sp>
      <p:cxnSp>
        <p:nvCxnSpPr>
          <p:cNvPr id="5" name="Straight Connector 4"/>
          <p:cNvCxnSpPr>
            <a:stCxn id="4" idx="2"/>
          </p:cNvCxnSpPr>
          <p:nvPr/>
        </p:nvCxnSpPr>
        <p:spPr>
          <a:xfrm>
            <a:off x="3664328" y="2948230"/>
            <a:ext cx="0" cy="2286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403569" y="3176830"/>
            <a:ext cx="4517136"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416428" y="3184450"/>
            <a:ext cx="0" cy="2286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502028" y="3399080"/>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Batsman</a:t>
            </a:r>
          </a:p>
          <a:p>
            <a:pPr algn="ctr"/>
            <a:r>
              <a:rPr lang="en-US" sz="2400" dirty="0">
                <a:solidFill>
                  <a:schemeClr val="bg1"/>
                </a:solidFill>
              </a:rPr>
              <a:t>(Sub class)</a:t>
            </a:r>
          </a:p>
        </p:txBody>
      </p:sp>
      <p:sp>
        <p:nvSpPr>
          <p:cNvPr id="9" name="Rectangle 8"/>
          <p:cNvSpPr/>
          <p:nvPr/>
        </p:nvSpPr>
        <p:spPr>
          <a:xfrm>
            <a:off x="4997828" y="3411072"/>
            <a:ext cx="1828800" cy="838200"/>
          </a:xfrm>
          <a:prstGeom prst="rect">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Bowler</a:t>
            </a:r>
          </a:p>
          <a:p>
            <a:pPr algn="ctr"/>
            <a:r>
              <a:rPr lang="en-US" sz="2400" dirty="0">
                <a:solidFill>
                  <a:schemeClr val="bg1"/>
                </a:solidFill>
              </a:rPr>
              <a:t>(Sub class)</a:t>
            </a:r>
          </a:p>
        </p:txBody>
      </p:sp>
      <p:cxnSp>
        <p:nvCxnSpPr>
          <p:cNvPr id="10" name="Straight Connector 9"/>
          <p:cNvCxnSpPr/>
          <p:nvPr/>
        </p:nvCxnSpPr>
        <p:spPr>
          <a:xfrm>
            <a:off x="5912228" y="3178213"/>
            <a:ext cx="0" cy="22860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1" name="Picture 2" descr="https://hindi.sportzwiki.com/wp-content/uploads/2016/08/Gautam-Gambhir3.jpg"/>
          <p:cNvPicPr>
            <a:picLocks noChangeArrowheads="1"/>
          </p:cNvPicPr>
          <p:nvPr/>
        </p:nvPicPr>
        <p:blipFill rotWithShape="1">
          <a:blip r:embed="rId2">
            <a:extLst>
              <a:ext uri="{28A0092B-C50C-407E-A947-70E740481C1C}">
                <a14:useLocalDpi xmlns:a14="http://schemas.microsoft.com/office/drawing/2010/main" val="0"/>
              </a:ext>
            </a:extLst>
          </a:blip>
          <a:srcRect r="10139"/>
          <a:stretch/>
        </p:blipFill>
        <p:spPr bwMode="auto">
          <a:xfrm>
            <a:off x="730628" y="4536439"/>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Related image"/>
          <p:cNvPicPr>
            <a:picLocks noChangeArrowheads="1"/>
          </p:cNvPicPr>
          <p:nvPr/>
        </p:nvPicPr>
        <p:blipFill rotWithShape="1">
          <a:blip r:embed="rId3" cstate="print">
            <a:extLst>
              <a:ext uri="{28A0092B-C50C-407E-A947-70E740481C1C}">
                <a14:useLocalDpi xmlns:a14="http://schemas.microsoft.com/office/drawing/2010/main" val="0"/>
              </a:ext>
            </a:extLst>
          </a:blip>
          <a:srcRect l="21165" r="9438"/>
          <a:stretch/>
        </p:blipFill>
        <p:spPr bwMode="auto">
          <a:xfrm>
            <a:off x="5226428" y="4536439"/>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8892977" y="1743634"/>
            <a:ext cx="1828800" cy="838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Employee</a:t>
            </a:r>
          </a:p>
          <a:p>
            <a:pPr algn="ctr"/>
            <a:r>
              <a:rPr lang="en-US" i="1" dirty="0">
                <a:solidFill>
                  <a:schemeClr val="bg1">
                    <a:lumMod val="65000"/>
                  </a:schemeClr>
                </a:solidFill>
              </a:rPr>
              <a:t>(Super class)</a:t>
            </a:r>
          </a:p>
        </p:txBody>
      </p:sp>
      <p:cxnSp>
        <p:nvCxnSpPr>
          <p:cNvPr id="15" name="Straight Connector 14"/>
          <p:cNvCxnSpPr/>
          <p:nvPr/>
        </p:nvCxnSpPr>
        <p:spPr>
          <a:xfrm>
            <a:off x="9809618" y="2581267"/>
            <a:ext cx="0" cy="1024128"/>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p:cNvCxnSpPr>
            <a:stCxn id="20" idx="1"/>
          </p:cNvCxnSpPr>
          <p:nvPr/>
        </p:nvCxnSpPr>
        <p:spPr>
          <a:xfrm flipH="1">
            <a:off x="8590421" y="4013522"/>
            <a:ext cx="895347" cy="87263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17" name="Rectangle 16"/>
          <p:cNvSpPr/>
          <p:nvPr/>
        </p:nvSpPr>
        <p:spPr>
          <a:xfrm>
            <a:off x="7656968" y="4886153"/>
            <a:ext cx="1828800" cy="838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Professor</a:t>
            </a:r>
          </a:p>
          <a:p>
            <a:pPr algn="ctr"/>
            <a:r>
              <a:rPr lang="en-US" i="1" dirty="0">
                <a:solidFill>
                  <a:schemeClr val="bg1">
                    <a:lumMod val="65000"/>
                  </a:schemeClr>
                </a:solidFill>
              </a:rPr>
              <a:t>(Sub class)</a:t>
            </a:r>
          </a:p>
        </p:txBody>
      </p:sp>
      <p:sp>
        <p:nvSpPr>
          <p:cNvPr id="18" name="Rectangle 17"/>
          <p:cNvSpPr/>
          <p:nvPr/>
        </p:nvSpPr>
        <p:spPr>
          <a:xfrm>
            <a:off x="10228718" y="4886153"/>
            <a:ext cx="1828800" cy="838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Head</a:t>
            </a:r>
          </a:p>
          <a:p>
            <a:pPr algn="ctr"/>
            <a:r>
              <a:rPr lang="en-US" i="1" dirty="0">
                <a:solidFill>
                  <a:schemeClr val="bg1">
                    <a:lumMod val="65000"/>
                  </a:schemeClr>
                </a:solidFill>
              </a:rPr>
              <a:t>(Sub class)</a:t>
            </a:r>
          </a:p>
        </p:txBody>
      </p:sp>
      <p:cxnSp>
        <p:nvCxnSpPr>
          <p:cNvPr id="19" name="Straight Connector 18"/>
          <p:cNvCxnSpPr>
            <a:stCxn id="20" idx="3"/>
            <a:endCxn id="18" idx="0"/>
          </p:cNvCxnSpPr>
          <p:nvPr/>
        </p:nvCxnSpPr>
        <p:spPr>
          <a:xfrm>
            <a:off x="10133468" y="4013522"/>
            <a:ext cx="1009650" cy="87263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20" name="Flowchart: Merge 19"/>
          <p:cNvSpPr/>
          <p:nvPr/>
        </p:nvSpPr>
        <p:spPr>
          <a:xfrm>
            <a:off x="9161918" y="3607444"/>
            <a:ext cx="1295400" cy="812156"/>
          </a:xfrm>
          <a:prstGeom prst="flowChartMerg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ISA</a:t>
            </a:r>
          </a:p>
        </p:txBody>
      </p:sp>
      <p:cxnSp>
        <p:nvCxnSpPr>
          <p:cNvPr id="26" name="Straight Connector 25"/>
          <p:cNvCxnSpPr/>
          <p:nvPr/>
        </p:nvCxnSpPr>
        <p:spPr>
          <a:xfrm flipH="1">
            <a:off x="7233932" y="2110030"/>
            <a:ext cx="13447" cy="379800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Rounded Rectangular Callout 22"/>
          <p:cNvSpPr/>
          <p:nvPr/>
        </p:nvSpPr>
        <p:spPr>
          <a:xfrm>
            <a:off x="2632237" y="3468182"/>
            <a:ext cx="2103120" cy="723980"/>
          </a:xfrm>
          <a:prstGeom prst="wedgeRoundRectCallout">
            <a:avLst>
              <a:gd name="adj1" fmla="val -13582"/>
              <a:gd name="adj2" fmla="val 99062"/>
              <a:gd name="adj3" fmla="val 16667"/>
            </a:avLst>
          </a:prstGeom>
          <a:solidFill>
            <a:schemeClr val="accent6">
              <a:lumMod val="20000"/>
              <a:lumOff val="80000"/>
            </a:schemeClr>
          </a:solidFill>
          <a:ln>
            <a:solidFill>
              <a:schemeClr val="accent6"/>
            </a:solidFill>
          </a:ln>
        </p:spPr>
        <p:txBody>
          <a:bodyPr vert="horz" wrap="square" lIns="91440" tIns="45720" rIns="91440" bIns="45720" numCol="1" anchor="ctr" anchorCtr="0" compatLnSpc="1">
            <a:prstTxWarp prst="textNoShape">
              <a:avLst/>
            </a:prstTxWarp>
          </a:bodyPr>
          <a:lstStyle/>
          <a:p>
            <a:r>
              <a:rPr lang="en-US" dirty="0"/>
              <a:t>Not associated with any sub class</a:t>
            </a:r>
            <a:endParaRPr lang="en-IN" dirty="0"/>
          </a:p>
        </p:txBody>
      </p:sp>
      <p:pic>
        <p:nvPicPr>
          <p:cNvPr id="24" name="Picture 2" descr="Related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589" y="4536439"/>
            <a:ext cx="1828799" cy="13716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s://hindi.sportzwiki.com/wp-content/uploads/2016/08/Gautam-Gambhir3.jpg"/>
          <p:cNvPicPr>
            <a:picLocks noChangeArrowheads="1"/>
          </p:cNvPicPr>
          <p:nvPr/>
        </p:nvPicPr>
        <p:blipFill rotWithShape="1">
          <a:blip r:embed="rId5" cstate="print">
            <a:extLst>
              <a:ext uri="{28A0092B-C50C-407E-A947-70E740481C1C}">
                <a14:useLocalDpi xmlns:a14="http://schemas.microsoft.com/office/drawing/2010/main" val="0"/>
              </a:ext>
            </a:extLst>
          </a:blip>
          <a:srcRect r="10139"/>
          <a:stretch/>
        </p:blipFill>
        <p:spPr bwMode="auto">
          <a:xfrm>
            <a:off x="604591" y="211003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Related image"/>
          <p:cNvPicPr>
            <a:picLocks noChangeArrowheads="1"/>
          </p:cNvPicPr>
          <p:nvPr/>
        </p:nvPicPr>
        <p:blipFill rotWithShape="1">
          <a:blip r:embed="rId3" cstate="print">
            <a:extLst>
              <a:ext uri="{28A0092B-C50C-407E-A947-70E740481C1C}">
                <a14:useLocalDpi xmlns:a14="http://schemas.microsoft.com/office/drawing/2010/main" val="0"/>
              </a:ext>
            </a:extLst>
          </a:blip>
          <a:srcRect l="21165" r="9438"/>
          <a:stretch/>
        </p:blipFill>
        <p:spPr bwMode="auto">
          <a:xfrm>
            <a:off x="1631876" y="211003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Related imag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82380" y="2110030"/>
            <a:ext cx="1219199"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314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par>
                                <p:cTn id="35" presetID="10"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50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5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nodeType="withEffect">
                                  <p:stCondLst>
                                    <p:cond delay="0"/>
                                  </p:stCondLst>
                                  <p:childTnLst>
                                    <p:set>
                                      <p:cBhvr>
                                        <p:cTn id="70" dur="1" fill="hold">
                                          <p:stCondLst>
                                            <p:cond delay="0"/>
                                          </p:stCondLst>
                                        </p:cTn>
                                        <p:tgtEl>
                                          <p:spTgt spid="23">
                                            <p:txEl>
                                              <p:pRg st="0" end="0"/>
                                            </p:txEl>
                                          </p:spTgt>
                                        </p:tgtEl>
                                        <p:attrNameLst>
                                          <p:attrName>style.visibility</p:attrName>
                                        </p:attrNameLst>
                                      </p:cBhvr>
                                      <p:to>
                                        <p:strVal val="visible"/>
                                      </p:to>
                                    </p:set>
                                    <p:animEffect transition="in" filter="fade">
                                      <p:cBhvr>
                                        <p:cTn id="71" dur="500"/>
                                        <p:tgtEl>
                                          <p:spTgt spid="23">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fade">
                                      <p:cBhvr>
                                        <p:cTn id="81" dur="500"/>
                                        <p:tgtEl>
                                          <p:spTgt spid="14"/>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500"/>
                                        <p:tgtEl>
                                          <p:spTgt spid="1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fade">
                                      <p:cBhvr>
                                        <p:cTn id="89" dur="500"/>
                                        <p:tgtEl>
                                          <p:spTgt spid="18"/>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500"/>
                                        <p:tgtEl>
                                          <p:spTgt spid="20"/>
                                        </p:tgtEl>
                                      </p:cBhvr>
                                    </p:animEffect>
                                  </p:childTnLst>
                                </p:cTn>
                              </p:par>
                              <p:par>
                                <p:cTn id="95" presetID="10" presetClass="entr" presetSubtype="0" fill="hold" nodeType="withEffect">
                                  <p:stCondLst>
                                    <p:cond delay="0"/>
                                  </p:stCondLst>
                                  <p:childTnLst>
                                    <p:set>
                                      <p:cBhvr>
                                        <p:cTn id="96" dur="1" fill="hold">
                                          <p:stCondLst>
                                            <p:cond delay="0"/>
                                          </p:stCondLst>
                                        </p:cTn>
                                        <p:tgtEl>
                                          <p:spTgt spid="15"/>
                                        </p:tgtEl>
                                        <p:attrNameLst>
                                          <p:attrName>style.visibility</p:attrName>
                                        </p:attrNameLst>
                                      </p:cBhvr>
                                      <p:to>
                                        <p:strVal val="visible"/>
                                      </p:to>
                                    </p:set>
                                    <p:animEffect transition="in" filter="fade">
                                      <p:cBhvr>
                                        <p:cTn id="97" dur="500"/>
                                        <p:tgtEl>
                                          <p:spTgt spid="15"/>
                                        </p:tgtEl>
                                      </p:cBhvr>
                                    </p:animEffect>
                                  </p:childTnLst>
                                </p:cTn>
                              </p:par>
                              <p:par>
                                <p:cTn id="98" presetID="10" presetClass="entr" presetSubtype="0" fill="hold" nodeType="withEffect">
                                  <p:stCondLst>
                                    <p:cond delay="0"/>
                                  </p:stCondLst>
                                  <p:childTnLst>
                                    <p:set>
                                      <p:cBhvr>
                                        <p:cTn id="99" dur="1" fill="hold">
                                          <p:stCondLst>
                                            <p:cond delay="0"/>
                                          </p:stCondLst>
                                        </p:cTn>
                                        <p:tgtEl>
                                          <p:spTgt spid="16"/>
                                        </p:tgtEl>
                                        <p:attrNameLst>
                                          <p:attrName>style.visibility</p:attrName>
                                        </p:attrNameLst>
                                      </p:cBhvr>
                                      <p:to>
                                        <p:strVal val="visible"/>
                                      </p:to>
                                    </p:set>
                                    <p:animEffect transition="in" filter="fade">
                                      <p:cBhvr>
                                        <p:cTn id="100" dur="500"/>
                                        <p:tgtEl>
                                          <p:spTgt spid="16"/>
                                        </p:tgtEl>
                                      </p:cBhvr>
                                    </p:animEffect>
                                  </p:childTnLst>
                                </p:cTn>
                              </p:par>
                              <p:par>
                                <p:cTn id="101" presetID="10" presetClass="entr" presetSubtype="0" fill="hold" nodeType="withEffect">
                                  <p:stCondLst>
                                    <p:cond delay="0"/>
                                  </p:stCondLst>
                                  <p:childTnLst>
                                    <p:set>
                                      <p:cBhvr>
                                        <p:cTn id="102" dur="1" fill="hold">
                                          <p:stCondLst>
                                            <p:cond delay="0"/>
                                          </p:stCondLst>
                                        </p:cTn>
                                        <p:tgtEl>
                                          <p:spTgt spid="19"/>
                                        </p:tgtEl>
                                        <p:attrNameLst>
                                          <p:attrName>style.visibility</p:attrName>
                                        </p:attrNameLst>
                                      </p:cBhvr>
                                      <p:to>
                                        <p:strVal val="visible"/>
                                      </p:to>
                                    </p:set>
                                    <p:animEffect transition="in" filter="fade">
                                      <p:cBhvr>
                                        <p:cTn id="10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4" grpId="0" animBg="1"/>
      <p:bldP spid="17" grpId="0" animBg="1"/>
      <p:bldP spid="18" grpId="0" animBg="1"/>
      <p:bldP spid="20" grpId="0" animBg="1"/>
      <p:bldP spid="2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Aggregation in E-R diagram</a:t>
            </a:r>
          </a:p>
        </p:txBody>
      </p:sp>
      <p:sp>
        <p:nvSpPr>
          <p:cNvPr id="5" name="Text Placeholder 4"/>
          <p:cNvSpPr>
            <a:spLocks noGrp="1"/>
          </p:cNvSpPr>
          <p:nvPr>
            <p:ph type="body" idx="1"/>
          </p:nvPr>
        </p:nvSpPr>
        <p:spPr/>
        <p:txBody>
          <a:bodyPr/>
          <a:lstStyle/>
          <a:p>
            <a:r>
              <a:rPr lang="en-US" dirty="0"/>
              <a:t>Section - 9</a:t>
            </a:r>
          </a:p>
          <a:p>
            <a:endParaRPr lang="en-US" dirty="0"/>
          </a:p>
        </p:txBody>
      </p:sp>
    </p:spTree>
    <p:extLst>
      <p:ext uri="{BB962C8B-B14F-4D97-AF65-F5344CB8AC3E}">
        <p14:creationId xmlns:p14="http://schemas.microsoft.com/office/powerpoint/2010/main" val="40610767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 of E-R diagram</a:t>
            </a:r>
          </a:p>
        </p:txBody>
      </p:sp>
      <p:sp>
        <p:nvSpPr>
          <p:cNvPr id="3" name="Content Placeholder 2"/>
          <p:cNvSpPr>
            <a:spLocks noGrp="1"/>
          </p:cNvSpPr>
          <p:nvPr>
            <p:ph idx="1"/>
          </p:nvPr>
        </p:nvSpPr>
        <p:spPr/>
        <p:txBody>
          <a:bodyPr/>
          <a:lstStyle/>
          <a:p>
            <a:r>
              <a:rPr lang="en-US" dirty="0"/>
              <a:t>In E-R model we </a:t>
            </a:r>
            <a:r>
              <a:rPr lang="en-US" b="1" dirty="0">
                <a:solidFill>
                  <a:schemeClr val="accent6"/>
                </a:solidFill>
              </a:rPr>
              <a:t>cannot express relationships between two relationships</a:t>
            </a:r>
            <a:r>
              <a:rPr lang="en-US" dirty="0"/>
              <a:t>.</a:t>
            </a:r>
          </a:p>
        </p:txBody>
      </p:sp>
      <p:sp>
        <p:nvSpPr>
          <p:cNvPr id="23" name="Diamond 22"/>
          <p:cNvSpPr/>
          <p:nvPr/>
        </p:nvSpPr>
        <p:spPr>
          <a:xfrm>
            <a:off x="4809788" y="1713914"/>
            <a:ext cx="2470150" cy="6858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Relation</a:t>
            </a:r>
            <a:endParaRPr lang="en-IN" sz="2000" dirty="0">
              <a:solidFill>
                <a:schemeClr val="tx1"/>
              </a:solidFill>
            </a:endParaRPr>
          </a:p>
        </p:txBody>
      </p:sp>
      <p:sp>
        <p:nvSpPr>
          <p:cNvPr id="24" name="Diamond 23"/>
          <p:cNvSpPr/>
          <p:nvPr/>
        </p:nvSpPr>
        <p:spPr>
          <a:xfrm>
            <a:off x="1903827" y="1713914"/>
            <a:ext cx="2470150" cy="6858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Relation</a:t>
            </a:r>
            <a:r>
              <a:rPr lang="en-US" sz="2000" dirty="0"/>
              <a:t> 1</a:t>
            </a:r>
            <a:endParaRPr lang="en-IN" sz="2000" dirty="0"/>
          </a:p>
        </p:txBody>
      </p:sp>
      <p:sp>
        <p:nvSpPr>
          <p:cNvPr id="25" name="Diamond 24"/>
          <p:cNvSpPr/>
          <p:nvPr/>
        </p:nvSpPr>
        <p:spPr>
          <a:xfrm>
            <a:off x="7663277" y="1713914"/>
            <a:ext cx="2470150" cy="6858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Relation</a:t>
            </a:r>
            <a:r>
              <a:rPr lang="en-US" sz="2000" dirty="0"/>
              <a:t> 2</a:t>
            </a:r>
            <a:endParaRPr lang="en-IN" sz="2000" dirty="0"/>
          </a:p>
        </p:txBody>
      </p:sp>
      <p:cxnSp>
        <p:nvCxnSpPr>
          <p:cNvPr id="28" name="Straight Connector 27"/>
          <p:cNvCxnSpPr>
            <a:stCxn id="24" idx="3"/>
            <a:endCxn id="23" idx="1"/>
          </p:cNvCxnSpPr>
          <p:nvPr/>
        </p:nvCxnSpPr>
        <p:spPr>
          <a:xfrm>
            <a:off x="4373977" y="2056814"/>
            <a:ext cx="435811"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p:cNvCxnSpPr>
            <a:stCxn id="23" idx="3"/>
          </p:cNvCxnSpPr>
          <p:nvPr/>
        </p:nvCxnSpPr>
        <p:spPr>
          <a:xfrm>
            <a:off x="7279938" y="2056814"/>
            <a:ext cx="383339"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30" name="Multiply 29"/>
          <p:cNvSpPr/>
          <p:nvPr/>
        </p:nvSpPr>
        <p:spPr>
          <a:xfrm>
            <a:off x="5673503" y="1529577"/>
            <a:ext cx="742720" cy="1054473"/>
          </a:xfrm>
          <a:prstGeom prst="mathMultiply">
            <a:avLst>
              <a:gd name="adj1" fmla="val 15248"/>
            </a:avLst>
          </a:prstGeom>
          <a:solidFill>
            <a:schemeClr val="accent6"/>
          </a:solidFill>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31" name="Diamond 30"/>
          <p:cNvSpPr/>
          <p:nvPr/>
        </p:nvSpPr>
        <p:spPr>
          <a:xfrm>
            <a:off x="4809788" y="3090808"/>
            <a:ext cx="2470150" cy="6858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Relation</a:t>
            </a:r>
            <a:endParaRPr lang="en-IN" sz="2000" dirty="0">
              <a:solidFill>
                <a:schemeClr val="tx1"/>
              </a:solidFill>
            </a:endParaRPr>
          </a:p>
        </p:txBody>
      </p:sp>
      <p:sp>
        <p:nvSpPr>
          <p:cNvPr id="32" name="Rectangle 31"/>
          <p:cNvSpPr/>
          <p:nvPr/>
        </p:nvSpPr>
        <p:spPr>
          <a:xfrm>
            <a:off x="1903827" y="3090808"/>
            <a:ext cx="2470150" cy="6858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Entity 1</a:t>
            </a:r>
            <a:endParaRPr lang="en-IN" dirty="0">
              <a:solidFill>
                <a:schemeClr val="tx1"/>
              </a:solidFill>
            </a:endParaRPr>
          </a:p>
        </p:txBody>
      </p:sp>
      <p:sp>
        <p:nvSpPr>
          <p:cNvPr id="33" name="Rectangle 32"/>
          <p:cNvSpPr/>
          <p:nvPr/>
        </p:nvSpPr>
        <p:spPr>
          <a:xfrm>
            <a:off x="7663277" y="3090808"/>
            <a:ext cx="2470150" cy="6858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Entity 2</a:t>
            </a:r>
            <a:endParaRPr lang="en-IN" dirty="0">
              <a:solidFill>
                <a:schemeClr val="tx1"/>
              </a:solidFill>
            </a:endParaRPr>
          </a:p>
        </p:txBody>
      </p:sp>
      <p:cxnSp>
        <p:nvCxnSpPr>
          <p:cNvPr id="34" name="Straight Connector 33"/>
          <p:cNvCxnSpPr>
            <a:endCxn id="31" idx="1"/>
          </p:cNvCxnSpPr>
          <p:nvPr/>
        </p:nvCxnSpPr>
        <p:spPr>
          <a:xfrm>
            <a:off x="4373977" y="3433708"/>
            <a:ext cx="435811"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p:cNvCxnSpPr>
            <a:stCxn id="31" idx="3"/>
          </p:cNvCxnSpPr>
          <p:nvPr/>
        </p:nvCxnSpPr>
        <p:spPr>
          <a:xfrm>
            <a:off x="7279938" y="3433708"/>
            <a:ext cx="383339" cy="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grpSp>
        <p:nvGrpSpPr>
          <p:cNvPr id="36" name="Group 35"/>
          <p:cNvGrpSpPr/>
          <p:nvPr/>
        </p:nvGrpSpPr>
        <p:grpSpPr>
          <a:xfrm>
            <a:off x="5713827" y="3197216"/>
            <a:ext cx="845347" cy="472983"/>
            <a:chOff x="4420049" y="3019518"/>
            <a:chExt cx="845347" cy="472983"/>
          </a:xfrm>
        </p:grpSpPr>
        <p:cxnSp>
          <p:nvCxnSpPr>
            <p:cNvPr id="37" name="Straight Connector 36"/>
            <p:cNvCxnSpPr/>
            <p:nvPr/>
          </p:nvCxnSpPr>
          <p:spPr>
            <a:xfrm>
              <a:off x="4420049" y="3106458"/>
              <a:ext cx="308727" cy="386043"/>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4675598" y="3019518"/>
              <a:ext cx="589798" cy="469528"/>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2666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par>
                                <p:cTn id="21" presetID="10"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500"/>
                                        <p:tgtEl>
                                          <p:spTgt spid="3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childTnLst>
                                </p:cTn>
                              </p:par>
                              <p:par>
                                <p:cTn id="45" presetID="10" presetClass="entr" presetSubtype="0" fill="hold"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500"/>
                                        <p:tgtEl>
                                          <p:spTgt spid="34"/>
                                        </p:tgtEl>
                                      </p:cBhvr>
                                    </p:animEffect>
                                  </p:childTnLst>
                                </p:cTn>
                              </p:par>
                              <p:par>
                                <p:cTn id="48" presetID="10" presetClass="entr" presetSubtype="0" fill="hold"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500"/>
                                        <p:tgtEl>
                                          <p:spTgt spid="3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30" grpId="0" animBg="1"/>
      <p:bldP spid="31" grpId="0" animBg="1"/>
      <p:bldP spid="32" grpId="0" animBg="1"/>
      <p:bldP spid="33"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 of E-R diagram</a:t>
            </a:r>
          </a:p>
        </p:txBody>
      </p:sp>
      <p:sp>
        <p:nvSpPr>
          <p:cNvPr id="3" name="Content Placeholder 2"/>
          <p:cNvSpPr>
            <a:spLocks noGrp="1"/>
          </p:cNvSpPr>
          <p:nvPr>
            <p:ph idx="1"/>
          </p:nvPr>
        </p:nvSpPr>
        <p:spPr/>
        <p:txBody>
          <a:bodyPr/>
          <a:lstStyle/>
          <a:p>
            <a:pPr marL="0" indent="0">
              <a:buNone/>
            </a:pPr>
            <a:endParaRPr lang="en-US" dirty="0"/>
          </a:p>
        </p:txBody>
      </p:sp>
      <p:sp>
        <p:nvSpPr>
          <p:cNvPr id="18" name="Rectangle 17"/>
          <p:cNvSpPr/>
          <p:nvPr/>
        </p:nvSpPr>
        <p:spPr>
          <a:xfrm>
            <a:off x="1062111" y="2341508"/>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Employee</a:t>
            </a:r>
          </a:p>
        </p:txBody>
      </p:sp>
      <p:sp>
        <p:nvSpPr>
          <p:cNvPr id="19" name="Rectangle 18"/>
          <p:cNvSpPr/>
          <p:nvPr/>
        </p:nvSpPr>
        <p:spPr>
          <a:xfrm>
            <a:off x="5429439" y="2337152"/>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Department</a:t>
            </a:r>
          </a:p>
        </p:txBody>
      </p:sp>
      <p:sp>
        <p:nvSpPr>
          <p:cNvPr id="20" name="Diamond 19"/>
          <p:cNvSpPr/>
          <p:nvPr/>
        </p:nvSpPr>
        <p:spPr>
          <a:xfrm>
            <a:off x="3226571" y="2335433"/>
            <a:ext cx="1724298" cy="4572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Works</a:t>
            </a:r>
          </a:p>
        </p:txBody>
      </p:sp>
      <p:cxnSp>
        <p:nvCxnSpPr>
          <p:cNvPr id="21" name="Straight Connector 20"/>
          <p:cNvCxnSpPr>
            <a:stCxn id="20" idx="3"/>
          </p:cNvCxnSpPr>
          <p:nvPr/>
        </p:nvCxnSpPr>
        <p:spPr>
          <a:xfrm>
            <a:off x="4950868" y="2564033"/>
            <a:ext cx="475488" cy="171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p:cNvCxnSpPr>
            <a:stCxn id="18" idx="3"/>
            <a:endCxn id="20" idx="1"/>
          </p:cNvCxnSpPr>
          <p:nvPr/>
        </p:nvCxnSpPr>
        <p:spPr>
          <a:xfrm flipV="1">
            <a:off x="2760282" y="2564033"/>
            <a:ext cx="466289" cy="6075"/>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Connector 25"/>
          <p:cNvCxnSpPr>
            <a:endCxn id="20" idx="0"/>
          </p:cNvCxnSpPr>
          <p:nvPr/>
        </p:nvCxnSpPr>
        <p:spPr>
          <a:xfrm flipH="1">
            <a:off x="4088720" y="1847272"/>
            <a:ext cx="526" cy="488161"/>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27" name="Diamond 26"/>
          <p:cNvSpPr/>
          <p:nvPr/>
        </p:nvSpPr>
        <p:spPr>
          <a:xfrm>
            <a:off x="3171235" y="3485240"/>
            <a:ext cx="1828800" cy="4572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Borrow</a:t>
            </a:r>
          </a:p>
        </p:txBody>
      </p:sp>
      <p:sp>
        <p:nvSpPr>
          <p:cNvPr id="39" name="Rectangle 38"/>
          <p:cNvSpPr/>
          <p:nvPr/>
        </p:nvSpPr>
        <p:spPr>
          <a:xfrm>
            <a:off x="3236549" y="4375086"/>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Loan</a:t>
            </a:r>
          </a:p>
        </p:txBody>
      </p:sp>
      <p:cxnSp>
        <p:nvCxnSpPr>
          <p:cNvPr id="40" name="Straight Connector 39"/>
          <p:cNvCxnSpPr>
            <a:stCxn id="27" idx="2"/>
            <a:endCxn id="39" idx="0"/>
          </p:cNvCxnSpPr>
          <p:nvPr/>
        </p:nvCxnSpPr>
        <p:spPr>
          <a:xfrm>
            <a:off x="4085635" y="3942440"/>
            <a:ext cx="0" cy="432646"/>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p:cNvCxnSpPr>
            <a:stCxn id="20" idx="2"/>
            <a:endCxn id="27" idx="0"/>
          </p:cNvCxnSpPr>
          <p:nvPr/>
        </p:nvCxnSpPr>
        <p:spPr>
          <a:xfrm flipH="1">
            <a:off x="4085635" y="2792633"/>
            <a:ext cx="3085" cy="692607"/>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42" name="Rounded Rectangle 41"/>
          <p:cNvSpPr/>
          <p:nvPr/>
        </p:nvSpPr>
        <p:spPr>
          <a:xfrm>
            <a:off x="2991440" y="2032570"/>
            <a:ext cx="2194560" cy="2088516"/>
          </a:xfrm>
          <a:prstGeom prst="roundRect">
            <a:avLst>
              <a:gd name="adj" fmla="val 10388"/>
            </a:avLst>
          </a:prstGeom>
          <a:noFill/>
          <a:ln>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43" name="TextBox 42"/>
          <p:cNvSpPr txBox="1"/>
          <p:nvPr/>
        </p:nvSpPr>
        <p:spPr>
          <a:xfrm>
            <a:off x="4467597" y="3006170"/>
            <a:ext cx="2946347" cy="338554"/>
          </a:xfrm>
          <a:prstGeom prst="rect">
            <a:avLst/>
          </a:prstGeom>
          <a:noFill/>
        </p:spPr>
        <p:txBody>
          <a:bodyPr wrap="square" rtlCol="0">
            <a:spAutoFit/>
          </a:bodyPr>
          <a:lstStyle/>
          <a:p>
            <a:r>
              <a:rPr lang="en-US" sz="1600" dirty="0"/>
              <a:t>Can not connect two relationship</a:t>
            </a:r>
          </a:p>
        </p:txBody>
      </p:sp>
      <p:cxnSp>
        <p:nvCxnSpPr>
          <p:cNvPr id="44" name="Straight Arrow Connector 43"/>
          <p:cNvCxnSpPr/>
          <p:nvPr/>
        </p:nvCxnSpPr>
        <p:spPr>
          <a:xfrm flipH="1" flipV="1">
            <a:off x="4624550" y="2656353"/>
            <a:ext cx="339382" cy="38099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H="1">
            <a:off x="4639921" y="3298514"/>
            <a:ext cx="270380" cy="3429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6" name="Diamond 45"/>
          <p:cNvSpPr/>
          <p:nvPr/>
        </p:nvSpPr>
        <p:spPr>
          <a:xfrm>
            <a:off x="7493391" y="3485240"/>
            <a:ext cx="2103120" cy="4572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Borrow</a:t>
            </a:r>
            <a:endParaRPr lang="en-IN" sz="2000" dirty="0">
              <a:solidFill>
                <a:schemeClr val="tx1"/>
              </a:solidFill>
            </a:endParaRPr>
          </a:p>
        </p:txBody>
      </p:sp>
      <p:sp>
        <p:nvSpPr>
          <p:cNvPr id="47" name="Rectangle 46"/>
          <p:cNvSpPr/>
          <p:nvPr/>
        </p:nvSpPr>
        <p:spPr>
          <a:xfrm>
            <a:off x="7625011" y="4374155"/>
            <a:ext cx="18288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Loan</a:t>
            </a:r>
            <a:endParaRPr lang="en-IN" dirty="0">
              <a:solidFill>
                <a:schemeClr val="tx1"/>
              </a:solidFill>
            </a:endParaRPr>
          </a:p>
        </p:txBody>
      </p:sp>
      <p:sp>
        <p:nvSpPr>
          <p:cNvPr id="48" name="Rectangle 47"/>
          <p:cNvSpPr/>
          <p:nvPr/>
        </p:nvSpPr>
        <p:spPr>
          <a:xfrm>
            <a:off x="7627747" y="2596326"/>
            <a:ext cx="18288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Customer</a:t>
            </a:r>
            <a:endParaRPr lang="en-IN" dirty="0">
              <a:solidFill>
                <a:schemeClr val="tx1"/>
              </a:solidFill>
            </a:endParaRPr>
          </a:p>
        </p:txBody>
      </p:sp>
      <p:cxnSp>
        <p:nvCxnSpPr>
          <p:cNvPr id="49" name="Straight Connector 48"/>
          <p:cNvCxnSpPr>
            <a:stCxn id="46" idx="0"/>
            <a:endCxn id="48" idx="2"/>
          </p:cNvCxnSpPr>
          <p:nvPr/>
        </p:nvCxnSpPr>
        <p:spPr>
          <a:xfrm flipH="1" flipV="1">
            <a:off x="8542147" y="3053526"/>
            <a:ext cx="2804" cy="431714"/>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p:cNvCxnSpPr>
            <a:stCxn id="46" idx="2"/>
            <a:endCxn id="47" idx="0"/>
          </p:cNvCxnSpPr>
          <p:nvPr/>
        </p:nvCxnSpPr>
        <p:spPr>
          <a:xfrm flipH="1">
            <a:off x="8539411" y="3942440"/>
            <a:ext cx="5540" cy="431715"/>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51" name="Rectangle 50"/>
          <p:cNvSpPr/>
          <p:nvPr/>
        </p:nvSpPr>
        <p:spPr>
          <a:xfrm>
            <a:off x="880339" y="1219736"/>
            <a:ext cx="6400800" cy="1836666"/>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2" name="TextBox 51"/>
          <p:cNvSpPr txBox="1"/>
          <p:nvPr/>
        </p:nvSpPr>
        <p:spPr>
          <a:xfrm>
            <a:off x="6028919" y="1297868"/>
            <a:ext cx="1188720" cy="365760"/>
          </a:xfrm>
          <a:prstGeom prst="rect">
            <a:avLst/>
          </a:prstGeom>
          <a:noFill/>
        </p:spPr>
        <p:txBody>
          <a:bodyPr wrap="square" rtlCol="0">
            <a:spAutoFit/>
          </a:bodyPr>
          <a:lstStyle/>
          <a:p>
            <a:pPr algn="ctr"/>
            <a:r>
              <a:rPr lang="en-US" dirty="0"/>
              <a:t>Customer</a:t>
            </a:r>
          </a:p>
        </p:txBody>
      </p:sp>
      <p:sp>
        <p:nvSpPr>
          <p:cNvPr id="53" name="Rectangle 52"/>
          <p:cNvSpPr/>
          <p:nvPr/>
        </p:nvSpPr>
        <p:spPr>
          <a:xfrm>
            <a:off x="3241840" y="1380105"/>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Company</a:t>
            </a:r>
          </a:p>
        </p:txBody>
      </p:sp>
      <p:sp>
        <p:nvSpPr>
          <p:cNvPr id="54" name="Rounded Rectangle 53"/>
          <p:cNvSpPr/>
          <p:nvPr/>
        </p:nvSpPr>
        <p:spPr>
          <a:xfrm>
            <a:off x="1062111" y="5058704"/>
            <a:ext cx="8229600" cy="1097280"/>
          </a:xfrm>
          <a:prstGeom prst="roundRect">
            <a:avLst>
              <a:gd name="adj" fmla="val 10521"/>
            </a:avLst>
          </a:pr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ctr" anchorCtr="0" compatLnSpc="1">
            <a:prstTxWarp prst="textNoShape">
              <a:avLst/>
            </a:prstTxWarp>
          </a:bodyPr>
          <a:lstStyle/>
          <a:p>
            <a:pPr algn="ctr"/>
            <a:r>
              <a:rPr lang="en-US" sz="2400" dirty="0">
                <a:solidFill>
                  <a:schemeClr val="bg1"/>
                </a:solidFill>
              </a:rPr>
              <a:t>Process of creating an entity by combining various components of E-R diagram is called aggregation.</a:t>
            </a:r>
            <a:endParaRPr lang="en-IN" sz="2400" dirty="0">
              <a:solidFill>
                <a:schemeClr val="bg1"/>
              </a:solidFill>
            </a:endParaRPr>
          </a:p>
        </p:txBody>
      </p:sp>
      <p:sp>
        <p:nvSpPr>
          <p:cNvPr id="55" name="Bent Arrow 54"/>
          <p:cNvSpPr/>
          <p:nvPr/>
        </p:nvSpPr>
        <p:spPr>
          <a:xfrm rot="5400000">
            <a:off x="7644407" y="1514179"/>
            <a:ext cx="850321" cy="1036781"/>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2325293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par>
                                <p:cTn id="25" presetID="10"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5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500"/>
                                        <p:tgtEl>
                                          <p:spTgt spid="4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animEffect transition="in" filter="fade">
                                      <p:cBhvr>
                                        <p:cTn id="39" dur="500"/>
                                        <p:tgtEl>
                                          <p:spTgt spid="53"/>
                                        </p:tgtEl>
                                      </p:cBhvr>
                                    </p:animEffect>
                                  </p:childTnLst>
                                </p:cTn>
                              </p:par>
                              <p:par>
                                <p:cTn id="40" presetID="10" presetClass="entr" presetSubtype="0" fill="hold" nodeType="with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500"/>
                                        <p:tgtEl>
                                          <p:spTgt spid="4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500"/>
                                        <p:tgtEl>
                                          <p:spTgt spid="43"/>
                                        </p:tgtEl>
                                      </p:cBhvr>
                                    </p:animEffect>
                                  </p:childTnLst>
                                </p:cTn>
                              </p:par>
                              <p:par>
                                <p:cTn id="53" presetID="10" presetClass="entr" presetSubtype="0" fill="hold" nodeType="withEffect">
                                  <p:stCondLst>
                                    <p:cond delay="0"/>
                                  </p:stCondLst>
                                  <p:childTnLst>
                                    <p:set>
                                      <p:cBhvr>
                                        <p:cTn id="54" dur="1" fill="hold">
                                          <p:stCondLst>
                                            <p:cond delay="0"/>
                                          </p:stCondLst>
                                        </p:cTn>
                                        <p:tgtEl>
                                          <p:spTgt spid="44"/>
                                        </p:tgtEl>
                                        <p:attrNameLst>
                                          <p:attrName>style.visibility</p:attrName>
                                        </p:attrNameLst>
                                      </p:cBhvr>
                                      <p:to>
                                        <p:strVal val="visible"/>
                                      </p:to>
                                    </p:set>
                                    <p:animEffect transition="in" filter="fade">
                                      <p:cBhvr>
                                        <p:cTn id="55" dur="500"/>
                                        <p:tgtEl>
                                          <p:spTgt spid="44"/>
                                        </p:tgtEl>
                                      </p:cBhvr>
                                    </p:animEffect>
                                  </p:childTnLst>
                                </p:cTn>
                              </p:par>
                              <p:par>
                                <p:cTn id="56" presetID="10" presetClass="entr" presetSubtype="0" fill="hold" nodeType="with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500"/>
                                        <p:tgtEl>
                                          <p:spTgt spid="4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grpId="1" nodeType="clickEffect">
                                  <p:stCondLst>
                                    <p:cond delay="0"/>
                                  </p:stCondLst>
                                  <p:childTnLst>
                                    <p:animEffect transition="out" filter="fade">
                                      <p:cBhvr>
                                        <p:cTn id="62" dur="500"/>
                                        <p:tgtEl>
                                          <p:spTgt spid="43"/>
                                        </p:tgtEl>
                                      </p:cBhvr>
                                    </p:animEffect>
                                    <p:set>
                                      <p:cBhvr>
                                        <p:cTn id="63" dur="1" fill="hold">
                                          <p:stCondLst>
                                            <p:cond delay="499"/>
                                          </p:stCondLst>
                                        </p:cTn>
                                        <p:tgtEl>
                                          <p:spTgt spid="43"/>
                                        </p:tgtEl>
                                        <p:attrNameLst>
                                          <p:attrName>style.visibility</p:attrName>
                                        </p:attrNameLst>
                                      </p:cBhvr>
                                      <p:to>
                                        <p:strVal val="hidden"/>
                                      </p:to>
                                    </p:set>
                                  </p:childTnLst>
                                </p:cTn>
                              </p:par>
                              <p:par>
                                <p:cTn id="64" presetID="10" presetClass="exit" presetSubtype="0" fill="hold" nodeType="withEffect">
                                  <p:stCondLst>
                                    <p:cond delay="0"/>
                                  </p:stCondLst>
                                  <p:childTnLst>
                                    <p:animEffect transition="out" filter="fade">
                                      <p:cBhvr>
                                        <p:cTn id="65" dur="500"/>
                                        <p:tgtEl>
                                          <p:spTgt spid="44"/>
                                        </p:tgtEl>
                                      </p:cBhvr>
                                    </p:animEffect>
                                    <p:set>
                                      <p:cBhvr>
                                        <p:cTn id="66" dur="1" fill="hold">
                                          <p:stCondLst>
                                            <p:cond delay="499"/>
                                          </p:stCondLst>
                                        </p:cTn>
                                        <p:tgtEl>
                                          <p:spTgt spid="44"/>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500"/>
                                        <p:tgtEl>
                                          <p:spTgt spid="45"/>
                                        </p:tgtEl>
                                      </p:cBhvr>
                                    </p:animEffect>
                                    <p:set>
                                      <p:cBhvr>
                                        <p:cTn id="69" dur="1" fill="hold">
                                          <p:stCondLst>
                                            <p:cond delay="499"/>
                                          </p:stCondLst>
                                        </p:cTn>
                                        <p:tgtEl>
                                          <p:spTgt spid="45"/>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500"/>
                                        <p:tgtEl>
                                          <p:spTgt spid="42"/>
                                        </p:tgtEl>
                                      </p:cBhvr>
                                    </p:animEffect>
                                    <p:set>
                                      <p:cBhvr>
                                        <p:cTn id="72" dur="1" fill="hold">
                                          <p:stCondLst>
                                            <p:cond delay="499"/>
                                          </p:stCondLst>
                                        </p:cTn>
                                        <p:tgtEl>
                                          <p:spTgt spid="42"/>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fade">
                                      <p:cBhvr>
                                        <p:cTn id="77" dur="500"/>
                                        <p:tgtEl>
                                          <p:spTgt spid="51"/>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fade">
                                      <p:cBhvr>
                                        <p:cTn id="82" dur="500"/>
                                        <p:tgtEl>
                                          <p:spTgt spid="52"/>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500"/>
                                        <p:tgtEl>
                                          <p:spTgt spid="55"/>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500"/>
                                        <p:tgtEl>
                                          <p:spTgt spid="4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8"/>
                                        </p:tgtEl>
                                        <p:attrNameLst>
                                          <p:attrName>style.visibility</p:attrName>
                                        </p:attrNameLst>
                                      </p:cBhvr>
                                      <p:to>
                                        <p:strVal val="visible"/>
                                      </p:to>
                                    </p:set>
                                    <p:animEffect transition="in" filter="fade">
                                      <p:cBhvr>
                                        <p:cTn id="95" dur="500"/>
                                        <p:tgtEl>
                                          <p:spTgt spid="4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6"/>
                                        </p:tgtEl>
                                        <p:attrNameLst>
                                          <p:attrName>style.visibility</p:attrName>
                                        </p:attrNameLst>
                                      </p:cBhvr>
                                      <p:to>
                                        <p:strVal val="visible"/>
                                      </p:to>
                                    </p:set>
                                    <p:animEffect transition="in" filter="fade">
                                      <p:cBhvr>
                                        <p:cTn id="98" dur="500"/>
                                        <p:tgtEl>
                                          <p:spTgt spid="46"/>
                                        </p:tgtEl>
                                      </p:cBhvr>
                                    </p:animEffect>
                                  </p:childTnLst>
                                </p:cTn>
                              </p:par>
                              <p:par>
                                <p:cTn id="99" presetID="10" presetClass="entr" presetSubtype="0" fill="hold"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500"/>
                                        <p:tgtEl>
                                          <p:spTgt spid="49"/>
                                        </p:tgtEl>
                                      </p:cBhvr>
                                    </p:animEffect>
                                  </p:childTnLst>
                                </p:cTn>
                              </p:par>
                              <p:par>
                                <p:cTn id="102" presetID="10" presetClass="entr" presetSubtype="0" fill="hold"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500"/>
                                        <p:tgtEl>
                                          <p:spTgt spid="50"/>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4"/>
                                        </p:tgtEl>
                                        <p:attrNameLst>
                                          <p:attrName>style.visibility</p:attrName>
                                        </p:attrNameLst>
                                      </p:cBhvr>
                                      <p:to>
                                        <p:strVal val="visible"/>
                                      </p:to>
                                    </p:set>
                                    <p:animEffect transition="in" filter="fade">
                                      <p:cBhvr>
                                        <p:cTn id="10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7" grpId="0" animBg="1"/>
      <p:bldP spid="39" grpId="0" animBg="1"/>
      <p:bldP spid="42" grpId="0" animBg="1"/>
      <p:bldP spid="42" grpId="1" animBg="1"/>
      <p:bldP spid="43" grpId="0"/>
      <p:bldP spid="43" grpId="1"/>
      <p:bldP spid="46" grpId="0" animBg="1"/>
      <p:bldP spid="47" grpId="0" animBg="1"/>
      <p:bldP spid="48" grpId="0" animBg="1"/>
      <p:bldP spid="51" grpId="0" animBg="1"/>
      <p:bldP spid="52" grpId="0"/>
      <p:bldP spid="53" grpId="0" animBg="1"/>
      <p:bldP spid="54" grpId="0" animBg="1"/>
      <p:bldP spid="5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E-R diagram of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Hospital Management  System</a:t>
            </a:r>
          </a:p>
        </p:txBody>
      </p:sp>
      <p:sp>
        <p:nvSpPr>
          <p:cNvPr id="5" name="Text Placeholder 4"/>
          <p:cNvSpPr>
            <a:spLocks noGrp="1"/>
          </p:cNvSpPr>
          <p:nvPr>
            <p:ph type="body" idx="1"/>
          </p:nvPr>
        </p:nvSpPr>
        <p:spPr/>
        <p:txBody>
          <a:bodyPr/>
          <a:lstStyle/>
          <a:p>
            <a:r>
              <a:rPr lang="en-US" dirty="0"/>
              <a:t>Section - 10</a:t>
            </a:r>
          </a:p>
          <a:p>
            <a:endParaRPr lang="en-US" dirty="0"/>
          </a:p>
        </p:txBody>
      </p:sp>
    </p:spTree>
    <p:extLst>
      <p:ext uri="{BB962C8B-B14F-4D97-AF65-F5344CB8AC3E}">
        <p14:creationId xmlns:p14="http://schemas.microsoft.com/office/powerpoint/2010/main" val="15008193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E-R diagram of Hospital Management System</a:t>
            </a:r>
          </a:p>
        </p:txBody>
      </p:sp>
      <p:sp>
        <p:nvSpPr>
          <p:cNvPr id="5" name="Content Placeholder 4"/>
          <p:cNvSpPr>
            <a:spLocks noGrp="1"/>
          </p:cNvSpPr>
          <p:nvPr>
            <p:ph idx="1"/>
          </p:nvPr>
        </p:nvSpPr>
        <p:spPr/>
        <p:txBody>
          <a:bodyPr/>
          <a:lstStyle/>
          <a:p>
            <a:endParaRPr lang="en-US" dirty="0"/>
          </a:p>
        </p:txBody>
      </p:sp>
      <p:sp>
        <p:nvSpPr>
          <p:cNvPr id="6" name="Rectangle 5"/>
          <p:cNvSpPr/>
          <p:nvPr/>
        </p:nvSpPr>
        <p:spPr>
          <a:xfrm>
            <a:off x="4859098" y="2379998"/>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Patient</a:t>
            </a:r>
          </a:p>
        </p:txBody>
      </p:sp>
      <p:sp>
        <p:nvSpPr>
          <p:cNvPr id="7" name="Rectangle 6"/>
          <p:cNvSpPr/>
          <p:nvPr/>
        </p:nvSpPr>
        <p:spPr>
          <a:xfrm>
            <a:off x="9588225" y="2375642"/>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Hospital</a:t>
            </a:r>
          </a:p>
        </p:txBody>
      </p:sp>
      <p:sp>
        <p:nvSpPr>
          <p:cNvPr id="8" name="Diamond 7"/>
          <p:cNvSpPr/>
          <p:nvPr/>
        </p:nvSpPr>
        <p:spPr>
          <a:xfrm>
            <a:off x="6969844" y="2370699"/>
            <a:ext cx="2150296" cy="4572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Admitted</a:t>
            </a:r>
          </a:p>
        </p:txBody>
      </p:sp>
      <p:cxnSp>
        <p:nvCxnSpPr>
          <p:cNvPr id="9" name="Straight Connector 8"/>
          <p:cNvCxnSpPr/>
          <p:nvPr/>
        </p:nvCxnSpPr>
        <p:spPr>
          <a:xfrm flipV="1">
            <a:off x="6552505" y="2551900"/>
            <a:ext cx="594360" cy="929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p:cNvCxnSpPr>
            <a:stCxn id="11" idx="4"/>
            <a:endCxn id="6" idx="0"/>
          </p:cNvCxnSpPr>
          <p:nvPr/>
        </p:nvCxnSpPr>
        <p:spPr>
          <a:xfrm>
            <a:off x="4744795" y="1944026"/>
            <a:ext cx="963389" cy="435972"/>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1" name="Oval 10"/>
          <p:cNvSpPr/>
          <p:nvPr/>
        </p:nvSpPr>
        <p:spPr>
          <a:xfrm>
            <a:off x="4013275" y="1521116"/>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PatID</a:t>
            </a:r>
            <a:endParaRPr lang="en-US" u="sng" dirty="0">
              <a:solidFill>
                <a:schemeClr val="tx1"/>
              </a:solidFill>
            </a:endParaRPr>
          </a:p>
        </p:txBody>
      </p:sp>
      <p:cxnSp>
        <p:nvCxnSpPr>
          <p:cNvPr id="12" name="Straight Connector 11"/>
          <p:cNvCxnSpPr>
            <a:stCxn id="13" idx="4"/>
            <a:endCxn id="6" idx="0"/>
          </p:cNvCxnSpPr>
          <p:nvPr/>
        </p:nvCxnSpPr>
        <p:spPr>
          <a:xfrm flipH="1">
            <a:off x="5708184" y="1921615"/>
            <a:ext cx="654734" cy="458383"/>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3" name="Oval 12"/>
          <p:cNvSpPr/>
          <p:nvPr/>
        </p:nvSpPr>
        <p:spPr>
          <a:xfrm>
            <a:off x="5631398" y="1498705"/>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Name</a:t>
            </a:r>
          </a:p>
        </p:txBody>
      </p:sp>
      <p:cxnSp>
        <p:nvCxnSpPr>
          <p:cNvPr id="14" name="Straight Connector 13"/>
          <p:cNvCxnSpPr>
            <a:stCxn id="15" idx="4"/>
          </p:cNvCxnSpPr>
          <p:nvPr/>
        </p:nvCxnSpPr>
        <p:spPr>
          <a:xfrm>
            <a:off x="9508253" y="1940013"/>
            <a:ext cx="963389" cy="435973"/>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5" name="Oval 14"/>
          <p:cNvSpPr/>
          <p:nvPr/>
        </p:nvSpPr>
        <p:spPr>
          <a:xfrm>
            <a:off x="8776733" y="1517103"/>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HosID</a:t>
            </a:r>
            <a:endParaRPr lang="en-US" u="sng" dirty="0">
              <a:solidFill>
                <a:schemeClr val="tx1"/>
              </a:solidFill>
            </a:endParaRPr>
          </a:p>
        </p:txBody>
      </p:sp>
      <p:cxnSp>
        <p:nvCxnSpPr>
          <p:cNvPr id="16" name="Straight Connector 15"/>
          <p:cNvCxnSpPr>
            <a:stCxn id="17" idx="4"/>
          </p:cNvCxnSpPr>
          <p:nvPr/>
        </p:nvCxnSpPr>
        <p:spPr>
          <a:xfrm flipH="1">
            <a:off x="10471642" y="1917602"/>
            <a:ext cx="654734" cy="45838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7" name="Oval 16"/>
          <p:cNvSpPr/>
          <p:nvPr/>
        </p:nvSpPr>
        <p:spPr>
          <a:xfrm>
            <a:off x="10394856" y="1494692"/>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Name</a:t>
            </a:r>
          </a:p>
        </p:txBody>
      </p:sp>
      <p:sp>
        <p:nvSpPr>
          <p:cNvPr id="18" name="Diamond 17"/>
          <p:cNvSpPr/>
          <p:nvPr/>
        </p:nvSpPr>
        <p:spPr>
          <a:xfrm>
            <a:off x="2538803" y="2379998"/>
            <a:ext cx="1724298" cy="4572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Has</a:t>
            </a:r>
          </a:p>
        </p:txBody>
      </p:sp>
      <p:sp>
        <p:nvSpPr>
          <p:cNvPr id="19" name="Rectangle 18"/>
          <p:cNvSpPr/>
          <p:nvPr/>
        </p:nvSpPr>
        <p:spPr>
          <a:xfrm>
            <a:off x="241113" y="2373923"/>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Medical Record</a:t>
            </a:r>
          </a:p>
        </p:txBody>
      </p:sp>
      <p:cxnSp>
        <p:nvCxnSpPr>
          <p:cNvPr id="20" name="Straight Connector 19"/>
          <p:cNvCxnSpPr>
            <a:stCxn id="19" idx="0"/>
            <a:endCxn id="21" idx="4"/>
          </p:cNvCxnSpPr>
          <p:nvPr/>
        </p:nvCxnSpPr>
        <p:spPr>
          <a:xfrm flipV="1">
            <a:off x="1090199" y="1796761"/>
            <a:ext cx="0" cy="577162"/>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1" name="Oval 20"/>
          <p:cNvSpPr/>
          <p:nvPr/>
        </p:nvSpPr>
        <p:spPr>
          <a:xfrm>
            <a:off x="358679" y="1339561"/>
            <a:ext cx="1463040" cy="45720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MRID</a:t>
            </a:r>
          </a:p>
        </p:txBody>
      </p:sp>
      <p:cxnSp>
        <p:nvCxnSpPr>
          <p:cNvPr id="22" name="Straight Connector 21"/>
          <p:cNvCxnSpPr/>
          <p:nvPr/>
        </p:nvCxnSpPr>
        <p:spPr>
          <a:xfrm rot="5400000" flipV="1">
            <a:off x="4540840" y="2288821"/>
            <a:ext cx="526" cy="640080"/>
          </a:xfrm>
          <a:prstGeom prst="line">
            <a:avLst/>
          </a:prstGeom>
          <a:ln w="28575">
            <a:solidFill>
              <a:schemeClr val="accent4"/>
            </a:solidFill>
            <a:tailEnd type="triangle"/>
          </a:ln>
        </p:spPr>
        <p:style>
          <a:lnRef idx="2">
            <a:schemeClr val="accent2"/>
          </a:lnRef>
          <a:fillRef idx="0">
            <a:schemeClr val="accent2"/>
          </a:fillRef>
          <a:effectRef idx="1">
            <a:schemeClr val="accent2"/>
          </a:effectRef>
          <a:fontRef idx="minor">
            <a:schemeClr val="tx1"/>
          </a:fontRef>
        </p:style>
      </p:cxnSp>
      <p:cxnSp>
        <p:nvCxnSpPr>
          <p:cNvPr id="23" name="Straight Connector 22"/>
          <p:cNvCxnSpPr/>
          <p:nvPr/>
        </p:nvCxnSpPr>
        <p:spPr>
          <a:xfrm rot="5400000" flipV="1">
            <a:off x="2313357" y="2201250"/>
            <a:ext cx="527" cy="73152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
        <p:nvSpPr>
          <p:cNvPr id="24" name="Diamond 23"/>
          <p:cNvSpPr/>
          <p:nvPr/>
        </p:nvSpPr>
        <p:spPr>
          <a:xfrm>
            <a:off x="9571896" y="3274414"/>
            <a:ext cx="1724298" cy="4572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Has</a:t>
            </a:r>
          </a:p>
        </p:txBody>
      </p:sp>
      <p:sp>
        <p:nvSpPr>
          <p:cNvPr id="25" name="Rectangle 24"/>
          <p:cNvSpPr/>
          <p:nvPr/>
        </p:nvSpPr>
        <p:spPr>
          <a:xfrm>
            <a:off x="9584959" y="4138442"/>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Doctor</a:t>
            </a:r>
          </a:p>
        </p:txBody>
      </p:sp>
      <p:cxnSp>
        <p:nvCxnSpPr>
          <p:cNvPr id="26" name="Straight Connector 25"/>
          <p:cNvCxnSpPr>
            <a:stCxn id="25" idx="2"/>
            <a:endCxn id="27" idx="0"/>
          </p:cNvCxnSpPr>
          <p:nvPr/>
        </p:nvCxnSpPr>
        <p:spPr>
          <a:xfrm flipH="1">
            <a:off x="9617616" y="4595642"/>
            <a:ext cx="816429" cy="404250"/>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7" name="Oval 26"/>
          <p:cNvSpPr/>
          <p:nvPr/>
        </p:nvSpPr>
        <p:spPr>
          <a:xfrm>
            <a:off x="8886096" y="4999892"/>
            <a:ext cx="1463040" cy="45720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DrID</a:t>
            </a:r>
            <a:endParaRPr lang="en-US" u="sng" dirty="0">
              <a:solidFill>
                <a:schemeClr val="tx1"/>
              </a:solidFill>
            </a:endParaRPr>
          </a:p>
        </p:txBody>
      </p:sp>
      <p:cxnSp>
        <p:nvCxnSpPr>
          <p:cNvPr id="28" name="Straight Connector 27"/>
          <p:cNvCxnSpPr/>
          <p:nvPr/>
        </p:nvCxnSpPr>
        <p:spPr>
          <a:xfrm>
            <a:off x="10433518" y="3717058"/>
            <a:ext cx="526" cy="40425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p:cNvCxnSpPr>
            <a:stCxn id="24" idx="0"/>
            <a:endCxn id="7" idx="2"/>
          </p:cNvCxnSpPr>
          <p:nvPr/>
        </p:nvCxnSpPr>
        <p:spPr>
          <a:xfrm flipV="1">
            <a:off x="10434045" y="2832842"/>
            <a:ext cx="3266" cy="441572"/>
          </a:xfrm>
          <a:prstGeom prst="line">
            <a:avLst/>
          </a:prstGeom>
          <a:ln w="28575">
            <a:solidFill>
              <a:schemeClr val="accent4"/>
            </a:solidFill>
            <a:tailEnd type="triangle"/>
          </a:ln>
        </p:spPr>
        <p:style>
          <a:lnRef idx="2">
            <a:schemeClr val="accent2"/>
          </a:lnRef>
          <a:fillRef idx="0">
            <a:schemeClr val="accent2"/>
          </a:fillRef>
          <a:effectRef idx="1">
            <a:schemeClr val="accent2"/>
          </a:effectRef>
          <a:fontRef idx="minor">
            <a:schemeClr val="tx1"/>
          </a:fontRef>
        </p:style>
      </p:cxnSp>
      <p:sp>
        <p:nvSpPr>
          <p:cNvPr id="30" name="Diamond 29"/>
          <p:cNvSpPr/>
          <p:nvPr/>
        </p:nvSpPr>
        <p:spPr>
          <a:xfrm rot="1261021">
            <a:off x="6994292" y="3323492"/>
            <a:ext cx="2150296" cy="4572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Treats</a:t>
            </a:r>
          </a:p>
        </p:txBody>
      </p:sp>
      <p:cxnSp>
        <p:nvCxnSpPr>
          <p:cNvPr id="31" name="Straight Connector 30"/>
          <p:cNvCxnSpPr>
            <a:stCxn id="30" idx="3"/>
          </p:cNvCxnSpPr>
          <p:nvPr/>
        </p:nvCxnSpPr>
        <p:spPr>
          <a:xfrm>
            <a:off x="9073063" y="3937689"/>
            <a:ext cx="511369" cy="198175"/>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32" name="Straight Connector 31"/>
          <p:cNvCxnSpPr>
            <a:endCxn id="30" idx="1"/>
          </p:cNvCxnSpPr>
          <p:nvPr/>
        </p:nvCxnSpPr>
        <p:spPr>
          <a:xfrm>
            <a:off x="6075921" y="2843116"/>
            <a:ext cx="989896" cy="32337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p:cNvCxnSpPr>
            <a:stCxn id="25" idx="2"/>
            <a:endCxn id="34" idx="0"/>
          </p:cNvCxnSpPr>
          <p:nvPr/>
        </p:nvCxnSpPr>
        <p:spPr>
          <a:xfrm>
            <a:off x="10434045" y="4595642"/>
            <a:ext cx="824894" cy="403829"/>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4" name="Oval 33"/>
          <p:cNvSpPr/>
          <p:nvPr/>
        </p:nvSpPr>
        <p:spPr>
          <a:xfrm>
            <a:off x="10527419" y="4999471"/>
            <a:ext cx="1463040" cy="45720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Dr</a:t>
            </a:r>
            <a:r>
              <a:rPr lang="en-US" dirty="0">
                <a:solidFill>
                  <a:schemeClr val="tx1"/>
                </a:solidFill>
              </a:rPr>
              <a:t> Name</a:t>
            </a:r>
          </a:p>
        </p:txBody>
      </p:sp>
      <p:cxnSp>
        <p:nvCxnSpPr>
          <p:cNvPr id="35" name="Straight Connector 34"/>
          <p:cNvCxnSpPr>
            <a:stCxn id="19" idx="2"/>
            <a:endCxn id="36" idx="0"/>
          </p:cNvCxnSpPr>
          <p:nvPr/>
        </p:nvCxnSpPr>
        <p:spPr>
          <a:xfrm>
            <a:off x="1090199" y="2831123"/>
            <a:ext cx="138381" cy="342252"/>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6" name="Oval 35"/>
          <p:cNvSpPr/>
          <p:nvPr/>
        </p:nvSpPr>
        <p:spPr>
          <a:xfrm>
            <a:off x="221745" y="3173375"/>
            <a:ext cx="2013670" cy="45720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Report Name</a:t>
            </a:r>
          </a:p>
        </p:txBody>
      </p:sp>
      <p:cxnSp>
        <p:nvCxnSpPr>
          <p:cNvPr id="37" name="Straight Connector 36"/>
          <p:cNvCxnSpPr/>
          <p:nvPr/>
        </p:nvCxnSpPr>
        <p:spPr>
          <a:xfrm>
            <a:off x="9038449" y="2593299"/>
            <a:ext cx="566928" cy="11864"/>
          </a:xfrm>
          <a:prstGeom prst="line">
            <a:avLst/>
          </a:prstGeom>
          <a:ln w="28575">
            <a:solidFill>
              <a:schemeClr val="accent4"/>
            </a:solidFill>
            <a:tailEnd type="triangle"/>
          </a:ln>
        </p:spPr>
        <p:style>
          <a:lnRef idx="2">
            <a:schemeClr val="accent2"/>
          </a:lnRef>
          <a:fillRef idx="0">
            <a:schemeClr val="accent2"/>
          </a:fillRef>
          <a:effectRef idx="1">
            <a:schemeClr val="accent2"/>
          </a:effectRef>
          <a:fontRef idx="minor">
            <a:schemeClr val="tx1"/>
          </a:fontRef>
        </p:style>
      </p:cxnSp>
      <p:cxnSp>
        <p:nvCxnSpPr>
          <p:cNvPr id="53" name="Straight Connector 52"/>
          <p:cNvCxnSpPr/>
          <p:nvPr/>
        </p:nvCxnSpPr>
        <p:spPr>
          <a:xfrm flipH="1">
            <a:off x="5635289" y="2822308"/>
            <a:ext cx="10722" cy="47044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Connector 54"/>
          <p:cNvCxnSpPr>
            <a:stCxn id="57" idx="1"/>
          </p:cNvCxnSpPr>
          <p:nvPr/>
        </p:nvCxnSpPr>
        <p:spPr>
          <a:xfrm flipH="1">
            <a:off x="4971354" y="3498927"/>
            <a:ext cx="467329" cy="410136"/>
          </a:xfrm>
          <a:prstGeom prst="line">
            <a:avLst/>
          </a:prstGeom>
          <a:ln w="28575">
            <a:solidFill>
              <a:schemeClr val="accent4"/>
            </a:solidFill>
          </a:ln>
        </p:spPr>
        <p:style>
          <a:lnRef idx="2">
            <a:schemeClr val="accent2"/>
          </a:lnRef>
          <a:fillRef idx="1">
            <a:schemeClr val="lt1"/>
          </a:fillRef>
          <a:effectRef idx="0">
            <a:schemeClr val="accent2"/>
          </a:effectRef>
          <a:fontRef idx="minor">
            <a:schemeClr val="dk1"/>
          </a:fontRef>
        </p:style>
      </p:cxnSp>
      <p:cxnSp>
        <p:nvCxnSpPr>
          <p:cNvPr id="56" name="Straight Connector 55"/>
          <p:cNvCxnSpPr>
            <a:stCxn id="57" idx="3"/>
          </p:cNvCxnSpPr>
          <p:nvPr/>
        </p:nvCxnSpPr>
        <p:spPr>
          <a:xfrm>
            <a:off x="5946683" y="3498927"/>
            <a:ext cx="389415" cy="410136"/>
          </a:xfrm>
          <a:prstGeom prst="line">
            <a:avLst/>
          </a:prstGeom>
          <a:ln w="28575">
            <a:solidFill>
              <a:schemeClr val="accent4"/>
            </a:solidFill>
          </a:ln>
        </p:spPr>
        <p:style>
          <a:lnRef idx="2">
            <a:schemeClr val="accent2"/>
          </a:lnRef>
          <a:fillRef idx="1">
            <a:schemeClr val="lt1"/>
          </a:fillRef>
          <a:effectRef idx="0">
            <a:schemeClr val="accent2"/>
          </a:effectRef>
          <a:fontRef idx="minor">
            <a:schemeClr val="dk1"/>
          </a:fontRef>
        </p:style>
      </p:cxnSp>
      <p:sp>
        <p:nvSpPr>
          <p:cNvPr id="57" name="Flowchart: Merge 56"/>
          <p:cNvSpPr/>
          <p:nvPr/>
        </p:nvSpPr>
        <p:spPr>
          <a:xfrm>
            <a:off x="5184683" y="3294866"/>
            <a:ext cx="1016000" cy="408122"/>
          </a:xfrm>
          <a:prstGeom prst="flowChartMerge">
            <a:avLst/>
          </a:prstGeom>
          <a:ln>
            <a:solidFill>
              <a:schemeClr val="accent4"/>
            </a:solidFill>
          </a:ln>
        </p:spPr>
        <p:style>
          <a:lnRef idx="2">
            <a:schemeClr val="accent2"/>
          </a:lnRef>
          <a:fillRef idx="1">
            <a:schemeClr val="lt1"/>
          </a:fillRef>
          <a:effectRef idx="0">
            <a:schemeClr val="accent2"/>
          </a:effectRef>
          <a:fontRef idx="minor">
            <a:schemeClr val="dk1"/>
          </a:fontRef>
        </p:style>
        <p:txBody>
          <a:bodyPr rtlCol="0" anchor="t" anchorCtr="1"/>
          <a:lstStyle/>
          <a:p>
            <a:pPr algn="ctr"/>
            <a:r>
              <a:rPr lang="en-US" sz="1600" dirty="0"/>
              <a:t>ISA</a:t>
            </a:r>
            <a:endParaRPr lang="en-US" dirty="0"/>
          </a:p>
        </p:txBody>
      </p:sp>
      <p:sp>
        <p:nvSpPr>
          <p:cNvPr id="58" name="Rectangle 57"/>
          <p:cNvSpPr/>
          <p:nvPr/>
        </p:nvSpPr>
        <p:spPr>
          <a:xfrm>
            <a:off x="4531576" y="3893855"/>
            <a:ext cx="884247"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Indoor</a:t>
            </a:r>
          </a:p>
        </p:txBody>
      </p:sp>
      <p:sp>
        <p:nvSpPr>
          <p:cNvPr id="59" name="Rectangle 58"/>
          <p:cNvSpPr/>
          <p:nvPr/>
        </p:nvSpPr>
        <p:spPr>
          <a:xfrm>
            <a:off x="5799678" y="3906402"/>
            <a:ext cx="984674"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Outdoor</a:t>
            </a:r>
          </a:p>
        </p:txBody>
      </p:sp>
      <p:cxnSp>
        <p:nvCxnSpPr>
          <p:cNvPr id="60" name="Straight Connector 59"/>
          <p:cNvCxnSpPr>
            <a:stCxn id="61" idx="0"/>
          </p:cNvCxnSpPr>
          <p:nvPr/>
        </p:nvCxnSpPr>
        <p:spPr>
          <a:xfrm flipV="1">
            <a:off x="4917254" y="4358434"/>
            <a:ext cx="54100" cy="477643"/>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61" name="Oval 60"/>
          <p:cNvSpPr/>
          <p:nvPr/>
        </p:nvSpPr>
        <p:spPr>
          <a:xfrm>
            <a:off x="4185734" y="4836077"/>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IPDID</a:t>
            </a:r>
          </a:p>
        </p:txBody>
      </p:sp>
      <p:cxnSp>
        <p:nvCxnSpPr>
          <p:cNvPr id="62" name="Straight Connector 61"/>
          <p:cNvCxnSpPr>
            <a:stCxn id="63" idx="0"/>
            <a:endCxn id="59" idx="2"/>
          </p:cNvCxnSpPr>
          <p:nvPr/>
        </p:nvCxnSpPr>
        <p:spPr>
          <a:xfrm flipH="1" flipV="1">
            <a:off x="6292015" y="4363602"/>
            <a:ext cx="1034754" cy="542362"/>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63" name="Oval 62"/>
          <p:cNvSpPr/>
          <p:nvPr/>
        </p:nvSpPr>
        <p:spPr>
          <a:xfrm>
            <a:off x="6595249" y="4905964"/>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OPDID</a:t>
            </a:r>
          </a:p>
        </p:txBody>
      </p:sp>
      <p:cxnSp>
        <p:nvCxnSpPr>
          <p:cNvPr id="64" name="Straight Connector 63"/>
          <p:cNvCxnSpPr>
            <a:stCxn id="65" idx="7"/>
          </p:cNvCxnSpPr>
          <p:nvPr/>
        </p:nvCxnSpPr>
        <p:spPr>
          <a:xfrm flipV="1">
            <a:off x="3987185" y="4363602"/>
            <a:ext cx="1010611" cy="274893"/>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65" name="Oval 64"/>
          <p:cNvSpPr/>
          <p:nvPr/>
        </p:nvSpPr>
        <p:spPr>
          <a:xfrm>
            <a:off x="2738402" y="4576561"/>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RoomNo</a:t>
            </a:r>
            <a:endParaRPr lang="en-US" dirty="0">
              <a:solidFill>
                <a:schemeClr val="tx1"/>
              </a:solidFill>
            </a:endParaRPr>
          </a:p>
        </p:txBody>
      </p:sp>
      <p:cxnSp>
        <p:nvCxnSpPr>
          <p:cNvPr id="66" name="Straight Connector 65"/>
          <p:cNvCxnSpPr>
            <a:stCxn id="59" idx="2"/>
            <a:endCxn id="67" idx="0"/>
          </p:cNvCxnSpPr>
          <p:nvPr/>
        </p:nvCxnSpPr>
        <p:spPr>
          <a:xfrm flipH="1">
            <a:off x="6228481" y="4363602"/>
            <a:ext cx="63534" cy="996901"/>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67" name="Oval 66"/>
          <p:cNvSpPr/>
          <p:nvPr/>
        </p:nvSpPr>
        <p:spPr>
          <a:xfrm>
            <a:off x="5634481" y="5360503"/>
            <a:ext cx="118800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Charge</a:t>
            </a:r>
          </a:p>
        </p:txBody>
      </p:sp>
      <p:cxnSp>
        <p:nvCxnSpPr>
          <p:cNvPr id="50" name="Straight Connector 49"/>
          <p:cNvCxnSpPr/>
          <p:nvPr/>
        </p:nvCxnSpPr>
        <p:spPr>
          <a:xfrm rot="5400000" flipV="1">
            <a:off x="2313358" y="2285237"/>
            <a:ext cx="527" cy="731520"/>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p:cNvCxnSpPr/>
          <p:nvPr/>
        </p:nvCxnSpPr>
        <p:spPr>
          <a:xfrm flipH="1">
            <a:off x="5754068" y="2821288"/>
            <a:ext cx="10722" cy="47044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p:cNvCxnSpPr/>
          <p:nvPr/>
        </p:nvCxnSpPr>
        <p:spPr>
          <a:xfrm flipV="1">
            <a:off x="6566105" y="2641434"/>
            <a:ext cx="594360" cy="9299"/>
          </a:xfrm>
          <a:prstGeom prst="line">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768960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3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65"/>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64"/>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6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1"/>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62"/>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3"/>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7"/>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6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3"/>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51"/>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56"/>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5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P spid="13" grpId="0" animBg="1"/>
      <p:bldP spid="15" grpId="0" animBg="1"/>
      <p:bldP spid="17" grpId="0" animBg="1"/>
      <p:bldP spid="18" grpId="0" animBg="1"/>
      <p:bldP spid="19" grpId="0" animBg="1"/>
      <p:bldP spid="21" grpId="0" animBg="1"/>
      <p:bldP spid="24" grpId="0" animBg="1"/>
      <p:bldP spid="25" grpId="0" animBg="1"/>
      <p:bldP spid="27" grpId="0" animBg="1"/>
      <p:bldP spid="30" grpId="0" animBg="1"/>
      <p:bldP spid="34" grpId="0" animBg="1"/>
      <p:bldP spid="36" grpId="0" animBg="1"/>
      <p:bldP spid="57" grpId="0" animBg="1"/>
      <p:bldP spid="58" grpId="0" animBg="1"/>
      <p:bldP spid="59" grpId="0" animBg="1"/>
      <p:bldP spid="61" grpId="0" animBg="1"/>
      <p:bldP spid="63" grpId="0" animBg="1"/>
      <p:bldP spid="65" grpId="0" animBg="1"/>
      <p:bldP spid="6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Reduce the E-R diagram </a:t>
            </a:r>
            <a:br>
              <a:rPr lang="en-US" dirty="0">
                <a:gradFill flip="none" rotWithShape="1">
                  <a:gsLst>
                    <a:gs pos="10000">
                      <a:schemeClr val="accent6">
                        <a:lumMod val="50000"/>
                      </a:schemeClr>
                    </a:gs>
                    <a:gs pos="100000">
                      <a:schemeClr val="accent6"/>
                    </a:gs>
                  </a:gsLst>
                  <a:lin ang="0" scaled="1"/>
                  <a:tileRect/>
                </a:gradFill>
              </a:rPr>
            </a:br>
            <a:r>
              <a:rPr lang="en-US" dirty="0">
                <a:gradFill flip="none" rotWithShape="1">
                  <a:gsLst>
                    <a:gs pos="10000">
                      <a:schemeClr val="accent6">
                        <a:lumMod val="50000"/>
                      </a:schemeClr>
                    </a:gs>
                    <a:gs pos="100000">
                      <a:schemeClr val="accent6"/>
                    </a:gs>
                  </a:gsLst>
                  <a:lin ang="0" scaled="1"/>
                  <a:tileRect/>
                </a:gradFill>
              </a:rPr>
              <a:t>to Database Schema</a:t>
            </a:r>
          </a:p>
        </p:txBody>
      </p:sp>
      <p:sp>
        <p:nvSpPr>
          <p:cNvPr id="5" name="Text Placeholder 4"/>
          <p:cNvSpPr>
            <a:spLocks noGrp="1"/>
          </p:cNvSpPr>
          <p:nvPr>
            <p:ph type="body" idx="1"/>
          </p:nvPr>
        </p:nvSpPr>
        <p:spPr/>
        <p:txBody>
          <a:bodyPr/>
          <a:lstStyle/>
          <a:p>
            <a:r>
              <a:rPr lang="en-US" dirty="0"/>
              <a:t>Section - 11</a:t>
            </a:r>
          </a:p>
          <a:p>
            <a:endParaRPr lang="en-US" dirty="0"/>
          </a:p>
        </p:txBody>
      </p:sp>
    </p:spTree>
    <p:extLst>
      <p:ext uri="{BB962C8B-B14F-4D97-AF65-F5344CB8AC3E}">
        <p14:creationId xmlns:p14="http://schemas.microsoft.com/office/powerpoint/2010/main" val="34209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Reduce the E-R diagram to database schema</a:t>
            </a:r>
          </a:p>
        </p:txBody>
      </p:sp>
      <p:sp>
        <p:nvSpPr>
          <p:cNvPr id="5" name="Content Placeholder 4"/>
          <p:cNvSpPr>
            <a:spLocks noGrp="1"/>
          </p:cNvSpPr>
          <p:nvPr>
            <p:ph idx="1"/>
          </p:nvPr>
        </p:nvSpPr>
        <p:spPr>
          <a:xfrm>
            <a:off x="131181" y="863444"/>
            <a:ext cx="7111390" cy="5590565"/>
          </a:xfrm>
        </p:spPr>
        <p:txBody>
          <a:bodyPr/>
          <a:lstStyle/>
          <a:p>
            <a:endParaRPr lang="en-US" dirty="0"/>
          </a:p>
          <a:p>
            <a:endParaRPr lang="en-US" dirty="0"/>
          </a:p>
          <a:p>
            <a:r>
              <a:rPr lang="en-US" dirty="0"/>
              <a:t>An </a:t>
            </a:r>
            <a:r>
              <a:rPr lang="en-US" b="1" dirty="0">
                <a:solidFill>
                  <a:schemeClr val="accent6"/>
                </a:solidFill>
              </a:rPr>
              <a:t>entity</a:t>
            </a:r>
            <a:r>
              <a:rPr lang="en-US" dirty="0"/>
              <a:t> of an ER diagram is </a:t>
            </a:r>
            <a:r>
              <a:rPr lang="en-US" b="1" dirty="0">
                <a:solidFill>
                  <a:schemeClr val="accent6"/>
                </a:solidFill>
              </a:rPr>
              <a:t>turned into </a:t>
            </a:r>
            <a:r>
              <a:rPr lang="en-US" dirty="0"/>
              <a:t>a </a:t>
            </a:r>
            <a:r>
              <a:rPr lang="en-US" b="1" dirty="0">
                <a:solidFill>
                  <a:schemeClr val="accent6"/>
                </a:solidFill>
              </a:rPr>
              <a:t>table</a:t>
            </a:r>
            <a:r>
              <a:rPr lang="en-US" dirty="0"/>
              <a:t>. </a:t>
            </a:r>
          </a:p>
          <a:p>
            <a:r>
              <a:rPr lang="en-US" dirty="0"/>
              <a:t>Each </a:t>
            </a:r>
            <a:r>
              <a:rPr lang="en-US" b="1" dirty="0">
                <a:solidFill>
                  <a:schemeClr val="accent6"/>
                </a:solidFill>
              </a:rPr>
              <a:t>attribute</a:t>
            </a:r>
            <a:r>
              <a:rPr lang="en-US" dirty="0"/>
              <a:t> (except multi-valued attribute) </a:t>
            </a:r>
            <a:r>
              <a:rPr lang="en-US" b="1" dirty="0">
                <a:solidFill>
                  <a:schemeClr val="accent6"/>
                </a:solidFill>
              </a:rPr>
              <a:t>turns into </a:t>
            </a:r>
            <a:r>
              <a:rPr lang="en-US" dirty="0"/>
              <a:t>a </a:t>
            </a:r>
            <a:r>
              <a:rPr lang="en-US" b="1" dirty="0">
                <a:solidFill>
                  <a:schemeClr val="accent6"/>
                </a:solidFill>
              </a:rPr>
              <a:t>column</a:t>
            </a:r>
            <a:r>
              <a:rPr lang="en-US" dirty="0"/>
              <a:t> (attribute) in the table.</a:t>
            </a:r>
          </a:p>
          <a:p>
            <a:r>
              <a:rPr lang="en-US" b="1" dirty="0">
                <a:solidFill>
                  <a:schemeClr val="accent6"/>
                </a:solidFill>
              </a:rPr>
              <a:t>Table name</a:t>
            </a:r>
            <a:r>
              <a:rPr lang="en-US" dirty="0"/>
              <a:t> can be same as </a:t>
            </a:r>
            <a:r>
              <a:rPr lang="en-US" b="1" dirty="0">
                <a:solidFill>
                  <a:schemeClr val="accent6"/>
                </a:solidFill>
              </a:rPr>
              <a:t>entity name</a:t>
            </a:r>
            <a:r>
              <a:rPr lang="en-US" dirty="0"/>
              <a:t>.</a:t>
            </a:r>
          </a:p>
          <a:p>
            <a:r>
              <a:rPr lang="en-US" b="1" dirty="0">
                <a:solidFill>
                  <a:schemeClr val="accent6"/>
                </a:solidFill>
              </a:rPr>
              <a:t>Key attribute </a:t>
            </a:r>
            <a:r>
              <a:rPr lang="en-US" dirty="0"/>
              <a:t>of the entity is the </a:t>
            </a:r>
            <a:r>
              <a:rPr lang="en-US" b="1" dirty="0">
                <a:solidFill>
                  <a:schemeClr val="accent6"/>
                </a:solidFill>
              </a:rPr>
              <a:t>primary key </a:t>
            </a:r>
            <a:r>
              <a:rPr lang="en-US" dirty="0"/>
              <a:t>of the table which is usually underlined. </a:t>
            </a:r>
          </a:p>
          <a:p>
            <a:r>
              <a:rPr lang="en-US" dirty="0"/>
              <a:t>It is highly recommended that every table should start with its primary key attribute conventionally named as </a:t>
            </a:r>
            <a:r>
              <a:rPr lang="en-US" dirty="0" err="1"/>
              <a:t>TablenameID</a:t>
            </a:r>
            <a:r>
              <a:rPr lang="en-US" dirty="0"/>
              <a:t>.</a:t>
            </a:r>
          </a:p>
        </p:txBody>
      </p:sp>
      <p:sp>
        <p:nvSpPr>
          <p:cNvPr id="7" name="Rectangle 6"/>
          <p:cNvSpPr/>
          <p:nvPr/>
        </p:nvSpPr>
        <p:spPr>
          <a:xfrm>
            <a:off x="8992954" y="2562173"/>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Person</a:t>
            </a:r>
          </a:p>
        </p:txBody>
      </p:sp>
      <p:cxnSp>
        <p:nvCxnSpPr>
          <p:cNvPr id="8" name="Straight Connector 7"/>
          <p:cNvCxnSpPr>
            <a:stCxn id="9" idx="4"/>
            <a:endCxn id="7" idx="0"/>
          </p:cNvCxnSpPr>
          <p:nvPr/>
        </p:nvCxnSpPr>
        <p:spPr>
          <a:xfrm>
            <a:off x="8878651" y="2126201"/>
            <a:ext cx="963389" cy="435972"/>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9" name="Oval 8"/>
          <p:cNvSpPr/>
          <p:nvPr/>
        </p:nvSpPr>
        <p:spPr>
          <a:xfrm>
            <a:off x="8147131" y="1703291"/>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PersonID</a:t>
            </a:r>
            <a:endParaRPr lang="en-US" u="sng" dirty="0">
              <a:solidFill>
                <a:schemeClr val="tx1"/>
              </a:solidFill>
            </a:endParaRPr>
          </a:p>
        </p:txBody>
      </p:sp>
      <p:cxnSp>
        <p:nvCxnSpPr>
          <p:cNvPr id="10" name="Straight Connector 9"/>
          <p:cNvCxnSpPr>
            <a:stCxn id="11" idx="4"/>
            <a:endCxn id="7" idx="0"/>
          </p:cNvCxnSpPr>
          <p:nvPr/>
        </p:nvCxnSpPr>
        <p:spPr>
          <a:xfrm flipH="1">
            <a:off x="9842040" y="2103790"/>
            <a:ext cx="654734" cy="458383"/>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1" name="Oval 10"/>
          <p:cNvSpPr/>
          <p:nvPr/>
        </p:nvSpPr>
        <p:spPr>
          <a:xfrm>
            <a:off x="9765254" y="1680880"/>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Name</a:t>
            </a:r>
          </a:p>
        </p:txBody>
      </p:sp>
      <p:sp>
        <p:nvSpPr>
          <p:cNvPr id="12" name="Oval 11"/>
          <p:cNvSpPr/>
          <p:nvPr/>
        </p:nvSpPr>
        <p:spPr>
          <a:xfrm>
            <a:off x="7897305" y="3370210"/>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Address</a:t>
            </a:r>
          </a:p>
        </p:txBody>
      </p:sp>
      <p:sp>
        <p:nvSpPr>
          <p:cNvPr id="13" name="Oval 12"/>
          <p:cNvSpPr/>
          <p:nvPr/>
        </p:nvSpPr>
        <p:spPr>
          <a:xfrm>
            <a:off x="10169407" y="3370210"/>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City</a:t>
            </a:r>
          </a:p>
        </p:txBody>
      </p:sp>
      <p:sp>
        <p:nvSpPr>
          <p:cNvPr id="14" name="Oval 13"/>
          <p:cNvSpPr/>
          <p:nvPr/>
        </p:nvSpPr>
        <p:spPr>
          <a:xfrm>
            <a:off x="9076771" y="3992078"/>
            <a:ext cx="1545931"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PhoneNo</a:t>
            </a:r>
            <a:endParaRPr lang="en-US" dirty="0">
              <a:solidFill>
                <a:schemeClr val="tx1"/>
              </a:solidFill>
            </a:endParaRPr>
          </a:p>
        </p:txBody>
      </p:sp>
      <p:sp>
        <p:nvSpPr>
          <p:cNvPr id="15" name="Oval 14"/>
          <p:cNvSpPr/>
          <p:nvPr/>
        </p:nvSpPr>
        <p:spPr>
          <a:xfrm>
            <a:off x="8972163" y="3890680"/>
            <a:ext cx="1722731" cy="603858"/>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6" name="Straight Connector 15"/>
          <p:cNvCxnSpPr>
            <a:endCxn id="12" idx="0"/>
          </p:cNvCxnSpPr>
          <p:nvPr/>
        </p:nvCxnSpPr>
        <p:spPr>
          <a:xfrm flipH="1">
            <a:off x="8628825" y="3028722"/>
            <a:ext cx="1210531" cy="341488"/>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a:stCxn id="7" idx="2"/>
            <a:endCxn id="15" idx="0"/>
          </p:cNvCxnSpPr>
          <p:nvPr/>
        </p:nvCxnSpPr>
        <p:spPr>
          <a:xfrm flipH="1">
            <a:off x="9833529" y="3019373"/>
            <a:ext cx="8511" cy="871307"/>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p:cNvCxnSpPr>
            <a:endCxn id="13" idx="0"/>
          </p:cNvCxnSpPr>
          <p:nvPr/>
        </p:nvCxnSpPr>
        <p:spPr>
          <a:xfrm>
            <a:off x="9847879" y="3028722"/>
            <a:ext cx="1053048" cy="341488"/>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19" name="Rounded Rectangle 18"/>
          <p:cNvSpPr/>
          <p:nvPr/>
        </p:nvSpPr>
        <p:spPr>
          <a:xfrm>
            <a:off x="7700527" y="4959955"/>
            <a:ext cx="3931920" cy="640080"/>
          </a:xfrm>
          <a:prstGeom prst="roundRect">
            <a:avLst>
              <a:gd name="adj" fmla="val 6250"/>
            </a:avLst>
          </a:prstGeom>
          <a:solidFill>
            <a:schemeClr val="accent6">
              <a:lumMod val="20000"/>
              <a:lumOff val="80000"/>
            </a:schemeClr>
          </a:solidFill>
          <a:ln>
            <a:solidFill>
              <a:schemeClr val="accent6"/>
            </a:solidFill>
          </a:ln>
        </p:spPr>
        <p:txBody>
          <a:bodyPr vert="horz" wrap="square" lIns="91440" tIns="45720" rIns="91440" bIns="45720" numCol="1" anchor="ctr" anchorCtr="0" compatLnSpc="1">
            <a:prstTxWarp prst="textNoShape">
              <a:avLst/>
            </a:prstTxWarp>
          </a:bodyPr>
          <a:lstStyle/>
          <a:p>
            <a:pPr algn="ctr"/>
            <a:r>
              <a:rPr lang="en-US" dirty="0">
                <a:solidFill>
                  <a:schemeClr val="tx1"/>
                </a:solidFill>
              </a:rPr>
              <a:t>Person (</a:t>
            </a:r>
            <a:r>
              <a:rPr lang="en-US" u="sng" dirty="0" err="1">
                <a:solidFill>
                  <a:schemeClr val="tx1"/>
                </a:solidFill>
              </a:rPr>
              <a:t>PersonID</a:t>
            </a:r>
            <a:r>
              <a:rPr lang="en-US" dirty="0">
                <a:solidFill>
                  <a:schemeClr val="tx1"/>
                </a:solidFill>
              </a:rPr>
              <a:t>, Name, Address, City)</a:t>
            </a:r>
          </a:p>
        </p:txBody>
      </p:sp>
      <p:sp>
        <p:nvSpPr>
          <p:cNvPr id="22" name="Rectangle 21"/>
          <p:cNvSpPr/>
          <p:nvPr/>
        </p:nvSpPr>
        <p:spPr>
          <a:xfrm>
            <a:off x="131182" y="968010"/>
            <a:ext cx="7111390" cy="52322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2800" dirty="0"/>
              <a:t>Step 1: Reduce </a:t>
            </a:r>
            <a:r>
              <a:rPr lang="en-US" sz="2800" b="1" dirty="0">
                <a:solidFill>
                  <a:schemeClr val="accent6"/>
                </a:solidFill>
              </a:rPr>
              <a:t>Entities</a:t>
            </a:r>
            <a:r>
              <a:rPr lang="en-US" sz="2800" dirty="0"/>
              <a:t> and </a:t>
            </a:r>
            <a:r>
              <a:rPr lang="en-US" sz="2800" b="1" dirty="0">
                <a:solidFill>
                  <a:schemeClr val="accent6"/>
                </a:solidFill>
              </a:rPr>
              <a:t>Simple Attributes</a:t>
            </a:r>
            <a:r>
              <a:rPr lang="en-US" sz="2800" dirty="0"/>
              <a:t>:</a:t>
            </a:r>
          </a:p>
        </p:txBody>
      </p:sp>
    </p:spTree>
    <p:extLst>
      <p:ext uri="{BB962C8B-B14F-4D97-AF65-F5344CB8AC3E}">
        <p14:creationId xmlns:p14="http://schemas.microsoft.com/office/powerpoint/2010/main" val="618920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par>
                                <p:cTn id="43" presetID="10"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5">
                                            <p:txEl>
                                              <p:pRg st="2" end="2"/>
                                            </p:txEl>
                                          </p:spTgt>
                                        </p:tgtEl>
                                        <p:attrNameLst>
                                          <p:attrName>style.visibility</p:attrName>
                                        </p:attrNameLst>
                                      </p:cBhvr>
                                      <p:to>
                                        <p:strVal val="visible"/>
                                      </p:to>
                                    </p:set>
                                    <p:animEffect transition="in" filter="fade">
                                      <p:cBhvr>
                                        <p:cTn id="50" dur="500"/>
                                        <p:tgtEl>
                                          <p:spTgt spid="5">
                                            <p:txEl>
                                              <p:pRg st="2" end="2"/>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5">
                                            <p:txEl>
                                              <p:pRg st="3" end="3"/>
                                            </p:txEl>
                                          </p:spTgt>
                                        </p:tgtEl>
                                        <p:attrNameLst>
                                          <p:attrName>style.visibility</p:attrName>
                                        </p:attrNameLst>
                                      </p:cBhvr>
                                      <p:to>
                                        <p:strVal val="visible"/>
                                      </p:to>
                                    </p:set>
                                    <p:animEffect transition="in" filter="fade">
                                      <p:cBhvr>
                                        <p:cTn id="60" dur="500"/>
                                        <p:tgtEl>
                                          <p:spTgt spid="5">
                                            <p:txEl>
                                              <p:pRg st="3" end="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5">
                                            <p:txEl>
                                              <p:pRg st="4" end="4"/>
                                            </p:txEl>
                                          </p:spTgt>
                                        </p:tgtEl>
                                        <p:attrNameLst>
                                          <p:attrName>style.visibility</p:attrName>
                                        </p:attrNameLst>
                                      </p:cBhvr>
                                      <p:to>
                                        <p:strVal val="visible"/>
                                      </p:to>
                                    </p:set>
                                    <p:animEffect transition="in" filter="fade">
                                      <p:cBhvr>
                                        <p:cTn id="65" dur="500"/>
                                        <p:tgtEl>
                                          <p:spTgt spid="5">
                                            <p:txEl>
                                              <p:pRg st="4" end="4"/>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5">
                                            <p:txEl>
                                              <p:pRg st="5" end="5"/>
                                            </p:txEl>
                                          </p:spTgt>
                                        </p:tgtEl>
                                        <p:attrNameLst>
                                          <p:attrName>style.visibility</p:attrName>
                                        </p:attrNameLst>
                                      </p:cBhvr>
                                      <p:to>
                                        <p:strVal val="visible"/>
                                      </p:to>
                                    </p:set>
                                    <p:animEffect transition="in" filter="fade">
                                      <p:cBhvr>
                                        <p:cTn id="70" dur="500"/>
                                        <p:tgtEl>
                                          <p:spTgt spid="5">
                                            <p:txEl>
                                              <p:pRg st="5" end="5"/>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5">
                                            <p:txEl>
                                              <p:pRg st="6" end="6"/>
                                            </p:txEl>
                                          </p:spTgt>
                                        </p:tgtEl>
                                        <p:attrNameLst>
                                          <p:attrName>style.visibility</p:attrName>
                                        </p:attrNameLst>
                                      </p:cBhvr>
                                      <p:to>
                                        <p:strVal val="visible"/>
                                      </p:to>
                                    </p:set>
                                    <p:animEffect transition="in" filter="fade">
                                      <p:cBhvr>
                                        <p:cTn id="75"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2" grpId="0" animBg="1"/>
      <p:bldP spid="13" grpId="0" animBg="1"/>
      <p:bldP spid="14" grpId="0" animBg="1"/>
      <p:bldP spid="15" grpId="0" animBg="1"/>
      <p:bldP spid="19" grpId="0" animBg="1"/>
      <p:bldP spid="2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Reduce the E-R diagram to database schema</a:t>
            </a:r>
          </a:p>
        </p:txBody>
      </p:sp>
      <p:sp>
        <p:nvSpPr>
          <p:cNvPr id="5" name="Content Placeholder 4"/>
          <p:cNvSpPr>
            <a:spLocks noGrp="1"/>
          </p:cNvSpPr>
          <p:nvPr>
            <p:ph idx="1"/>
          </p:nvPr>
        </p:nvSpPr>
        <p:spPr>
          <a:xfrm>
            <a:off x="131181" y="863444"/>
            <a:ext cx="7111390" cy="5590565"/>
          </a:xfrm>
        </p:spPr>
        <p:txBody>
          <a:bodyPr/>
          <a:lstStyle/>
          <a:p>
            <a:endParaRPr lang="en-US" dirty="0"/>
          </a:p>
          <a:p>
            <a:endParaRPr lang="en-US" dirty="0"/>
          </a:p>
          <a:p>
            <a:r>
              <a:rPr lang="en-US" b="1" dirty="0">
                <a:solidFill>
                  <a:schemeClr val="accent6"/>
                </a:solidFill>
              </a:rPr>
              <a:t>Multi-value attribute </a:t>
            </a:r>
            <a:r>
              <a:rPr lang="en-US" dirty="0"/>
              <a:t>is turned into a </a:t>
            </a:r>
            <a:r>
              <a:rPr lang="en-US" b="1" dirty="0">
                <a:solidFill>
                  <a:schemeClr val="accent6"/>
                </a:solidFill>
              </a:rPr>
              <a:t>new table</a:t>
            </a:r>
            <a:r>
              <a:rPr lang="en-US" dirty="0"/>
              <a:t>. </a:t>
            </a:r>
          </a:p>
          <a:p>
            <a:r>
              <a:rPr lang="en-US" b="1" dirty="0">
                <a:solidFill>
                  <a:schemeClr val="accent6"/>
                </a:solidFill>
              </a:rPr>
              <a:t>Add</a:t>
            </a:r>
            <a:r>
              <a:rPr lang="en-US" dirty="0"/>
              <a:t> the </a:t>
            </a:r>
            <a:r>
              <a:rPr lang="en-US" b="1" dirty="0">
                <a:solidFill>
                  <a:schemeClr val="accent6"/>
                </a:solidFill>
              </a:rPr>
              <a:t>primary key </a:t>
            </a:r>
            <a:r>
              <a:rPr lang="en-US" dirty="0"/>
              <a:t>column into </a:t>
            </a:r>
            <a:r>
              <a:rPr lang="en-US" b="1" dirty="0">
                <a:solidFill>
                  <a:schemeClr val="accent6"/>
                </a:solidFill>
              </a:rPr>
              <a:t>multi-value attribute’s table</a:t>
            </a:r>
            <a:r>
              <a:rPr lang="en-US" dirty="0"/>
              <a:t>.</a:t>
            </a:r>
          </a:p>
          <a:p>
            <a:r>
              <a:rPr lang="en-US" dirty="0"/>
              <a:t>Add the </a:t>
            </a:r>
            <a:r>
              <a:rPr lang="en-US" b="1" dirty="0">
                <a:solidFill>
                  <a:schemeClr val="accent6"/>
                </a:solidFill>
              </a:rPr>
              <a:t>primary key</a:t>
            </a:r>
            <a:r>
              <a:rPr lang="en-US" dirty="0"/>
              <a:t> </a:t>
            </a:r>
            <a:r>
              <a:rPr lang="en-US" b="1" dirty="0">
                <a:solidFill>
                  <a:schemeClr val="accent6"/>
                </a:solidFill>
              </a:rPr>
              <a:t>column</a:t>
            </a:r>
            <a:r>
              <a:rPr lang="en-US" dirty="0"/>
              <a:t> of the </a:t>
            </a:r>
            <a:r>
              <a:rPr lang="en-US" b="1" dirty="0">
                <a:solidFill>
                  <a:schemeClr val="accent6"/>
                </a:solidFill>
              </a:rPr>
              <a:t>parent entity’s table </a:t>
            </a:r>
            <a:r>
              <a:rPr lang="en-US" dirty="0"/>
              <a:t>as a </a:t>
            </a:r>
            <a:r>
              <a:rPr lang="en-US" b="1" dirty="0">
                <a:solidFill>
                  <a:schemeClr val="accent6"/>
                </a:solidFill>
              </a:rPr>
              <a:t>foreign key </a:t>
            </a:r>
            <a:r>
              <a:rPr lang="en-US" dirty="0"/>
              <a:t>within the </a:t>
            </a:r>
            <a:r>
              <a:rPr lang="en-US" b="1" dirty="0">
                <a:solidFill>
                  <a:schemeClr val="accent6"/>
                </a:solidFill>
              </a:rPr>
              <a:t>new (multi-value attribute’s) table</a:t>
            </a:r>
            <a:r>
              <a:rPr lang="en-US" dirty="0"/>
              <a:t>.</a:t>
            </a:r>
          </a:p>
          <a:p>
            <a:r>
              <a:rPr lang="en-US" dirty="0"/>
              <a:t>Then make a </a:t>
            </a:r>
            <a:r>
              <a:rPr lang="en-US" b="1" dirty="0">
                <a:solidFill>
                  <a:schemeClr val="accent6"/>
                </a:solidFill>
              </a:rPr>
              <a:t>1:N relationship </a:t>
            </a:r>
            <a:r>
              <a:rPr lang="en-US" dirty="0"/>
              <a:t>between the Person table and </a:t>
            </a:r>
            <a:r>
              <a:rPr lang="en-US" dirty="0" err="1"/>
              <a:t>PhoneNo</a:t>
            </a:r>
            <a:r>
              <a:rPr lang="en-US" dirty="0"/>
              <a:t> table.</a:t>
            </a:r>
          </a:p>
        </p:txBody>
      </p:sp>
      <p:sp>
        <p:nvSpPr>
          <p:cNvPr id="22" name="Rectangle 21"/>
          <p:cNvSpPr/>
          <p:nvPr/>
        </p:nvSpPr>
        <p:spPr>
          <a:xfrm>
            <a:off x="131182" y="968010"/>
            <a:ext cx="7111390" cy="52322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2800" dirty="0"/>
              <a:t>Step 2: Reduce </a:t>
            </a:r>
            <a:r>
              <a:rPr lang="en-US" sz="2800" b="1" dirty="0">
                <a:solidFill>
                  <a:schemeClr val="accent6"/>
                </a:solidFill>
              </a:rPr>
              <a:t>Multi-valued Attributes</a:t>
            </a:r>
            <a:r>
              <a:rPr lang="en-US" sz="2800" dirty="0"/>
              <a:t>:</a:t>
            </a:r>
          </a:p>
        </p:txBody>
      </p:sp>
      <p:sp>
        <p:nvSpPr>
          <p:cNvPr id="20" name="Rectangle 19"/>
          <p:cNvSpPr/>
          <p:nvPr/>
        </p:nvSpPr>
        <p:spPr>
          <a:xfrm>
            <a:off x="9019844" y="1983953"/>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Person</a:t>
            </a:r>
          </a:p>
        </p:txBody>
      </p:sp>
      <p:cxnSp>
        <p:nvCxnSpPr>
          <p:cNvPr id="21" name="Straight Connector 20"/>
          <p:cNvCxnSpPr>
            <a:stCxn id="23" idx="4"/>
            <a:endCxn id="20" idx="0"/>
          </p:cNvCxnSpPr>
          <p:nvPr/>
        </p:nvCxnSpPr>
        <p:spPr>
          <a:xfrm>
            <a:off x="8866314" y="1525319"/>
            <a:ext cx="1002616" cy="45863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3" name="Oval 22"/>
          <p:cNvSpPr/>
          <p:nvPr/>
        </p:nvSpPr>
        <p:spPr>
          <a:xfrm>
            <a:off x="8134794" y="1102409"/>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PersonID</a:t>
            </a:r>
            <a:endParaRPr lang="en-US" u="sng" dirty="0">
              <a:solidFill>
                <a:schemeClr val="tx1"/>
              </a:solidFill>
            </a:endParaRPr>
          </a:p>
        </p:txBody>
      </p:sp>
      <p:sp>
        <p:nvSpPr>
          <p:cNvPr id="24" name="Oval 23"/>
          <p:cNvSpPr/>
          <p:nvPr/>
        </p:nvSpPr>
        <p:spPr>
          <a:xfrm>
            <a:off x="10102148" y="1103251"/>
            <a:ext cx="1545931"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PhoneNo</a:t>
            </a:r>
            <a:endParaRPr lang="en-US" dirty="0">
              <a:solidFill>
                <a:schemeClr val="tx1"/>
              </a:solidFill>
            </a:endParaRPr>
          </a:p>
        </p:txBody>
      </p:sp>
      <p:sp>
        <p:nvSpPr>
          <p:cNvPr id="25" name="Oval 24"/>
          <p:cNvSpPr/>
          <p:nvPr/>
        </p:nvSpPr>
        <p:spPr>
          <a:xfrm>
            <a:off x="10013748" y="1012777"/>
            <a:ext cx="1722731" cy="603858"/>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6" name="Straight Connector 25"/>
          <p:cNvCxnSpPr>
            <a:stCxn id="25" idx="4"/>
            <a:endCxn id="20" idx="0"/>
          </p:cNvCxnSpPr>
          <p:nvPr/>
        </p:nvCxnSpPr>
        <p:spPr>
          <a:xfrm flipH="1">
            <a:off x="9868930" y="1616635"/>
            <a:ext cx="1006184" cy="367318"/>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27" name="Diamond 26"/>
          <p:cNvSpPr/>
          <p:nvPr/>
        </p:nvSpPr>
        <p:spPr>
          <a:xfrm>
            <a:off x="8923464" y="4386431"/>
            <a:ext cx="2103120" cy="4572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Having</a:t>
            </a:r>
            <a:endParaRPr lang="en-IN" dirty="0">
              <a:solidFill>
                <a:schemeClr val="tx1"/>
              </a:solidFill>
            </a:endParaRPr>
          </a:p>
        </p:txBody>
      </p:sp>
      <p:sp>
        <p:nvSpPr>
          <p:cNvPr id="28" name="Rectangle 27"/>
          <p:cNvSpPr/>
          <p:nvPr/>
        </p:nvSpPr>
        <p:spPr>
          <a:xfrm>
            <a:off x="9055084" y="5275346"/>
            <a:ext cx="18288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PhoneNo</a:t>
            </a:r>
            <a:r>
              <a:rPr lang="en-US" dirty="0">
                <a:solidFill>
                  <a:schemeClr val="tx1"/>
                </a:solidFill>
              </a:rPr>
              <a:t> (T2)</a:t>
            </a:r>
            <a:endParaRPr lang="en-IN" dirty="0">
              <a:solidFill>
                <a:schemeClr val="tx1"/>
              </a:solidFill>
            </a:endParaRPr>
          </a:p>
        </p:txBody>
      </p:sp>
      <p:sp>
        <p:nvSpPr>
          <p:cNvPr id="29" name="Rectangle 28"/>
          <p:cNvSpPr/>
          <p:nvPr/>
        </p:nvSpPr>
        <p:spPr>
          <a:xfrm>
            <a:off x="9057820" y="3497517"/>
            <a:ext cx="1828800"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Person (T1)</a:t>
            </a:r>
            <a:endParaRPr lang="en-IN" dirty="0">
              <a:solidFill>
                <a:schemeClr val="tx1"/>
              </a:solidFill>
            </a:endParaRPr>
          </a:p>
        </p:txBody>
      </p:sp>
      <p:cxnSp>
        <p:nvCxnSpPr>
          <p:cNvPr id="30" name="Straight Connector 29"/>
          <p:cNvCxnSpPr>
            <a:stCxn id="27" idx="2"/>
            <a:endCxn id="28" idx="0"/>
          </p:cNvCxnSpPr>
          <p:nvPr/>
        </p:nvCxnSpPr>
        <p:spPr>
          <a:xfrm flipH="1">
            <a:off x="9969484" y="4843631"/>
            <a:ext cx="5540" cy="431715"/>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27" idx="0"/>
            <a:endCxn id="29" idx="2"/>
          </p:cNvCxnSpPr>
          <p:nvPr/>
        </p:nvCxnSpPr>
        <p:spPr>
          <a:xfrm flipH="1" flipV="1">
            <a:off x="9972220" y="3954717"/>
            <a:ext cx="2804" cy="431714"/>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31"/>
          <p:cNvSpPr/>
          <p:nvPr/>
        </p:nvSpPr>
        <p:spPr>
          <a:xfrm>
            <a:off x="7727124" y="2636552"/>
            <a:ext cx="4023360" cy="640080"/>
          </a:xfrm>
          <a:prstGeom prst="roundRect">
            <a:avLst>
              <a:gd name="adj" fmla="val 6250"/>
            </a:avLst>
          </a:prstGeom>
          <a:solidFill>
            <a:schemeClr val="accent6">
              <a:lumMod val="20000"/>
              <a:lumOff val="80000"/>
            </a:schemeClr>
          </a:solidFill>
          <a:ln>
            <a:solidFill>
              <a:schemeClr val="accent6"/>
            </a:solidFill>
          </a:ln>
        </p:spPr>
        <p:txBody>
          <a:bodyPr vert="horz" wrap="square" lIns="91440" tIns="45720" rIns="91440" bIns="45720" numCol="1" anchor="ctr" anchorCtr="0" compatLnSpc="1">
            <a:prstTxWarp prst="textNoShape">
              <a:avLst/>
            </a:prstTxWarp>
          </a:bodyPr>
          <a:lstStyle/>
          <a:p>
            <a:pPr algn="ctr"/>
            <a:r>
              <a:rPr lang="en-US" dirty="0" err="1">
                <a:solidFill>
                  <a:schemeClr val="tx1"/>
                </a:solidFill>
              </a:rPr>
              <a:t>PhoneNo</a:t>
            </a:r>
            <a:r>
              <a:rPr lang="en-US" dirty="0">
                <a:solidFill>
                  <a:schemeClr val="tx1"/>
                </a:solidFill>
              </a:rPr>
              <a:t> (</a:t>
            </a:r>
            <a:r>
              <a:rPr lang="en-US" u="sng" dirty="0" err="1">
                <a:solidFill>
                  <a:schemeClr val="tx1"/>
                </a:solidFill>
              </a:rPr>
              <a:t>PhoneID</a:t>
            </a:r>
            <a:r>
              <a:rPr lang="en-US" dirty="0">
                <a:solidFill>
                  <a:schemeClr val="tx1"/>
                </a:solidFill>
              </a:rPr>
              <a:t>, </a:t>
            </a:r>
            <a:r>
              <a:rPr lang="en-US" dirty="0" err="1">
                <a:solidFill>
                  <a:schemeClr val="tx1"/>
                </a:solidFill>
              </a:rPr>
              <a:t>PersonID</a:t>
            </a:r>
            <a:r>
              <a:rPr lang="en-US" dirty="0">
                <a:solidFill>
                  <a:schemeClr val="tx1"/>
                </a:solidFill>
              </a:rPr>
              <a:t>, </a:t>
            </a:r>
            <a:r>
              <a:rPr lang="en-US" dirty="0" err="1">
                <a:solidFill>
                  <a:schemeClr val="tx1"/>
                </a:solidFill>
              </a:rPr>
              <a:t>PhoneNo</a:t>
            </a:r>
            <a:r>
              <a:rPr lang="en-US" dirty="0">
                <a:solidFill>
                  <a:schemeClr val="tx1"/>
                </a:solidFill>
              </a:rPr>
              <a:t>)</a:t>
            </a:r>
          </a:p>
        </p:txBody>
      </p:sp>
      <p:sp>
        <p:nvSpPr>
          <p:cNvPr id="33" name="Rounded Rectangular Callout 32"/>
          <p:cNvSpPr/>
          <p:nvPr/>
        </p:nvSpPr>
        <p:spPr>
          <a:xfrm>
            <a:off x="7490012" y="3576549"/>
            <a:ext cx="1336958" cy="538251"/>
          </a:xfrm>
          <a:prstGeom prst="wedgeRoundRectCallout">
            <a:avLst>
              <a:gd name="adj1" fmla="val 133270"/>
              <a:gd name="adj2" fmla="val -147459"/>
              <a:gd name="adj3" fmla="val 16667"/>
            </a:avLst>
          </a:prstGeom>
          <a:solidFill>
            <a:schemeClr val="bg1">
              <a:lumMod val="95000"/>
            </a:schemeClr>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Foreign Key</a:t>
            </a:r>
            <a:endParaRPr lang="en-IN" dirty="0">
              <a:solidFill>
                <a:schemeClr val="tx1"/>
              </a:solidFill>
            </a:endParaRPr>
          </a:p>
        </p:txBody>
      </p:sp>
    </p:spTree>
    <p:extLst>
      <p:ext uri="{BB962C8B-B14F-4D97-AF65-F5344CB8AC3E}">
        <p14:creationId xmlns:p14="http://schemas.microsoft.com/office/powerpoint/2010/main" val="2494884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00"/>
                                        <p:tgtEl>
                                          <p:spTgt spid="2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par>
                                <p:cTn id="25" presetID="10"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fade">
                                      <p:cBhvr>
                                        <p:cTn id="32" dur="500"/>
                                        <p:tgtEl>
                                          <p:spTgt spid="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3" end="3"/>
                                            </p:txEl>
                                          </p:spTgt>
                                        </p:tgtEl>
                                        <p:attrNameLst>
                                          <p:attrName>style.visibility</p:attrName>
                                        </p:attrNameLst>
                                      </p:cBhvr>
                                      <p:to>
                                        <p:strVal val="visible"/>
                                      </p:to>
                                    </p:set>
                                    <p:animEffect transition="in" filter="fade">
                                      <p:cBhvr>
                                        <p:cTn id="42" dur="500"/>
                                        <p:tgtEl>
                                          <p:spTgt spid="5">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xEl>
                                              <p:pRg st="4" end="4"/>
                                            </p:txEl>
                                          </p:spTgt>
                                        </p:tgtEl>
                                        <p:attrNameLst>
                                          <p:attrName>style.visibility</p:attrName>
                                        </p:attrNameLst>
                                      </p:cBhvr>
                                      <p:to>
                                        <p:strVal val="visible"/>
                                      </p:to>
                                    </p:set>
                                    <p:animEffect transition="in" filter="fade">
                                      <p:cBhvr>
                                        <p:cTn id="47" dur="500"/>
                                        <p:tgtEl>
                                          <p:spTgt spid="5">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500"/>
                                        <p:tgtEl>
                                          <p:spTgt spid="3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
                                            <p:txEl>
                                              <p:pRg st="5" end="5"/>
                                            </p:txEl>
                                          </p:spTgt>
                                        </p:tgtEl>
                                        <p:attrNameLst>
                                          <p:attrName>style.visibility</p:attrName>
                                        </p:attrNameLst>
                                      </p:cBhvr>
                                      <p:to>
                                        <p:strVal val="visible"/>
                                      </p:to>
                                    </p:set>
                                    <p:animEffect transition="in" filter="fade">
                                      <p:cBhvr>
                                        <p:cTn id="57" dur="500"/>
                                        <p:tgtEl>
                                          <p:spTgt spid="5">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500"/>
                                        <p:tgtEl>
                                          <p:spTgt spid="2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50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500"/>
                                        <p:tgtEl>
                                          <p:spTgt spid="30"/>
                                        </p:tgtEl>
                                      </p:cBhvr>
                                    </p:animEffect>
                                  </p:childTnLst>
                                </p:cTn>
                              </p:par>
                              <p:par>
                                <p:cTn id="72" presetID="10" presetClass="entr" presetSubtype="0" fill="hold" nodeType="with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0" grpId="0" animBg="1"/>
      <p:bldP spid="23" grpId="0" animBg="1"/>
      <p:bldP spid="24" grpId="0" animBg="1"/>
      <p:bldP spid="25" grpId="0" animBg="1"/>
      <p:bldP spid="27" grpId="0" animBg="1"/>
      <p:bldP spid="28" grpId="0" animBg="1"/>
      <p:bldP spid="29" grpId="0" animBg="1"/>
      <p:bldP spid="32" grpId="0" animBg="1"/>
      <p:bldP spid="3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Reduce the E-R diagram to database schema</a:t>
            </a:r>
          </a:p>
        </p:txBody>
      </p:sp>
      <p:sp>
        <p:nvSpPr>
          <p:cNvPr id="5" name="Content Placeholder 4"/>
          <p:cNvSpPr>
            <a:spLocks noGrp="1"/>
          </p:cNvSpPr>
          <p:nvPr>
            <p:ph idx="1"/>
          </p:nvPr>
        </p:nvSpPr>
        <p:spPr>
          <a:xfrm>
            <a:off x="117733" y="863444"/>
            <a:ext cx="7114032" cy="5590565"/>
          </a:xfrm>
        </p:spPr>
        <p:txBody>
          <a:bodyPr/>
          <a:lstStyle/>
          <a:p>
            <a:endParaRPr lang="en-US" dirty="0"/>
          </a:p>
          <a:p>
            <a:endParaRPr lang="en-US" dirty="0"/>
          </a:p>
          <a:p>
            <a:r>
              <a:rPr lang="en-US" dirty="0"/>
              <a:t>Convert </a:t>
            </a:r>
            <a:r>
              <a:rPr lang="en-US" b="1" dirty="0">
                <a:solidFill>
                  <a:schemeClr val="accent6"/>
                </a:solidFill>
              </a:rPr>
              <a:t>both entities </a:t>
            </a:r>
            <a:r>
              <a:rPr lang="en-US" dirty="0"/>
              <a:t>in to </a:t>
            </a:r>
            <a:r>
              <a:rPr lang="en-US" b="1" dirty="0">
                <a:solidFill>
                  <a:schemeClr val="accent6"/>
                </a:solidFill>
              </a:rPr>
              <a:t>table</a:t>
            </a:r>
            <a:r>
              <a:rPr lang="en-US" dirty="0"/>
              <a:t> with proper attribute.</a:t>
            </a:r>
          </a:p>
          <a:p>
            <a:r>
              <a:rPr lang="en-US" dirty="0"/>
              <a:t>Place the </a:t>
            </a:r>
            <a:r>
              <a:rPr lang="en-US" b="1" dirty="0">
                <a:solidFill>
                  <a:schemeClr val="accent6"/>
                </a:solidFill>
              </a:rPr>
              <a:t>primary key </a:t>
            </a:r>
            <a:r>
              <a:rPr lang="en-US" dirty="0"/>
              <a:t>of any </a:t>
            </a:r>
            <a:r>
              <a:rPr lang="en-US" b="1" dirty="0">
                <a:solidFill>
                  <a:schemeClr val="accent6"/>
                </a:solidFill>
              </a:rPr>
              <a:t>one table </a:t>
            </a:r>
            <a:r>
              <a:rPr lang="en-US" dirty="0"/>
              <a:t>in to the </a:t>
            </a:r>
            <a:r>
              <a:rPr lang="en-US" b="1" dirty="0">
                <a:solidFill>
                  <a:schemeClr val="accent6"/>
                </a:solidFill>
              </a:rPr>
              <a:t>another table </a:t>
            </a:r>
            <a:r>
              <a:rPr lang="en-US" dirty="0"/>
              <a:t>as a </a:t>
            </a:r>
            <a:r>
              <a:rPr lang="en-US" b="1" dirty="0">
                <a:solidFill>
                  <a:schemeClr val="accent6"/>
                </a:solidFill>
              </a:rPr>
              <a:t>foreign key</a:t>
            </a:r>
            <a:r>
              <a:rPr lang="en-US" dirty="0"/>
              <a:t>.</a:t>
            </a:r>
          </a:p>
          <a:p>
            <a:r>
              <a:rPr lang="en-US" dirty="0"/>
              <a:t>Place the primary key of the Wife table </a:t>
            </a:r>
            <a:r>
              <a:rPr lang="en-US" dirty="0" err="1"/>
              <a:t>WifeID</a:t>
            </a:r>
            <a:r>
              <a:rPr lang="en-US" dirty="0"/>
              <a:t> in the table Persons as Foreign key. </a:t>
            </a:r>
          </a:p>
          <a:p>
            <a:pPr marL="0" indent="0">
              <a:buNone/>
            </a:pPr>
            <a:r>
              <a:rPr lang="en-US" dirty="0"/>
              <a:t>			OR</a:t>
            </a:r>
          </a:p>
          <a:p>
            <a:r>
              <a:rPr lang="en-US" dirty="0"/>
              <a:t>Place the primary key of the Person table </a:t>
            </a:r>
            <a:r>
              <a:rPr lang="en-US" dirty="0" err="1"/>
              <a:t>PersonID</a:t>
            </a:r>
            <a:r>
              <a:rPr lang="en-US" dirty="0"/>
              <a:t> in the table Wife as Foreign key.</a:t>
            </a:r>
          </a:p>
        </p:txBody>
      </p:sp>
      <p:sp>
        <p:nvSpPr>
          <p:cNvPr id="22" name="Rectangle 21"/>
          <p:cNvSpPr/>
          <p:nvPr/>
        </p:nvSpPr>
        <p:spPr>
          <a:xfrm>
            <a:off x="131182" y="968010"/>
            <a:ext cx="7111390" cy="52322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2800" dirty="0"/>
              <a:t>Step 3: Reduce </a:t>
            </a:r>
            <a:r>
              <a:rPr lang="en-US" sz="2800" b="1" dirty="0">
                <a:solidFill>
                  <a:schemeClr val="accent6"/>
                </a:solidFill>
              </a:rPr>
              <a:t>1:1 Mapping Cardinality</a:t>
            </a:r>
            <a:r>
              <a:rPr lang="en-US" sz="2800" dirty="0"/>
              <a:t>:</a:t>
            </a:r>
          </a:p>
        </p:txBody>
      </p:sp>
      <p:sp>
        <p:nvSpPr>
          <p:cNvPr id="18" name="Rectangle 17"/>
          <p:cNvSpPr/>
          <p:nvPr/>
        </p:nvSpPr>
        <p:spPr>
          <a:xfrm>
            <a:off x="9181213" y="1744988"/>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Wife</a:t>
            </a:r>
          </a:p>
        </p:txBody>
      </p:sp>
      <p:cxnSp>
        <p:nvCxnSpPr>
          <p:cNvPr id="19" name="Straight Connector 18"/>
          <p:cNvCxnSpPr>
            <a:stCxn id="34" idx="4"/>
            <a:endCxn id="18" idx="0"/>
          </p:cNvCxnSpPr>
          <p:nvPr/>
        </p:nvCxnSpPr>
        <p:spPr>
          <a:xfrm>
            <a:off x="9027683" y="1286354"/>
            <a:ext cx="1002616" cy="45863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4" name="Oval 33"/>
          <p:cNvSpPr/>
          <p:nvPr/>
        </p:nvSpPr>
        <p:spPr>
          <a:xfrm>
            <a:off x="8296163" y="863444"/>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WifeID</a:t>
            </a:r>
            <a:endParaRPr lang="en-US" u="sng" dirty="0">
              <a:solidFill>
                <a:schemeClr val="tx1"/>
              </a:solidFill>
            </a:endParaRPr>
          </a:p>
        </p:txBody>
      </p:sp>
      <p:sp>
        <p:nvSpPr>
          <p:cNvPr id="35" name="Oval 34"/>
          <p:cNvSpPr/>
          <p:nvPr/>
        </p:nvSpPr>
        <p:spPr>
          <a:xfrm>
            <a:off x="10279725" y="875210"/>
            <a:ext cx="1545931"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WName</a:t>
            </a:r>
            <a:endParaRPr lang="en-US" dirty="0">
              <a:solidFill>
                <a:schemeClr val="tx1"/>
              </a:solidFill>
            </a:endParaRPr>
          </a:p>
        </p:txBody>
      </p:sp>
      <p:cxnSp>
        <p:nvCxnSpPr>
          <p:cNvPr id="36" name="Straight Connector 35"/>
          <p:cNvCxnSpPr>
            <a:endCxn id="18" idx="0"/>
          </p:cNvCxnSpPr>
          <p:nvPr/>
        </p:nvCxnSpPr>
        <p:spPr>
          <a:xfrm flipH="1">
            <a:off x="10030299" y="1298120"/>
            <a:ext cx="1058887" cy="446868"/>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7" name="Rectangle 36"/>
          <p:cNvSpPr/>
          <p:nvPr/>
        </p:nvSpPr>
        <p:spPr>
          <a:xfrm>
            <a:off x="9181213" y="3214148"/>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Person</a:t>
            </a:r>
          </a:p>
        </p:txBody>
      </p:sp>
      <p:sp>
        <p:nvSpPr>
          <p:cNvPr id="38" name="Oval 37"/>
          <p:cNvSpPr/>
          <p:nvPr/>
        </p:nvSpPr>
        <p:spPr>
          <a:xfrm>
            <a:off x="8085564" y="4022185"/>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PersonID</a:t>
            </a:r>
            <a:endParaRPr lang="en-US" u="sng" dirty="0">
              <a:solidFill>
                <a:schemeClr val="tx1"/>
              </a:solidFill>
            </a:endParaRPr>
          </a:p>
        </p:txBody>
      </p:sp>
      <p:sp>
        <p:nvSpPr>
          <p:cNvPr id="39" name="Oval 38"/>
          <p:cNvSpPr/>
          <p:nvPr/>
        </p:nvSpPr>
        <p:spPr>
          <a:xfrm>
            <a:off x="10357666" y="4022185"/>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PName</a:t>
            </a:r>
            <a:endParaRPr lang="en-US" dirty="0">
              <a:solidFill>
                <a:schemeClr val="tx1"/>
              </a:solidFill>
            </a:endParaRPr>
          </a:p>
        </p:txBody>
      </p:sp>
      <p:cxnSp>
        <p:nvCxnSpPr>
          <p:cNvPr id="40" name="Straight Connector 39"/>
          <p:cNvCxnSpPr>
            <a:endCxn id="38" idx="0"/>
          </p:cNvCxnSpPr>
          <p:nvPr/>
        </p:nvCxnSpPr>
        <p:spPr>
          <a:xfrm flipH="1">
            <a:off x="8817084" y="3680697"/>
            <a:ext cx="1210531" cy="341488"/>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p:cNvCxnSpPr>
            <a:endCxn id="39" idx="0"/>
          </p:cNvCxnSpPr>
          <p:nvPr/>
        </p:nvCxnSpPr>
        <p:spPr>
          <a:xfrm>
            <a:off x="10036138" y="3680697"/>
            <a:ext cx="1053048" cy="341488"/>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42" name="Diamond 41"/>
          <p:cNvSpPr/>
          <p:nvPr/>
        </p:nvSpPr>
        <p:spPr>
          <a:xfrm>
            <a:off x="8982891" y="2479568"/>
            <a:ext cx="2103120" cy="4572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Having</a:t>
            </a:r>
            <a:endParaRPr lang="en-IN" dirty="0">
              <a:solidFill>
                <a:schemeClr val="tx1"/>
              </a:solidFill>
            </a:endParaRPr>
          </a:p>
        </p:txBody>
      </p:sp>
      <p:cxnSp>
        <p:nvCxnSpPr>
          <p:cNvPr id="43" name="Straight Arrow Connector 42"/>
          <p:cNvCxnSpPr>
            <a:endCxn id="18" idx="2"/>
          </p:cNvCxnSpPr>
          <p:nvPr/>
        </p:nvCxnSpPr>
        <p:spPr>
          <a:xfrm flipH="1" flipV="1">
            <a:off x="10030299" y="2202188"/>
            <a:ext cx="5839" cy="268031"/>
          </a:xfrm>
          <a:prstGeom prst="straightConnector1">
            <a:avLst/>
          </a:prstGeom>
          <a:ln w="28575">
            <a:solidFill>
              <a:schemeClr val="accent4"/>
            </a:solidFill>
            <a:tailEnd type="triangle"/>
          </a:ln>
        </p:spPr>
        <p:style>
          <a:lnRef idx="2">
            <a:schemeClr val="accent2"/>
          </a:lnRef>
          <a:fillRef idx="0">
            <a:schemeClr val="accent2"/>
          </a:fillRef>
          <a:effectRef idx="1">
            <a:schemeClr val="accent2"/>
          </a:effectRef>
          <a:fontRef idx="minor">
            <a:schemeClr val="tx1"/>
          </a:fontRef>
        </p:style>
      </p:cxnSp>
      <p:cxnSp>
        <p:nvCxnSpPr>
          <p:cNvPr id="44" name="Straight Arrow Connector 43"/>
          <p:cNvCxnSpPr>
            <a:stCxn id="42" idx="2"/>
            <a:endCxn id="37" idx="0"/>
          </p:cNvCxnSpPr>
          <p:nvPr/>
        </p:nvCxnSpPr>
        <p:spPr>
          <a:xfrm flipH="1">
            <a:off x="10030299" y="2936768"/>
            <a:ext cx="4152" cy="277380"/>
          </a:xfrm>
          <a:prstGeom prst="straightConnector1">
            <a:avLst/>
          </a:prstGeom>
          <a:ln w="28575">
            <a:solidFill>
              <a:schemeClr val="accent4"/>
            </a:solidFill>
            <a:tailEnd type="triangle"/>
          </a:ln>
        </p:spPr>
        <p:style>
          <a:lnRef idx="2">
            <a:schemeClr val="accent2"/>
          </a:lnRef>
          <a:fillRef idx="0">
            <a:schemeClr val="accent2"/>
          </a:fillRef>
          <a:effectRef idx="1">
            <a:schemeClr val="accent2"/>
          </a:effectRef>
          <a:fontRef idx="minor">
            <a:schemeClr val="tx1"/>
          </a:fontRef>
        </p:style>
      </p:cxnSp>
      <p:sp>
        <p:nvSpPr>
          <p:cNvPr id="45" name="Rounded Rectangle 44"/>
          <p:cNvSpPr/>
          <p:nvPr/>
        </p:nvSpPr>
        <p:spPr>
          <a:xfrm>
            <a:off x="7903838" y="4691031"/>
            <a:ext cx="4023360" cy="640080"/>
          </a:xfrm>
          <a:prstGeom prst="roundRect">
            <a:avLst>
              <a:gd name="adj" fmla="val 6250"/>
            </a:avLst>
          </a:prstGeom>
          <a:solidFill>
            <a:schemeClr val="accent6">
              <a:lumMod val="20000"/>
              <a:lumOff val="80000"/>
            </a:schemeClr>
          </a:solidFill>
          <a:ln>
            <a:solidFill>
              <a:schemeClr val="accent6"/>
            </a:solidFill>
          </a:ln>
        </p:spPr>
        <p:txBody>
          <a:bodyPr vert="horz" wrap="square" lIns="91440" tIns="45720" rIns="91440" bIns="45720" numCol="1" anchor="ctr" anchorCtr="0" compatLnSpc="1">
            <a:prstTxWarp prst="textNoShape">
              <a:avLst/>
            </a:prstTxWarp>
          </a:bodyPr>
          <a:lstStyle/>
          <a:p>
            <a:pPr algn="ctr"/>
            <a:r>
              <a:rPr lang="en-US" dirty="0">
                <a:solidFill>
                  <a:schemeClr val="tx1"/>
                </a:solidFill>
              </a:rPr>
              <a:t>Person (</a:t>
            </a:r>
            <a:r>
              <a:rPr lang="en-US" u="sng" dirty="0" err="1">
                <a:solidFill>
                  <a:schemeClr val="tx1"/>
                </a:solidFill>
              </a:rPr>
              <a:t>PersonID</a:t>
            </a:r>
            <a:r>
              <a:rPr lang="en-US" dirty="0">
                <a:solidFill>
                  <a:schemeClr val="tx1"/>
                </a:solidFill>
              </a:rPr>
              <a:t>, </a:t>
            </a:r>
            <a:r>
              <a:rPr lang="en-US" dirty="0" err="1">
                <a:solidFill>
                  <a:schemeClr val="tx1"/>
                </a:solidFill>
              </a:rPr>
              <a:t>PName</a:t>
            </a:r>
            <a:r>
              <a:rPr lang="en-US" dirty="0">
                <a:solidFill>
                  <a:schemeClr val="tx1"/>
                </a:solidFill>
              </a:rPr>
              <a:t>)</a:t>
            </a:r>
          </a:p>
          <a:p>
            <a:pPr algn="ctr"/>
            <a:r>
              <a:rPr lang="en-US" dirty="0">
                <a:solidFill>
                  <a:schemeClr val="tx1"/>
                </a:solidFill>
              </a:rPr>
              <a:t>Wife (</a:t>
            </a:r>
            <a:r>
              <a:rPr lang="en-US" u="sng" dirty="0" err="1">
                <a:solidFill>
                  <a:schemeClr val="tx1"/>
                </a:solidFill>
              </a:rPr>
              <a:t>WifeID</a:t>
            </a:r>
            <a:r>
              <a:rPr lang="en-US" dirty="0">
                <a:solidFill>
                  <a:schemeClr val="tx1"/>
                </a:solidFill>
              </a:rPr>
              <a:t>, </a:t>
            </a:r>
            <a:r>
              <a:rPr lang="en-US" dirty="0" err="1">
                <a:solidFill>
                  <a:schemeClr val="tx1"/>
                </a:solidFill>
              </a:rPr>
              <a:t>Wname</a:t>
            </a:r>
            <a:r>
              <a:rPr lang="en-US" dirty="0">
                <a:solidFill>
                  <a:schemeClr val="tx1"/>
                </a:solidFill>
              </a:rPr>
              <a:t>, </a:t>
            </a:r>
            <a:r>
              <a:rPr lang="en-US" dirty="0" err="1">
                <a:solidFill>
                  <a:schemeClr val="tx1"/>
                </a:solidFill>
              </a:rPr>
              <a:t>PersonID</a:t>
            </a:r>
            <a:r>
              <a:rPr lang="en-US" dirty="0">
                <a:solidFill>
                  <a:schemeClr val="tx1"/>
                </a:solidFill>
              </a:rPr>
              <a:t>)</a:t>
            </a:r>
          </a:p>
        </p:txBody>
      </p:sp>
      <p:sp>
        <p:nvSpPr>
          <p:cNvPr id="46" name="Rounded Rectangle 45"/>
          <p:cNvSpPr/>
          <p:nvPr/>
        </p:nvSpPr>
        <p:spPr>
          <a:xfrm>
            <a:off x="7907195" y="5496720"/>
            <a:ext cx="4023360" cy="640080"/>
          </a:xfrm>
          <a:prstGeom prst="roundRect">
            <a:avLst>
              <a:gd name="adj" fmla="val 6250"/>
            </a:avLst>
          </a:prstGeom>
          <a:solidFill>
            <a:schemeClr val="accent6">
              <a:lumMod val="20000"/>
              <a:lumOff val="80000"/>
            </a:schemeClr>
          </a:solidFill>
          <a:ln>
            <a:solidFill>
              <a:schemeClr val="accent6"/>
            </a:solidFill>
          </a:ln>
        </p:spPr>
        <p:txBody>
          <a:bodyPr vert="horz" wrap="square" lIns="91440" tIns="45720" rIns="91440" bIns="45720" numCol="1" anchor="ctr" anchorCtr="0" compatLnSpc="1">
            <a:prstTxWarp prst="textNoShape">
              <a:avLst/>
            </a:prstTxWarp>
          </a:bodyPr>
          <a:lstStyle/>
          <a:p>
            <a:pPr algn="ctr"/>
            <a:r>
              <a:rPr lang="en-US" dirty="0">
                <a:solidFill>
                  <a:schemeClr val="tx1"/>
                </a:solidFill>
              </a:rPr>
              <a:t>Wife (</a:t>
            </a:r>
            <a:r>
              <a:rPr lang="en-US" u="sng" dirty="0" err="1">
                <a:solidFill>
                  <a:schemeClr val="tx1"/>
                </a:solidFill>
              </a:rPr>
              <a:t>WifeID</a:t>
            </a:r>
            <a:r>
              <a:rPr lang="en-US" dirty="0">
                <a:solidFill>
                  <a:schemeClr val="tx1"/>
                </a:solidFill>
              </a:rPr>
              <a:t>, </a:t>
            </a:r>
            <a:r>
              <a:rPr lang="en-US" dirty="0" err="1">
                <a:solidFill>
                  <a:schemeClr val="tx1"/>
                </a:solidFill>
              </a:rPr>
              <a:t>Wname</a:t>
            </a:r>
            <a:r>
              <a:rPr lang="en-US" dirty="0">
                <a:solidFill>
                  <a:schemeClr val="tx1"/>
                </a:solidFill>
              </a:rPr>
              <a:t>)</a:t>
            </a:r>
          </a:p>
          <a:p>
            <a:pPr algn="ctr"/>
            <a:r>
              <a:rPr lang="en-US" dirty="0">
                <a:solidFill>
                  <a:schemeClr val="tx1"/>
                </a:solidFill>
              </a:rPr>
              <a:t>Person (</a:t>
            </a:r>
            <a:r>
              <a:rPr lang="en-US" u="sng" dirty="0" err="1">
                <a:solidFill>
                  <a:schemeClr val="tx1"/>
                </a:solidFill>
              </a:rPr>
              <a:t>PersonID</a:t>
            </a:r>
            <a:r>
              <a:rPr lang="en-US" dirty="0">
                <a:solidFill>
                  <a:schemeClr val="tx1"/>
                </a:solidFill>
              </a:rPr>
              <a:t>, </a:t>
            </a:r>
            <a:r>
              <a:rPr lang="en-US" dirty="0" err="1">
                <a:solidFill>
                  <a:schemeClr val="tx1"/>
                </a:solidFill>
              </a:rPr>
              <a:t>Pname</a:t>
            </a:r>
            <a:r>
              <a:rPr lang="en-US" dirty="0">
                <a:solidFill>
                  <a:schemeClr val="tx1"/>
                </a:solidFill>
              </a:rPr>
              <a:t>, </a:t>
            </a:r>
            <a:r>
              <a:rPr lang="en-US" dirty="0" err="1">
                <a:solidFill>
                  <a:schemeClr val="tx1"/>
                </a:solidFill>
              </a:rPr>
              <a:t>WifeID</a:t>
            </a:r>
            <a:r>
              <a:rPr lang="en-US" dirty="0">
                <a:solidFill>
                  <a:schemeClr val="tx1"/>
                </a:solidFill>
              </a:rPr>
              <a:t>)</a:t>
            </a:r>
          </a:p>
        </p:txBody>
      </p:sp>
    </p:spTree>
    <p:extLst>
      <p:ext uri="{BB962C8B-B14F-4D97-AF65-F5344CB8AC3E}">
        <p14:creationId xmlns:p14="http://schemas.microsoft.com/office/powerpoint/2010/main" val="3830535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par>
                                <p:cTn id="22" presetID="10" presetClass="entr" presetSubtype="0" fill="hold" nodeType="with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5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5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500"/>
                                        <p:tgtEl>
                                          <p:spTgt spid="4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500"/>
                                        <p:tgtEl>
                                          <p:spTgt spid="42"/>
                                        </p:tgtEl>
                                      </p:cBhvr>
                                    </p:animEffect>
                                  </p:childTnLst>
                                </p:cTn>
                              </p:par>
                              <p:par>
                                <p:cTn id="43" presetID="10" presetClass="entr" presetSubtype="0"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fade">
                                      <p:cBhvr>
                                        <p:cTn id="45" dur="500"/>
                                        <p:tgtEl>
                                          <p:spTgt spid="44"/>
                                        </p:tgtEl>
                                      </p:cBhvr>
                                    </p:animEffect>
                                  </p:childTnLst>
                                </p:cTn>
                              </p:par>
                              <p:par>
                                <p:cTn id="46" presetID="10" presetClass="entr" presetSubtype="0" fill="hold" nodeType="with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500"/>
                                        <p:tgtEl>
                                          <p:spTgt spid="4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5">
                                            <p:txEl>
                                              <p:pRg st="2" end="2"/>
                                            </p:txEl>
                                          </p:spTgt>
                                        </p:tgtEl>
                                        <p:attrNameLst>
                                          <p:attrName>style.visibility</p:attrName>
                                        </p:attrNameLst>
                                      </p:cBhvr>
                                      <p:to>
                                        <p:strVal val="visible"/>
                                      </p:to>
                                    </p:set>
                                    <p:animEffect transition="in" filter="fade">
                                      <p:cBhvr>
                                        <p:cTn id="53" dur="500"/>
                                        <p:tgtEl>
                                          <p:spTgt spid="5">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500"/>
                                        <p:tgtEl>
                                          <p:spTgt spid="4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5">
                                            <p:txEl>
                                              <p:pRg st="3" end="3"/>
                                            </p:txEl>
                                          </p:spTgt>
                                        </p:tgtEl>
                                        <p:attrNameLst>
                                          <p:attrName>style.visibility</p:attrName>
                                        </p:attrNameLst>
                                      </p:cBhvr>
                                      <p:to>
                                        <p:strVal val="visible"/>
                                      </p:to>
                                    </p:set>
                                    <p:animEffect transition="in" filter="fade">
                                      <p:cBhvr>
                                        <p:cTn id="66" dur="500"/>
                                        <p:tgtEl>
                                          <p:spTgt spid="5">
                                            <p:txEl>
                                              <p:pRg st="3" end="3"/>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5">
                                            <p:txEl>
                                              <p:pRg st="4" end="4"/>
                                            </p:txEl>
                                          </p:spTgt>
                                        </p:tgtEl>
                                        <p:attrNameLst>
                                          <p:attrName>style.visibility</p:attrName>
                                        </p:attrNameLst>
                                      </p:cBhvr>
                                      <p:to>
                                        <p:strVal val="visible"/>
                                      </p:to>
                                    </p:set>
                                    <p:animEffect transition="in" filter="fade">
                                      <p:cBhvr>
                                        <p:cTn id="71" dur="500"/>
                                        <p:tgtEl>
                                          <p:spTgt spid="5">
                                            <p:txEl>
                                              <p:pRg st="4" end="4"/>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5">
                                            <p:txEl>
                                              <p:pRg st="5" end="5"/>
                                            </p:txEl>
                                          </p:spTgt>
                                        </p:tgtEl>
                                        <p:attrNameLst>
                                          <p:attrName>style.visibility</p:attrName>
                                        </p:attrNameLst>
                                      </p:cBhvr>
                                      <p:to>
                                        <p:strVal val="visible"/>
                                      </p:to>
                                    </p:set>
                                    <p:animEffect transition="in" filter="fade">
                                      <p:cBhvr>
                                        <p:cTn id="76" dur="500"/>
                                        <p:tgtEl>
                                          <p:spTgt spid="5">
                                            <p:txEl>
                                              <p:pRg st="5" end="5"/>
                                            </p:txEl>
                                          </p:spTgt>
                                        </p:tgtEl>
                                      </p:cBhvr>
                                    </p:animEffect>
                                  </p:childTnLst>
                                </p:cTn>
                              </p:par>
                              <p:par>
                                <p:cTn id="77" presetID="10" presetClass="entr" presetSubtype="0" fill="hold" nodeType="withEffect">
                                  <p:stCondLst>
                                    <p:cond delay="0"/>
                                  </p:stCondLst>
                                  <p:childTnLst>
                                    <p:set>
                                      <p:cBhvr>
                                        <p:cTn id="78" dur="1" fill="hold">
                                          <p:stCondLst>
                                            <p:cond delay="0"/>
                                          </p:stCondLst>
                                        </p:cTn>
                                        <p:tgtEl>
                                          <p:spTgt spid="5">
                                            <p:txEl>
                                              <p:pRg st="6" end="6"/>
                                            </p:txEl>
                                          </p:spTgt>
                                        </p:tgtEl>
                                        <p:attrNameLst>
                                          <p:attrName>style.visibility</p:attrName>
                                        </p:attrNameLst>
                                      </p:cBhvr>
                                      <p:to>
                                        <p:strVal val="visible"/>
                                      </p:to>
                                    </p:set>
                                    <p:animEffect transition="in" filter="fade">
                                      <p:cBhvr>
                                        <p:cTn id="79"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18" grpId="0" animBg="1"/>
      <p:bldP spid="34" grpId="0" animBg="1"/>
      <p:bldP spid="35" grpId="0" animBg="1"/>
      <p:bldP spid="37" grpId="0" animBg="1"/>
      <p:bldP spid="38" grpId="0" animBg="1"/>
      <p:bldP spid="39" grpId="0" animBg="1"/>
      <p:bldP spid="42" grpId="0" animBg="1"/>
      <p:bldP spid="45" grpId="0" animBg="1"/>
      <p:bldP spid="4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Reduce the E-R diagram to database schema</a:t>
            </a:r>
          </a:p>
        </p:txBody>
      </p:sp>
      <p:sp>
        <p:nvSpPr>
          <p:cNvPr id="5" name="Content Placeholder 4"/>
          <p:cNvSpPr>
            <a:spLocks noGrp="1"/>
          </p:cNvSpPr>
          <p:nvPr>
            <p:ph idx="1"/>
          </p:nvPr>
        </p:nvSpPr>
        <p:spPr>
          <a:xfrm>
            <a:off x="117733" y="863444"/>
            <a:ext cx="7114032" cy="5590565"/>
          </a:xfrm>
        </p:spPr>
        <p:txBody>
          <a:bodyPr/>
          <a:lstStyle/>
          <a:p>
            <a:endParaRPr lang="en-US" dirty="0"/>
          </a:p>
          <a:p>
            <a:endParaRPr lang="en-US" dirty="0"/>
          </a:p>
          <a:p>
            <a:r>
              <a:rPr lang="en-US" dirty="0"/>
              <a:t>Convert </a:t>
            </a:r>
            <a:r>
              <a:rPr lang="en-US" b="1" dirty="0">
                <a:solidFill>
                  <a:schemeClr val="accent6"/>
                </a:solidFill>
              </a:rPr>
              <a:t>both entities</a:t>
            </a:r>
            <a:r>
              <a:rPr lang="en-US" dirty="0"/>
              <a:t> in to </a:t>
            </a:r>
            <a:r>
              <a:rPr lang="en-US" b="1" dirty="0">
                <a:solidFill>
                  <a:schemeClr val="accent6"/>
                </a:solidFill>
              </a:rPr>
              <a:t>table</a:t>
            </a:r>
            <a:r>
              <a:rPr lang="en-US" dirty="0"/>
              <a:t> with proper attribute.</a:t>
            </a:r>
          </a:p>
          <a:p>
            <a:r>
              <a:rPr lang="en-US" dirty="0"/>
              <a:t>Place the </a:t>
            </a:r>
            <a:r>
              <a:rPr lang="en-US" b="1" dirty="0">
                <a:solidFill>
                  <a:schemeClr val="accent6"/>
                </a:solidFill>
              </a:rPr>
              <a:t>primary key </a:t>
            </a:r>
            <a:r>
              <a:rPr lang="en-US" dirty="0"/>
              <a:t>of </a:t>
            </a:r>
            <a:r>
              <a:rPr lang="en-US" b="1" dirty="0">
                <a:solidFill>
                  <a:schemeClr val="accent6"/>
                </a:solidFill>
              </a:rPr>
              <a:t>table having 1 mapping </a:t>
            </a:r>
            <a:r>
              <a:rPr lang="en-US" dirty="0"/>
              <a:t>in to the another </a:t>
            </a:r>
            <a:r>
              <a:rPr lang="en-US" b="1" dirty="0">
                <a:solidFill>
                  <a:schemeClr val="accent6"/>
                </a:solidFill>
              </a:rPr>
              <a:t>table having many cardinality as a Foreign key</a:t>
            </a:r>
            <a:r>
              <a:rPr lang="en-US" dirty="0"/>
              <a:t>.</a:t>
            </a:r>
          </a:p>
          <a:p>
            <a:r>
              <a:rPr lang="en-US" dirty="0"/>
              <a:t>Place the primary key of the Person table </a:t>
            </a:r>
            <a:r>
              <a:rPr lang="en-US" dirty="0" err="1"/>
              <a:t>PersonID</a:t>
            </a:r>
            <a:r>
              <a:rPr lang="en-US" dirty="0"/>
              <a:t> in the table House as Foreign key.</a:t>
            </a:r>
          </a:p>
        </p:txBody>
      </p:sp>
      <p:sp>
        <p:nvSpPr>
          <p:cNvPr id="22" name="Rectangle 21"/>
          <p:cNvSpPr/>
          <p:nvPr/>
        </p:nvSpPr>
        <p:spPr>
          <a:xfrm>
            <a:off x="131182" y="968010"/>
            <a:ext cx="7111390" cy="52322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2800" dirty="0"/>
              <a:t>Step 4: Reduce </a:t>
            </a:r>
            <a:r>
              <a:rPr lang="en-US" sz="2800" b="1" dirty="0">
                <a:solidFill>
                  <a:schemeClr val="accent6"/>
                </a:solidFill>
              </a:rPr>
              <a:t>1:N Mapping Cardinality</a:t>
            </a:r>
            <a:r>
              <a:rPr lang="en-US" sz="2800" dirty="0"/>
              <a:t>:</a:t>
            </a:r>
          </a:p>
        </p:txBody>
      </p:sp>
      <p:sp>
        <p:nvSpPr>
          <p:cNvPr id="18" name="Rectangle 17"/>
          <p:cNvSpPr/>
          <p:nvPr/>
        </p:nvSpPr>
        <p:spPr>
          <a:xfrm>
            <a:off x="9181213" y="1744988"/>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House</a:t>
            </a:r>
          </a:p>
        </p:txBody>
      </p:sp>
      <p:cxnSp>
        <p:nvCxnSpPr>
          <p:cNvPr id="19" name="Straight Connector 18"/>
          <p:cNvCxnSpPr>
            <a:stCxn id="34" idx="4"/>
            <a:endCxn id="18" idx="0"/>
          </p:cNvCxnSpPr>
          <p:nvPr/>
        </p:nvCxnSpPr>
        <p:spPr>
          <a:xfrm>
            <a:off x="9027683" y="1286354"/>
            <a:ext cx="1002616" cy="45863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4" name="Oval 33"/>
          <p:cNvSpPr/>
          <p:nvPr/>
        </p:nvSpPr>
        <p:spPr>
          <a:xfrm>
            <a:off x="8296163" y="863444"/>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HouseID</a:t>
            </a:r>
            <a:endParaRPr lang="en-US" u="sng" dirty="0">
              <a:solidFill>
                <a:schemeClr val="tx1"/>
              </a:solidFill>
            </a:endParaRPr>
          </a:p>
        </p:txBody>
      </p:sp>
      <p:sp>
        <p:nvSpPr>
          <p:cNvPr id="35" name="Oval 34"/>
          <p:cNvSpPr/>
          <p:nvPr/>
        </p:nvSpPr>
        <p:spPr>
          <a:xfrm>
            <a:off x="10279725" y="875210"/>
            <a:ext cx="1545931"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HName</a:t>
            </a:r>
            <a:endParaRPr lang="en-US" dirty="0">
              <a:solidFill>
                <a:schemeClr val="tx1"/>
              </a:solidFill>
            </a:endParaRPr>
          </a:p>
        </p:txBody>
      </p:sp>
      <p:cxnSp>
        <p:nvCxnSpPr>
          <p:cNvPr id="36" name="Straight Connector 35"/>
          <p:cNvCxnSpPr>
            <a:endCxn id="18" idx="0"/>
          </p:cNvCxnSpPr>
          <p:nvPr/>
        </p:nvCxnSpPr>
        <p:spPr>
          <a:xfrm flipH="1">
            <a:off x="10030299" y="1298120"/>
            <a:ext cx="1058887" cy="446868"/>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7" name="Rectangle 36"/>
          <p:cNvSpPr/>
          <p:nvPr/>
        </p:nvSpPr>
        <p:spPr>
          <a:xfrm>
            <a:off x="9181213" y="3214148"/>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Person</a:t>
            </a:r>
          </a:p>
        </p:txBody>
      </p:sp>
      <p:sp>
        <p:nvSpPr>
          <p:cNvPr id="38" name="Oval 37"/>
          <p:cNvSpPr/>
          <p:nvPr/>
        </p:nvSpPr>
        <p:spPr>
          <a:xfrm>
            <a:off x="8085564" y="4022185"/>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PersonID</a:t>
            </a:r>
            <a:endParaRPr lang="en-US" u="sng" dirty="0">
              <a:solidFill>
                <a:schemeClr val="tx1"/>
              </a:solidFill>
            </a:endParaRPr>
          </a:p>
        </p:txBody>
      </p:sp>
      <p:sp>
        <p:nvSpPr>
          <p:cNvPr id="39" name="Oval 38"/>
          <p:cNvSpPr/>
          <p:nvPr/>
        </p:nvSpPr>
        <p:spPr>
          <a:xfrm>
            <a:off x="10357666" y="4022185"/>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PName</a:t>
            </a:r>
            <a:endParaRPr lang="en-US" dirty="0">
              <a:solidFill>
                <a:schemeClr val="tx1"/>
              </a:solidFill>
            </a:endParaRPr>
          </a:p>
        </p:txBody>
      </p:sp>
      <p:cxnSp>
        <p:nvCxnSpPr>
          <p:cNvPr id="40" name="Straight Connector 39"/>
          <p:cNvCxnSpPr>
            <a:endCxn id="38" idx="0"/>
          </p:cNvCxnSpPr>
          <p:nvPr/>
        </p:nvCxnSpPr>
        <p:spPr>
          <a:xfrm flipH="1">
            <a:off x="8817084" y="3680697"/>
            <a:ext cx="1210531" cy="341488"/>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p:cNvCxnSpPr>
            <a:endCxn id="39" idx="0"/>
          </p:cNvCxnSpPr>
          <p:nvPr/>
        </p:nvCxnSpPr>
        <p:spPr>
          <a:xfrm>
            <a:off x="10036138" y="3680697"/>
            <a:ext cx="1053048" cy="341488"/>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42" name="Diamond 41"/>
          <p:cNvSpPr/>
          <p:nvPr/>
        </p:nvSpPr>
        <p:spPr>
          <a:xfrm>
            <a:off x="8982891" y="2479568"/>
            <a:ext cx="2103120" cy="4572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Having</a:t>
            </a:r>
            <a:endParaRPr lang="en-IN" dirty="0">
              <a:solidFill>
                <a:schemeClr val="tx1"/>
              </a:solidFill>
            </a:endParaRPr>
          </a:p>
        </p:txBody>
      </p:sp>
      <p:cxnSp>
        <p:nvCxnSpPr>
          <p:cNvPr id="43" name="Straight Arrow Connector 42"/>
          <p:cNvCxnSpPr>
            <a:endCxn id="18" idx="2"/>
          </p:cNvCxnSpPr>
          <p:nvPr/>
        </p:nvCxnSpPr>
        <p:spPr>
          <a:xfrm flipH="1" flipV="1">
            <a:off x="10030299" y="2202188"/>
            <a:ext cx="5839" cy="268031"/>
          </a:xfrm>
          <a:prstGeom prst="straightConnector1">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42" idx="2"/>
            <a:endCxn id="37" idx="0"/>
          </p:cNvCxnSpPr>
          <p:nvPr/>
        </p:nvCxnSpPr>
        <p:spPr>
          <a:xfrm flipH="1">
            <a:off x="10030299" y="2936768"/>
            <a:ext cx="4152" cy="277380"/>
          </a:xfrm>
          <a:prstGeom prst="straightConnector1">
            <a:avLst/>
          </a:prstGeom>
          <a:ln w="28575">
            <a:solidFill>
              <a:schemeClr val="accent4"/>
            </a:solidFill>
            <a:tailEnd type="triangle"/>
          </a:ln>
        </p:spPr>
        <p:style>
          <a:lnRef idx="2">
            <a:schemeClr val="accent2"/>
          </a:lnRef>
          <a:fillRef idx="0">
            <a:schemeClr val="accent2"/>
          </a:fillRef>
          <a:effectRef idx="1">
            <a:schemeClr val="accent2"/>
          </a:effectRef>
          <a:fontRef idx="minor">
            <a:schemeClr val="tx1"/>
          </a:fontRef>
        </p:style>
      </p:cxnSp>
      <p:sp>
        <p:nvSpPr>
          <p:cNvPr id="45" name="Rounded Rectangle 44"/>
          <p:cNvSpPr/>
          <p:nvPr/>
        </p:nvSpPr>
        <p:spPr>
          <a:xfrm>
            <a:off x="7903838" y="4691031"/>
            <a:ext cx="4023360" cy="640080"/>
          </a:xfrm>
          <a:prstGeom prst="roundRect">
            <a:avLst>
              <a:gd name="adj" fmla="val 6250"/>
            </a:avLst>
          </a:prstGeom>
          <a:solidFill>
            <a:schemeClr val="accent6">
              <a:lumMod val="20000"/>
              <a:lumOff val="80000"/>
            </a:schemeClr>
          </a:solidFill>
          <a:ln>
            <a:solidFill>
              <a:schemeClr val="accent6"/>
            </a:solidFill>
          </a:ln>
        </p:spPr>
        <p:txBody>
          <a:bodyPr vert="horz" wrap="square" lIns="91440" tIns="45720" rIns="91440" bIns="45720" numCol="1" anchor="ctr" anchorCtr="0" compatLnSpc="1">
            <a:prstTxWarp prst="textNoShape">
              <a:avLst/>
            </a:prstTxWarp>
          </a:bodyPr>
          <a:lstStyle/>
          <a:p>
            <a:pPr algn="ctr"/>
            <a:r>
              <a:rPr lang="en-US" dirty="0"/>
              <a:t>Person (</a:t>
            </a:r>
            <a:r>
              <a:rPr lang="en-US" u="sng" dirty="0" err="1"/>
              <a:t>PersonID</a:t>
            </a:r>
            <a:r>
              <a:rPr lang="en-US" dirty="0"/>
              <a:t>, </a:t>
            </a:r>
            <a:r>
              <a:rPr lang="en-US" dirty="0" err="1"/>
              <a:t>PName</a:t>
            </a:r>
            <a:r>
              <a:rPr lang="en-US" dirty="0"/>
              <a:t>)</a:t>
            </a:r>
          </a:p>
          <a:p>
            <a:pPr algn="ctr"/>
            <a:r>
              <a:rPr lang="en-US" dirty="0"/>
              <a:t>House (</a:t>
            </a:r>
            <a:r>
              <a:rPr lang="en-US" u="sng" dirty="0" err="1"/>
              <a:t>HouseID</a:t>
            </a:r>
            <a:r>
              <a:rPr lang="en-US" dirty="0"/>
              <a:t>, </a:t>
            </a:r>
            <a:r>
              <a:rPr lang="en-US" dirty="0" err="1"/>
              <a:t>Hname</a:t>
            </a:r>
            <a:r>
              <a:rPr lang="en-US" dirty="0"/>
              <a:t>, </a:t>
            </a:r>
            <a:r>
              <a:rPr lang="en-US" dirty="0" err="1"/>
              <a:t>PersonID</a:t>
            </a:r>
            <a:r>
              <a:rPr lang="en-US" dirty="0"/>
              <a:t>)</a:t>
            </a:r>
            <a:endParaRPr lang="en-US" dirty="0">
              <a:solidFill>
                <a:schemeClr val="tx1"/>
              </a:solidFill>
            </a:endParaRPr>
          </a:p>
        </p:txBody>
      </p:sp>
    </p:spTree>
    <p:extLst>
      <p:ext uri="{BB962C8B-B14F-4D97-AF65-F5344CB8AC3E}">
        <p14:creationId xmlns:p14="http://schemas.microsoft.com/office/powerpoint/2010/main" val="234373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par>
                                <p:cTn id="22" presetID="10" presetClass="entr" presetSubtype="0" fill="hold" nodeType="with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5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5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500"/>
                                        <p:tgtEl>
                                          <p:spTgt spid="4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500"/>
                                        <p:tgtEl>
                                          <p:spTgt spid="42"/>
                                        </p:tgtEl>
                                      </p:cBhvr>
                                    </p:animEffect>
                                  </p:childTnLst>
                                </p:cTn>
                              </p:par>
                              <p:par>
                                <p:cTn id="43" presetID="10" presetClass="entr" presetSubtype="0"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fade">
                                      <p:cBhvr>
                                        <p:cTn id="45" dur="500"/>
                                        <p:tgtEl>
                                          <p:spTgt spid="44"/>
                                        </p:tgtEl>
                                      </p:cBhvr>
                                    </p:animEffect>
                                  </p:childTnLst>
                                </p:cTn>
                              </p:par>
                              <p:par>
                                <p:cTn id="46" presetID="10" presetClass="entr" presetSubtype="0" fill="hold" nodeType="with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500"/>
                                        <p:tgtEl>
                                          <p:spTgt spid="4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5">
                                            <p:txEl>
                                              <p:pRg st="2" end="2"/>
                                            </p:txEl>
                                          </p:spTgt>
                                        </p:tgtEl>
                                        <p:attrNameLst>
                                          <p:attrName>style.visibility</p:attrName>
                                        </p:attrNameLst>
                                      </p:cBhvr>
                                      <p:to>
                                        <p:strVal val="visible"/>
                                      </p:to>
                                    </p:set>
                                    <p:animEffect transition="in" filter="fade">
                                      <p:cBhvr>
                                        <p:cTn id="53" dur="500"/>
                                        <p:tgtEl>
                                          <p:spTgt spid="5">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500"/>
                                        <p:tgtEl>
                                          <p:spTgt spid="45"/>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5">
                                            <p:txEl>
                                              <p:pRg st="3" end="3"/>
                                            </p:txEl>
                                          </p:spTgt>
                                        </p:tgtEl>
                                        <p:attrNameLst>
                                          <p:attrName>style.visibility</p:attrName>
                                        </p:attrNameLst>
                                      </p:cBhvr>
                                      <p:to>
                                        <p:strVal val="visible"/>
                                      </p:to>
                                    </p:set>
                                    <p:animEffect transition="in" filter="fade">
                                      <p:cBhvr>
                                        <p:cTn id="63" dur="500"/>
                                        <p:tgtEl>
                                          <p:spTgt spid="5">
                                            <p:txEl>
                                              <p:pRg st="3" end="3"/>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5">
                                            <p:txEl>
                                              <p:pRg st="4" end="4"/>
                                            </p:txEl>
                                          </p:spTgt>
                                        </p:tgtEl>
                                        <p:attrNameLst>
                                          <p:attrName>style.visibility</p:attrName>
                                        </p:attrNameLst>
                                      </p:cBhvr>
                                      <p:to>
                                        <p:strVal val="visible"/>
                                      </p:to>
                                    </p:set>
                                    <p:animEffect transition="in" filter="fade">
                                      <p:cBhvr>
                                        <p:cTn id="68"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18" grpId="0" animBg="1"/>
      <p:bldP spid="34" grpId="0" animBg="1"/>
      <p:bldP spid="35" grpId="0" animBg="1"/>
      <p:bldP spid="37" grpId="0" animBg="1"/>
      <p:bldP spid="38" grpId="0" animBg="1"/>
      <p:bldP spid="39" grpId="0" animBg="1"/>
      <p:bldP spid="42" grpId="0" animBg="1"/>
      <p:bldP spid="4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Reduce the E-R diagram to database schema</a:t>
            </a:r>
          </a:p>
        </p:txBody>
      </p:sp>
      <p:sp>
        <p:nvSpPr>
          <p:cNvPr id="5" name="Content Placeholder 4"/>
          <p:cNvSpPr>
            <a:spLocks noGrp="1"/>
          </p:cNvSpPr>
          <p:nvPr>
            <p:ph idx="1"/>
          </p:nvPr>
        </p:nvSpPr>
        <p:spPr>
          <a:xfrm>
            <a:off x="117733" y="863444"/>
            <a:ext cx="7114032" cy="5590565"/>
          </a:xfrm>
        </p:spPr>
        <p:txBody>
          <a:bodyPr/>
          <a:lstStyle/>
          <a:p>
            <a:endParaRPr lang="en-US" dirty="0"/>
          </a:p>
          <a:p>
            <a:endParaRPr lang="en-US" dirty="0"/>
          </a:p>
          <a:p>
            <a:r>
              <a:rPr lang="en-US" dirty="0"/>
              <a:t>Convert both </a:t>
            </a:r>
            <a:r>
              <a:rPr lang="en-US" b="1" dirty="0">
                <a:solidFill>
                  <a:schemeClr val="accent6"/>
                </a:solidFill>
              </a:rPr>
              <a:t>entities</a:t>
            </a:r>
            <a:r>
              <a:rPr lang="en-US" dirty="0"/>
              <a:t> in to </a:t>
            </a:r>
            <a:r>
              <a:rPr lang="en-US" b="1" dirty="0">
                <a:solidFill>
                  <a:schemeClr val="accent6"/>
                </a:solidFill>
              </a:rPr>
              <a:t>table</a:t>
            </a:r>
            <a:r>
              <a:rPr lang="en-US" dirty="0"/>
              <a:t> with proper attribute.</a:t>
            </a:r>
          </a:p>
          <a:p>
            <a:r>
              <a:rPr lang="en-US" dirty="0"/>
              <a:t>Create a </a:t>
            </a:r>
            <a:r>
              <a:rPr lang="en-US" b="1" dirty="0">
                <a:solidFill>
                  <a:schemeClr val="accent6"/>
                </a:solidFill>
              </a:rPr>
              <a:t>separate table for relationship</a:t>
            </a:r>
            <a:r>
              <a:rPr lang="en-US" dirty="0"/>
              <a:t>.</a:t>
            </a:r>
          </a:p>
          <a:p>
            <a:r>
              <a:rPr lang="en-US" dirty="0"/>
              <a:t>Place the </a:t>
            </a:r>
            <a:r>
              <a:rPr lang="en-US" b="1" dirty="0">
                <a:solidFill>
                  <a:schemeClr val="accent6"/>
                </a:solidFill>
              </a:rPr>
              <a:t>primary key of both entities table </a:t>
            </a:r>
            <a:r>
              <a:rPr lang="en-US" dirty="0"/>
              <a:t>into the </a:t>
            </a:r>
            <a:r>
              <a:rPr lang="en-US" b="1" dirty="0">
                <a:solidFill>
                  <a:schemeClr val="accent6"/>
                </a:solidFill>
              </a:rPr>
              <a:t>relationship’s table as foreign key</a:t>
            </a:r>
            <a:r>
              <a:rPr lang="en-US" dirty="0"/>
              <a:t>.</a:t>
            </a:r>
          </a:p>
          <a:p>
            <a:r>
              <a:rPr lang="en-US" dirty="0"/>
              <a:t>Place the primary key of the Customer table CID and Account table </a:t>
            </a:r>
            <a:r>
              <a:rPr lang="en-US" dirty="0" err="1"/>
              <a:t>Ano</a:t>
            </a:r>
            <a:r>
              <a:rPr lang="en-US" dirty="0"/>
              <a:t> in the table </a:t>
            </a:r>
            <a:r>
              <a:rPr lang="en-US" dirty="0" err="1"/>
              <a:t>Has_Acct</a:t>
            </a:r>
            <a:r>
              <a:rPr lang="en-US" dirty="0"/>
              <a:t> as Foreign key.</a:t>
            </a:r>
          </a:p>
        </p:txBody>
      </p:sp>
      <p:sp>
        <p:nvSpPr>
          <p:cNvPr id="22" name="Rectangle 21"/>
          <p:cNvSpPr/>
          <p:nvPr/>
        </p:nvSpPr>
        <p:spPr>
          <a:xfrm>
            <a:off x="131182" y="968010"/>
            <a:ext cx="7111390" cy="523220"/>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sz="2800" dirty="0"/>
              <a:t>Step 5: Reduce </a:t>
            </a:r>
            <a:r>
              <a:rPr lang="en-US" sz="2800" b="1" dirty="0">
                <a:solidFill>
                  <a:schemeClr val="accent6"/>
                </a:solidFill>
              </a:rPr>
              <a:t>N:N Mapping Cardinality</a:t>
            </a:r>
            <a:r>
              <a:rPr lang="en-US" sz="2800" dirty="0"/>
              <a:t>:</a:t>
            </a:r>
          </a:p>
        </p:txBody>
      </p:sp>
      <p:sp>
        <p:nvSpPr>
          <p:cNvPr id="18" name="Rectangle 17"/>
          <p:cNvSpPr/>
          <p:nvPr/>
        </p:nvSpPr>
        <p:spPr>
          <a:xfrm>
            <a:off x="9181213" y="1744988"/>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Account</a:t>
            </a:r>
          </a:p>
        </p:txBody>
      </p:sp>
      <p:cxnSp>
        <p:nvCxnSpPr>
          <p:cNvPr id="19" name="Straight Connector 18"/>
          <p:cNvCxnSpPr>
            <a:stCxn id="34" idx="4"/>
            <a:endCxn id="18" idx="0"/>
          </p:cNvCxnSpPr>
          <p:nvPr/>
        </p:nvCxnSpPr>
        <p:spPr>
          <a:xfrm>
            <a:off x="9027683" y="1286354"/>
            <a:ext cx="1002616" cy="458634"/>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4" name="Oval 33"/>
          <p:cNvSpPr/>
          <p:nvPr/>
        </p:nvSpPr>
        <p:spPr>
          <a:xfrm>
            <a:off x="8296163" y="863444"/>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ActNo</a:t>
            </a:r>
            <a:endParaRPr lang="en-US" u="sng" dirty="0">
              <a:solidFill>
                <a:schemeClr val="tx1"/>
              </a:solidFill>
            </a:endParaRPr>
          </a:p>
        </p:txBody>
      </p:sp>
      <p:sp>
        <p:nvSpPr>
          <p:cNvPr id="35" name="Oval 34"/>
          <p:cNvSpPr/>
          <p:nvPr/>
        </p:nvSpPr>
        <p:spPr>
          <a:xfrm>
            <a:off x="10279725" y="875210"/>
            <a:ext cx="1545931"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Balance</a:t>
            </a:r>
          </a:p>
        </p:txBody>
      </p:sp>
      <p:cxnSp>
        <p:nvCxnSpPr>
          <p:cNvPr id="36" name="Straight Connector 35"/>
          <p:cNvCxnSpPr>
            <a:endCxn id="18" idx="0"/>
          </p:cNvCxnSpPr>
          <p:nvPr/>
        </p:nvCxnSpPr>
        <p:spPr>
          <a:xfrm flipH="1">
            <a:off x="10030299" y="1298120"/>
            <a:ext cx="1058887" cy="446868"/>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37" name="Rectangle 36"/>
          <p:cNvSpPr/>
          <p:nvPr/>
        </p:nvSpPr>
        <p:spPr>
          <a:xfrm>
            <a:off x="9181213" y="3214148"/>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Customer</a:t>
            </a:r>
          </a:p>
        </p:txBody>
      </p:sp>
      <p:sp>
        <p:nvSpPr>
          <p:cNvPr id="38" name="Oval 37"/>
          <p:cNvSpPr/>
          <p:nvPr/>
        </p:nvSpPr>
        <p:spPr>
          <a:xfrm>
            <a:off x="8085564" y="4022185"/>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tx1"/>
                </a:solidFill>
              </a:rPr>
              <a:t>CID</a:t>
            </a:r>
          </a:p>
        </p:txBody>
      </p:sp>
      <p:sp>
        <p:nvSpPr>
          <p:cNvPr id="39" name="Oval 38"/>
          <p:cNvSpPr/>
          <p:nvPr/>
        </p:nvSpPr>
        <p:spPr>
          <a:xfrm>
            <a:off x="10357666" y="4022185"/>
            <a:ext cx="1463040" cy="422910"/>
          </a:xfrm>
          <a:prstGeom prst="ellips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CName</a:t>
            </a:r>
            <a:endParaRPr lang="en-US" dirty="0">
              <a:solidFill>
                <a:schemeClr val="tx1"/>
              </a:solidFill>
            </a:endParaRPr>
          </a:p>
        </p:txBody>
      </p:sp>
      <p:cxnSp>
        <p:nvCxnSpPr>
          <p:cNvPr id="40" name="Straight Connector 39"/>
          <p:cNvCxnSpPr>
            <a:endCxn id="38" idx="0"/>
          </p:cNvCxnSpPr>
          <p:nvPr/>
        </p:nvCxnSpPr>
        <p:spPr>
          <a:xfrm flipH="1">
            <a:off x="8817084" y="3680697"/>
            <a:ext cx="1210531" cy="341488"/>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p:cNvCxnSpPr>
            <a:endCxn id="39" idx="0"/>
          </p:cNvCxnSpPr>
          <p:nvPr/>
        </p:nvCxnSpPr>
        <p:spPr>
          <a:xfrm>
            <a:off x="10036138" y="3680697"/>
            <a:ext cx="1053048" cy="341488"/>
          </a:xfrm>
          <a:prstGeom prst="line">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cxnSp>
      <p:sp>
        <p:nvSpPr>
          <p:cNvPr id="42" name="Diamond 41"/>
          <p:cNvSpPr/>
          <p:nvPr/>
        </p:nvSpPr>
        <p:spPr>
          <a:xfrm>
            <a:off x="8982891" y="2479568"/>
            <a:ext cx="2103120" cy="457200"/>
          </a:xfrm>
          <a:prstGeom prst="diamond">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Has_Acct</a:t>
            </a:r>
            <a:endParaRPr lang="en-IN" dirty="0">
              <a:solidFill>
                <a:schemeClr val="tx1"/>
              </a:solidFill>
            </a:endParaRPr>
          </a:p>
        </p:txBody>
      </p:sp>
      <p:cxnSp>
        <p:nvCxnSpPr>
          <p:cNvPr id="43" name="Straight Arrow Connector 42"/>
          <p:cNvCxnSpPr>
            <a:endCxn id="18" idx="2"/>
          </p:cNvCxnSpPr>
          <p:nvPr/>
        </p:nvCxnSpPr>
        <p:spPr>
          <a:xfrm flipH="1" flipV="1">
            <a:off x="10030299" y="2202188"/>
            <a:ext cx="5839" cy="268031"/>
          </a:xfrm>
          <a:prstGeom prst="straightConnector1">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42" idx="2"/>
            <a:endCxn id="37" idx="0"/>
          </p:cNvCxnSpPr>
          <p:nvPr/>
        </p:nvCxnSpPr>
        <p:spPr>
          <a:xfrm flipH="1">
            <a:off x="10030299" y="2936768"/>
            <a:ext cx="4152" cy="277380"/>
          </a:xfrm>
          <a:prstGeom prst="straightConnector1">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45" name="Rounded Rectangle 44"/>
          <p:cNvSpPr/>
          <p:nvPr/>
        </p:nvSpPr>
        <p:spPr>
          <a:xfrm>
            <a:off x="7903838" y="4691031"/>
            <a:ext cx="4023360" cy="914400"/>
          </a:xfrm>
          <a:prstGeom prst="roundRect">
            <a:avLst>
              <a:gd name="adj" fmla="val 6250"/>
            </a:avLst>
          </a:prstGeom>
          <a:solidFill>
            <a:schemeClr val="accent6">
              <a:lumMod val="20000"/>
              <a:lumOff val="80000"/>
            </a:schemeClr>
          </a:solidFill>
          <a:ln>
            <a:solidFill>
              <a:schemeClr val="accent6"/>
            </a:solidFill>
          </a:ln>
        </p:spPr>
        <p:txBody>
          <a:bodyPr vert="horz" wrap="square" lIns="91440" tIns="45720" rIns="91440" bIns="45720" numCol="1" anchor="ctr" anchorCtr="0" compatLnSpc="1">
            <a:prstTxWarp prst="textNoShape">
              <a:avLst/>
            </a:prstTxWarp>
          </a:bodyPr>
          <a:lstStyle/>
          <a:p>
            <a:pPr algn="ctr"/>
            <a:r>
              <a:rPr lang="en-US" dirty="0"/>
              <a:t>Customer (</a:t>
            </a:r>
            <a:r>
              <a:rPr lang="en-US" u="sng" dirty="0"/>
              <a:t>CID</a:t>
            </a:r>
            <a:r>
              <a:rPr lang="en-US" dirty="0"/>
              <a:t>, </a:t>
            </a:r>
            <a:r>
              <a:rPr lang="en-US" dirty="0" err="1"/>
              <a:t>CName</a:t>
            </a:r>
            <a:r>
              <a:rPr lang="en-US" dirty="0"/>
              <a:t>)</a:t>
            </a:r>
          </a:p>
          <a:p>
            <a:pPr algn="ctr"/>
            <a:r>
              <a:rPr lang="en-US" dirty="0"/>
              <a:t>Account (</a:t>
            </a:r>
            <a:r>
              <a:rPr lang="en-US" u="sng" dirty="0" err="1"/>
              <a:t>ActNo</a:t>
            </a:r>
            <a:r>
              <a:rPr lang="en-US" dirty="0"/>
              <a:t>, Balance)</a:t>
            </a:r>
          </a:p>
          <a:p>
            <a:pPr algn="ctr"/>
            <a:r>
              <a:rPr lang="en-US" dirty="0" err="1"/>
              <a:t>Has_Acct</a:t>
            </a:r>
            <a:r>
              <a:rPr lang="en-US" dirty="0"/>
              <a:t> (</a:t>
            </a:r>
            <a:r>
              <a:rPr lang="en-US" u="sng" dirty="0" err="1"/>
              <a:t>HasAcctID</a:t>
            </a:r>
            <a:r>
              <a:rPr lang="en-US" dirty="0"/>
              <a:t>, CID, </a:t>
            </a:r>
            <a:r>
              <a:rPr lang="en-US" dirty="0" err="1"/>
              <a:t>ActNo</a:t>
            </a:r>
            <a:r>
              <a:rPr lang="en-US" dirty="0"/>
              <a:t>)</a:t>
            </a:r>
            <a:endParaRPr lang="en-US" dirty="0">
              <a:solidFill>
                <a:schemeClr val="tx1"/>
              </a:solidFill>
            </a:endParaRPr>
          </a:p>
        </p:txBody>
      </p:sp>
    </p:spTree>
    <p:extLst>
      <p:ext uri="{BB962C8B-B14F-4D97-AF65-F5344CB8AC3E}">
        <p14:creationId xmlns:p14="http://schemas.microsoft.com/office/powerpoint/2010/main" val="1670585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par>
                                <p:cTn id="13" presetID="10"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par>
                                <p:cTn id="22" presetID="10" presetClass="entr" presetSubtype="0" fill="hold" nodeType="with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500"/>
                                        <p:tgtEl>
                                          <p:spTgt spid="39"/>
                                        </p:tgtEl>
                                      </p:cBhvr>
                                    </p:animEffect>
                                  </p:childTnLst>
                                </p:cTn>
                              </p:par>
                              <p:par>
                                <p:cTn id="34" presetID="10" presetClass="entr" presetSubtype="0" fill="hold" nodeType="with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fade">
                                      <p:cBhvr>
                                        <p:cTn id="36" dur="500"/>
                                        <p:tgtEl>
                                          <p:spTgt spid="40"/>
                                        </p:tgtEl>
                                      </p:cBhvr>
                                    </p:animEffect>
                                  </p:childTnLst>
                                </p:cTn>
                              </p:par>
                              <p:par>
                                <p:cTn id="37" presetID="10" presetClass="entr" presetSubtype="0" fill="hold" nodeType="with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500"/>
                                        <p:tgtEl>
                                          <p:spTgt spid="4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500"/>
                                        <p:tgtEl>
                                          <p:spTgt spid="42"/>
                                        </p:tgtEl>
                                      </p:cBhvr>
                                    </p:animEffect>
                                  </p:childTnLst>
                                </p:cTn>
                              </p:par>
                              <p:par>
                                <p:cTn id="43" presetID="10" presetClass="entr" presetSubtype="0" fill="hold" nodeType="with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fade">
                                      <p:cBhvr>
                                        <p:cTn id="45" dur="500"/>
                                        <p:tgtEl>
                                          <p:spTgt spid="44"/>
                                        </p:tgtEl>
                                      </p:cBhvr>
                                    </p:animEffect>
                                  </p:childTnLst>
                                </p:cTn>
                              </p:par>
                              <p:par>
                                <p:cTn id="46" presetID="10" presetClass="entr" presetSubtype="0" fill="hold" nodeType="with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500"/>
                                        <p:tgtEl>
                                          <p:spTgt spid="4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5">
                                            <p:txEl>
                                              <p:pRg st="2" end="2"/>
                                            </p:txEl>
                                          </p:spTgt>
                                        </p:tgtEl>
                                        <p:attrNameLst>
                                          <p:attrName>style.visibility</p:attrName>
                                        </p:attrNameLst>
                                      </p:cBhvr>
                                      <p:to>
                                        <p:strVal val="visible"/>
                                      </p:to>
                                    </p:set>
                                    <p:animEffect transition="in" filter="fade">
                                      <p:cBhvr>
                                        <p:cTn id="53" dur="500"/>
                                        <p:tgtEl>
                                          <p:spTgt spid="5">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5">
                                            <p:txEl>
                                              <p:pRg st="3" end="3"/>
                                            </p:txEl>
                                          </p:spTgt>
                                        </p:tgtEl>
                                        <p:attrNameLst>
                                          <p:attrName>style.visibility</p:attrName>
                                        </p:attrNameLst>
                                      </p:cBhvr>
                                      <p:to>
                                        <p:strVal val="visible"/>
                                      </p:to>
                                    </p:set>
                                    <p:animEffect transition="in" filter="fade">
                                      <p:cBhvr>
                                        <p:cTn id="58" dur="500"/>
                                        <p:tgtEl>
                                          <p:spTgt spid="5">
                                            <p:txEl>
                                              <p:pRg st="3" end="3"/>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500"/>
                                        <p:tgtEl>
                                          <p:spTgt spid="45"/>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5">
                                            <p:txEl>
                                              <p:pRg st="4" end="4"/>
                                            </p:txEl>
                                          </p:spTgt>
                                        </p:tgtEl>
                                        <p:attrNameLst>
                                          <p:attrName>style.visibility</p:attrName>
                                        </p:attrNameLst>
                                      </p:cBhvr>
                                      <p:to>
                                        <p:strVal val="visible"/>
                                      </p:to>
                                    </p:set>
                                    <p:animEffect transition="in" filter="fade">
                                      <p:cBhvr>
                                        <p:cTn id="68" dur="500"/>
                                        <p:tgtEl>
                                          <p:spTgt spid="5">
                                            <p:txEl>
                                              <p:pRg st="4" end="4"/>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5">
                                            <p:txEl>
                                              <p:pRg st="5" end="5"/>
                                            </p:txEl>
                                          </p:spTgt>
                                        </p:tgtEl>
                                        <p:attrNameLst>
                                          <p:attrName>style.visibility</p:attrName>
                                        </p:attrNameLst>
                                      </p:cBhvr>
                                      <p:to>
                                        <p:strVal val="visible"/>
                                      </p:to>
                                    </p:set>
                                    <p:animEffect transition="in" filter="fade">
                                      <p:cBhvr>
                                        <p:cTn id="73"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18" grpId="0" animBg="1"/>
      <p:bldP spid="34" grpId="0" animBg="1"/>
      <p:bldP spid="35" grpId="0" animBg="1"/>
      <p:bldP spid="37" grpId="0" animBg="1"/>
      <p:bldP spid="38" grpId="0" animBg="1"/>
      <p:bldP spid="39" grpId="0" animBg="1"/>
      <p:bldP spid="42" grpId="0" animBg="1"/>
      <p:bldP spid="4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Symbols used in E-R diagram</a:t>
            </a:r>
          </a:p>
        </p:txBody>
      </p:sp>
      <p:sp>
        <p:nvSpPr>
          <p:cNvPr id="5" name="Content Placeholder 4"/>
          <p:cNvSpPr>
            <a:spLocks noGrp="1"/>
          </p:cNvSpPr>
          <p:nvPr>
            <p:ph idx="1"/>
          </p:nvPr>
        </p:nvSpPr>
        <p:spPr/>
        <p:txBody>
          <a:bodyPr/>
          <a:lstStyle/>
          <a:p>
            <a:pPr marL="0" indent="0">
              <a:buNone/>
            </a:pPr>
            <a:endParaRPr lang="en-US" dirty="0"/>
          </a:p>
        </p:txBody>
      </p:sp>
      <p:sp>
        <p:nvSpPr>
          <p:cNvPr id="25" name="Rectangle 24"/>
          <p:cNvSpPr/>
          <p:nvPr/>
        </p:nvSpPr>
        <p:spPr>
          <a:xfrm>
            <a:off x="540445" y="1219200"/>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Customer</a:t>
            </a:r>
          </a:p>
        </p:txBody>
      </p:sp>
      <p:sp>
        <p:nvSpPr>
          <p:cNvPr id="26" name="TextBox 25"/>
          <p:cNvSpPr txBox="1"/>
          <p:nvPr/>
        </p:nvSpPr>
        <p:spPr>
          <a:xfrm>
            <a:off x="894230" y="1676400"/>
            <a:ext cx="990600" cy="369332"/>
          </a:xfrm>
          <a:prstGeom prst="rect">
            <a:avLst/>
          </a:prstGeom>
          <a:noFill/>
        </p:spPr>
        <p:txBody>
          <a:bodyPr wrap="square" rtlCol="0">
            <a:spAutoFit/>
          </a:bodyPr>
          <a:lstStyle/>
          <a:p>
            <a:pPr algn="ctr"/>
            <a:r>
              <a:rPr lang="en-US" dirty="0"/>
              <a:t>Entity</a:t>
            </a:r>
            <a:endParaRPr lang="en-IN" dirty="0"/>
          </a:p>
        </p:txBody>
      </p:sp>
      <p:sp>
        <p:nvSpPr>
          <p:cNvPr id="27" name="Oval 26"/>
          <p:cNvSpPr/>
          <p:nvPr/>
        </p:nvSpPr>
        <p:spPr>
          <a:xfrm>
            <a:off x="540445" y="2286000"/>
            <a:ext cx="1698171" cy="4572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sng" dirty="0" err="1">
                <a:solidFill>
                  <a:schemeClr val="tx1"/>
                </a:solidFill>
              </a:rPr>
              <a:t>EmpID</a:t>
            </a:r>
            <a:endParaRPr lang="en-US" dirty="0">
              <a:solidFill>
                <a:schemeClr val="tx1"/>
              </a:solidFill>
            </a:endParaRPr>
          </a:p>
        </p:txBody>
      </p:sp>
      <p:sp>
        <p:nvSpPr>
          <p:cNvPr id="28" name="TextBox 27"/>
          <p:cNvSpPr txBox="1"/>
          <p:nvPr/>
        </p:nvSpPr>
        <p:spPr>
          <a:xfrm>
            <a:off x="741530" y="2743200"/>
            <a:ext cx="1296000" cy="576000"/>
          </a:xfrm>
          <a:prstGeom prst="rect">
            <a:avLst/>
          </a:prstGeom>
          <a:noFill/>
        </p:spPr>
        <p:txBody>
          <a:bodyPr wrap="square" rtlCol="0">
            <a:spAutoFit/>
          </a:bodyPr>
          <a:lstStyle/>
          <a:p>
            <a:pPr algn="ctr"/>
            <a:r>
              <a:rPr lang="en-US" dirty="0"/>
              <a:t>Primary Key</a:t>
            </a:r>
          </a:p>
          <a:p>
            <a:pPr algn="ctr"/>
            <a:r>
              <a:rPr lang="en-US" dirty="0"/>
              <a:t>Attribute</a:t>
            </a:r>
            <a:endParaRPr lang="en-IN" dirty="0"/>
          </a:p>
        </p:txBody>
      </p:sp>
      <p:sp>
        <p:nvSpPr>
          <p:cNvPr id="29" name="Rectangle 28"/>
          <p:cNvSpPr/>
          <p:nvPr/>
        </p:nvSpPr>
        <p:spPr>
          <a:xfrm>
            <a:off x="568886" y="3595301"/>
            <a:ext cx="1698171"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Payment</a:t>
            </a:r>
          </a:p>
        </p:txBody>
      </p:sp>
      <p:sp>
        <p:nvSpPr>
          <p:cNvPr id="30" name="TextBox 29"/>
          <p:cNvSpPr txBox="1"/>
          <p:nvPr/>
        </p:nvSpPr>
        <p:spPr>
          <a:xfrm>
            <a:off x="733971" y="4119330"/>
            <a:ext cx="1296000" cy="457200"/>
          </a:xfrm>
          <a:prstGeom prst="rect">
            <a:avLst/>
          </a:prstGeom>
          <a:noFill/>
        </p:spPr>
        <p:txBody>
          <a:bodyPr wrap="square" rtlCol="0">
            <a:spAutoFit/>
          </a:bodyPr>
          <a:lstStyle/>
          <a:p>
            <a:pPr algn="ctr"/>
            <a:r>
              <a:rPr lang="en-US" dirty="0"/>
              <a:t>Weak Entity</a:t>
            </a:r>
            <a:endParaRPr lang="en-IN" dirty="0"/>
          </a:p>
        </p:txBody>
      </p:sp>
      <p:sp>
        <p:nvSpPr>
          <p:cNvPr id="31" name="TextBox 30"/>
          <p:cNvSpPr txBox="1"/>
          <p:nvPr/>
        </p:nvSpPr>
        <p:spPr>
          <a:xfrm>
            <a:off x="741530" y="5513677"/>
            <a:ext cx="1368000" cy="648000"/>
          </a:xfrm>
          <a:prstGeom prst="rect">
            <a:avLst/>
          </a:prstGeom>
          <a:noFill/>
          <a:ln>
            <a:noFill/>
          </a:ln>
        </p:spPr>
        <p:txBody>
          <a:bodyPr wrap="square" rtlCol="0">
            <a:spAutoFit/>
          </a:bodyPr>
          <a:lstStyle/>
          <a:p>
            <a:pPr algn="ctr"/>
            <a:r>
              <a:rPr lang="en-US" dirty="0"/>
              <a:t>Total</a:t>
            </a:r>
          </a:p>
          <a:p>
            <a:pPr algn="ctr"/>
            <a:r>
              <a:rPr lang="en-US" dirty="0"/>
              <a:t>Participation</a:t>
            </a:r>
            <a:endParaRPr lang="en-IN" dirty="0"/>
          </a:p>
        </p:txBody>
      </p:sp>
      <p:sp>
        <p:nvSpPr>
          <p:cNvPr id="32" name="Oval 31"/>
          <p:cNvSpPr/>
          <p:nvPr/>
        </p:nvSpPr>
        <p:spPr>
          <a:xfrm>
            <a:off x="4390783" y="1219200"/>
            <a:ext cx="1698171" cy="4572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Name</a:t>
            </a:r>
          </a:p>
        </p:txBody>
      </p:sp>
      <p:sp>
        <p:nvSpPr>
          <p:cNvPr id="33" name="TextBox 32"/>
          <p:cNvSpPr txBox="1"/>
          <p:nvPr/>
        </p:nvSpPr>
        <p:spPr>
          <a:xfrm>
            <a:off x="4573868" y="1676400"/>
            <a:ext cx="1332000" cy="370800"/>
          </a:xfrm>
          <a:prstGeom prst="rect">
            <a:avLst/>
          </a:prstGeom>
          <a:noFill/>
        </p:spPr>
        <p:txBody>
          <a:bodyPr wrap="square" rtlCol="0">
            <a:spAutoFit/>
          </a:bodyPr>
          <a:lstStyle/>
          <a:p>
            <a:pPr algn="ctr"/>
            <a:r>
              <a:rPr lang="en-US" dirty="0"/>
              <a:t>Attribute</a:t>
            </a:r>
            <a:endParaRPr lang="en-IN" dirty="0"/>
          </a:p>
        </p:txBody>
      </p:sp>
      <p:sp>
        <p:nvSpPr>
          <p:cNvPr id="34" name="Oval 33"/>
          <p:cNvSpPr/>
          <p:nvPr/>
        </p:nvSpPr>
        <p:spPr>
          <a:xfrm>
            <a:off x="4390783" y="2286000"/>
            <a:ext cx="1698171" cy="457200"/>
          </a:xfrm>
          <a:prstGeom prst="ellipse">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Age</a:t>
            </a:r>
          </a:p>
        </p:txBody>
      </p:sp>
      <p:sp>
        <p:nvSpPr>
          <p:cNvPr id="35" name="TextBox 34"/>
          <p:cNvSpPr txBox="1"/>
          <p:nvPr/>
        </p:nvSpPr>
        <p:spPr>
          <a:xfrm>
            <a:off x="4717868" y="2743200"/>
            <a:ext cx="1044000" cy="646331"/>
          </a:xfrm>
          <a:prstGeom prst="rect">
            <a:avLst/>
          </a:prstGeom>
          <a:noFill/>
        </p:spPr>
        <p:txBody>
          <a:bodyPr wrap="square" rtlCol="0">
            <a:spAutoFit/>
          </a:bodyPr>
          <a:lstStyle/>
          <a:p>
            <a:pPr algn="ctr"/>
            <a:r>
              <a:rPr lang="en-US" dirty="0"/>
              <a:t>Derived</a:t>
            </a:r>
          </a:p>
          <a:p>
            <a:pPr algn="ctr"/>
            <a:r>
              <a:rPr lang="en-US" dirty="0"/>
              <a:t>Attribute</a:t>
            </a:r>
            <a:endParaRPr lang="en-IN" dirty="0"/>
          </a:p>
        </p:txBody>
      </p:sp>
      <p:sp>
        <p:nvSpPr>
          <p:cNvPr id="36" name="Oval 35"/>
          <p:cNvSpPr/>
          <p:nvPr/>
        </p:nvSpPr>
        <p:spPr>
          <a:xfrm>
            <a:off x="4378820" y="3580468"/>
            <a:ext cx="1698171" cy="4572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u="dash" dirty="0" err="1">
                <a:solidFill>
                  <a:schemeClr val="tx1"/>
                </a:solidFill>
              </a:rPr>
              <a:t>PymtID</a:t>
            </a:r>
            <a:endParaRPr lang="en-US" u="dash" dirty="0">
              <a:solidFill>
                <a:schemeClr val="tx1"/>
              </a:solidFill>
            </a:endParaRPr>
          </a:p>
        </p:txBody>
      </p:sp>
      <p:sp>
        <p:nvSpPr>
          <p:cNvPr id="37" name="TextBox 36"/>
          <p:cNvSpPr txBox="1"/>
          <p:nvPr/>
        </p:nvSpPr>
        <p:spPr>
          <a:xfrm>
            <a:off x="4435905" y="4036200"/>
            <a:ext cx="1584000" cy="612000"/>
          </a:xfrm>
          <a:prstGeom prst="rect">
            <a:avLst/>
          </a:prstGeom>
          <a:noFill/>
        </p:spPr>
        <p:txBody>
          <a:bodyPr wrap="square" rtlCol="0">
            <a:spAutoFit/>
          </a:bodyPr>
          <a:lstStyle/>
          <a:p>
            <a:pPr algn="ctr"/>
            <a:r>
              <a:rPr lang="en-US" dirty="0"/>
              <a:t>Discriminating</a:t>
            </a:r>
          </a:p>
          <a:p>
            <a:pPr algn="ctr"/>
            <a:r>
              <a:rPr lang="en-US" dirty="0"/>
              <a:t>Attribute</a:t>
            </a:r>
            <a:endParaRPr lang="en-IN" dirty="0"/>
          </a:p>
        </p:txBody>
      </p:sp>
      <p:sp>
        <p:nvSpPr>
          <p:cNvPr id="38" name="Diamond 37"/>
          <p:cNvSpPr/>
          <p:nvPr/>
        </p:nvSpPr>
        <p:spPr>
          <a:xfrm>
            <a:off x="7736962" y="1219200"/>
            <a:ext cx="1698171" cy="457200"/>
          </a:xfrm>
          <a:prstGeom prst="diamond">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Hold</a:t>
            </a:r>
          </a:p>
        </p:txBody>
      </p:sp>
      <p:sp>
        <p:nvSpPr>
          <p:cNvPr id="39" name="TextBox 38"/>
          <p:cNvSpPr txBox="1"/>
          <p:nvPr/>
        </p:nvSpPr>
        <p:spPr>
          <a:xfrm>
            <a:off x="7920047" y="1676400"/>
            <a:ext cx="1332000" cy="369332"/>
          </a:xfrm>
          <a:prstGeom prst="rect">
            <a:avLst/>
          </a:prstGeom>
          <a:noFill/>
        </p:spPr>
        <p:txBody>
          <a:bodyPr wrap="square" rtlCol="0">
            <a:spAutoFit/>
          </a:bodyPr>
          <a:lstStyle/>
          <a:p>
            <a:pPr algn="ctr"/>
            <a:r>
              <a:rPr lang="en-US" dirty="0"/>
              <a:t>Relationship</a:t>
            </a:r>
            <a:endParaRPr lang="en-IN" dirty="0"/>
          </a:p>
        </p:txBody>
      </p:sp>
      <p:sp>
        <p:nvSpPr>
          <p:cNvPr id="40" name="Oval 39"/>
          <p:cNvSpPr/>
          <p:nvPr/>
        </p:nvSpPr>
        <p:spPr>
          <a:xfrm>
            <a:off x="7736962" y="2270869"/>
            <a:ext cx="1698171" cy="4572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PhoneNo</a:t>
            </a:r>
            <a:endParaRPr lang="en-US" dirty="0">
              <a:solidFill>
                <a:schemeClr val="tx1"/>
              </a:solidFill>
            </a:endParaRPr>
          </a:p>
        </p:txBody>
      </p:sp>
      <p:sp>
        <p:nvSpPr>
          <p:cNvPr id="41" name="TextBox 40"/>
          <p:cNvSpPr txBox="1"/>
          <p:nvPr/>
        </p:nvSpPr>
        <p:spPr>
          <a:xfrm>
            <a:off x="7902047" y="2813531"/>
            <a:ext cx="1368000" cy="576000"/>
          </a:xfrm>
          <a:prstGeom prst="rect">
            <a:avLst/>
          </a:prstGeom>
          <a:noFill/>
        </p:spPr>
        <p:txBody>
          <a:bodyPr wrap="square" rtlCol="0">
            <a:spAutoFit/>
          </a:bodyPr>
          <a:lstStyle/>
          <a:p>
            <a:pPr algn="ctr"/>
            <a:r>
              <a:rPr lang="en-US" dirty="0"/>
              <a:t>Multi Valued Attribute</a:t>
            </a:r>
            <a:endParaRPr lang="en-IN" dirty="0"/>
          </a:p>
        </p:txBody>
      </p:sp>
      <p:sp>
        <p:nvSpPr>
          <p:cNvPr id="42" name="Flowchart: Decision 41"/>
          <p:cNvSpPr/>
          <p:nvPr/>
        </p:nvSpPr>
        <p:spPr>
          <a:xfrm>
            <a:off x="7746727" y="3595856"/>
            <a:ext cx="1698171" cy="457200"/>
          </a:xfrm>
          <a:prstGeom prst="flowChartDecision">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Issue</a:t>
            </a:r>
          </a:p>
        </p:txBody>
      </p:sp>
      <p:sp>
        <p:nvSpPr>
          <p:cNvPr id="43" name="TextBox 42"/>
          <p:cNvSpPr txBox="1"/>
          <p:nvPr/>
        </p:nvSpPr>
        <p:spPr>
          <a:xfrm>
            <a:off x="7929812" y="4063094"/>
            <a:ext cx="1332000" cy="612000"/>
          </a:xfrm>
          <a:prstGeom prst="rect">
            <a:avLst/>
          </a:prstGeom>
          <a:noFill/>
        </p:spPr>
        <p:txBody>
          <a:bodyPr wrap="square" rtlCol="0">
            <a:spAutoFit/>
          </a:bodyPr>
          <a:lstStyle/>
          <a:p>
            <a:pPr algn="ctr"/>
            <a:r>
              <a:rPr lang="en-US" dirty="0"/>
              <a:t>Weak Entity</a:t>
            </a:r>
            <a:endParaRPr lang="en-IN" dirty="0"/>
          </a:p>
          <a:p>
            <a:pPr algn="ctr"/>
            <a:r>
              <a:rPr lang="en-US" dirty="0"/>
              <a:t>Relationship</a:t>
            </a:r>
            <a:endParaRPr lang="en-IN" dirty="0"/>
          </a:p>
        </p:txBody>
      </p:sp>
      <p:sp>
        <p:nvSpPr>
          <p:cNvPr id="44" name="Flowchart: Merge 43"/>
          <p:cNvSpPr/>
          <p:nvPr/>
        </p:nvSpPr>
        <p:spPr>
          <a:xfrm>
            <a:off x="7863937" y="5029200"/>
            <a:ext cx="1260000" cy="457200"/>
          </a:xfrm>
          <a:prstGeom prst="flowChartMerg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ISA</a:t>
            </a:r>
          </a:p>
        </p:txBody>
      </p:sp>
      <p:sp>
        <p:nvSpPr>
          <p:cNvPr id="45" name="TextBox 44"/>
          <p:cNvSpPr txBox="1"/>
          <p:nvPr/>
        </p:nvSpPr>
        <p:spPr>
          <a:xfrm>
            <a:off x="7692227" y="5562600"/>
            <a:ext cx="1584000" cy="646331"/>
          </a:xfrm>
          <a:prstGeom prst="rect">
            <a:avLst/>
          </a:prstGeom>
          <a:noFill/>
          <a:ln>
            <a:noFill/>
          </a:ln>
        </p:spPr>
        <p:txBody>
          <a:bodyPr wrap="square" rtlCol="0">
            <a:spAutoFit/>
          </a:bodyPr>
          <a:lstStyle/>
          <a:p>
            <a:pPr algn="ctr"/>
            <a:r>
              <a:rPr lang="en-US" dirty="0"/>
              <a:t>Specialization/</a:t>
            </a:r>
          </a:p>
          <a:p>
            <a:pPr algn="ctr"/>
            <a:r>
              <a:rPr lang="en-US" dirty="0"/>
              <a:t>Generalization</a:t>
            </a:r>
            <a:endParaRPr lang="en-IN" dirty="0"/>
          </a:p>
        </p:txBody>
      </p:sp>
      <p:sp>
        <p:nvSpPr>
          <p:cNvPr id="46" name="Oval 45"/>
          <p:cNvSpPr/>
          <p:nvPr/>
        </p:nvSpPr>
        <p:spPr>
          <a:xfrm>
            <a:off x="7650047" y="2175469"/>
            <a:ext cx="1872000" cy="648000"/>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Rectangle 46"/>
          <p:cNvSpPr/>
          <p:nvPr/>
        </p:nvSpPr>
        <p:spPr>
          <a:xfrm>
            <a:off x="481971" y="3527330"/>
            <a:ext cx="1872000" cy="593143"/>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8" name="Flowchart: Decision 47"/>
          <p:cNvSpPr/>
          <p:nvPr/>
        </p:nvSpPr>
        <p:spPr>
          <a:xfrm>
            <a:off x="7566212" y="3527330"/>
            <a:ext cx="2059200" cy="594252"/>
          </a:xfrm>
          <a:prstGeom prst="flowChartDecision">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1"/>
              </a:solidFill>
            </a:endParaRPr>
          </a:p>
        </p:txBody>
      </p:sp>
      <p:sp>
        <p:nvSpPr>
          <p:cNvPr id="49" name="Diamond 48"/>
          <p:cNvSpPr/>
          <p:nvPr/>
        </p:nvSpPr>
        <p:spPr>
          <a:xfrm>
            <a:off x="1683444" y="5013278"/>
            <a:ext cx="1016909" cy="457200"/>
          </a:xfrm>
          <a:prstGeom prst="diamond">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
            </a:r>
            <a:endParaRPr lang="en-IN" dirty="0">
              <a:solidFill>
                <a:schemeClr val="tx1"/>
              </a:solidFill>
            </a:endParaRPr>
          </a:p>
        </p:txBody>
      </p:sp>
      <p:sp>
        <p:nvSpPr>
          <p:cNvPr id="50" name="Rectangle 49"/>
          <p:cNvSpPr/>
          <p:nvPr/>
        </p:nvSpPr>
        <p:spPr>
          <a:xfrm>
            <a:off x="297674" y="5014403"/>
            <a:ext cx="876703"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endParaRPr lang="en-IN" dirty="0">
              <a:solidFill>
                <a:schemeClr val="tx1"/>
              </a:solidFill>
            </a:endParaRPr>
          </a:p>
        </p:txBody>
      </p:sp>
      <p:cxnSp>
        <p:nvCxnSpPr>
          <p:cNvPr id="51" name="Straight Connector 50"/>
          <p:cNvCxnSpPr/>
          <p:nvPr/>
        </p:nvCxnSpPr>
        <p:spPr>
          <a:xfrm flipH="1">
            <a:off x="1174376" y="5172363"/>
            <a:ext cx="684000" cy="1125"/>
          </a:xfrm>
          <a:prstGeom prst="lin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p:cNvCxnSpPr/>
          <p:nvPr/>
        </p:nvCxnSpPr>
        <p:spPr>
          <a:xfrm flipH="1">
            <a:off x="1174376" y="5323638"/>
            <a:ext cx="684000" cy="1125"/>
          </a:xfrm>
          <a:prstGeom prst="lin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3" name="TextBox 52"/>
          <p:cNvSpPr txBox="1"/>
          <p:nvPr/>
        </p:nvSpPr>
        <p:spPr>
          <a:xfrm>
            <a:off x="4477971" y="5504885"/>
            <a:ext cx="1368000" cy="648000"/>
          </a:xfrm>
          <a:prstGeom prst="rect">
            <a:avLst/>
          </a:prstGeom>
          <a:noFill/>
          <a:ln>
            <a:noFill/>
          </a:ln>
        </p:spPr>
        <p:txBody>
          <a:bodyPr wrap="square" rtlCol="0">
            <a:spAutoFit/>
          </a:bodyPr>
          <a:lstStyle/>
          <a:p>
            <a:pPr algn="ctr"/>
            <a:r>
              <a:rPr lang="en-US" dirty="0"/>
              <a:t>Role</a:t>
            </a:r>
          </a:p>
          <a:p>
            <a:pPr algn="ctr"/>
            <a:r>
              <a:rPr lang="en-US" dirty="0"/>
              <a:t>Indicator</a:t>
            </a:r>
            <a:endParaRPr lang="en-IN" dirty="0"/>
          </a:p>
        </p:txBody>
      </p:sp>
      <p:sp>
        <p:nvSpPr>
          <p:cNvPr id="54" name="Diamond 53"/>
          <p:cNvSpPr/>
          <p:nvPr/>
        </p:nvSpPr>
        <p:spPr>
          <a:xfrm>
            <a:off x="5419885" y="5004486"/>
            <a:ext cx="1016909" cy="457200"/>
          </a:xfrm>
          <a:prstGeom prst="diamond">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
            </a:r>
            <a:endParaRPr lang="en-IN" dirty="0">
              <a:solidFill>
                <a:schemeClr val="tx1"/>
              </a:solidFill>
            </a:endParaRPr>
          </a:p>
        </p:txBody>
      </p:sp>
      <p:sp>
        <p:nvSpPr>
          <p:cNvPr id="55" name="Rectangle 54"/>
          <p:cNvSpPr/>
          <p:nvPr/>
        </p:nvSpPr>
        <p:spPr>
          <a:xfrm>
            <a:off x="4034115" y="5005611"/>
            <a:ext cx="876703" cy="4572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endParaRPr lang="en-IN" dirty="0">
              <a:solidFill>
                <a:schemeClr val="tx1"/>
              </a:solidFill>
            </a:endParaRPr>
          </a:p>
        </p:txBody>
      </p:sp>
      <p:cxnSp>
        <p:nvCxnSpPr>
          <p:cNvPr id="56" name="Straight Connector 55"/>
          <p:cNvCxnSpPr/>
          <p:nvPr/>
        </p:nvCxnSpPr>
        <p:spPr>
          <a:xfrm flipH="1">
            <a:off x="4904533" y="5229557"/>
            <a:ext cx="540000" cy="1125"/>
          </a:xfrm>
          <a:prstGeom prst="lin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7" name="TextBox 56"/>
          <p:cNvSpPr txBox="1"/>
          <p:nvPr/>
        </p:nvSpPr>
        <p:spPr>
          <a:xfrm>
            <a:off x="4910115" y="4800600"/>
            <a:ext cx="648000" cy="360000"/>
          </a:xfrm>
          <a:prstGeom prst="rect">
            <a:avLst/>
          </a:prstGeom>
          <a:noFill/>
          <a:ln>
            <a:noFill/>
          </a:ln>
        </p:spPr>
        <p:txBody>
          <a:bodyPr wrap="square" rtlCol="0" anchor="ctr" anchorCtr="0">
            <a:spAutoFit/>
          </a:bodyPr>
          <a:lstStyle/>
          <a:p>
            <a:pPr algn="ctr"/>
            <a:r>
              <a:rPr lang="en-US" sz="1400" dirty="0"/>
              <a:t>Role</a:t>
            </a:r>
          </a:p>
          <a:p>
            <a:pPr algn="ctr"/>
            <a:r>
              <a:rPr lang="en-US" sz="1400" dirty="0"/>
              <a:t>Name</a:t>
            </a:r>
            <a:endParaRPr lang="en-IN" sz="1400" dirty="0"/>
          </a:p>
        </p:txBody>
      </p:sp>
      <p:cxnSp>
        <p:nvCxnSpPr>
          <p:cNvPr id="58" name="Straight Connector 57"/>
          <p:cNvCxnSpPr>
            <a:stCxn id="44" idx="0"/>
          </p:cNvCxnSpPr>
          <p:nvPr/>
        </p:nvCxnSpPr>
        <p:spPr>
          <a:xfrm flipV="1">
            <a:off x="8493937" y="4724400"/>
            <a:ext cx="0" cy="304800"/>
          </a:xfrm>
          <a:prstGeom prst="lin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p:cNvCxnSpPr>
            <a:endCxn id="44" idx="1"/>
          </p:cNvCxnSpPr>
          <p:nvPr/>
        </p:nvCxnSpPr>
        <p:spPr>
          <a:xfrm flipV="1">
            <a:off x="7863937" y="5257800"/>
            <a:ext cx="315000" cy="255877"/>
          </a:xfrm>
          <a:prstGeom prst="lin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p:cNvCxnSpPr>
            <a:endCxn id="44" idx="3"/>
          </p:cNvCxnSpPr>
          <p:nvPr/>
        </p:nvCxnSpPr>
        <p:spPr>
          <a:xfrm flipH="1" flipV="1">
            <a:off x="8808937" y="5257800"/>
            <a:ext cx="315000" cy="247085"/>
          </a:xfrm>
          <a:prstGeom prst="lin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40702682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Symbols used in E-R diagram</a:t>
            </a:r>
          </a:p>
        </p:txBody>
      </p:sp>
      <p:sp>
        <p:nvSpPr>
          <p:cNvPr id="5" name="Content Placeholder 4"/>
          <p:cNvSpPr>
            <a:spLocks noGrp="1"/>
          </p:cNvSpPr>
          <p:nvPr>
            <p:ph idx="1"/>
          </p:nvPr>
        </p:nvSpPr>
        <p:spPr/>
        <p:txBody>
          <a:bodyPr/>
          <a:lstStyle/>
          <a:p>
            <a:pPr marL="0" indent="0">
              <a:buNone/>
            </a:pPr>
            <a:endParaRPr lang="en-US" dirty="0"/>
          </a:p>
        </p:txBody>
      </p:sp>
      <p:sp>
        <p:nvSpPr>
          <p:cNvPr id="85" name="TextBox 84"/>
          <p:cNvSpPr txBox="1"/>
          <p:nvPr/>
        </p:nvSpPr>
        <p:spPr>
          <a:xfrm>
            <a:off x="1890268" y="2102779"/>
            <a:ext cx="1368000" cy="369332"/>
          </a:xfrm>
          <a:prstGeom prst="rect">
            <a:avLst/>
          </a:prstGeom>
          <a:noFill/>
          <a:ln>
            <a:noFill/>
          </a:ln>
        </p:spPr>
        <p:txBody>
          <a:bodyPr wrap="square" rtlCol="0">
            <a:spAutoFit/>
          </a:bodyPr>
          <a:lstStyle/>
          <a:p>
            <a:pPr algn="ctr"/>
            <a:r>
              <a:rPr lang="en-US" dirty="0"/>
              <a:t>One to One</a:t>
            </a:r>
            <a:endParaRPr lang="en-IN" dirty="0"/>
          </a:p>
        </p:txBody>
      </p:sp>
      <p:sp>
        <p:nvSpPr>
          <p:cNvPr id="86" name="Diamond 85"/>
          <p:cNvSpPr/>
          <p:nvPr/>
        </p:nvSpPr>
        <p:spPr>
          <a:xfrm>
            <a:off x="2070182" y="1602380"/>
            <a:ext cx="1016909" cy="457200"/>
          </a:xfrm>
          <a:prstGeom prst="diamond">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t>
            </a:r>
            <a:endParaRPr lang="en-IN" sz="2000" dirty="0">
              <a:solidFill>
                <a:schemeClr val="tx1"/>
              </a:solidFill>
            </a:endParaRPr>
          </a:p>
        </p:txBody>
      </p:sp>
      <p:sp>
        <p:nvSpPr>
          <p:cNvPr id="87" name="Rectangle 86"/>
          <p:cNvSpPr/>
          <p:nvPr/>
        </p:nvSpPr>
        <p:spPr>
          <a:xfrm>
            <a:off x="684412" y="1603505"/>
            <a:ext cx="876703" cy="4572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endParaRPr lang="en-IN" dirty="0">
              <a:solidFill>
                <a:schemeClr val="tx1"/>
              </a:solidFill>
            </a:endParaRPr>
          </a:p>
        </p:txBody>
      </p:sp>
      <p:sp>
        <p:nvSpPr>
          <p:cNvPr id="88" name="Rectangle 87"/>
          <p:cNvSpPr/>
          <p:nvPr/>
        </p:nvSpPr>
        <p:spPr>
          <a:xfrm>
            <a:off x="3617394" y="1600968"/>
            <a:ext cx="876703" cy="4572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endParaRPr lang="en-IN" dirty="0">
              <a:solidFill>
                <a:schemeClr val="tx1"/>
              </a:solidFill>
            </a:endParaRPr>
          </a:p>
        </p:txBody>
      </p:sp>
      <p:cxnSp>
        <p:nvCxnSpPr>
          <p:cNvPr id="89" name="Straight Connector 88"/>
          <p:cNvCxnSpPr/>
          <p:nvPr/>
        </p:nvCxnSpPr>
        <p:spPr>
          <a:xfrm flipH="1">
            <a:off x="3057890" y="2876609"/>
            <a:ext cx="540000" cy="1125"/>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90" name="Straight Arrow Connector 89"/>
          <p:cNvCxnSpPr/>
          <p:nvPr/>
        </p:nvCxnSpPr>
        <p:spPr>
          <a:xfrm flipH="1">
            <a:off x="1552185" y="1827993"/>
            <a:ext cx="540000" cy="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a:off x="3077394" y="1827993"/>
            <a:ext cx="540000" cy="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92" name="TextBox 91"/>
          <p:cNvSpPr txBox="1"/>
          <p:nvPr/>
        </p:nvSpPr>
        <p:spPr>
          <a:xfrm>
            <a:off x="1867856" y="3148377"/>
            <a:ext cx="1404000" cy="370800"/>
          </a:xfrm>
          <a:prstGeom prst="rect">
            <a:avLst/>
          </a:prstGeom>
          <a:noFill/>
          <a:ln>
            <a:noFill/>
          </a:ln>
        </p:spPr>
        <p:txBody>
          <a:bodyPr wrap="square" rtlCol="0">
            <a:spAutoFit/>
          </a:bodyPr>
          <a:lstStyle/>
          <a:p>
            <a:pPr algn="ctr"/>
            <a:r>
              <a:rPr lang="en-US" dirty="0"/>
              <a:t>One to Many</a:t>
            </a:r>
            <a:endParaRPr lang="en-IN" dirty="0"/>
          </a:p>
        </p:txBody>
      </p:sp>
      <p:sp>
        <p:nvSpPr>
          <p:cNvPr id="93" name="Diamond 92"/>
          <p:cNvSpPr/>
          <p:nvPr/>
        </p:nvSpPr>
        <p:spPr>
          <a:xfrm>
            <a:off x="2047770" y="2647978"/>
            <a:ext cx="1016909" cy="457200"/>
          </a:xfrm>
          <a:prstGeom prst="diamond">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t>
            </a:r>
            <a:endParaRPr lang="en-IN" sz="2000" dirty="0">
              <a:solidFill>
                <a:schemeClr val="tx1"/>
              </a:solidFill>
            </a:endParaRPr>
          </a:p>
        </p:txBody>
      </p:sp>
      <p:sp>
        <p:nvSpPr>
          <p:cNvPr id="94" name="Rectangle 93"/>
          <p:cNvSpPr/>
          <p:nvPr/>
        </p:nvSpPr>
        <p:spPr>
          <a:xfrm>
            <a:off x="662000" y="2649103"/>
            <a:ext cx="876703" cy="4572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endParaRPr lang="en-IN" dirty="0">
              <a:solidFill>
                <a:schemeClr val="tx1"/>
              </a:solidFill>
            </a:endParaRPr>
          </a:p>
        </p:txBody>
      </p:sp>
      <p:sp>
        <p:nvSpPr>
          <p:cNvPr id="95" name="Rectangle 94"/>
          <p:cNvSpPr/>
          <p:nvPr/>
        </p:nvSpPr>
        <p:spPr>
          <a:xfrm>
            <a:off x="3594982" y="2646566"/>
            <a:ext cx="876703" cy="4572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endParaRPr lang="en-IN" dirty="0">
              <a:solidFill>
                <a:schemeClr val="tx1"/>
              </a:solidFill>
            </a:endParaRPr>
          </a:p>
        </p:txBody>
      </p:sp>
      <p:cxnSp>
        <p:nvCxnSpPr>
          <p:cNvPr id="96" name="Straight Arrow Connector 95"/>
          <p:cNvCxnSpPr/>
          <p:nvPr/>
        </p:nvCxnSpPr>
        <p:spPr>
          <a:xfrm flipH="1">
            <a:off x="1529773" y="2873591"/>
            <a:ext cx="540000" cy="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1860288" y="4142929"/>
            <a:ext cx="1404000" cy="370800"/>
          </a:xfrm>
          <a:prstGeom prst="rect">
            <a:avLst/>
          </a:prstGeom>
          <a:noFill/>
          <a:ln>
            <a:noFill/>
          </a:ln>
        </p:spPr>
        <p:txBody>
          <a:bodyPr wrap="square" rtlCol="0">
            <a:spAutoFit/>
          </a:bodyPr>
          <a:lstStyle/>
          <a:p>
            <a:pPr algn="ctr"/>
            <a:r>
              <a:rPr lang="en-US" dirty="0"/>
              <a:t>Many to One</a:t>
            </a:r>
            <a:endParaRPr lang="en-IN" dirty="0"/>
          </a:p>
        </p:txBody>
      </p:sp>
      <p:sp>
        <p:nvSpPr>
          <p:cNvPr id="98" name="Diamond 97"/>
          <p:cNvSpPr/>
          <p:nvPr/>
        </p:nvSpPr>
        <p:spPr>
          <a:xfrm>
            <a:off x="2040202" y="3642530"/>
            <a:ext cx="1016909" cy="457200"/>
          </a:xfrm>
          <a:prstGeom prst="diamond">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t>
            </a:r>
            <a:endParaRPr lang="en-IN" sz="2000" dirty="0">
              <a:solidFill>
                <a:schemeClr val="tx1"/>
              </a:solidFill>
            </a:endParaRPr>
          </a:p>
        </p:txBody>
      </p:sp>
      <p:sp>
        <p:nvSpPr>
          <p:cNvPr id="99" name="Rectangle 98"/>
          <p:cNvSpPr/>
          <p:nvPr/>
        </p:nvSpPr>
        <p:spPr>
          <a:xfrm>
            <a:off x="654432" y="3643655"/>
            <a:ext cx="876703" cy="4572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endParaRPr lang="en-IN" dirty="0">
              <a:solidFill>
                <a:schemeClr val="tx1"/>
              </a:solidFill>
            </a:endParaRPr>
          </a:p>
        </p:txBody>
      </p:sp>
      <p:sp>
        <p:nvSpPr>
          <p:cNvPr id="100" name="Rectangle 99"/>
          <p:cNvSpPr/>
          <p:nvPr/>
        </p:nvSpPr>
        <p:spPr>
          <a:xfrm>
            <a:off x="3587414" y="3641118"/>
            <a:ext cx="876703" cy="4572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endParaRPr lang="en-IN" dirty="0">
              <a:solidFill>
                <a:schemeClr val="tx1"/>
              </a:solidFill>
            </a:endParaRPr>
          </a:p>
        </p:txBody>
      </p:sp>
      <p:cxnSp>
        <p:nvCxnSpPr>
          <p:cNvPr id="101" name="Straight Arrow Connector 100"/>
          <p:cNvCxnSpPr/>
          <p:nvPr/>
        </p:nvCxnSpPr>
        <p:spPr>
          <a:xfrm>
            <a:off x="3050432" y="3870748"/>
            <a:ext cx="540000" cy="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flipH="1">
            <a:off x="1527992" y="3871435"/>
            <a:ext cx="540000" cy="1125"/>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sp>
        <p:nvSpPr>
          <p:cNvPr id="103" name="TextBox 102"/>
          <p:cNvSpPr txBox="1"/>
          <p:nvPr/>
        </p:nvSpPr>
        <p:spPr>
          <a:xfrm>
            <a:off x="1770663" y="5200764"/>
            <a:ext cx="1548000" cy="370800"/>
          </a:xfrm>
          <a:prstGeom prst="rect">
            <a:avLst/>
          </a:prstGeom>
          <a:noFill/>
          <a:ln>
            <a:noFill/>
          </a:ln>
        </p:spPr>
        <p:txBody>
          <a:bodyPr wrap="square" rtlCol="0">
            <a:spAutoFit/>
          </a:bodyPr>
          <a:lstStyle/>
          <a:p>
            <a:pPr algn="ctr"/>
            <a:r>
              <a:rPr lang="en-US" dirty="0"/>
              <a:t>Many to Many</a:t>
            </a:r>
            <a:endParaRPr lang="en-IN" dirty="0"/>
          </a:p>
        </p:txBody>
      </p:sp>
      <p:sp>
        <p:nvSpPr>
          <p:cNvPr id="104" name="Diamond 103"/>
          <p:cNvSpPr/>
          <p:nvPr/>
        </p:nvSpPr>
        <p:spPr>
          <a:xfrm>
            <a:off x="2040517" y="4700365"/>
            <a:ext cx="1016909" cy="457200"/>
          </a:xfrm>
          <a:prstGeom prst="diamond">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a:t>
            </a:r>
            <a:endParaRPr lang="en-IN" sz="2000" dirty="0">
              <a:solidFill>
                <a:schemeClr val="tx1"/>
              </a:solidFill>
            </a:endParaRPr>
          </a:p>
        </p:txBody>
      </p:sp>
      <p:sp>
        <p:nvSpPr>
          <p:cNvPr id="105" name="Rectangle 104"/>
          <p:cNvSpPr/>
          <p:nvPr/>
        </p:nvSpPr>
        <p:spPr>
          <a:xfrm>
            <a:off x="654747" y="4701490"/>
            <a:ext cx="876703" cy="4572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endParaRPr lang="en-IN" dirty="0">
              <a:solidFill>
                <a:schemeClr val="tx1"/>
              </a:solidFill>
            </a:endParaRPr>
          </a:p>
        </p:txBody>
      </p:sp>
      <p:sp>
        <p:nvSpPr>
          <p:cNvPr id="106" name="Rectangle 105"/>
          <p:cNvSpPr/>
          <p:nvPr/>
        </p:nvSpPr>
        <p:spPr>
          <a:xfrm>
            <a:off x="3587729" y="4698953"/>
            <a:ext cx="876703" cy="4572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endParaRPr lang="en-IN" dirty="0">
              <a:solidFill>
                <a:schemeClr val="tx1"/>
              </a:solidFill>
            </a:endParaRPr>
          </a:p>
        </p:txBody>
      </p:sp>
      <p:cxnSp>
        <p:nvCxnSpPr>
          <p:cNvPr id="107" name="Straight Connector 106"/>
          <p:cNvCxnSpPr/>
          <p:nvPr/>
        </p:nvCxnSpPr>
        <p:spPr>
          <a:xfrm flipH="1">
            <a:off x="1518625" y="4929270"/>
            <a:ext cx="540000" cy="1125"/>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08" name="Straight Connector 107"/>
          <p:cNvCxnSpPr/>
          <p:nvPr/>
        </p:nvCxnSpPr>
        <p:spPr>
          <a:xfrm flipH="1">
            <a:off x="3038565" y="4926252"/>
            <a:ext cx="540000" cy="1125"/>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sp>
        <p:nvSpPr>
          <p:cNvPr id="64" name="Flowchart: Merge 63"/>
          <p:cNvSpPr/>
          <p:nvPr/>
        </p:nvSpPr>
        <p:spPr>
          <a:xfrm>
            <a:off x="6221047" y="1645579"/>
            <a:ext cx="1260000" cy="457200"/>
          </a:xfrm>
          <a:prstGeom prst="flowChartMerge">
            <a:avLst/>
          </a:prstGeom>
          <a:noFill/>
          <a:ln w="28575">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solidFill>
              </a:rPr>
              <a:t>ISA</a:t>
            </a:r>
          </a:p>
        </p:txBody>
      </p:sp>
      <p:sp>
        <p:nvSpPr>
          <p:cNvPr id="65" name="TextBox 64"/>
          <p:cNvSpPr txBox="1"/>
          <p:nvPr/>
        </p:nvSpPr>
        <p:spPr>
          <a:xfrm>
            <a:off x="6077047" y="2102779"/>
            <a:ext cx="1548000" cy="923330"/>
          </a:xfrm>
          <a:prstGeom prst="rect">
            <a:avLst/>
          </a:prstGeom>
          <a:noFill/>
          <a:ln>
            <a:noFill/>
          </a:ln>
        </p:spPr>
        <p:txBody>
          <a:bodyPr wrap="square" rtlCol="0">
            <a:spAutoFit/>
          </a:bodyPr>
          <a:lstStyle/>
          <a:p>
            <a:pPr algn="ctr"/>
            <a:r>
              <a:rPr lang="en-US" dirty="0"/>
              <a:t>Total</a:t>
            </a:r>
          </a:p>
          <a:p>
            <a:pPr algn="ctr"/>
            <a:r>
              <a:rPr lang="en-US" dirty="0"/>
              <a:t>Specialization/</a:t>
            </a:r>
          </a:p>
          <a:p>
            <a:pPr algn="ctr"/>
            <a:r>
              <a:rPr lang="en-US" dirty="0"/>
              <a:t>Generalization</a:t>
            </a:r>
            <a:endParaRPr lang="en-IN" dirty="0"/>
          </a:p>
        </p:txBody>
      </p:sp>
      <p:cxnSp>
        <p:nvCxnSpPr>
          <p:cNvPr id="66" name="Straight Connector 65"/>
          <p:cNvCxnSpPr>
            <a:stCxn id="64" idx="0"/>
          </p:cNvCxnSpPr>
          <p:nvPr/>
        </p:nvCxnSpPr>
        <p:spPr>
          <a:xfrm flipV="1">
            <a:off x="6851047" y="1340779"/>
            <a:ext cx="0" cy="304800"/>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Straight Connector 66"/>
          <p:cNvCxnSpPr>
            <a:endCxn id="64" idx="1"/>
          </p:cNvCxnSpPr>
          <p:nvPr/>
        </p:nvCxnSpPr>
        <p:spPr>
          <a:xfrm flipV="1">
            <a:off x="6221047" y="1874179"/>
            <a:ext cx="315000" cy="255877"/>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p:cNvCxnSpPr>
            <a:endCxn id="64" idx="3"/>
          </p:cNvCxnSpPr>
          <p:nvPr/>
        </p:nvCxnSpPr>
        <p:spPr>
          <a:xfrm flipH="1" flipV="1">
            <a:off x="7166047" y="1874179"/>
            <a:ext cx="315000" cy="247085"/>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69" name="Straight Connector 68"/>
          <p:cNvCxnSpPr/>
          <p:nvPr/>
        </p:nvCxnSpPr>
        <p:spPr>
          <a:xfrm flipV="1">
            <a:off x="6915247" y="1340779"/>
            <a:ext cx="0" cy="304800"/>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sp>
        <p:nvSpPr>
          <p:cNvPr id="70" name="Flowchart: Merge 69"/>
          <p:cNvSpPr/>
          <p:nvPr/>
        </p:nvSpPr>
        <p:spPr>
          <a:xfrm>
            <a:off x="8936258" y="1714262"/>
            <a:ext cx="1260000" cy="457200"/>
          </a:xfrm>
          <a:prstGeom prst="flowChartMerge">
            <a:avLst/>
          </a:prstGeom>
          <a:noFill/>
          <a:ln w="28575">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solidFill>
              </a:rPr>
              <a:t>ISA</a:t>
            </a:r>
          </a:p>
        </p:txBody>
      </p:sp>
      <p:sp>
        <p:nvSpPr>
          <p:cNvPr id="71" name="TextBox 70"/>
          <p:cNvSpPr txBox="1"/>
          <p:nvPr/>
        </p:nvSpPr>
        <p:spPr>
          <a:xfrm>
            <a:off x="8792258" y="2171462"/>
            <a:ext cx="1548000" cy="923330"/>
          </a:xfrm>
          <a:prstGeom prst="rect">
            <a:avLst/>
          </a:prstGeom>
          <a:noFill/>
          <a:ln>
            <a:noFill/>
          </a:ln>
        </p:spPr>
        <p:txBody>
          <a:bodyPr wrap="square" rtlCol="0">
            <a:spAutoFit/>
          </a:bodyPr>
          <a:lstStyle/>
          <a:p>
            <a:pPr algn="ctr"/>
            <a:r>
              <a:rPr lang="en-US" dirty="0"/>
              <a:t>Disjoint</a:t>
            </a:r>
          </a:p>
          <a:p>
            <a:pPr algn="ctr"/>
            <a:r>
              <a:rPr lang="en-US" dirty="0"/>
              <a:t>Specialization/</a:t>
            </a:r>
          </a:p>
          <a:p>
            <a:pPr algn="ctr"/>
            <a:r>
              <a:rPr lang="en-US" dirty="0"/>
              <a:t>Generalization</a:t>
            </a:r>
            <a:endParaRPr lang="en-IN" dirty="0"/>
          </a:p>
        </p:txBody>
      </p:sp>
      <p:cxnSp>
        <p:nvCxnSpPr>
          <p:cNvPr id="72" name="Straight Connector 71"/>
          <p:cNvCxnSpPr>
            <a:stCxn id="70" idx="0"/>
          </p:cNvCxnSpPr>
          <p:nvPr/>
        </p:nvCxnSpPr>
        <p:spPr>
          <a:xfrm flipV="1">
            <a:off x="9566258" y="1409462"/>
            <a:ext cx="0" cy="304800"/>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Straight Connector 72"/>
          <p:cNvCxnSpPr>
            <a:endCxn id="70" idx="1"/>
          </p:cNvCxnSpPr>
          <p:nvPr/>
        </p:nvCxnSpPr>
        <p:spPr>
          <a:xfrm flipV="1">
            <a:off x="8936258" y="1942862"/>
            <a:ext cx="315000" cy="255877"/>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Straight Connector 73"/>
          <p:cNvCxnSpPr>
            <a:endCxn id="70" idx="3"/>
          </p:cNvCxnSpPr>
          <p:nvPr/>
        </p:nvCxnSpPr>
        <p:spPr>
          <a:xfrm flipH="1" flipV="1">
            <a:off x="9881258" y="1942862"/>
            <a:ext cx="315000" cy="247085"/>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sp>
        <p:nvSpPr>
          <p:cNvPr id="75" name="TextBox 74"/>
          <p:cNvSpPr txBox="1"/>
          <p:nvPr/>
        </p:nvSpPr>
        <p:spPr>
          <a:xfrm>
            <a:off x="9580975" y="1374371"/>
            <a:ext cx="958200" cy="307777"/>
          </a:xfrm>
          <a:prstGeom prst="rect">
            <a:avLst/>
          </a:prstGeom>
          <a:noFill/>
          <a:ln>
            <a:noFill/>
          </a:ln>
        </p:spPr>
        <p:txBody>
          <a:bodyPr wrap="square" rtlCol="0" anchor="ctr" anchorCtr="0">
            <a:spAutoFit/>
          </a:bodyPr>
          <a:lstStyle/>
          <a:p>
            <a:r>
              <a:rPr lang="en-US" sz="1400" dirty="0"/>
              <a:t>Disjoint</a:t>
            </a:r>
            <a:endParaRPr lang="en-IN" sz="1400" dirty="0"/>
          </a:p>
        </p:txBody>
      </p:sp>
      <p:sp>
        <p:nvSpPr>
          <p:cNvPr id="76" name="Flowchart: Merge 75"/>
          <p:cNvSpPr/>
          <p:nvPr/>
        </p:nvSpPr>
        <p:spPr>
          <a:xfrm>
            <a:off x="9080258" y="4174210"/>
            <a:ext cx="1260000" cy="457200"/>
          </a:xfrm>
          <a:prstGeom prst="flowChartMerge">
            <a:avLst/>
          </a:prstGeom>
          <a:noFill/>
          <a:ln w="28575">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solidFill>
              </a:rPr>
              <a:t>ISA</a:t>
            </a:r>
          </a:p>
        </p:txBody>
      </p:sp>
      <p:sp>
        <p:nvSpPr>
          <p:cNvPr id="77" name="TextBox 76"/>
          <p:cNvSpPr txBox="1"/>
          <p:nvPr/>
        </p:nvSpPr>
        <p:spPr>
          <a:xfrm>
            <a:off x="8936258" y="4640340"/>
            <a:ext cx="1548000" cy="923330"/>
          </a:xfrm>
          <a:prstGeom prst="rect">
            <a:avLst/>
          </a:prstGeom>
          <a:noFill/>
          <a:ln>
            <a:noFill/>
          </a:ln>
        </p:spPr>
        <p:txBody>
          <a:bodyPr wrap="square" rtlCol="0">
            <a:spAutoFit/>
          </a:bodyPr>
          <a:lstStyle/>
          <a:p>
            <a:pPr algn="ctr"/>
            <a:r>
              <a:rPr lang="en-US" dirty="0"/>
              <a:t>Overlapping</a:t>
            </a:r>
          </a:p>
          <a:p>
            <a:pPr algn="ctr"/>
            <a:r>
              <a:rPr lang="en-US" dirty="0"/>
              <a:t>Specialization/</a:t>
            </a:r>
          </a:p>
          <a:p>
            <a:pPr algn="ctr"/>
            <a:r>
              <a:rPr lang="en-US" dirty="0"/>
              <a:t>Generalization</a:t>
            </a:r>
            <a:endParaRPr lang="en-IN" dirty="0"/>
          </a:p>
        </p:txBody>
      </p:sp>
      <p:cxnSp>
        <p:nvCxnSpPr>
          <p:cNvPr id="78" name="Straight Connector 77"/>
          <p:cNvCxnSpPr/>
          <p:nvPr/>
        </p:nvCxnSpPr>
        <p:spPr>
          <a:xfrm flipV="1">
            <a:off x="9710258" y="3878340"/>
            <a:ext cx="0" cy="304800"/>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p:cNvCxnSpPr>
            <a:endCxn id="76" idx="1"/>
          </p:cNvCxnSpPr>
          <p:nvPr/>
        </p:nvCxnSpPr>
        <p:spPr>
          <a:xfrm flipV="1">
            <a:off x="9080258" y="4402810"/>
            <a:ext cx="315000" cy="255877"/>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p:cNvCxnSpPr>
            <a:endCxn id="76" idx="3"/>
          </p:cNvCxnSpPr>
          <p:nvPr/>
        </p:nvCxnSpPr>
        <p:spPr>
          <a:xfrm flipH="1" flipV="1">
            <a:off x="10025258" y="4402810"/>
            <a:ext cx="315000" cy="247085"/>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sp>
        <p:nvSpPr>
          <p:cNvPr id="81" name="TextBox 80"/>
          <p:cNvSpPr txBox="1"/>
          <p:nvPr/>
        </p:nvSpPr>
        <p:spPr>
          <a:xfrm>
            <a:off x="9710258" y="3819645"/>
            <a:ext cx="1080000" cy="309600"/>
          </a:xfrm>
          <a:prstGeom prst="rect">
            <a:avLst/>
          </a:prstGeom>
          <a:noFill/>
          <a:ln>
            <a:noFill/>
          </a:ln>
        </p:spPr>
        <p:txBody>
          <a:bodyPr wrap="square" rtlCol="0" anchor="ctr" anchorCtr="0">
            <a:spAutoFit/>
          </a:bodyPr>
          <a:lstStyle/>
          <a:p>
            <a:r>
              <a:rPr lang="en-US" sz="1400" dirty="0"/>
              <a:t>Overlapping</a:t>
            </a:r>
            <a:endParaRPr lang="en-IN" sz="1400" dirty="0"/>
          </a:p>
        </p:txBody>
      </p:sp>
      <p:sp>
        <p:nvSpPr>
          <p:cNvPr id="82" name="Flowchart: Merge 81"/>
          <p:cNvSpPr/>
          <p:nvPr/>
        </p:nvSpPr>
        <p:spPr>
          <a:xfrm>
            <a:off x="6099696" y="4144694"/>
            <a:ext cx="1260000" cy="457200"/>
          </a:xfrm>
          <a:prstGeom prst="flowChartMerge">
            <a:avLst/>
          </a:prstGeom>
          <a:noFill/>
          <a:ln w="28575">
            <a:solidFill>
              <a:schemeClr val="accent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solidFill>
              </a:rPr>
              <a:t>ISA</a:t>
            </a:r>
          </a:p>
        </p:txBody>
      </p:sp>
      <p:sp>
        <p:nvSpPr>
          <p:cNvPr id="83" name="TextBox 82"/>
          <p:cNvSpPr txBox="1"/>
          <p:nvPr/>
        </p:nvSpPr>
        <p:spPr>
          <a:xfrm>
            <a:off x="5955696" y="4601894"/>
            <a:ext cx="1548000" cy="923330"/>
          </a:xfrm>
          <a:prstGeom prst="rect">
            <a:avLst/>
          </a:prstGeom>
          <a:noFill/>
          <a:ln>
            <a:noFill/>
          </a:ln>
        </p:spPr>
        <p:txBody>
          <a:bodyPr wrap="square" rtlCol="0">
            <a:spAutoFit/>
          </a:bodyPr>
          <a:lstStyle/>
          <a:p>
            <a:pPr algn="ctr"/>
            <a:r>
              <a:rPr lang="en-US" dirty="0"/>
              <a:t>Partial</a:t>
            </a:r>
          </a:p>
          <a:p>
            <a:pPr algn="ctr"/>
            <a:r>
              <a:rPr lang="en-US" dirty="0"/>
              <a:t>Specialization/</a:t>
            </a:r>
          </a:p>
          <a:p>
            <a:pPr algn="ctr"/>
            <a:r>
              <a:rPr lang="en-US" dirty="0"/>
              <a:t>Generalization</a:t>
            </a:r>
            <a:endParaRPr lang="en-IN" dirty="0"/>
          </a:p>
        </p:txBody>
      </p:sp>
      <p:cxnSp>
        <p:nvCxnSpPr>
          <p:cNvPr id="84" name="Straight Connector 83"/>
          <p:cNvCxnSpPr>
            <a:stCxn id="82" idx="0"/>
          </p:cNvCxnSpPr>
          <p:nvPr/>
        </p:nvCxnSpPr>
        <p:spPr>
          <a:xfrm flipV="1">
            <a:off x="6729696" y="3839894"/>
            <a:ext cx="0" cy="304800"/>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09" name="Straight Connector 108"/>
          <p:cNvCxnSpPr>
            <a:endCxn id="82" idx="1"/>
          </p:cNvCxnSpPr>
          <p:nvPr/>
        </p:nvCxnSpPr>
        <p:spPr>
          <a:xfrm flipV="1">
            <a:off x="6099696" y="4373294"/>
            <a:ext cx="315000" cy="255877"/>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cxnSp>
        <p:nvCxnSpPr>
          <p:cNvPr id="110" name="Straight Connector 109"/>
          <p:cNvCxnSpPr>
            <a:endCxn id="82" idx="3"/>
          </p:cNvCxnSpPr>
          <p:nvPr/>
        </p:nvCxnSpPr>
        <p:spPr>
          <a:xfrm flipH="1" flipV="1">
            <a:off x="7044696" y="4373294"/>
            <a:ext cx="315000" cy="247085"/>
          </a:xfrm>
          <a:prstGeom prst="line">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3241906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to be ask in Exam</a:t>
            </a:r>
          </a:p>
        </p:txBody>
      </p:sp>
      <p:sp>
        <p:nvSpPr>
          <p:cNvPr id="3" name="Content Placeholder 2"/>
          <p:cNvSpPr>
            <a:spLocks noGrp="1"/>
          </p:cNvSpPr>
          <p:nvPr>
            <p:ph idx="1"/>
          </p:nvPr>
        </p:nvSpPr>
        <p:spPr/>
        <p:txBody>
          <a:bodyPr/>
          <a:lstStyle/>
          <a:p>
            <a:pPr marL="457200" indent="-457200">
              <a:buFont typeface="+mj-lt"/>
              <a:buAutoNum type="arabicPeriod"/>
            </a:pPr>
            <a:r>
              <a:rPr lang="en-US" dirty="0"/>
              <a:t>Write a note on mapping cardinality in E-R diagram.</a:t>
            </a:r>
          </a:p>
          <a:p>
            <a:pPr marL="457200" indent="-457200">
              <a:buFont typeface="+mj-lt"/>
              <a:buAutoNum type="arabicPeriod"/>
            </a:pPr>
            <a:r>
              <a:rPr lang="en-US" dirty="0"/>
              <a:t>Explain the difference between a weak and a strong entity set.</a:t>
            </a:r>
          </a:p>
          <a:p>
            <a:pPr marL="457200" indent="-457200">
              <a:buFont typeface="+mj-lt"/>
              <a:buAutoNum type="arabicPeriod"/>
            </a:pPr>
            <a:r>
              <a:rPr lang="en-US" dirty="0"/>
              <a:t>Explain the difference between generalization and specialization. </a:t>
            </a:r>
            <a:r>
              <a:rPr lang="en-US" b="1" dirty="0">
                <a:solidFill>
                  <a:schemeClr val="accent6"/>
                </a:solidFill>
              </a:rPr>
              <a:t>OR</a:t>
            </a:r>
            <a:r>
              <a:rPr lang="en-US" dirty="0"/>
              <a:t> Explain specialization and generalization concept in E-R diagram with suitable example.</a:t>
            </a:r>
          </a:p>
          <a:p>
            <a:pPr marL="457200" indent="-457200">
              <a:buFont typeface="+mj-lt"/>
              <a:buAutoNum type="arabicPeriod"/>
            </a:pPr>
            <a:r>
              <a:rPr lang="en-US" dirty="0"/>
              <a:t>Write a note on constraints on specialization and generalization.</a:t>
            </a:r>
          </a:p>
          <a:p>
            <a:pPr marL="457200" indent="-457200">
              <a:buFont typeface="+mj-lt"/>
              <a:buAutoNum type="arabicPeriod"/>
            </a:pPr>
            <a:r>
              <a:rPr lang="en-US" dirty="0"/>
              <a:t>Explain aggregation in E-R diagram with example.</a:t>
            </a:r>
          </a:p>
          <a:p>
            <a:pPr marL="457200" indent="-457200">
              <a:buFont typeface="+mj-lt"/>
              <a:buAutoNum type="arabicPeriod"/>
            </a:pPr>
            <a:r>
              <a:rPr lang="en-US" dirty="0"/>
              <a:t>Explain total and partial participation with example.</a:t>
            </a:r>
          </a:p>
        </p:txBody>
      </p:sp>
    </p:spTree>
    <p:extLst>
      <p:ext uri="{BB962C8B-B14F-4D97-AF65-F5344CB8AC3E}">
        <p14:creationId xmlns:p14="http://schemas.microsoft.com/office/powerpoint/2010/main" val="2715661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to be ask in Exam </a:t>
            </a:r>
            <a:r>
              <a:rPr lang="en-US" dirty="0">
                <a:solidFill>
                  <a:schemeClr val="tx2"/>
                </a:solidFill>
              </a:rPr>
              <a:t>[E-R diagrams &amp; Database Design]</a:t>
            </a:r>
          </a:p>
        </p:txBody>
      </p:sp>
      <p:sp>
        <p:nvSpPr>
          <p:cNvPr id="3" name="Content Placeholder 2"/>
          <p:cNvSpPr>
            <a:spLocks noGrp="1"/>
          </p:cNvSpPr>
          <p:nvPr>
            <p:ph idx="1"/>
          </p:nvPr>
        </p:nvSpPr>
        <p:spPr/>
        <p:txBody>
          <a:bodyPr/>
          <a:lstStyle/>
          <a:p>
            <a:pPr marL="457200" indent="-457200">
              <a:buFont typeface="+mj-lt"/>
              <a:buAutoNum type="arabicPeriod" startAt="7"/>
            </a:pPr>
            <a:r>
              <a:rPr lang="en-US" sz="2000" dirty="0"/>
              <a:t>Draw E-R diagram for </a:t>
            </a:r>
            <a:r>
              <a:rPr lang="en-US" sz="2000" b="1" dirty="0"/>
              <a:t>Bank Management System</a:t>
            </a:r>
            <a:r>
              <a:rPr lang="en-US" sz="2000" dirty="0"/>
              <a:t>.</a:t>
            </a:r>
          </a:p>
          <a:p>
            <a:pPr marL="457200" indent="-457200">
              <a:buFont typeface="+mj-lt"/>
              <a:buAutoNum type="arabicPeriod" startAt="7"/>
            </a:pPr>
            <a:r>
              <a:rPr lang="en-US" sz="2000" dirty="0"/>
              <a:t>Define E-R diagram. Draw an E-R diagram for </a:t>
            </a:r>
            <a:r>
              <a:rPr lang="en-US" sz="2000" b="1" dirty="0"/>
              <a:t>Library Management System</a:t>
            </a:r>
            <a:r>
              <a:rPr lang="en-US" sz="2000" dirty="0"/>
              <a:t>. Assume relevant entities and attributes for the given system.</a:t>
            </a:r>
          </a:p>
          <a:p>
            <a:pPr marL="457200" indent="-457200">
              <a:buFont typeface="+mj-lt"/>
              <a:buAutoNum type="arabicPeriod" startAt="7"/>
            </a:pPr>
            <a:r>
              <a:rPr lang="en-US" sz="2000" dirty="0"/>
              <a:t>Construct an E-R diagram for a </a:t>
            </a:r>
            <a:r>
              <a:rPr lang="en-US" sz="2000" b="1" dirty="0"/>
              <a:t>Car-Insurance company </a:t>
            </a:r>
            <a:r>
              <a:rPr lang="en-US" sz="2000" dirty="0"/>
              <a:t>whose customers own one or more cars each. Each car has associated with it zero to any number of recorded accidents.</a:t>
            </a:r>
          </a:p>
          <a:p>
            <a:pPr marL="457200" indent="-457200">
              <a:buFont typeface="+mj-lt"/>
              <a:buAutoNum type="arabicPeriod" startAt="7"/>
            </a:pPr>
            <a:r>
              <a:rPr lang="en-US" sz="2000" dirty="0"/>
              <a:t>Design a generalization–specialization hierarchy for a </a:t>
            </a:r>
            <a:r>
              <a:rPr lang="en-US" sz="2000" b="1" dirty="0"/>
              <a:t>Motor-Vehicle Sales Company</a:t>
            </a:r>
            <a:r>
              <a:rPr lang="en-US" sz="2000" dirty="0"/>
              <a:t>. The company sells motorcycles, passenger cars, vans, and buses. Justify your placement of attributes at each level of the hierarchy. Explain why they should not be placed at a higher or lower level.</a:t>
            </a:r>
          </a:p>
          <a:p>
            <a:pPr marL="457200" indent="-457200">
              <a:buFont typeface="+mj-lt"/>
              <a:buAutoNum type="arabicPeriod" startAt="11"/>
            </a:pPr>
            <a:r>
              <a:rPr lang="en-US" sz="2000" b="1" dirty="0"/>
              <a:t>Design a database for an airline</a:t>
            </a:r>
            <a:r>
              <a:rPr lang="en-US" sz="2000" dirty="0"/>
              <a:t>. The database must keep track of customers and their reservations, flights and their status, seat assignments on individual flights, and the schedule and routing of future flights. Your design should include an E-R diagram, a set of relational schemas, and a list of constraints, including primary-key and foreign-key constraints.</a:t>
            </a:r>
          </a:p>
          <a:p>
            <a:pPr marL="457200" indent="-457200">
              <a:buFont typeface="+mj-lt"/>
              <a:buAutoNum type="arabicPeriod" startAt="11"/>
            </a:pPr>
            <a:r>
              <a:rPr lang="en-US" sz="2000" b="1" dirty="0"/>
              <a:t>Design a database for a hospital</a:t>
            </a:r>
            <a:r>
              <a:rPr lang="en-US" sz="2000" dirty="0"/>
              <a:t> with a set of patients and a set of medical doctors. Associate with each patient a log of the various tests and examinations conducted. Your design should include an E-R diagram, a set of relational schemas, and a list of constraints, including primary-key and foreign-key constraints.</a:t>
            </a:r>
          </a:p>
        </p:txBody>
      </p:sp>
    </p:spTree>
    <p:extLst>
      <p:ext uri="{BB962C8B-B14F-4D97-AF65-F5344CB8AC3E}">
        <p14:creationId xmlns:p14="http://schemas.microsoft.com/office/powerpoint/2010/main" val="1523690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a:xfrm>
            <a:off x="2581756" y="20384"/>
            <a:ext cx="4646358" cy="734653"/>
          </a:xfrm>
        </p:spPr>
        <p:txBody>
          <a:bodyPr/>
          <a:lstStyle/>
          <a:p>
            <a:r>
              <a:rPr lang="en-US" b="1" dirty="0"/>
              <a:t>Database Management System </a:t>
            </a:r>
            <a:r>
              <a:rPr lang="en-US" dirty="0">
                <a:latin typeface="Roboto Condensed Light" panose="02000000000000000000" pitchFamily="2" charset="0"/>
                <a:ea typeface="Roboto Condensed Light" panose="02000000000000000000" pitchFamily="2" charset="0"/>
              </a:rPr>
              <a:t>(DBMS-I)</a:t>
            </a:r>
          </a:p>
          <a:p>
            <a:r>
              <a:rPr lang="en-US" dirty="0"/>
              <a:t>#2101CS201</a:t>
            </a:r>
          </a:p>
        </p:txBody>
      </p:sp>
      <p:sp>
        <p:nvSpPr>
          <p:cNvPr id="28"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a:xfrm>
            <a:off x="2180943" y="6175935"/>
            <a:ext cx="3735998" cy="290081"/>
          </a:xfrm>
        </p:spPr>
        <p:txBody>
          <a:bodyPr/>
          <a:lstStyle/>
          <a:p>
            <a:r>
              <a:rPr lang="en-US" dirty="0"/>
              <a:t>naimish.vadodariya@darshan.ac.in</a:t>
            </a:r>
          </a:p>
        </p:txBody>
      </p:sp>
      <p:sp>
        <p:nvSpPr>
          <p:cNvPr id="29"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a:xfrm>
            <a:off x="2183874" y="6460218"/>
            <a:ext cx="3735998" cy="290081"/>
          </a:xfrm>
        </p:spPr>
        <p:txBody>
          <a:bodyPr/>
          <a:lstStyle/>
          <a:p>
            <a:r>
              <a:rPr lang="en-US" dirty="0"/>
              <a:t>8866215253</a:t>
            </a:r>
          </a:p>
        </p:txBody>
      </p:sp>
      <p:sp>
        <p:nvSpPr>
          <p:cNvPr id="30"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780000" cy="290081"/>
          </a:xfrm>
        </p:spPr>
        <p:txBody>
          <a:bodyPr/>
          <a:lstStyle/>
          <a:p>
            <a:r>
              <a:rPr lang="en-US" dirty="0"/>
              <a:t>Computer Science &amp; Engineering Department</a:t>
            </a:r>
          </a:p>
        </p:txBody>
      </p:sp>
      <p:sp>
        <p:nvSpPr>
          <p:cNvPr id="31"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a:xfrm>
            <a:off x="1837677" y="5273332"/>
            <a:ext cx="5581039" cy="290081"/>
          </a:xfrm>
        </p:spPr>
        <p:txBody>
          <a:bodyPr/>
          <a:lstStyle/>
          <a:p>
            <a:r>
              <a:rPr lang="en-US" dirty="0"/>
              <a:t>Prof. Naimish R. Vadodariya</a:t>
            </a:r>
          </a:p>
        </p:txBody>
      </p:sp>
      <p:pic>
        <p:nvPicPr>
          <p:cNvPr id="32" name="Picture Placeholder 1"/>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p:blipFill>
        <p:spPr>
          <a:xfrm>
            <a:off x="353569" y="5211251"/>
            <a:ext cx="1353599" cy="1353599"/>
          </a:xfrm>
        </p:spPr>
      </p:pic>
    </p:spTree>
    <p:extLst>
      <p:ext uri="{BB962C8B-B14F-4D97-AF65-F5344CB8AC3E}">
        <p14:creationId xmlns:p14="http://schemas.microsoft.com/office/powerpoint/2010/main" val="1693413271"/>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2633</TotalTime>
  <Words>3643</Words>
  <Application>Microsoft Office PowerPoint</Application>
  <PresentationFormat>Widescreen</PresentationFormat>
  <Paragraphs>853</Paragraphs>
  <Slides>65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Roboto Condensed Light</vt:lpstr>
      <vt:lpstr>Roboto Condensed</vt:lpstr>
      <vt:lpstr>Calibri</vt:lpstr>
      <vt:lpstr>Wingdings</vt:lpstr>
      <vt:lpstr>Wingdings 3</vt:lpstr>
      <vt:lpstr>Arial</vt:lpstr>
      <vt:lpstr>Office Theme</vt:lpstr>
      <vt:lpstr>Unit-3  Entity-Relationship Model (E-R Model)</vt:lpstr>
      <vt:lpstr>PowerPoint Presentation</vt:lpstr>
      <vt:lpstr>PowerPoint Presentation</vt:lpstr>
      <vt:lpstr>Basic concept of E-R diagram </vt:lpstr>
      <vt:lpstr>Basic concepts</vt:lpstr>
      <vt:lpstr>Entity</vt:lpstr>
      <vt:lpstr>Entity Set</vt:lpstr>
      <vt:lpstr>Attributes</vt:lpstr>
      <vt:lpstr>Relationship</vt:lpstr>
      <vt:lpstr>E-R Diagram of a Library System</vt:lpstr>
      <vt:lpstr>Ternary Relationship</vt:lpstr>
      <vt:lpstr>Exercise</vt:lpstr>
      <vt:lpstr>Types of Attributes</vt:lpstr>
      <vt:lpstr>Types of Attributes</vt:lpstr>
      <vt:lpstr>Types of Attributes</vt:lpstr>
      <vt:lpstr>Types of Attributes</vt:lpstr>
      <vt:lpstr>Entity with all types of Attributes</vt:lpstr>
      <vt:lpstr>Exercise</vt:lpstr>
      <vt:lpstr>Descriptive Attribute</vt:lpstr>
      <vt:lpstr>Role</vt:lpstr>
      <vt:lpstr>Recursive Relationship Set</vt:lpstr>
      <vt:lpstr>Mapping Cardinality</vt:lpstr>
      <vt:lpstr>Mapping Cardinality (Cardinality Constraints)</vt:lpstr>
      <vt:lpstr>One-to-One relationship (1 – 1)</vt:lpstr>
      <vt:lpstr>One-to-Many relationship (1 – N)</vt:lpstr>
      <vt:lpstr>Many-to-One relationship (N – 1)</vt:lpstr>
      <vt:lpstr>Many-to-Many relationship (N – N)</vt:lpstr>
      <vt:lpstr>Mapping Cardinality (Cardinality Constraints) [Exercise]</vt:lpstr>
      <vt:lpstr>Participation Constraints</vt:lpstr>
      <vt:lpstr>Participation Constraints</vt:lpstr>
      <vt:lpstr>Weak Entity Set</vt:lpstr>
      <vt:lpstr>Weak Entity Set</vt:lpstr>
      <vt:lpstr>Weak Entity Set</vt:lpstr>
      <vt:lpstr>Superclass v/s Subclass</vt:lpstr>
      <vt:lpstr>Superclass v/s Subclass</vt:lpstr>
      <vt:lpstr>Generalization v/s Specialization</vt:lpstr>
      <vt:lpstr>Generalization v/s Specialization</vt:lpstr>
      <vt:lpstr>Generalization v/s Specialization</vt:lpstr>
      <vt:lpstr>Generalization &amp; Specialization example</vt:lpstr>
      <vt:lpstr>Exercise</vt:lpstr>
      <vt:lpstr>Constraints on  Specialization and Generalization</vt:lpstr>
      <vt:lpstr>Constraints on Specialization and Generalization</vt:lpstr>
      <vt:lpstr>Disjoint Constraint</vt:lpstr>
      <vt:lpstr>Disjoint Constraint</vt:lpstr>
      <vt:lpstr>Non-disjoint (Overlapping) Constraint</vt:lpstr>
      <vt:lpstr>Constraints on Specialization and Generalization</vt:lpstr>
      <vt:lpstr>Participation (Completeness) Constraint</vt:lpstr>
      <vt:lpstr>Total (Mandatory) Participation</vt:lpstr>
      <vt:lpstr>Partial (Optional) Participation</vt:lpstr>
      <vt:lpstr>Aggregation in E-R diagram</vt:lpstr>
      <vt:lpstr>Limitation of E-R diagram</vt:lpstr>
      <vt:lpstr>Limitation of E-R diagram</vt:lpstr>
      <vt:lpstr>E-R diagram of  Hospital Management  System</vt:lpstr>
      <vt:lpstr>E-R diagram of Hospital Management System</vt:lpstr>
      <vt:lpstr>Reduce the E-R diagram  to Database Schema</vt:lpstr>
      <vt:lpstr>Reduce the E-R diagram to database schema</vt:lpstr>
      <vt:lpstr>Reduce the E-R diagram to database schema</vt:lpstr>
      <vt:lpstr>Reduce the E-R diagram to database schema</vt:lpstr>
      <vt:lpstr>Reduce the E-R diagram to database schema</vt:lpstr>
      <vt:lpstr>Reduce the E-R diagram to database schema</vt:lpstr>
      <vt:lpstr>Symbols used in E-R diagram</vt:lpstr>
      <vt:lpstr>Symbols used in E-R diagram</vt:lpstr>
      <vt:lpstr>Questions to be ask in Exam</vt:lpstr>
      <vt:lpstr>Questions to be ask in Exam [E-R diagrams &amp; Database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Naimish Vadodariya</cp:lastModifiedBy>
  <cp:revision>610</cp:revision>
  <dcterms:created xsi:type="dcterms:W3CDTF">2020-05-01T05:09:15Z</dcterms:created>
  <dcterms:modified xsi:type="dcterms:W3CDTF">2022-03-14T04:59:34Z</dcterms:modified>
</cp:coreProperties>
</file>