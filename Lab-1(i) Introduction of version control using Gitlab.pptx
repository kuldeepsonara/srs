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17"/>
  </p:notesMasterIdLst>
  <p:sldIdLst>
    <p:sldId id="283" r:id="rId2"/>
    <p:sldId id="541" r:id="rId3"/>
    <p:sldId id="535" r:id="rId4"/>
    <p:sldId id="540" r:id="rId5"/>
    <p:sldId id="539" r:id="rId6"/>
    <p:sldId id="546" r:id="rId7"/>
    <p:sldId id="588" r:id="rId8"/>
    <p:sldId id="552" r:id="rId9"/>
    <p:sldId id="550" r:id="rId10"/>
    <p:sldId id="542" r:id="rId11"/>
    <p:sldId id="589" r:id="rId12"/>
    <p:sldId id="590" r:id="rId13"/>
    <p:sldId id="563" r:id="rId14"/>
    <p:sldId id="594" r:id="rId15"/>
    <p:sldId id="533" r:id="rId16"/>
  </p:sldIdLst>
  <p:sldSz cx="12192000" cy="6858000"/>
  <p:notesSz cx="6858000" cy="9144000"/>
  <p:embeddedFontLst>
    <p:embeddedFont>
      <p:font typeface="Segoe UI Black" panose="020B0A02040204020203" pitchFamily="34" charset="0"/>
      <p:bold r:id="rId18"/>
      <p:boldItalic r:id="rId19"/>
    </p:embeddedFont>
    <p:embeddedFont>
      <p:font typeface="Roboto Condensed" panose="02000000000000000000" pitchFamily="2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Wingdings 3" panose="05040102010807070707" pitchFamily="18" charset="2"/>
      <p:regular r:id="rId28"/>
    </p:embeddedFont>
    <p:embeddedFont>
      <p:font typeface="Nunito" panose="020B0604020202020204" charset="0"/>
      <p:regular r:id="rId29"/>
      <p:bold r:id="rId30"/>
      <p:italic r:id="rId31"/>
      <p:boldItalic r:id="rId32"/>
    </p:embeddedFont>
    <p:embeddedFont>
      <p:font typeface="Roboto Condensed Light" panose="02000000000000000000" pitchFamily="2" charset="0"/>
      <p:regular r:id="rId33"/>
      <p:italic r:id="rId34"/>
    </p:embeddedFont>
    <p:embeddedFont>
      <p:font typeface="Lucida Console" panose="020B0609040504020204" pitchFamily="49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7EiV6l3bWCPNgC4L7Mr+gg==" hashData="Yogj8orzJIXGqajylHKKYjXNrRpFAYxAVK5Kt7a5aAZHB4CE6b43FdI+2ffNt7r+K4tQhX6rWlhmsOu56oy/hw=="/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DHAV" initials="M" lastIdx="1" clrIdx="0">
    <p:extLst>
      <p:ext uri="{19B8F6BF-5375-455C-9EA6-DF929625EA0E}">
        <p15:presenceInfo xmlns:p15="http://schemas.microsoft.com/office/powerpoint/2012/main" userId="MADHA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A0"/>
    <a:srgbClr val="71EDF3"/>
    <a:srgbClr val="BDE0F6"/>
    <a:srgbClr val="A03C3A"/>
    <a:srgbClr val="33AF48"/>
    <a:srgbClr val="FF3737"/>
    <a:srgbClr val="FF6565"/>
    <a:srgbClr val="FF9797"/>
    <a:srgbClr val="FF9979"/>
    <a:srgbClr val="228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5028" autoAdjust="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outlineViewPr>
    <p:cViewPr>
      <p:scale>
        <a:sx n="33" d="100"/>
        <a:sy n="33" d="100"/>
      </p:scale>
      <p:origin x="0" y="-4926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0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heme" Target="theme/theme1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devangi.kotak@darshan.ac.in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Department of Computer Application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 dirty="0"/>
              <a:t> L. Kotak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Project Management Tools (PMT)</a:t>
            </a:r>
          </a:p>
          <a:p>
            <a:pPr lvl="0"/>
            <a:r>
              <a:rPr lang="en-US" dirty="0"/>
              <a:t> # 2104CS452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7549882" y="4381553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xmlns="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E6BF5FE-AD46-B161-FF5F-69085BD13942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A03C3A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A03C3A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A03C3A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A03C3A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A03C3A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xmlns="" id="{C63725A5-3E25-4423-A6AA-A661FEFEFC64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50293" cy="344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- 1 Introduction of version control using Gitlab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-257453" y="6514237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A03C3A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A03C3A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A03C3A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A03C3A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A03C3A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xmlns="" id="{3F8FE1C2-AB03-462B-A1FC-6ECB14933EA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50293" cy="344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- 1 Introduction of version control using Gitlab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131179" y="6881351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A03C3A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A03C3A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A03C3A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A03C3A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A03C3A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C0DAFADC-7AC6-C63E-ADC2-FABFEE809C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16913" y="863600"/>
            <a:ext cx="3743325" cy="5591175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xmlns="" id="{DA4FA683-41B7-47B5-9DEE-FA6F800347F1}"/>
              </a:ext>
            </a:extLst>
          </p:cNvPr>
          <p:cNvSpPr txBox="1">
            <a:spLocks/>
          </p:cNvSpPr>
          <p:nvPr userDrawn="1"/>
        </p:nvSpPr>
        <p:spPr>
          <a:xfrm>
            <a:off x="4038599" y="6568488"/>
            <a:ext cx="4750293" cy="344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- 1 Introduction of version control using Gitlab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A03C3A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A03C3A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A03C3A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A03C3A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A03C3A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xmlns="" id="{4490D3A6-6DE2-48B7-8A82-77BBC0BF5987}"/>
              </a:ext>
            </a:extLst>
          </p:cNvPr>
          <p:cNvSpPr txBox="1">
            <a:spLocks/>
          </p:cNvSpPr>
          <p:nvPr userDrawn="1"/>
        </p:nvSpPr>
        <p:spPr>
          <a:xfrm>
            <a:off x="4038599" y="6568488"/>
            <a:ext cx="4750293" cy="344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- 1 Introduction of version control using Gitlab</a:t>
            </a:r>
          </a:p>
        </p:txBody>
      </p:sp>
    </p:spTree>
    <p:extLst>
      <p:ext uri="{BB962C8B-B14F-4D97-AF65-F5344CB8AC3E}">
        <p14:creationId xmlns:p14="http://schemas.microsoft.com/office/powerpoint/2010/main" val="4428525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xmlns="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rgbClr val="1D6FA9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1BB840A6-97B0-CFA5-AB48-7273E65BD559}"/>
              </a:ext>
            </a:extLst>
          </p:cNvPr>
          <p:cNvGrpSpPr/>
          <p:nvPr userDrawn="1"/>
        </p:nvGrpSpPr>
        <p:grpSpPr>
          <a:xfrm>
            <a:off x="10241877" y="6272216"/>
            <a:ext cx="1649043" cy="501287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D9C80BE6-F46E-C2F0-74BA-6038297ECC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8FB936F-4C77-F3A8-C56D-276443FAFCE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xmlns="" id="{EEDD1F18-9C5B-4E6D-AD04-A9F281AE3158}"/>
              </a:ext>
            </a:extLst>
          </p:cNvPr>
          <p:cNvSpPr txBox="1">
            <a:spLocks/>
          </p:cNvSpPr>
          <p:nvPr userDrawn="1"/>
        </p:nvSpPr>
        <p:spPr>
          <a:xfrm>
            <a:off x="4038599" y="6586244"/>
            <a:ext cx="4750293" cy="344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- 1 Introduction of version control using Gitlab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xmlns="" id="{7774ACAB-91DD-4CA5-B260-A2369173CB76}"/>
              </a:ext>
            </a:extLst>
          </p:cNvPr>
          <p:cNvSpPr txBox="1">
            <a:spLocks/>
          </p:cNvSpPr>
          <p:nvPr userDrawn="1"/>
        </p:nvSpPr>
        <p:spPr>
          <a:xfrm>
            <a:off x="4038599" y="6595122"/>
            <a:ext cx="4750293" cy="344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- 1 Introduction of version control using Gitlab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xmlns="" id="{35FE9AAB-5E5F-42B9-80E5-2EA47115D54B}"/>
              </a:ext>
            </a:extLst>
          </p:cNvPr>
          <p:cNvSpPr txBox="1">
            <a:spLocks/>
          </p:cNvSpPr>
          <p:nvPr userDrawn="1"/>
        </p:nvSpPr>
        <p:spPr>
          <a:xfrm>
            <a:off x="4038599" y="6577366"/>
            <a:ext cx="4750293" cy="344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- 1 Introduction of version control using Gitlab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xmlns="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xmlns="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xmlns="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devangi.kotak@darshan.ac.in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Department of Computer Application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 dirty="0"/>
              <a:t> L. Kotak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Software Engineering (SE)</a:t>
            </a:r>
          </a:p>
          <a:p>
            <a:pPr lvl="0"/>
            <a:r>
              <a:rPr lang="en-US" dirty="0"/>
              <a:t># 2101CS503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92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Lab -1(1)</a:t>
            </a:r>
            <a:r>
              <a:rPr lang="en-US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Introduction of</a:t>
            </a:r>
            <a:r>
              <a:rPr lang="en-IN" sz="5800" dirty="0"/>
              <a:t> Version Control using Git Lab</a:t>
            </a:r>
            <a:endParaRPr lang="en-US" sz="5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devangi.kotak@darshan.ac.in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xmlns="" id="{87F7D515-F837-132B-2E4E-D0AB7DAFBB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" r="3854"/>
          <a:stretch/>
        </p:blipFill>
        <p:spPr/>
      </p:pic>
      <p:sp>
        <p:nvSpPr>
          <p:cNvPr id="11" name="AutoShape 3">
            <a:extLst>
              <a:ext uri="{FF2B5EF4-FFF2-40B4-BE49-F238E27FC236}">
                <a16:creationId xmlns:a16="http://schemas.microsoft.com/office/drawing/2014/main" xmlns="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9BECE0CA-C50D-4F26-BF12-8FFA5938E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845BCAFF-EDA4-4564-A703-58498E8E0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0542" y="5514690"/>
            <a:ext cx="4336879" cy="350868"/>
          </a:xfrm>
        </p:spPr>
        <p:txBody>
          <a:bodyPr/>
          <a:lstStyle/>
          <a:p>
            <a:r>
              <a:rPr lang="en-US" dirty="0"/>
              <a:t> Computer Science &amp; Engineering Department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xmlns="" id="{3BA79302-5A72-452E-AC3F-54F79AFB03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71775" y="-71438"/>
            <a:ext cx="4646613" cy="985838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Software Engineering (SE)</a:t>
            </a:r>
          </a:p>
          <a:p>
            <a:pPr lvl="0"/>
            <a:r>
              <a:rPr lang="en-US" dirty="0"/>
              <a:t># 2101CS503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8F454454-9392-4867-87D4-98B53BB518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8325" y="5273675"/>
            <a:ext cx="5580063" cy="290513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 dirty="0"/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C2F1A9-C902-2955-D4E3-BBDEAEA9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Version Control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5AA0E9-E473-9856-D331-E2AD255D1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A03C3A"/>
              </a:buClr>
            </a:pPr>
            <a:r>
              <a:rPr lang="en-US" dirty="0"/>
              <a:t>Version Control System (VCS) is a software that helps software developers to </a:t>
            </a:r>
            <a:r>
              <a:rPr lang="en-US" dirty="0">
                <a:solidFill>
                  <a:srgbClr val="A03C3A"/>
                </a:solidFill>
              </a:rPr>
              <a:t>work together </a:t>
            </a:r>
            <a:r>
              <a:rPr lang="en-US" dirty="0"/>
              <a:t>and maintain </a:t>
            </a:r>
            <a:r>
              <a:rPr lang="en-US" dirty="0">
                <a:solidFill>
                  <a:srgbClr val="A03C3A"/>
                </a:solidFill>
              </a:rPr>
              <a:t>a complete history </a:t>
            </a:r>
            <a:r>
              <a:rPr lang="en-US" dirty="0"/>
              <a:t>of their work.</a:t>
            </a:r>
          </a:p>
          <a:p>
            <a:pPr>
              <a:buClr>
                <a:srgbClr val="A03C3A"/>
              </a:buClr>
            </a:pPr>
            <a:r>
              <a:rPr lang="en-US" dirty="0"/>
              <a:t>We can roll back to any version we want without causing any trouble.</a:t>
            </a:r>
          </a:p>
          <a:p>
            <a:pPr>
              <a:buClr>
                <a:srgbClr val="A03C3A"/>
              </a:buClr>
            </a:pPr>
            <a:r>
              <a:rPr lang="en-US" dirty="0"/>
              <a:t>In VCS, a repository is an area that keeps all your project files, images, etc.</a:t>
            </a:r>
          </a:p>
          <a:p>
            <a:pPr>
              <a:buClr>
                <a:srgbClr val="A03C3A"/>
              </a:buClr>
            </a:pPr>
            <a:r>
              <a:rPr lang="en-US" dirty="0"/>
              <a:t>Top 10 VCS in 2023 are:</a:t>
            </a:r>
          </a:p>
          <a:p>
            <a:pPr lvl="1"/>
            <a:r>
              <a:rPr lang="en-US" dirty="0"/>
              <a:t>GitHub</a:t>
            </a:r>
          </a:p>
          <a:p>
            <a:pPr lvl="1"/>
            <a:r>
              <a:rPr lang="en-US" dirty="0"/>
              <a:t>Gitlab</a:t>
            </a:r>
          </a:p>
          <a:p>
            <a:pPr lvl="1"/>
            <a:r>
              <a:rPr lang="en-US" dirty="0"/>
              <a:t>Beanstalk</a:t>
            </a:r>
          </a:p>
          <a:p>
            <a:pPr lvl="1"/>
            <a:r>
              <a:rPr lang="en-US" dirty="0" err="1"/>
              <a:t>Helixcore</a:t>
            </a:r>
            <a:endParaRPr lang="en-US" dirty="0"/>
          </a:p>
          <a:p>
            <a:pPr lvl="1"/>
            <a:r>
              <a:rPr lang="en-US" dirty="0"/>
              <a:t>Apache subversion</a:t>
            </a:r>
          </a:p>
          <a:p>
            <a:pPr lvl="1"/>
            <a:r>
              <a:rPr lang="en-US" dirty="0"/>
              <a:t>AWS </a:t>
            </a:r>
            <a:r>
              <a:rPr lang="en-US" dirty="0" err="1"/>
              <a:t>CodeCommit</a:t>
            </a:r>
            <a:endParaRPr lang="en-US" dirty="0"/>
          </a:p>
          <a:p>
            <a:pPr lvl="1"/>
            <a:r>
              <a:rPr lang="en-US" dirty="0"/>
              <a:t>Microsoft Team Foundation Server</a:t>
            </a:r>
          </a:p>
          <a:p>
            <a:pPr lvl="1"/>
            <a:r>
              <a:rPr lang="en-US" dirty="0"/>
              <a:t>Mercurial</a:t>
            </a:r>
          </a:p>
          <a:p>
            <a:pPr lvl="1"/>
            <a:r>
              <a:rPr lang="en-US" dirty="0"/>
              <a:t>Concurrent Versions System (CVS)</a:t>
            </a:r>
          </a:p>
          <a:p>
            <a:pPr lvl="1"/>
            <a:r>
              <a:rPr lang="en-US" dirty="0"/>
              <a:t>Bitbucket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Clr>
                <a:srgbClr val="A03C3A"/>
              </a:buClr>
            </a:pPr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12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94EF7E-F95F-D807-97EA-18AABAA7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1B87B7-0717-F376-AD7C-5B13E3537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758724"/>
            <a:ext cx="11929641" cy="5590565"/>
          </a:xfrm>
        </p:spPr>
        <p:txBody>
          <a:bodyPr/>
          <a:lstStyle/>
          <a:p>
            <a:r>
              <a:rPr lang="en-US" dirty="0"/>
              <a:t>Git is one of the </a:t>
            </a:r>
            <a:r>
              <a:rPr lang="en-US" dirty="0">
                <a:solidFill>
                  <a:srgbClr val="A03C3A"/>
                </a:solidFill>
              </a:rPr>
              <a:t>version control </a:t>
            </a:r>
            <a:r>
              <a:rPr lang="en-US" dirty="0"/>
              <a:t>system used to helps </a:t>
            </a:r>
            <a:r>
              <a:rPr lang="en-US" dirty="0">
                <a:solidFill>
                  <a:srgbClr val="A03C3A"/>
                </a:solidFill>
              </a:rPr>
              <a:t>keep track </a:t>
            </a:r>
            <a:r>
              <a:rPr lang="en-US" dirty="0"/>
              <a:t>of </a:t>
            </a:r>
            <a:r>
              <a:rPr lang="en-US" dirty="0">
                <a:solidFill>
                  <a:srgbClr val="A03C3A"/>
                </a:solidFill>
              </a:rPr>
              <a:t>code changes</a:t>
            </a:r>
            <a:r>
              <a:rPr lang="en-US" dirty="0"/>
              <a:t>.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rgbClr val="A03C3A"/>
                </a:solidFill>
              </a:rPr>
              <a:t>free </a:t>
            </a:r>
            <a:r>
              <a:rPr lang="en-US" dirty="0"/>
              <a:t>and </a:t>
            </a:r>
            <a:r>
              <a:rPr lang="en-US" dirty="0">
                <a:solidFill>
                  <a:srgbClr val="A03C3A"/>
                </a:solidFill>
              </a:rPr>
              <a:t>open source software </a:t>
            </a:r>
            <a:r>
              <a:rPr lang="en-US" dirty="0"/>
              <a:t>distributed under the terms of GNU General Public License version 2.</a:t>
            </a:r>
          </a:p>
          <a:p>
            <a:r>
              <a:rPr lang="en-US" dirty="0"/>
              <a:t>It is designed for </a:t>
            </a:r>
            <a:r>
              <a:rPr lang="en-US" dirty="0">
                <a:solidFill>
                  <a:srgbClr val="A03C3A"/>
                </a:solidFill>
              </a:rPr>
              <a:t>coordinating work </a:t>
            </a:r>
            <a:r>
              <a:rPr lang="en-US" dirty="0"/>
              <a:t>among </a:t>
            </a:r>
            <a:r>
              <a:rPr lang="en-US" dirty="0">
                <a:solidFill>
                  <a:srgbClr val="A03C3A"/>
                </a:solidFill>
              </a:rPr>
              <a:t>programmers</a:t>
            </a:r>
            <a:r>
              <a:rPr lang="en-US" dirty="0"/>
              <a:t>, but it can be used to track changes in any set of files.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rgbClr val="A03C3A"/>
                </a:solidFill>
              </a:rPr>
              <a:t>distributed</a:t>
            </a:r>
            <a:r>
              <a:rPr lang="en-US" dirty="0"/>
              <a:t> </a:t>
            </a:r>
            <a:r>
              <a:rPr lang="en-US" dirty="0">
                <a:solidFill>
                  <a:srgbClr val="A03C3A"/>
                </a:solidFill>
              </a:rPr>
              <a:t>version control system </a:t>
            </a:r>
            <a:r>
              <a:rPr lang="en-US" dirty="0"/>
              <a:t>for tracking changes in source code during software development.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b="0" i="0" dirty="0">
              <a:solidFill>
                <a:srgbClr val="535053"/>
              </a:solidFill>
              <a:effectLst/>
              <a:latin typeface="Sans-pro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1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65C8CA-F754-3181-9B69-F5D0467C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7456F7-8017-4E01-52BE-E0CE14644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A03C3A"/>
              </a:buClr>
            </a:pPr>
            <a:r>
              <a:rPr lang="en-US" dirty="0"/>
              <a:t>Git repository</a:t>
            </a:r>
            <a:r>
              <a:rPr lang="en-US" b="0" i="0" dirty="0">
                <a:effectLst/>
              </a:rPr>
              <a:t> contains the collection of the files as well as the history of changes made to those files.</a:t>
            </a:r>
          </a:p>
          <a:p>
            <a:pPr>
              <a:buClr>
                <a:srgbClr val="A03C3A"/>
              </a:buClr>
            </a:pPr>
            <a:r>
              <a:rPr lang="en-US" b="0" i="0" dirty="0">
                <a:effectLst/>
              </a:rPr>
              <a:t>There are two types of repository:</a:t>
            </a:r>
          </a:p>
          <a:p>
            <a:pPr lvl="1">
              <a:buClr>
                <a:srgbClr val="A03C3A"/>
              </a:buClr>
            </a:pPr>
            <a:r>
              <a:rPr lang="en-US" sz="2400" dirty="0"/>
              <a:t>Local</a:t>
            </a:r>
            <a:r>
              <a:rPr lang="en-US" sz="2400" b="0" i="0" dirty="0">
                <a:effectLst/>
              </a:rPr>
              <a:t> reposit</a:t>
            </a:r>
            <a:r>
              <a:rPr lang="en-US" sz="2400" dirty="0"/>
              <a:t>ory </a:t>
            </a:r>
          </a:p>
          <a:p>
            <a:pPr lvl="2"/>
            <a:r>
              <a:rPr lang="en-US" sz="2200" dirty="0"/>
              <a:t>Only admin of the machine can work with this repository</a:t>
            </a:r>
            <a:endParaRPr lang="en-US" sz="2200" b="0" i="0" dirty="0">
              <a:effectLst/>
            </a:endParaRPr>
          </a:p>
          <a:p>
            <a:pPr lvl="1">
              <a:buClr>
                <a:srgbClr val="A03C3A"/>
              </a:buClr>
            </a:pPr>
            <a:r>
              <a:rPr lang="en-US" sz="2400" dirty="0"/>
              <a:t>Central/Remote repository</a:t>
            </a:r>
          </a:p>
          <a:p>
            <a:pPr lvl="2"/>
            <a:r>
              <a:rPr lang="en-US" sz="2200" dirty="0"/>
              <a:t>Meant for team to share and exchange data</a:t>
            </a:r>
          </a:p>
          <a:p>
            <a:pPr>
              <a:buClr>
                <a:srgbClr val="A03C3A"/>
              </a:buClr>
            </a:pPr>
            <a:r>
              <a:rPr lang="en-US" b="0" i="0" dirty="0">
                <a:effectLst/>
              </a:rPr>
              <a:t>There are two ways to obtain a repository</a:t>
            </a:r>
            <a:r>
              <a:rPr lang="en-US" dirty="0"/>
              <a:t>:</a:t>
            </a:r>
          </a:p>
          <a:p>
            <a:pPr lvl="1">
              <a:buClr>
                <a:srgbClr val="A03C3A"/>
              </a:buClr>
            </a:pPr>
            <a:r>
              <a:rPr lang="en-US" sz="2400" b="0" i="0" dirty="0">
                <a:effectLst/>
              </a:rPr>
              <a:t>Create a local repository and make it as Git repository.</a:t>
            </a:r>
          </a:p>
          <a:p>
            <a:pPr lvl="1">
              <a:buClr>
                <a:srgbClr val="A03C3A"/>
              </a:buClr>
            </a:pPr>
            <a:r>
              <a:rPr lang="en-US" sz="2400" b="0" i="0" dirty="0">
                <a:effectLst/>
              </a:rPr>
              <a:t>Clone a remote repository (already exists on a server).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92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7424CB-30F0-0736-39E1-F10A862A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+mn-lt"/>
              </a:rPr>
              <a:t>W</a:t>
            </a:r>
            <a:r>
              <a:rPr lang="en-IN" i="0" dirty="0">
                <a:solidFill>
                  <a:srgbClr val="000000"/>
                </a:solidFill>
                <a:effectLst/>
                <a:latin typeface="+mn-lt"/>
              </a:rPr>
              <a:t>orkflow of Git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B45020-48CA-A357-49D5-16376E474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sz="2200" b="1" i="0" dirty="0">
                <a:solidFill>
                  <a:schemeClr val="bg1"/>
                </a:solidFill>
                <a:effectLst/>
              </a:rPr>
              <a:t>d</a:t>
            </a:r>
          </a:p>
          <a:p>
            <a:r>
              <a:rPr lang="en-US" sz="2200" b="1" i="0" dirty="0">
                <a:solidFill>
                  <a:srgbClr val="000000"/>
                </a:solidFill>
                <a:effectLst/>
              </a:rPr>
              <a:t>Step 1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 − Modify a file from the working directory.</a:t>
            </a:r>
          </a:p>
          <a:p>
            <a:pPr lvl="1"/>
            <a:r>
              <a:rPr lang="en-US" sz="2200" b="0" i="0" dirty="0">
                <a:solidFill>
                  <a:srgbClr val="000000"/>
                </a:solidFill>
                <a:effectLst/>
              </a:rPr>
              <a:t>The working directory is the place where files are </a:t>
            </a:r>
            <a:r>
              <a:rPr lang="en-US" sz="2200" dirty="0">
                <a:solidFill>
                  <a:srgbClr val="000000"/>
                </a:solidFill>
              </a:rPr>
              <a:t>stored in local machine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.</a:t>
            </a:r>
            <a:endParaRPr lang="en-IN" sz="2200" dirty="0"/>
          </a:p>
          <a:p>
            <a:r>
              <a:rPr lang="en-US" sz="2200" b="1" i="0" dirty="0">
                <a:solidFill>
                  <a:srgbClr val="000000"/>
                </a:solidFill>
                <a:effectLst/>
              </a:rPr>
              <a:t>Step 2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 − </a:t>
            </a:r>
            <a:r>
              <a:rPr lang="en-US" sz="2200" dirty="0">
                <a:solidFill>
                  <a:srgbClr val="000000"/>
                </a:solidFill>
              </a:rPr>
              <a:t>A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dd these files to the staging area using </a:t>
            </a:r>
            <a:r>
              <a:rPr lang="en-US" sz="2200" b="0" i="0" dirty="0">
                <a:solidFill>
                  <a:srgbClr val="C00000"/>
                </a:solidFill>
                <a:effectLst/>
              </a:rPr>
              <a:t>add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command.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</a:rPr>
              <a:t>Before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 commit operation, Git looks for the files present in the staging area.</a:t>
            </a:r>
            <a:endParaRPr lang="en-US" sz="2200" dirty="0">
              <a:solidFill>
                <a:srgbClr val="000000"/>
              </a:solidFill>
            </a:endParaRPr>
          </a:p>
          <a:p>
            <a:pPr lvl="1"/>
            <a:r>
              <a:rPr lang="en-US" sz="2200" b="0" i="0" dirty="0">
                <a:solidFill>
                  <a:srgbClr val="000000"/>
                </a:solidFill>
                <a:effectLst/>
              </a:rPr>
              <a:t>Only those files present in the staging area are considered for commit and not all the modified files.</a:t>
            </a:r>
            <a:endParaRPr lang="en-US" sz="2200" dirty="0">
              <a:solidFill>
                <a:srgbClr val="000000"/>
              </a:solidFill>
            </a:endParaRPr>
          </a:p>
          <a:p>
            <a:r>
              <a:rPr lang="en-US" sz="2200" b="1" i="0" dirty="0">
                <a:solidFill>
                  <a:srgbClr val="000000"/>
                </a:solidFill>
                <a:effectLst/>
              </a:rPr>
              <a:t>Step 3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 − </a:t>
            </a:r>
            <a:r>
              <a:rPr lang="en-US" sz="2200" dirty="0">
                <a:solidFill>
                  <a:srgbClr val="000000"/>
                </a:solidFill>
              </a:rPr>
              <a:t>P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erform commit operation that moves the files from the staging area</a:t>
            </a:r>
            <a:r>
              <a:rPr lang="en-US" sz="2200" dirty="0">
                <a:solidFill>
                  <a:srgbClr val="000000"/>
                </a:solidFill>
              </a:rPr>
              <a:t> and saved in local repository.</a:t>
            </a:r>
            <a:endParaRPr lang="en-US" sz="2200" b="0" i="0" dirty="0">
              <a:solidFill>
                <a:srgbClr val="000000"/>
              </a:solidFill>
              <a:effectLst/>
              <a:latin typeface="Nunito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349097C-A907-BF8F-D407-A6B4E74BFB36}"/>
              </a:ext>
            </a:extLst>
          </p:cNvPr>
          <p:cNvSpPr txBox="1"/>
          <p:nvPr/>
        </p:nvSpPr>
        <p:spPr>
          <a:xfrm>
            <a:off x="7800106" y="1561940"/>
            <a:ext cx="3325091" cy="648000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200" dirty="0"/>
              <a:t>Working directory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2B494CD-81B3-6716-70DF-62A40A634522}"/>
              </a:ext>
            </a:extLst>
          </p:cNvPr>
          <p:cNvSpPr txBox="1"/>
          <p:nvPr/>
        </p:nvSpPr>
        <p:spPr>
          <a:xfrm>
            <a:off x="7800104" y="3298044"/>
            <a:ext cx="3325091" cy="648000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200" dirty="0"/>
              <a:t>Staging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A25AF6E-AF52-145E-A2D0-D1904D436258}"/>
              </a:ext>
            </a:extLst>
          </p:cNvPr>
          <p:cNvSpPr txBox="1"/>
          <p:nvPr/>
        </p:nvSpPr>
        <p:spPr>
          <a:xfrm>
            <a:off x="7800103" y="4898532"/>
            <a:ext cx="3325091" cy="648000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2200" dirty="0"/>
              <a:t>Git repository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A7D68DF7-3CA2-159B-FBA9-34B0167AB43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9462650" y="2209940"/>
            <a:ext cx="2" cy="10881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FD89C303-5DD2-7918-647B-AA47E76BD85B}"/>
              </a:ext>
            </a:extLst>
          </p:cNvPr>
          <p:cNvCxnSpPr/>
          <p:nvPr/>
        </p:nvCxnSpPr>
        <p:spPr>
          <a:xfrm flipH="1">
            <a:off x="9462648" y="3912026"/>
            <a:ext cx="2" cy="979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E913FE6-32B2-339C-7DAF-35B730E67C50}"/>
              </a:ext>
            </a:extLst>
          </p:cNvPr>
          <p:cNvSpPr txBox="1"/>
          <p:nvPr/>
        </p:nvSpPr>
        <p:spPr>
          <a:xfrm>
            <a:off x="9753600" y="2598057"/>
            <a:ext cx="214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 add operation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2A4A23E-C8A8-F39B-ED12-1B08468994AA}"/>
              </a:ext>
            </a:extLst>
          </p:cNvPr>
          <p:cNvSpPr txBox="1"/>
          <p:nvPr/>
        </p:nvSpPr>
        <p:spPr>
          <a:xfrm>
            <a:off x="9753600" y="4200663"/>
            <a:ext cx="214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 commit operation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B5DFBFD-0FF4-8B7A-1385-6E5211FD7DC0}"/>
              </a:ext>
            </a:extLst>
          </p:cNvPr>
          <p:cNvSpPr txBox="1"/>
          <p:nvPr/>
        </p:nvSpPr>
        <p:spPr>
          <a:xfrm>
            <a:off x="401783" y="854052"/>
            <a:ext cx="685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0" dirty="0">
                <a:solidFill>
                  <a:srgbClr val="000000"/>
                </a:solidFill>
                <a:effectLst/>
              </a:rPr>
              <a:t>Git has some special workflow to store files in repository.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04828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FDC226-7754-223E-90D7-37AA4EABF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vs Gitlab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62DDD5C-F2C5-4212-338D-5E73BE63E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109" y="1790444"/>
            <a:ext cx="2210964" cy="92326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FF773EF-8988-9CC3-FEA3-69D8A5A357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667" y="1419887"/>
            <a:ext cx="2958885" cy="16643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B6D6D7B-8980-B767-446F-BF5468E59146}"/>
              </a:ext>
            </a:extLst>
          </p:cNvPr>
          <p:cNvSpPr txBox="1"/>
          <p:nvPr/>
        </p:nvSpPr>
        <p:spPr>
          <a:xfrm>
            <a:off x="1775577" y="4665632"/>
            <a:ext cx="29721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Version control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E3CF291-F87E-BBB0-CEC9-540C1EE7AD6A}"/>
              </a:ext>
            </a:extLst>
          </p:cNvPr>
          <p:cNvSpPr txBox="1"/>
          <p:nvPr/>
        </p:nvSpPr>
        <p:spPr>
          <a:xfrm>
            <a:off x="6081989" y="4668672"/>
            <a:ext cx="274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Repository hosting service with CICD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xmlns="" id="{940A9DD2-9BCC-7814-00F1-D904485B42B4}"/>
              </a:ext>
            </a:extLst>
          </p:cNvPr>
          <p:cNvSpPr/>
          <p:nvPr/>
        </p:nvSpPr>
        <p:spPr>
          <a:xfrm>
            <a:off x="3135630" y="2953212"/>
            <a:ext cx="252000" cy="1679469"/>
          </a:xfrm>
          <a:prstGeom prst="upArrow">
            <a:avLst/>
          </a:prstGeom>
          <a:solidFill>
            <a:srgbClr val="A03C3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xmlns="" id="{35ED3C3B-9230-A541-7AFD-A3EFFC250224}"/>
              </a:ext>
            </a:extLst>
          </p:cNvPr>
          <p:cNvSpPr/>
          <p:nvPr/>
        </p:nvSpPr>
        <p:spPr>
          <a:xfrm>
            <a:off x="7059154" y="2970571"/>
            <a:ext cx="252000" cy="1679469"/>
          </a:xfrm>
          <a:prstGeom prst="upArrow">
            <a:avLst/>
          </a:prstGeom>
          <a:solidFill>
            <a:srgbClr val="A03C3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73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EC45EF-DABF-2380-0FC4-6FC2F079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repository hosting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52C362-49EF-905D-061F-0B5D66DB7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7967790" cy="3170674"/>
          </a:xfrm>
        </p:spPr>
        <p:txBody>
          <a:bodyPr numCol="1"/>
          <a:lstStyle/>
          <a:p>
            <a:r>
              <a:rPr lang="en-US" b="1" dirty="0">
                <a:solidFill>
                  <a:srgbClr val="A03C3A"/>
                </a:solidFill>
              </a:rPr>
              <a:t>Gitlab </a:t>
            </a:r>
            <a:r>
              <a:rPr lang="en-US" dirty="0"/>
              <a:t>is Git repository hosting plate form.</a:t>
            </a:r>
          </a:p>
          <a:p>
            <a:r>
              <a:rPr lang="en-US" dirty="0"/>
              <a:t>It is also called as open source software development tool which provides single app for </a:t>
            </a:r>
            <a:r>
              <a:rPr lang="en-US" dirty="0">
                <a:solidFill>
                  <a:srgbClr val="A03C3A"/>
                </a:solidFill>
              </a:rPr>
              <a:t>every stage of development life cycle.</a:t>
            </a:r>
          </a:p>
          <a:p>
            <a:r>
              <a:rPr lang="en-US" dirty="0"/>
              <a:t>It </a:t>
            </a:r>
            <a:r>
              <a:rPr lang="en-US" sz="2400" dirty="0"/>
              <a:t>facilitates the sharing of codebases among teams</a:t>
            </a:r>
          </a:p>
          <a:p>
            <a:r>
              <a:rPr lang="en-US" dirty="0"/>
              <a:t>It also offers CI/CD features to automate how build, test and deploy your projects.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b="0" i="0" dirty="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0C87657-23D3-6A01-F1A5-F475AD835EAC}"/>
              </a:ext>
            </a:extLst>
          </p:cNvPr>
          <p:cNvSpPr/>
          <p:nvPr/>
        </p:nvSpPr>
        <p:spPr>
          <a:xfrm>
            <a:off x="131178" y="3853386"/>
            <a:ext cx="11929643" cy="2412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A03C3A"/>
              </a:buClr>
              <a:buFont typeface="Wingdings 3" panose="05040102010807070707" pitchFamily="18" charset="2"/>
              <a:buChar char=""/>
            </a:pPr>
            <a:r>
              <a:rPr lang="en-US" sz="2400" dirty="0">
                <a:solidFill>
                  <a:srgbClr val="A03C3A"/>
                </a:solidFill>
              </a:rPr>
              <a:t>CI/CD </a:t>
            </a:r>
            <a:r>
              <a:rPr lang="en-US" sz="2400" dirty="0">
                <a:solidFill>
                  <a:schemeClr val="tx1"/>
                </a:solidFill>
              </a:rPr>
              <a:t>means </a:t>
            </a:r>
            <a:r>
              <a:rPr lang="en-US" sz="2400" dirty="0">
                <a:solidFill>
                  <a:srgbClr val="A03C3A"/>
                </a:solidFill>
              </a:rPr>
              <a:t>Continuous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A03C3A"/>
                </a:solidFill>
              </a:rPr>
              <a:t>Integration </a:t>
            </a:r>
            <a:r>
              <a:rPr lang="en-US" sz="2400" dirty="0">
                <a:solidFill>
                  <a:schemeClr val="tx1"/>
                </a:solidFill>
              </a:rPr>
              <a:t>and </a:t>
            </a:r>
            <a:r>
              <a:rPr lang="en-US" sz="2400" dirty="0">
                <a:solidFill>
                  <a:srgbClr val="A03C3A"/>
                </a:solidFill>
              </a:rPr>
              <a:t>Continuous Deployment.</a:t>
            </a:r>
          </a:p>
          <a:p>
            <a:pPr marL="800100" lvl="1" indent="-342900">
              <a:spcAft>
                <a:spcPts val="600"/>
              </a:spcAft>
              <a:buClr>
                <a:srgbClr val="A03C3A"/>
              </a:buClr>
              <a:buFont typeface="Wingdings 3" panose="05040102010807070707" pitchFamily="18" charset="2"/>
              <a:buChar char=""/>
            </a:pPr>
            <a:r>
              <a:rPr lang="en-US" sz="2200" dirty="0">
                <a:solidFill>
                  <a:schemeClr val="tx1"/>
                </a:solidFill>
              </a:rPr>
              <a:t>In CI, frequent software updates are integrated from multiple developers and series of automated steps are triggered like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compiling the code, running unit tests, performing code quality checks, and generating reports.</a:t>
            </a:r>
          </a:p>
          <a:p>
            <a:pPr marL="800100" lvl="1" indent="-342900">
              <a:spcAft>
                <a:spcPts val="600"/>
              </a:spcAft>
              <a:buClr>
                <a:srgbClr val="A03C3A"/>
              </a:buClr>
              <a:buFont typeface="Wingdings 3" panose="05040102010807070707" pitchFamily="18" charset="2"/>
              <a:buChar char=""/>
            </a:pPr>
            <a:r>
              <a:rPr lang="en-US" sz="2200" dirty="0">
                <a:solidFill>
                  <a:schemeClr val="tx1"/>
                </a:solidFill>
              </a:rPr>
              <a:t>CD is the process of automatically deploying code changes to production or other environments after they pass the CI phase.</a:t>
            </a:r>
          </a:p>
          <a:p>
            <a:pPr marL="742950" lvl="1" indent="-285750">
              <a:buClr>
                <a:srgbClr val="A03C3A"/>
              </a:buClr>
              <a:buFont typeface="Wingdings 3" panose="05040102010807070707" pitchFamily="18" charset="2"/>
              <a:buChar char=""/>
            </a:pP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Clr>
                <a:srgbClr val="A03C3A"/>
              </a:buClr>
              <a:buFont typeface="Wingdings 3" panose="05040102010807070707" pitchFamily="18" charset="2"/>
              <a:buChar char=""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96D9A31-46EE-60FD-4935-A304C72B4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439" y="847946"/>
            <a:ext cx="3954354" cy="285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1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66F6AA-3FF9-9C0C-A695-EB87D9D1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Installation of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375EFA-4F80-3AC7-5BCB-0DF6595A6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IN" dirty="0"/>
              <a:t>From google, search ‘</a:t>
            </a:r>
            <a:r>
              <a:rPr lang="en-IN" dirty="0">
                <a:solidFill>
                  <a:srgbClr val="C00000"/>
                </a:solidFill>
              </a:rPr>
              <a:t>git</a:t>
            </a:r>
            <a:r>
              <a:rPr lang="en-IN" dirty="0"/>
              <a:t>’</a:t>
            </a:r>
          </a:p>
          <a:p>
            <a:r>
              <a:rPr lang="en-IN" dirty="0"/>
              <a:t>Click on first link </a:t>
            </a:r>
            <a:r>
              <a:rPr lang="en-IN" dirty="0">
                <a:solidFill>
                  <a:srgbClr val="C00000"/>
                </a:solidFill>
              </a:rPr>
              <a:t>https://git-scm.com</a:t>
            </a:r>
          </a:p>
          <a:p>
            <a:r>
              <a:rPr lang="en-IN" dirty="0"/>
              <a:t>Click on download from first page</a:t>
            </a:r>
          </a:p>
          <a:p>
            <a:r>
              <a:rPr lang="en-IN" dirty="0"/>
              <a:t>Download git </a:t>
            </a:r>
          </a:p>
          <a:p>
            <a:r>
              <a:rPr lang="en-IN" dirty="0"/>
              <a:t>Install git</a:t>
            </a:r>
          </a:p>
          <a:p>
            <a:r>
              <a:rPr lang="en-IN" dirty="0"/>
              <a:t>Open </a:t>
            </a:r>
            <a:r>
              <a:rPr lang="en-IN" dirty="0">
                <a:solidFill>
                  <a:srgbClr val="C00000"/>
                </a:solidFill>
              </a:rPr>
              <a:t>Git bash</a:t>
            </a:r>
            <a:r>
              <a:rPr lang="en-IN">
                <a:solidFill>
                  <a:srgbClr val="C00000"/>
                </a:solidFill>
              </a:rPr>
              <a:t>/terminal</a:t>
            </a:r>
            <a:endParaRPr lang="en-IN" dirty="0">
              <a:solidFill>
                <a:srgbClr val="C00000"/>
              </a:solidFill>
            </a:endParaRPr>
          </a:p>
          <a:p>
            <a:endParaRPr lang="en-IN" dirty="0">
              <a:solidFill>
                <a:srgbClr val="C00000"/>
              </a:solidFill>
            </a:endParaRP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E339F19-FB82-0776-DFEA-05B2AE689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71" y="711200"/>
            <a:ext cx="6440129" cy="591082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xmlns="" id="{6A3E2029-35BA-9998-0A23-8C963A0EF7B0}"/>
              </a:ext>
            </a:extLst>
          </p:cNvPr>
          <p:cNvSpPr/>
          <p:nvPr/>
        </p:nvSpPr>
        <p:spPr>
          <a:xfrm rot="5400000">
            <a:off x="9384547" y="4249056"/>
            <a:ext cx="2129369" cy="151170"/>
          </a:xfrm>
          <a:prstGeom prst="rightArrow">
            <a:avLst/>
          </a:prstGeom>
          <a:solidFill>
            <a:srgbClr val="FF3737"/>
          </a:solidFill>
          <a:ln>
            <a:solidFill>
              <a:srgbClr val="FF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F7CA9E0-92C5-0485-E6FE-05253072209F}"/>
              </a:ext>
            </a:extLst>
          </p:cNvPr>
          <p:cNvSpPr txBox="1"/>
          <p:nvPr/>
        </p:nvSpPr>
        <p:spPr>
          <a:xfrm>
            <a:off x="9674942" y="5427406"/>
            <a:ext cx="1548581" cy="567150"/>
          </a:xfrm>
          <a:prstGeom prst="rect">
            <a:avLst/>
          </a:prstGeom>
          <a:noFill/>
          <a:ln w="50800">
            <a:solidFill>
              <a:srgbClr val="FF3737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25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E07C8A-1F11-E7C7-92DA-B75C47AB1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with Gitlab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75F25E-3370-6518-B578-C2F65093E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Following steps shows sending your local repository into Gitlab remote server.</a:t>
            </a:r>
          </a:p>
          <a:p>
            <a:r>
              <a:rPr lang="en-IN" dirty="0">
                <a:solidFill>
                  <a:srgbClr val="A03C3A"/>
                </a:solidFill>
              </a:rPr>
              <a:t>Step 1:</a:t>
            </a:r>
            <a:r>
              <a:rPr lang="en-IN" dirty="0"/>
              <a:t> Open www.gitlab.com</a:t>
            </a:r>
          </a:p>
          <a:p>
            <a:r>
              <a:rPr lang="en-IN" dirty="0">
                <a:solidFill>
                  <a:srgbClr val="A03C3A"/>
                </a:solidFill>
              </a:rPr>
              <a:t>Step 2:</a:t>
            </a:r>
            <a:r>
              <a:rPr lang="en-IN" dirty="0"/>
              <a:t> Create account/signup -&gt; use your git username and email</a:t>
            </a:r>
          </a:p>
          <a:p>
            <a:r>
              <a:rPr lang="en-IN" dirty="0">
                <a:solidFill>
                  <a:srgbClr val="A03C3A"/>
                </a:solidFill>
              </a:rPr>
              <a:t>Step 3:</a:t>
            </a:r>
            <a:r>
              <a:rPr lang="en-IN" dirty="0"/>
              <a:t> Login into </a:t>
            </a:r>
            <a:r>
              <a:rPr lang="en-IN" dirty="0" err="1"/>
              <a:t>gitlab</a:t>
            </a:r>
            <a:r>
              <a:rPr lang="en-IN" dirty="0"/>
              <a:t> (use same username and email id which you have used while configuring git)</a:t>
            </a:r>
          </a:p>
          <a:p>
            <a:r>
              <a:rPr lang="en-IN" dirty="0">
                <a:solidFill>
                  <a:srgbClr val="A03C3A"/>
                </a:solidFill>
              </a:rPr>
              <a:t>Step 4:</a:t>
            </a:r>
            <a:r>
              <a:rPr lang="en-IN" dirty="0"/>
              <a:t> Create new project in </a:t>
            </a:r>
            <a:r>
              <a:rPr lang="en-IN" dirty="0" err="1"/>
              <a:t>gitlab</a:t>
            </a:r>
            <a:endParaRPr lang="en-IN" dirty="0"/>
          </a:p>
          <a:p>
            <a:r>
              <a:rPr lang="en-IN" dirty="0">
                <a:solidFill>
                  <a:srgbClr val="A03C3A"/>
                </a:solidFill>
              </a:rPr>
              <a:t>Step 5:</a:t>
            </a:r>
            <a:r>
              <a:rPr lang="en-IN" dirty="0"/>
              <a:t> </a:t>
            </a:r>
            <a:r>
              <a:rPr lang="en-IN" dirty="0" err="1"/>
              <a:t>Goto</a:t>
            </a:r>
            <a:r>
              <a:rPr lang="en-IN" dirty="0"/>
              <a:t> git-bash/command-prompt of your computer</a:t>
            </a:r>
          </a:p>
          <a:p>
            <a:r>
              <a:rPr lang="en-IN" dirty="0">
                <a:solidFill>
                  <a:srgbClr val="A03C3A"/>
                </a:solidFill>
              </a:rPr>
              <a:t>Step 6:</a:t>
            </a:r>
            <a:r>
              <a:rPr lang="en-IN" dirty="0"/>
              <a:t> Change directory to local project directory</a:t>
            </a:r>
          </a:p>
          <a:p>
            <a:r>
              <a:rPr lang="en-IN" dirty="0">
                <a:solidFill>
                  <a:srgbClr val="A03C3A"/>
                </a:solidFill>
              </a:rPr>
              <a:t>Step 7:</a:t>
            </a:r>
            <a:r>
              <a:rPr lang="en-IN" dirty="0"/>
              <a:t> Add project in local repository </a:t>
            </a:r>
          </a:p>
          <a:p>
            <a:r>
              <a:rPr lang="en-IN" dirty="0">
                <a:solidFill>
                  <a:srgbClr val="A03C3A"/>
                </a:solidFill>
              </a:rPr>
              <a:t>Step 8:</a:t>
            </a:r>
            <a:r>
              <a:rPr lang="en-IN" dirty="0"/>
              <a:t> Push project in </a:t>
            </a:r>
            <a:r>
              <a:rPr lang="en-IN" dirty="0" err="1"/>
              <a:t>gitlab</a:t>
            </a:r>
            <a:r>
              <a:rPr lang="en-IN" dirty="0"/>
              <a:t> using  push command</a:t>
            </a:r>
          </a:p>
          <a:p>
            <a:r>
              <a:rPr lang="en-IN" dirty="0">
                <a:solidFill>
                  <a:srgbClr val="A03C3A"/>
                </a:solidFill>
              </a:rPr>
              <a:t>Step 9: </a:t>
            </a:r>
            <a:r>
              <a:rPr lang="en-IN" dirty="0"/>
              <a:t>Authentic your account in </a:t>
            </a:r>
            <a:r>
              <a:rPr lang="en-IN" dirty="0" err="1"/>
              <a:t>gitlab</a:t>
            </a:r>
            <a:endParaRPr lang="en-IN" dirty="0"/>
          </a:p>
          <a:p>
            <a:r>
              <a:rPr lang="en-IN" dirty="0"/>
              <a:t>Then you can see your local repository in </a:t>
            </a:r>
            <a:r>
              <a:rPr lang="en-IN" dirty="0" err="1"/>
              <a:t>gitlab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17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3F1E47-555A-002E-50D5-637108D6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i="0" dirty="0">
                <a:solidFill>
                  <a:schemeClr val="tx1"/>
                </a:solidFill>
                <a:effectLst/>
                <a:latin typeface="+mn-lt"/>
              </a:rPr>
              <a:t>Initializing a Repository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EE0546-1D55-C53C-40E8-F80BFDF8E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To initialize a new repository, run the below command:</a:t>
            </a:r>
            <a:endParaRPr lang="en-US" dirty="0"/>
          </a:p>
          <a:p>
            <a:r>
              <a:rPr lang="en-IN" b="1" i="0" dirty="0">
                <a:solidFill>
                  <a:srgbClr val="333333"/>
                </a:solidFill>
                <a:effectLst/>
              </a:rPr>
              <a:t>Syntax:</a:t>
            </a:r>
            <a:r>
              <a:rPr lang="en-US" b="1" i="0" dirty="0">
                <a:solidFill>
                  <a:srgbClr val="333333"/>
                </a:solidFill>
                <a:effectLst/>
              </a:rPr>
              <a:t> </a:t>
            </a:r>
            <a:r>
              <a:rPr lang="en-IN" dirty="0">
                <a:solidFill>
                  <a:srgbClr val="A03C3A"/>
                </a:solidFill>
              </a:rPr>
              <a:t>$</a:t>
            </a:r>
            <a:r>
              <a:rPr lang="en-IN" b="0" i="0" dirty="0">
                <a:solidFill>
                  <a:srgbClr val="A03C3A"/>
                </a:solidFill>
                <a:effectLst/>
              </a:rPr>
              <a:t> </a:t>
            </a:r>
            <a:r>
              <a:rPr lang="en-IN" b="1" i="0" dirty="0">
                <a:solidFill>
                  <a:srgbClr val="A03C3A"/>
                </a:solidFill>
                <a:effectLst/>
              </a:rPr>
              <a:t>git </a:t>
            </a:r>
            <a:r>
              <a:rPr lang="en-IN" b="1" i="0" dirty="0" err="1">
                <a:solidFill>
                  <a:srgbClr val="A03C3A"/>
                </a:solidFill>
                <a:effectLst/>
              </a:rPr>
              <a:t>init</a:t>
            </a:r>
            <a:r>
              <a:rPr lang="en-IN" b="1" i="0" dirty="0">
                <a:solidFill>
                  <a:srgbClr val="A03C3A"/>
                </a:solidFill>
                <a:effectLst/>
              </a:rPr>
              <a:t> </a:t>
            </a:r>
            <a:r>
              <a:rPr lang="en-IN" b="0" i="0" dirty="0">
                <a:solidFill>
                  <a:srgbClr val="A03C3A"/>
                </a:solidFill>
                <a:effectLst/>
              </a:rPr>
              <a:t> </a:t>
            </a:r>
          </a:p>
          <a:p>
            <a:r>
              <a:rPr lang="en-IN" b="1" i="0" dirty="0">
                <a:solidFill>
                  <a:srgbClr val="333333"/>
                </a:solidFill>
                <a:effectLst/>
              </a:rPr>
              <a:t>Output:</a:t>
            </a:r>
            <a:r>
              <a:rPr lang="en-US" b="1" i="0" dirty="0">
                <a:solidFill>
                  <a:srgbClr val="333333"/>
                </a:solidFill>
                <a:effectLst/>
              </a:rPr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b="0" i="0" dirty="0">
              <a:effectLst/>
            </a:endParaRPr>
          </a:p>
          <a:p>
            <a:r>
              <a:rPr lang="en-US" b="0" i="0" dirty="0">
                <a:effectLst/>
              </a:rPr>
              <a:t>The above command will create a new subdirectory named </a:t>
            </a:r>
            <a:r>
              <a:rPr lang="en-US" b="1" i="1" dirty="0">
                <a:effectLst/>
              </a:rPr>
              <a:t>.git </a:t>
            </a:r>
            <a:r>
              <a:rPr lang="en-US" b="0" i="0" dirty="0">
                <a:effectLst/>
              </a:rPr>
              <a:t>that holds all necessary repository files.</a:t>
            </a:r>
            <a:endParaRPr lang="en-IN" b="0" i="0" dirty="0">
              <a:effectLst/>
            </a:endParaRPr>
          </a:p>
          <a:p>
            <a:r>
              <a:rPr lang="en-US" b="0" i="0" dirty="0">
                <a:effectLst/>
              </a:rPr>
              <a:t>An empty repository </a:t>
            </a:r>
            <a:r>
              <a:rPr lang="en-US" b="1" i="1" dirty="0">
                <a:effectLst/>
              </a:rPr>
              <a:t>.git </a:t>
            </a:r>
            <a:r>
              <a:rPr lang="en-US" b="0" i="0" dirty="0">
                <a:effectLst/>
              </a:rPr>
              <a:t>is added to my existing project.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0302054-DE39-4AFE-88CE-4191E9818F29}"/>
              </a:ext>
            </a:extLst>
          </p:cNvPr>
          <p:cNvSpPr txBox="1"/>
          <p:nvPr/>
        </p:nvSpPr>
        <p:spPr>
          <a:xfrm>
            <a:off x="268503" y="2274838"/>
            <a:ext cx="9243049" cy="200054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33AF48"/>
                </a:solidFill>
              </a:rPr>
              <a:t>STUDENT@DESKTOP-75WNUTC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7030A0"/>
                </a:solidFill>
              </a:rPr>
              <a:t>MINGW64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FFFF00"/>
                </a:solidFill>
                <a:latin typeface="Lucida Console" panose="020B0609040504020204" pitchFamily="49" charset="0"/>
              </a:rPr>
              <a:t>/c/My Project</a:t>
            </a:r>
          </a:p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</a:t>
            </a:r>
            <a:r>
              <a:rPr lang="en-IN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init</a:t>
            </a:r>
            <a:endParaRPr lang="en-IN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Initialized empty Git repository in C:/My Project/.git/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rgbClr val="33AF48"/>
                </a:solidFill>
              </a:rPr>
              <a:t>STUDENT@DESKTOP-75WNUTC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7030A0"/>
                </a:solidFill>
              </a:rPr>
              <a:t>MINGW64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FFFF00"/>
                </a:solidFill>
                <a:latin typeface="Lucida Console" panose="020B0609040504020204" pitchFamily="49" charset="0"/>
              </a:rPr>
              <a:t>/c/My Project </a:t>
            </a:r>
            <a:r>
              <a:rPr lang="en-IN" sz="2000" dirty="0">
                <a:solidFill>
                  <a:srgbClr val="00A4A0"/>
                </a:solidFill>
                <a:latin typeface="Lucida Console" panose="020B0609040504020204" pitchFamily="49" charset="0"/>
              </a:rPr>
              <a:t>(master)</a:t>
            </a:r>
          </a:p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46394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6F2B3C-4493-6397-13AF-1BCE89C4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57D692-3029-99CC-CCC8-B6E57E4B7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35572"/>
            <a:ext cx="11929641" cy="5756166"/>
          </a:xfrm>
        </p:spPr>
        <p:txBody>
          <a:bodyPr numCol="1"/>
          <a:lstStyle/>
          <a:p>
            <a:r>
              <a:rPr lang="en-IN" dirty="0"/>
              <a:t>Before working with Git bash, we have to configure user name and email id using config command.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Then Create one folder: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To change folder to that created folder: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AE2CBCD-05DC-8DD6-BCC7-BEA33752C634}"/>
              </a:ext>
            </a:extLst>
          </p:cNvPr>
          <p:cNvSpPr txBox="1"/>
          <p:nvPr/>
        </p:nvSpPr>
        <p:spPr>
          <a:xfrm>
            <a:off x="242017" y="1609984"/>
            <a:ext cx="8024400" cy="169277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33AF48"/>
                </a:solidFill>
              </a:rPr>
              <a:t>STUDENT@DESKTOP-75WNUTC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7030A0"/>
                </a:solidFill>
              </a:rPr>
              <a:t>MINGW64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FFFF00"/>
                </a:solidFill>
              </a:rPr>
              <a:t>~</a:t>
            </a:r>
          </a:p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config –-global user.name “username”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rgbClr val="33AF48"/>
                </a:solidFill>
              </a:rPr>
              <a:t>STUDENT@DESKTOP-75WNUTC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7030A0"/>
                </a:solidFill>
              </a:rPr>
              <a:t>MINGW64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FFFF00"/>
                </a:solidFill>
              </a:rPr>
              <a:t>~</a:t>
            </a:r>
          </a:p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config –-global </a:t>
            </a:r>
            <a:r>
              <a:rPr lang="en-IN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user.email</a:t>
            </a:r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 “full email id”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C6E4EFD-0BA9-D335-F61A-2E6A2B883AEF}"/>
              </a:ext>
            </a:extLst>
          </p:cNvPr>
          <p:cNvSpPr txBox="1"/>
          <p:nvPr/>
        </p:nvSpPr>
        <p:spPr>
          <a:xfrm>
            <a:off x="242017" y="5248016"/>
            <a:ext cx="8024399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33AF48"/>
                </a:solidFill>
              </a:rPr>
              <a:t>STUDENT@DESKTOP-75WNUTC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7030A0"/>
                </a:solidFill>
              </a:rPr>
              <a:t>MINGW64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FFFF00"/>
                </a:solidFill>
              </a:rPr>
              <a:t>~</a:t>
            </a:r>
          </a:p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cd </a:t>
            </a:r>
            <a:r>
              <a:rPr lang="en-IN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myproject</a:t>
            </a:r>
            <a:endParaRPr lang="en-IN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E9D6C1E-EDFC-FC79-4EF5-66991CCF53D9}"/>
              </a:ext>
            </a:extLst>
          </p:cNvPr>
          <p:cNvSpPr txBox="1"/>
          <p:nvPr/>
        </p:nvSpPr>
        <p:spPr>
          <a:xfrm>
            <a:off x="230152" y="3914236"/>
            <a:ext cx="8036265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33AF48"/>
                </a:solidFill>
              </a:rPr>
              <a:t>STUDENT@DESKTOP-75WNUTC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7030A0"/>
                </a:solidFill>
              </a:rPr>
              <a:t>MINGW64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FFFF00"/>
                </a:solidFill>
              </a:rPr>
              <a:t>~</a:t>
            </a:r>
          </a:p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</a:t>
            </a:r>
            <a:r>
              <a:rPr lang="en-IN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mkdir</a:t>
            </a:r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IN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myproject</a:t>
            </a:r>
            <a:endParaRPr lang="en-IN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30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6F2B3C-4493-6397-13AF-1BCE89C4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57D692-3029-99CC-CCC8-B6E57E4B7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35572"/>
            <a:ext cx="11929641" cy="5756166"/>
          </a:xfrm>
        </p:spPr>
        <p:txBody>
          <a:bodyPr numCol="1"/>
          <a:lstStyle/>
          <a:p>
            <a:r>
              <a:rPr lang="en-IN" dirty="0"/>
              <a:t>To Initialize git:</a:t>
            </a:r>
          </a:p>
          <a:p>
            <a:endParaRPr lang="en-IN" dirty="0"/>
          </a:p>
          <a:p>
            <a:r>
              <a:rPr lang="en-IN" dirty="0"/>
              <a:t>To Add single files to staging area (this is a file/page of your project which you have saved into your folder in your computer): </a:t>
            </a:r>
          </a:p>
          <a:p>
            <a:endParaRPr lang="en-IN" dirty="0"/>
          </a:p>
          <a:p>
            <a:r>
              <a:rPr lang="en-IN" dirty="0"/>
              <a:t>To Add more files to staging area: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To Commit files to local repository: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8B959C-E046-35F0-1936-8E3939D94AB6}"/>
              </a:ext>
            </a:extLst>
          </p:cNvPr>
          <p:cNvSpPr txBox="1"/>
          <p:nvPr/>
        </p:nvSpPr>
        <p:spPr>
          <a:xfrm>
            <a:off x="230153" y="1312625"/>
            <a:ext cx="802440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</a:t>
            </a:r>
            <a:r>
              <a:rPr lang="en-IN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init</a:t>
            </a:r>
            <a:endParaRPr lang="en-IN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05CB80D-9BA1-04D5-70BF-C83823132C29}"/>
              </a:ext>
            </a:extLst>
          </p:cNvPr>
          <p:cNvSpPr txBox="1"/>
          <p:nvPr/>
        </p:nvSpPr>
        <p:spPr>
          <a:xfrm>
            <a:off x="230152" y="2466110"/>
            <a:ext cx="8024399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add filename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3BE3F36-B992-0DFA-43CD-2B0F92EBEACE}"/>
              </a:ext>
            </a:extLst>
          </p:cNvPr>
          <p:cNvSpPr txBox="1"/>
          <p:nvPr/>
        </p:nvSpPr>
        <p:spPr>
          <a:xfrm>
            <a:off x="230152" y="3511659"/>
            <a:ext cx="8024399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add –all </a:t>
            </a:r>
          </a:p>
          <a:p>
            <a:pPr algn="ctr"/>
            <a:r>
              <a:rPr lang="en-IN" sz="2000" dirty="0">
                <a:solidFill>
                  <a:schemeClr val="bg1"/>
                </a:solidFill>
              </a:rPr>
              <a:t>OR</a:t>
            </a:r>
          </a:p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add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75F170C-4836-1CC4-6A39-DA843B010B81}"/>
              </a:ext>
            </a:extLst>
          </p:cNvPr>
          <p:cNvSpPr txBox="1"/>
          <p:nvPr/>
        </p:nvSpPr>
        <p:spPr>
          <a:xfrm>
            <a:off x="230153" y="5301733"/>
            <a:ext cx="802439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commit -m “any commit message”</a:t>
            </a:r>
          </a:p>
        </p:txBody>
      </p:sp>
    </p:spTree>
    <p:extLst>
      <p:ext uri="{BB962C8B-B14F-4D97-AF65-F5344CB8AC3E}">
        <p14:creationId xmlns:p14="http://schemas.microsoft.com/office/powerpoint/2010/main" val="34046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6F2B3C-4493-6397-13AF-1BCE89C4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57D692-3029-99CC-CCC8-B6E57E4B7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r>
              <a:rPr lang="en-IN" dirty="0"/>
              <a:t>To check status of files:</a:t>
            </a:r>
          </a:p>
          <a:p>
            <a:endParaRPr lang="en-IN" dirty="0"/>
          </a:p>
          <a:p>
            <a:r>
              <a:rPr lang="en-IN" dirty="0"/>
              <a:t>To check log history of committed changes:</a:t>
            </a:r>
          </a:p>
          <a:p>
            <a:endParaRPr lang="en-IN" dirty="0"/>
          </a:p>
          <a:p>
            <a:r>
              <a:rPr lang="en-IN" dirty="0"/>
              <a:t>To push that branch in </a:t>
            </a:r>
            <a:r>
              <a:rPr lang="en-IN" dirty="0" err="1"/>
              <a:t>gitlab</a:t>
            </a:r>
            <a:endParaRPr lang="en-IN" dirty="0"/>
          </a:p>
          <a:p>
            <a:endParaRPr lang="en-IN" dirty="0"/>
          </a:p>
          <a:p>
            <a:r>
              <a:rPr lang="en-IN" dirty="0"/>
              <a:t>Use clone command to copy branch from remote repository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65CFA74-3C6E-A1B4-7BB6-30FFEEF80FAE}"/>
              </a:ext>
            </a:extLst>
          </p:cNvPr>
          <p:cNvSpPr txBox="1"/>
          <p:nvPr/>
        </p:nvSpPr>
        <p:spPr>
          <a:xfrm>
            <a:off x="230153" y="2174144"/>
            <a:ext cx="802439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log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B637D1D-4606-1E29-106E-D092F791590B}"/>
              </a:ext>
            </a:extLst>
          </p:cNvPr>
          <p:cNvSpPr txBox="1"/>
          <p:nvPr/>
        </p:nvSpPr>
        <p:spPr>
          <a:xfrm>
            <a:off x="230152" y="1280581"/>
            <a:ext cx="802439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status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E08CE96-3437-49F3-8686-8A6D480C9B1E}"/>
              </a:ext>
            </a:extLst>
          </p:cNvPr>
          <p:cNvSpPr txBox="1"/>
          <p:nvPr/>
        </p:nvSpPr>
        <p:spPr>
          <a:xfrm>
            <a:off x="230152" y="3189783"/>
            <a:ext cx="802585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push –u “URL of Gitlab repository”  </a:t>
            </a:r>
            <a:r>
              <a:rPr lang="en-IN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newbranch</a:t>
            </a:r>
            <a:endParaRPr lang="en-IN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4D9ADFC-CBD2-42D0-8270-59E7CE716A3C}"/>
              </a:ext>
            </a:extLst>
          </p:cNvPr>
          <p:cNvSpPr txBox="1"/>
          <p:nvPr/>
        </p:nvSpPr>
        <p:spPr>
          <a:xfrm>
            <a:off x="228700" y="4083346"/>
            <a:ext cx="8025849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$ git clone URL</a:t>
            </a:r>
          </a:p>
        </p:txBody>
      </p:sp>
    </p:spTree>
    <p:extLst>
      <p:ext uri="{BB962C8B-B14F-4D97-AF65-F5344CB8AC3E}">
        <p14:creationId xmlns:p14="http://schemas.microsoft.com/office/powerpoint/2010/main" val="52251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3773C3-3FB1-4499-AC65-E80275C6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 file in Gitlab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F7B3A7-CCD5-4D35-B87A-53E555321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upload file directly from </a:t>
            </a:r>
            <a:r>
              <a:rPr lang="en-US" dirty="0" err="1"/>
              <a:t>gitlab</a:t>
            </a:r>
            <a:r>
              <a:rPr lang="en-US" dirty="0"/>
              <a:t> UI</a:t>
            </a:r>
          </a:p>
          <a:p>
            <a:pPr marL="0" indent="0">
              <a:buNone/>
            </a:pPr>
            <a:r>
              <a:rPr lang="en-US" dirty="0"/>
              <a:t>1. On the left sidebar, at the top, select </a:t>
            </a:r>
            <a:r>
              <a:rPr lang="en-US" b="1" dirty="0"/>
              <a:t>Search GitLab</a:t>
            </a:r>
            <a:r>
              <a:rPr lang="en-US" dirty="0"/>
              <a:t> () to find your project.</a:t>
            </a:r>
          </a:p>
          <a:p>
            <a:pPr marL="0" indent="0">
              <a:buNone/>
            </a:pPr>
            <a:r>
              <a:rPr lang="en-US" dirty="0"/>
              <a:t>2. From the project dashboard or repository, next to the branch name, select the plus icon (+).</a:t>
            </a:r>
          </a:p>
          <a:p>
            <a:pPr marL="0" indent="0">
              <a:buNone/>
            </a:pPr>
            <a:r>
              <a:rPr lang="en-US" dirty="0"/>
              <a:t>3. From the dropdown list, select </a:t>
            </a:r>
            <a:r>
              <a:rPr lang="en-US" b="1" dirty="0"/>
              <a:t>Upload file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4. Complete the fields. To create a merge request with the uploaded file, ensure the </a:t>
            </a:r>
            <a:r>
              <a:rPr lang="en-US" b="1" dirty="0"/>
              <a:t>Start a new merge request with these changes</a:t>
            </a:r>
            <a:r>
              <a:rPr lang="en-US" dirty="0"/>
              <a:t> toggle is turned on.</a:t>
            </a:r>
          </a:p>
          <a:p>
            <a:pPr marL="0" indent="0">
              <a:buNone/>
            </a:pPr>
            <a:r>
              <a:rPr lang="en-US" dirty="0"/>
              <a:t>5. Select </a:t>
            </a:r>
            <a:r>
              <a:rPr lang="en-US" b="1" dirty="0"/>
              <a:t>Upload file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40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651A17-8614-4E6F-B9F6-501CAB22C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1F617014-5EC0-9727-BBEB-DA116E9E1D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devangi.kotak@darshan.ac.in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2D370BB9-BF66-F1D8-C9FC-C5275B2FE1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 dirty="0"/>
              <a:t> L. Kotak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AA5E952D-1E5C-5093-C12B-19784E89C0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en-US" dirty="0"/>
              <a:t>Software Engineering (SE)</a:t>
            </a:r>
          </a:p>
          <a:p>
            <a:pPr lvl="0"/>
            <a:r>
              <a:rPr lang="en-US" dirty="0"/>
              <a:t># 2101CS503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xmlns="" id="{271B3536-D0FB-9E37-7717-EA1279AF0C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" r="3854"/>
          <a:stretch/>
        </p:blipFill>
        <p:spPr/>
      </p:pic>
      <p:sp>
        <p:nvSpPr>
          <p:cNvPr id="12" name="Hexagon 11">
            <a:extLst>
              <a:ext uri="{FF2B5EF4-FFF2-40B4-BE49-F238E27FC236}">
                <a16:creationId xmlns:a16="http://schemas.microsoft.com/office/drawing/2014/main" xmlns="" id="{10844F20-5FBB-2DED-33D6-135C9863A9A5}"/>
              </a:ext>
            </a:extLst>
          </p:cNvPr>
          <p:cNvSpPr/>
          <p:nvPr/>
        </p:nvSpPr>
        <p:spPr>
          <a:xfrm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00" b="1" i="1" dirty="0">
                <a:solidFill>
                  <a:srgbClr val="002060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Thank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2D19293-576D-AA3C-E7C6-3B1E0ABF13D1}"/>
              </a:ext>
            </a:extLst>
          </p:cNvPr>
          <p:cNvSpPr txBox="1"/>
          <p:nvPr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CCFAD2EF-5016-4B88-91A6-52E2C50A5A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0542" y="5514690"/>
            <a:ext cx="4336879" cy="350868"/>
          </a:xfrm>
        </p:spPr>
        <p:txBody>
          <a:bodyPr/>
          <a:lstStyle/>
          <a:p>
            <a:r>
              <a:rPr lang="en-US" dirty="0"/>
              <a:t> Computer Science &amp; 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1380629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56132</TotalTime>
  <Words>729</Words>
  <Application>Microsoft Office PowerPoint</Application>
  <PresentationFormat>Widescreen</PresentationFormat>
  <Paragraphs>171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Segoe UI Black</vt:lpstr>
      <vt:lpstr>Roboto Condensed</vt:lpstr>
      <vt:lpstr>Arial</vt:lpstr>
      <vt:lpstr>Sans-pro</vt:lpstr>
      <vt:lpstr>Calibri</vt:lpstr>
      <vt:lpstr>Wingdings 3</vt:lpstr>
      <vt:lpstr>Nunito</vt:lpstr>
      <vt:lpstr>Wingdings</vt:lpstr>
      <vt:lpstr>Roboto Condensed Light</vt:lpstr>
      <vt:lpstr>Lucida Console</vt:lpstr>
      <vt:lpstr>Office Theme</vt:lpstr>
      <vt:lpstr>Lab -1(1)  Introduction of Version Control using Git Lab</vt:lpstr>
      <vt:lpstr>Version Control System</vt:lpstr>
      <vt:lpstr>GIT Introduction</vt:lpstr>
      <vt:lpstr>Git Repository</vt:lpstr>
      <vt:lpstr>Workflow of Git</vt:lpstr>
      <vt:lpstr>Git vs Gitlab</vt:lpstr>
      <vt:lpstr>Git repository hosting platform</vt:lpstr>
      <vt:lpstr>Installation of Git</vt:lpstr>
      <vt:lpstr>Working with Gitlab</vt:lpstr>
      <vt:lpstr>Initializing a Repository</vt:lpstr>
      <vt:lpstr>Git Commands</vt:lpstr>
      <vt:lpstr>Git Commands</vt:lpstr>
      <vt:lpstr>Git Commands</vt:lpstr>
      <vt:lpstr>Upload file in Gitlab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Microsoft account</cp:lastModifiedBy>
  <cp:revision>281</cp:revision>
  <dcterms:created xsi:type="dcterms:W3CDTF">2020-05-01T05:09:15Z</dcterms:created>
  <dcterms:modified xsi:type="dcterms:W3CDTF">2023-07-04T04:43:17Z</dcterms:modified>
</cp:coreProperties>
</file>