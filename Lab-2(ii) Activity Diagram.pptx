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395" r:id="rId2"/>
    <p:sldId id="416" r:id="rId3"/>
    <p:sldId id="417" r:id="rId4"/>
    <p:sldId id="418" r:id="rId5"/>
    <p:sldId id="419" r:id="rId6"/>
    <p:sldId id="413" r:id="rId7"/>
    <p:sldId id="422" r:id="rId8"/>
    <p:sldId id="423" r:id="rId9"/>
    <p:sldId id="424" r:id="rId10"/>
    <p:sldId id="425" r:id="rId11"/>
    <p:sldId id="426" r:id="rId12"/>
    <p:sldId id="394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 Condensed" pitchFamily="2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B+aMyHMwDb3tiTF3AcTFg==" hashData="b2EM8WPVK3k6afH8AYmpLR6I+w/9f61p5JWU5L4qYZ4lDC0xHdZKp5MXo1tlobHDAcHWx4xd/TxXQ5URDZse0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3.pn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4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E65E47-27D3-8BC3-A15C-67C349AC8D3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3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8DE0-BCB8-522C-1AF0-2A63DCAA8BBC}"/>
              </a:ext>
            </a:extLst>
          </p:cNvPr>
          <p:cNvCxnSpPr/>
          <p:nvPr userDrawn="1"/>
        </p:nvCxnSpPr>
        <p:spPr>
          <a:xfrm>
            <a:off x="0" y="660287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DD48941-E50E-0FA2-0E73-3F071D62699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748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381B7-10EB-5E79-01E0-4984C7D00A18}"/>
              </a:ext>
            </a:extLst>
          </p:cNvPr>
          <p:cNvCxnSpPr/>
          <p:nvPr userDrawn="1"/>
        </p:nvCxnSpPr>
        <p:spPr>
          <a:xfrm>
            <a:off x="0" y="660399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305B6EF-F9F3-59F1-576E-4FA5B9F0864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49581-DBD8-97EF-4D89-41E69E74D535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943429"/>
            <a:ext cx="11828591" cy="551058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E65E47-27D3-8BC3-A15C-67C349AC8D3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3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8DE0-BCB8-522C-1AF0-2A63DCAA8BBC}"/>
              </a:ext>
            </a:extLst>
          </p:cNvPr>
          <p:cNvCxnSpPr/>
          <p:nvPr userDrawn="1"/>
        </p:nvCxnSpPr>
        <p:spPr>
          <a:xfrm>
            <a:off x="0" y="660287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DD48941-E50E-0FA2-0E73-3F071D62699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748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381B7-10EB-5E79-01E0-4984C7D00A18}"/>
              </a:ext>
            </a:extLst>
          </p:cNvPr>
          <p:cNvCxnSpPr/>
          <p:nvPr userDrawn="1"/>
        </p:nvCxnSpPr>
        <p:spPr>
          <a:xfrm>
            <a:off x="0" y="660399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305B6EF-F9F3-59F1-576E-4FA5B9F0864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49581-DBD8-97EF-4D89-41E69E74D535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73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257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7C5DC-6E39-9859-D671-B4A5EB7BC62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B2371C9-9733-ADC9-C8B4-A8050748EC6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B017C4-5789-B9D5-5F3F-4AF60A31E3B2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F772C86-1963-F205-DAC4-EB76F0934F11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C528053-521F-F292-0501-CB18F84D985C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3205AB-4091-1E5C-B6F9-69DFAED73C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8C5B5E2-E9C9-6DC8-817F-DB1093DA93A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1055E0-4166-8283-C34F-739D926AD939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C6955B0-F905-A23A-E8C1-527DAB130B52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78CAD76-EBAA-7C9A-8B00-FF1D2F24752B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10233">
                  <a:shade val="30000"/>
                  <a:satMod val="115000"/>
                </a:srgbClr>
              </a:gs>
              <a:gs pos="50000">
                <a:srgbClr val="D10233">
                  <a:shade val="67500"/>
                  <a:satMod val="115000"/>
                </a:srgbClr>
              </a:gs>
              <a:gs pos="100000">
                <a:srgbClr val="D10233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78CEF7-BDC7-785F-EC2D-E2E4584FB02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3E34E3A-B4BC-24C2-5F9E-9CB5CF7F612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00466D-ADF6-2BC1-B5C1-CF8846C5A0FD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F505AB4-F050-05C3-0733-FD0F9F412E8E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086A0-6515-FAB4-E394-362C794DFB6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57075E-92C1-A0AD-7836-B1A67FB06262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D38B228-9699-D25D-D32C-66B80794F5B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05EFB-C997-BC25-840F-0D6CFD90256C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ECA4645-6AE2-4276-F423-91A1E5F2807C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E8C5C-0888-2F15-2DD2-0C25DE278A9B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8AF25-05AF-472D-5BDA-C12555B8A87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0DB19E-D774-A0D8-6E57-EFD060ECB43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2C8C4D-DE88-75EC-5C45-DD7C01792148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DD75719-098F-0654-9C35-BF49E0150298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12959-E020-D2A4-8942-06631ED6A78E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34360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D53D90-D9D5-4989-8E97-31CC943F620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3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93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3874" y="6170137"/>
            <a:ext cx="3735998" cy="290081"/>
          </a:xfrm>
        </p:spPr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9"/>
            <a:ext cx="4258322" cy="274076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678" y="5191433"/>
            <a:ext cx="1341551" cy="1376514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– 2</a:t>
            </a:r>
          </a:p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Practical - 2</a:t>
            </a:r>
            <a:r>
              <a:rPr lang="en-US" dirty="0"/>
              <a:t> </a:t>
            </a:r>
          </a:p>
          <a:p>
            <a:r>
              <a:rPr lang="en-US" sz="5400" dirty="0"/>
              <a:t>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2124580"/>
            <a:ext cx="11929641" cy="3644677"/>
          </a:xfrm>
        </p:spPr>
        <p:txBody>
          <a:bodyPr/>
          <a:lstStyle/>
          <a:p>
            <a:r>
              <a:rPr lang="en-US" dirty="0"/>
              <a:t>An activity diagram is like a </a:t>
            </a:r>
            <a:r>
              <a:rPr lang="en-US" dirty="0">
                <a:solidFill>
                  <a:srgbClr val="A32D19"/>
                </a:solidFill>
              </a:rPr>
              <a:t>traditional flowchart, showing</a:t>
            </a:r>
            <a:r>
              <a:rPr lang="en-US" dirty="0"/>
              <a:t> the </a:t>
            </a:r>
            <a:r>
              <a:rPr lang="en-US" dirty="0">
                <a:solidFill>
                  <a:srgbClr val="A32D19"/>
                </a:solidFill>
              </a:rPr>
              <a:t>flow of control from step to step.  </a:t>
            </a:r>
          </a:p>
          <a:p>
            <a:r>
              <a:rPr lang="en-US" dirty="0"/>
              <a:t>An activity diagram can </a:t>
            </a:r>
            <a:r>
              <a:rPr lang="en-US" dirty="0">
                <a:solidFill>
                  <a:srgbClr val="A32D19"/>
                </a:solidFill>
              </a:rPr>
              <a:t>show both sequential and concurrent flow of control</a:t>
            </a:r>
            <a:r>
              <a:rPr lang="en-US" dirty="0"/>
              <a:t>.</a:t>
            </a:r>
            <a:endParaRPr lang="en-US" dirty="0">
              <a:solidFill>
                <a:srgbClr val="A32D19"/>
              </a:solidFill>
            </a:endParaRPr>
          </a:p>
          <a:p>
            <a:r>
              <a:rPr lang="en-US" dirty="0"/>
              <a:t>Activity diagram </a:t>
            </a:r>
            <a:r>
              <a:rPr lang="en-US" dirty="0">
                <a:solidFill>
                  <a:srgbClr val="A32D19"/>
                </a:solidFill>
              </a:rPr>
              <a:t>mainly focuses on the sequence </a:t>
            </a:r>
            <a:r>
              <a:rPr lang="en-US" dirty="0"/>
              <a:t>of operations rather than on objects. </a:t>
            </a:r>
          </a:p>
          <a:p>
            <a:r>
              <a:rPr lang="en-US" dirty="0"/>
              <a:t>Activity diagram represents the </a:t>
            </a:r>
            <a:r>
              <a:rPr lang="en-US" dirty="0">
                <a:solidFill>
                  <a:srgbClr val="A32D19"/>
                </a:solidFill>
              </a:rPr>
              <a:t>dynamic behavior </a:t>
            </a:r>
            <a:r>
              <a:rPr lang="en-US" dirty="0"/>
              <a:t>of the system or part of the system.</a:t>
            </a:r>
          </a:p>
          <a:p>
            <a:r>
              <a:rPr lang="en-US" dirty="0"/>
              <a:t>An activity diagram shows </a:t>
            </a:r>
            <a:r>
              <a:rPr lang="en-US" dirty="0">
                <a:solidFill>
                  <a:srgbClr val="A32D19"/>
                </a:solidFill>
              </a:rPr>
              <a:t>‘How’ </a:t>
            </a:r>
            <a:r>
              <a:rPr lang="en-US" dirty="0"/>
              <a:t>the system works.</a:t>
            </a:r>
          </a:p>
          <a:p>
            <a:r>
              <a:rPr lang="en-US" dirty="0"/>
              <a:t>Activity diagram are most </a:t>
            </a:r>
            <a:r>
              <a:rPr lang="en-US" dirty="0">
                <a:solidFill>
                  <a:srgbClr val="A32D19"/>
                </a:solidFill>
              </a:rPr>
              <a:t>useful</a:t>
            </a:r>
            <a:r>
              <a:rPr lang="en-US" dirty="0"/>
              <a:t> during </a:t>
            </a:r>
            <a:r>
              <a:rPr lang="en-US" dirty="0">
                <a:solidFill>
                  <a:srgbClr val="A32D19"/>
                </a:solidFill>
              </a:rPr>
              <a:t>early stages of designing </a:t>
            </a:r>
            <a:r>
              <a:rPr lang="en-US" dirty="0"/>
              <a:t>algorithms and workflows.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79" y="947374"/>
            <a:ext cx="11929640" cy="941033"/>
          </a:xfrm>
          <a:prstGeom prst="wedgeRoundRectCallout">
            <a:avLst>
              <a:gd name="adj1" fmla="val -38983"/>
              <a:gd name="adj2" fmla="val -9387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An activity diagram visually presents a </a:t>
            </a:r>
            <a:r>
              <a:rPr lang="en-US" sz="2400" dirty="0">
                <a:solidFill>
                  <a:srgbClr val="A32D19"/>
                </a:solidFill>
              </a:rPr>
              <a:t>series of operation or flow of control </a:t>
            </a:r>
            <a:r>
              <a:rPr lang="en-US" sz="2400" dirty="0"/>
              <a:t>in a system similar to algorithm or a flowchart. 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79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Elements of Activity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41" y="1409422"/>
            <a:ext cx="11660527" cy="2208990"/>
          </a:xfrm>
          <a:ln w="3175">
            <a:noFill/>
          </a:ln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A32D19"/>
                </a:solidFill>
              </a:rPr>
              <a:t>main element </a:t>
            </a:r>
            <a:r>
              <a:rPr lang="en-US" dirty="0"/>
              <a:t>of an activity diagram is the activity itself.</a:t>
            </a:r>
          </a:p>
          <a:p>
            <a:r>
              <a:rPr lang="en-US" dirty="0"/>
              <a:t>An activity is a </a:t>
            </a:r>
            <a:r>
              <a:rPr lang="en-US" dirty="0">
                <a:solidFill>
                  <a:srgbClr val="A32D19"/>
                </a:solidFill>
              </a:rPr>
              <a:t>function/operation performed by the system.</a:t>
            </a:r>
          </a:p>
          <a:p>
            <a:r>
              <a:rPr lang="en-US" dirty="0"/>
              <a:t>The elongated </a:t>
            </a:r>
            <a:r>
              <a:rPr lang="en-US" dirty="0">
                <a:solidFill>
                  <a:srgbClr val="A32D19"/>
                </a:solidFill>
              </a:rPr>
              <a:t>ovals</a:t>
            </a:r>
            <a:r>
              <a:rPr lang="en-US" dirty="0"/>
              <a:t> show activities.</a:t>
            </a:r>
          </a:p>
          <a:p>
            <a:r>
              <a:rPr lang="en-US" dirty="0"/>
              <a:t>An unlabeled </a:t>
            </a:r>
            <a:r>
              <a:rPr lang="en-US" dirty="0">
                <a:solidFill>
                  <a:srgbClr val="A32D19"/>
                </a:solidFill>
              </a:rPr>
              <a:t>arrow from one activity to another</a:t>
            </a:r>
            <a:r>
              <a:rPr lang="en-US" dirty="0"/>
              <a:t> activity, that indicates that the </a:t>
            </a:r>
            <a:r>
              <a:rPr lang="en-US" dirty="0">
                <a:solidFill>
                  <a:srgbClr val="A32D19"/>
                </a:solidFill>
              </a:rPr>
              <a:t>first activity must complete before the second activity begin</a:t>
            </a:r>
            <a:r>
              <a:rPr lang="en-US" dirty="0"/>
              <a:t>.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DF6346A-D390-4952-A40D-A0B7BD09CBE3}"/>
              </a:ext>
            </a:extLst>
          </p:cNvPr>
          <p:cNvSpPr/>
          <p:nvPr/>
        </p:nvSpPr>
        <p:spPr>
          <a:xfrm>
            <a:off x="9618973" y="796808"/>
            <a:ext cx="2267866" cy="450753"/>
          </a:xfrm>
          <a:prstGeom prst="flowChartTerminator">
            <a:avLst/>
          </a:prstGeom>
          <a:noFill/>
          <a:ln w="28575">
            <a:solidFill>
              <a:srgbClr val="A32D1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Activity</a:t>
            </a:r>
            <a:endParaRPr lang="en-US" sz="1200" dirty="0"/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99241" y="4188179"/>
            <a:ext cx="11687598" cy="2068930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there is more than one successor to an activity, each arrow may be labeled with a condition in square brackets. For e.g. </a:t>
            </a:r>
            <a:r>
              <a:rPr lang="en-US" i="1" dirty="0"/>
              <a:t>[failure]</a:t>
            </a:r>
          </a:p>
          <a:p>
            <a:r>
              <a:rPr lang="en-US" dirty="0"/>
              <a:t>As a notational convenience, a </a:t>
            </a:r>
            <a:r>
              <a:rPr lang="en-US" dirty="0">
                <a:solidFill>
                  <a:srgbClr val="A32D19"/>
                </a:solidFill>
              </a:rPr>
              <a:t>diamond shows a branch</a:t>
            </a:r>
            <a:r>
              <a:rPr lang="en-US" dirty="0"/>
              <a:t> into multiple successors.</a:t>
            </a:r>
          </a:p>
          <a:p>
            <a:r>
              <a:rPr lang="en-US" dirty="0"/>
              <a:t>The diamond has one incoming arrows and two or more outgoing arrows. Each with condition.</a:t>
            </a:r>
          </a:p>
          <a:p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98A1F05-DD58-475A-B14C-87D2F717D3D0}"/>
              </a:ext>
            </a:extLst>
          </p:cNvPr>
          <p:cNvGrpSpPr/>
          <p:nvPr/>
        </p:nvGrpSpPr>
        <p:grpSpPr>
          <a:xfrm>
            <a:off x="9599893" y="3349476"/>
            <a:ext cx="2259875" cy="696956"/>
            <a:chOff x="9192319" y="2210540"/>
            <a:chExt cx="2259875" cy="696956"/>
          </a:xfrm>
        </p:grpSpPr>
        <p:sp>
          <p:nvSpPr>
            <p:cNvPr id="26" name="Flowchart: Decision 25">
              <a:extLst>
                <a:ext uri="{FF2B5EF4-FFF2-40B4-BE49-F238E27FC236}">
                  <a16:creationId xmlns:a16="http://schemas.microsoft.com/office/drawing/2014/main" id="{9F8C2B86-2A6C-48A8-991F-2F9CF8B48E68}"/>
                </a:ext>
              </a:extLst>
            </p:cNvPr>
            <p:cNvSpPr/>
            <p:nvPr/>
          </p:nvSpPr>
          <p:spPr>
            <a:xfrm>
              <a:off x="9838801" y="2491619"/>
              <a:ext cx="788322" cy="381000"/>
            </a:xfrm>
            <a:prstGeom prst="flowChartDecision">
              <a:avLst/>
            </a:prstGeom>
            <a:ln w="28575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08AD7D49-138D-4105-8D0F-6E036893F90F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rot="10800000" flipV="1">
              <a:off x="9192319" y="2682118"/>
              <a:ext cx="646483" cy="225377"/>
            </a:xfrm>
            <a:prstGeom prst="bentConnector3">
              <a:avLst>
                <a:gd name="adj1" fmla="val 100809"/>
              </a:avLst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48605C91-AF2E-4EAB-8005-D15BFE95FADB}"/>
                </a:ext>
              </a:extLst>
            </p:cNvPr>
            <p:cNvCxnSpPr>
              <a:cxnSpLocks/>
            </p:cNvCxnSpPr>
            <p:nvPr/>
          </p:nvCxnSpPr>
          <p:spPr>
            <a:xfrm>
              <a:off x="10627124" y="2682119"/>
              <a:ext cx="825070" cy="225377"/>
            </a:xfrm>
            <a:prstGeom prst="bentConnector3">
              <a:avLst>
                <a:gd name="adj1" fmla="val 99496"/>
              </a:avLst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273530-1F9C-41E2-8037-E15D7723A741}"/>
                </a:ext>
              </a:extLst>
            </p:cNvPr>
            <p:cNvSpPr txBox="1"/>
            <p:nvPr/>
          </p:nvSpPr>
          <p:spPr>
            <a:xfrm>
              <a:off x="9213187" y="2355176"/>
              <a:ext cx="6591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[true]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99DA5F6-AA3A-488D-832C-A26D5B33D45D}"/>
                </a:ext>
              </a:extLst>
            </p:cNvPr>
            <p:cNvSpPr txBox="1"/>
            <p:nvPr/>
          </p:nvSpPr>
          <p:spPr>
            <a:xfrm>
              <a:off x="10660664" y="2337628"/>
              <a:ext cx="7505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[false]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15D5E61-1990-49FA-A96C-28D2591D1458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10232962" y="2210540"/>
              <a:ext cx="0" cy="28107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Activity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2170" y="3672463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Branches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20334" y="4134128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46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1" grpId="0" animBg="1"/>
      <p:bldP spid="22" grpId="0" uiExpand="1" build="p"/>
      <p:bldP spid="15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Activity Diagram Cont.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70" y="1421989"/>
            <a:ext cx="11877782" cy="1331137"/>
          </a:xfrm>
          <a:ln w="3175">
            <a:noFill/>
          </a:ln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solid circle </a:t>
            </a:r>
            <a:r>
              <a:rPr lang="en-US" dirty="0"/>
              <a:t>with an </a:t>
            </a:r>
            <a:r>
              <a:rPr lang="en-US" dirty="0">
                <a:solidFill>
                  <a:srgbClr val="A32D19"/>
                </a:solidFill>
              </a:rPr>
              <a:t>outgoing arrow</a:t>
            </a:r>
            <a:r>
              <a:rPr lang="en-US" dirty="0"/>
              <a:t> shows the </a:t>
            </a:r>
            <a:r>
              <a:rPr lang="en-US" dirty="0">
                <a:solidFill>
                  <a:srgbClr val="A32D19"/>
                </a:solidFill>
              </a:rPr>
              <a:t>starting point </a:t>
            </a:r>
            <a:r>
              <a:rPr lang="en-US" dirty="0"/>
              <a:t>of an activity diagram.</a:t>
            </a:r>
          </a:p>
          <a:p>
            <a:r>
              <a:rPr lang="en-US" dirty="0"/>
              <a:t>When an activity diagram is activated, control starts at the solid circle and proceeds via the </a:t>
            </a:r>
            <a:r>
              <a:rPr lang="en-US" dirty="0">
                <a:solidFill>
                  <a:srgbClr val="A32D19"/>
                </a:solidFill>
              </a:rPr>
              <a:t>outgoing arrow toward the first activities</a:t>
            </a:r>
            <a:r>
              <a:rPr lang="en-US" dirty="0"/>
              <a:t>.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72170" y="3463914"/>
            <a:ext cx="11687598" cy="1891857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bull’s eye </a:t>
            </a:r>
            <a:r>
              <a:rPr lang="en-US" dirty="0"/>
              <a:t>– a </a:t>
            </a:r>
            <a:r>
              <a:rPr lang="en-US" dirty="0">
                <a:solidFill>
                  <a:srgbClr val="A32D19"/>
                </a:solidFill>
              </a:rPr>
              <a:t>solid circle surrounded by a hollow circle</a:t>
            </a:r>
            <a:r>
              <a:rPr lang="en-US" dirty="0"/>
              <a:t> shows the termination point.</a:t>
            </a:r>
          </a:p>
          <a:p>
            <a:r>
              <a:rPr lang="en-US" dirty="0"/>
              <a:t>The symbol </a:t>
            </a:r>
            <a:r>
              <a:rPr lang="en-US" dirty="0">
                <a:solidFill>
                  <a:srgbClr val="A32D19"/>
                </a:solidFill>
              </a:rPr>
              <a:t>only has incoming arrows</a:t>
            </a:r>
            <a:r>
              <a:rPr lang="en-US" dirty="0"/>
              <a:t>.</a:t>
            </a:r>
          </a:p>
          <a:p>
            <a:r>
              <a:rPr lang="en-US" dirty="0"/>
              <a:t>When control reaches a bull’s eye, the overall </a:t>
            </a:r>
            <a:r>
              <a:rPr lang="en-US" dirty="0">
                <a:solidFill>
                  <a:srgbClr val="A32D19"/>
                </a:solidFill>
              </a:rPr>
              <a:t>activity is complete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execution</a:t>
            </a:r>
            <a:r>
              <a:rPr lang="en-US" dirty="0"/>
              <a:t> of the activity diagram </a:t>
            </a:r>
            <a:r>
              <a:rPr lang="en-US" dirty="0">
                <a:solidFill>
                  <a:srgbClr val="A32D19"/>
                </a:solidFill>
              </a:rPr>
              <a:t>ends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6E97081-E946-4ED1-8EC5-301C40AC852B}"/>
              </a:ext>
            </a:extLst>
          </p:cNvPr>
          <p:cNvGrpSpPr/>
          <p:nvPr/>
        </p:nvGrpSpPr>
        <p:grpSpPr>
          <a:xfrm>
            <a:off x="10568922" y="854463"/>
            <a:ext cx="1153686" cy="360000"/>
            <a:chOff x="3253722" y="2549356"/>
            <a:chExt cx="1153686" cy="360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A0DF00E-1091-4515-B3A8-981C601EDDFD}"/>
                </a:ext>
              </a:extLst>
            </p:cNvPr>
            <p:cNvSpPr/>
            <p:nvPr/>
          </p:nvSpPr>
          <p:spPr>
            <a:xfrm>
              <a:off x="3253722" y="2549356"/>
              <a:ext cx="360000" cy="360000"/>
            </a:xfrm>
            <a:prstGeom prst="ellipse">
              <a:avLst/>
            </a:prstGeom>
            <a:ln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2E8622B-69A1-4A74-BC71-C9555FBB439F}"/>
                </a:ext>
              </a:extLst>
            </p:cNvPr>
            <p:cNvCxnSpPr>
              <a:cxnSpLocks/>
              <a:stCxn id="3" idx="6"/>
            </p:cNvCxnSpPr>
            <p:nvPr/>
          </p:nvCxnSpPr>
          <p:spPr>
            <a:xfrm>
              <a:off x="3613722" y="2729356"/>
              <a:ext cx="79368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7CF3F1-2F82-460C-95DC-EDE6188B862E}"/>
              </a:ext>
            </a:extLst>
          </p:cNvPr>
          <p:cNvGrpSpPr/>
          <p:nvPr/>
        </p:nvGrpSpPr>
        <p:grpSpPr>
          <a:xfrm>
            <a:off x="10869840" y="2755758"/>
            <a:ext cx="852768" cy="360000"/>
            <a:chOff x="9525740" y="2573126"/>
            <a:chExt cx="852768" cy="36000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95B15DF-72A0-4BE7-AE74-9B1CAE570494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>
              <a:off x="9525740" y="2753126"/>
              <a:ext cx="4927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973600-E725-415F-812D-99E8B22FB479}"/>
                </a:ext>
              </a:extLst>
            </p:cNvPr>
            <p:cNvGrpSpPr/>
            <p:nvPr/>
          </p:nvGrpSpPr>
          <p:grpSpPr>
            <a:xfrm>
              <a:off x="10018508" y="2573126"/>
              <a:ext cx="360000" cy="360000"/>
              <a:chOff x="9658905" y="2055376"/>
              <a:chExt cx="368252" cy="376895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FB85099-A285-4D7B-99B9-28E8211A4152}"/>
                  </a:ext>
                </a:extLst>
              </p:cNvPr>
              <p:cNvSpPr/>
              <p:nvPr/>
            </p:nvSpPr>
            <p:spPr>
              <a:xfrm>
                <a:off x="9658905" y="2055376"/>
                <a:ext cx="368252" cy="376895"/>
              </a:xfrm>
              <a:prstGeom prst="ellipse">
                <a:avLst/>
              </a:prstGeom>
              <a:noFill/>
              <a:ln w="28575"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B8ABB07-97C8-49B5-8421-97FC64F5BA2B}"/>
                  </a:ext>
                </a:extLst>
              </p:cNvPr>
              <p:cNvSpPr/>
              <p:nvPr/>
            </p:nvSpPr>
            <p:spPr>
              <a:xfrm>
                <a:off x="9714669" y="2101049"/>
                <a:ext cx="257776" cy="263827"/>
              </a:xfrm>
              <a:prstGeom prst="ellipse">
                <a:avLst/>
              </a:prstGeom>
              <a:ln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8" name="Rectangle 17"/>
          <p:cNvSpPr/>
          <p:nvPr/>
        </p:nvSpPr>
        <p:spPr>
          <a:xfrm>
            <a:off x="172170" y="868214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Initiation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72170" y="2884925"/>
            <a:ext cx="2598326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Termination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1993263" y="3346590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8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2" grpId="0" uiExpand="1" build="p"/>
      <p:bldP spid="18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Activity Diagram Cont.</a:t>
            </a:r>
            <a:endParaRPr lang="en-US" dirty="0">
              <a:latin typeface="+mn-lt"/>
            </a:endParaRP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169" y="1454869"/>
            <a:ext cx="11929638" cy="2124354"/>
          </a:xfrm>
          <a:ln w="3175">
            <a:noFill/>
          </a:ln>
        </p:spPr>
        <p:txBody>
          <a:bodyPr/>
          <a:lstStyle/>
          <a:p>
            <a:r>
              <a:rPr lang="en-US" dirty="0"/>
              <a:t>System can perform </a:t>
            </a:r>
            <a:r>
              <a:rPr lang="en-US" dirty="0">
                <a:solidFill>
                  <a:srgbClr val="A32D19"/>
                </a:solidFill>
              </a:rPr>
              <a:t>more than one activity </a:t>
            </a:r>
            <a:r>
              <a:rPr lang="en-US" dirty="0"/>
              <a:t>at a time.</a:t>
            </a:r>
          </a:p>
          <a:p>
            <a:r>
              <a:rPr lang="en-US" dirty="0"/>
              <a:t>For e.g. one activity may be followed by another activity, then </a:t>
            </a:r>
            <a:r>
              <a:rPr lang="en-US" dirty="0">
                <a:solidFill>
                  <a:srgbClr val="A32D19"/>
                </a:solidFill>
              </a:rPr>
              <a:t>split into several concurrent activities </a:t>
            </a:r>
            <a:r>
              <a:rPr lang="en-US" dirty="0"/>
              <a:t>(a </a:t>
            </a:r>
            <a:r>
              <a:rPr lang="en-US" dirty="0">
                <a:solidFill>
                  <a:srgbClr val="A32D19"/>
                </a:solidFill>
              </a:rPr>
              <a:t>fork</a:t>
            </a:r>
            <a:r>
              <a:rPr lang="en-US" dirty="0"/>
              <a:t> of control), and finally be </a:t>
            </a:r>
            <a:r>
              <a:rPr lang="en-US" dirty="0">
                <a:solidFill>
                  <a:srgbClr val="A32D19"/>
                </a:solidFill>
              </a:rPr>
              <a:t>combined into a single activity </a:t>
            </a:r>
            <a:r>
              <a:rPr lang="en-US" dirty="0"/>
              <a:t>(a </a:t>
            </a:r>
            <a:r>
              <a:rPr lang="en-US" dirty="0">
                <a:solidFill>
                  <a:srgbClr val="A32D19"/>
                </a:solidFill>
              </a:rPr>
              <a:t>merge</a:t>
            </a:r>
            <a:r>
              <a:rPr lang="en-US" dirty="0"/>
              <a:t> of control).</a:t>
            </a:r>
          </a:p>
          <a:p>
            <a:r>
              <a:rPr lang="en-US" dirty="0"/>
              <a:t>A fork or merge is shown by </a:t>
            </a:r>
            <a:r>
              <a:rPr lang="en-US" dirty="0">
                <a:solidFill>
                  <a:srgbClr val="A32D19"/>
                </a:solidFill>
              </a:rPr>
              <a:t>a synchronization bar </a:t>
            </a:r>
            <a:r>
              <a:rPr lang="en-US" dirty="0"/>
              <a:t>–a heavy line with one or more input arrows and one or more output arrows.</a:t>
            </a: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AEA524-26C8-464D-A427-3CEBE590BEEF}"/>
              </a:ext>
            </a:extLst>
          </p:cNvPr>
          <p:cNvGrpSpPr/>
          <p:nvPr/>
        </p:nvGrpSpPr>
        <p:grpSpPr>
          <a:xfrm>
            <a:off x="4243886" y="3878399"/>
            <a:ext cx="1004486" cy="700432"/>
            <a:chOff x="3338006" y="2522294"/>
            <a:chExt cx="1056440" cy="35952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8669BA7-966D-4EBC-8ACC-39D8F071B529}"/>
                </a:ext>
              </a:extLst>
            </p:cNvPr>
            <p:cNvCxnSpPr>
              <a:cxnSpLocks/>
            </p:cNvCxnSpPr>
            <p:nvPr/>
          </p:nvCxnSpPr>
          <p:spPr>
            <a:xfrm>
              <a:off x="3870664" y="2522294"/>
              <a:ext cx="0" cy="359521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A9B9642-0CA6-4DEA-9842-232F7E7985B6}"/>
                </a:ext>
              </a:extLst>
            </p:cNvPr>
            <p:cNvCxnSpPr/>
            <p:nvPr/>
          </p:nvCxnSpPr>
          <p:spPr>
            <a:xfrm>
              <a:off x="3338006" y="2603181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4E07040-4146-447B-BCA7-E1A3B9E8270F}"/>
                </a:ext>
              </a:extLst>
            </p:cNvPr>
            <p:cNvCxnSpPr>
              <a:cxnSpLocks/>
            </p:cNvCxnSpPr>
            <p:nvPr/>
          </p:nvCxnSpPr>
          <p:spPr>
            <a:xfrm>
              <a:off x="3870664" y="2701887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9217D2F0-AA4F-4082-8A5E-37F3F25E8F67}"/>
                </a:ext>
              </a:extLst>
            </p:cNvPr>
            <p:cNvCxnSpPr/>
            <p:nvPr/>
          </p:nvCxnSpPr>
          <p:spPr>
            <a:xfrm>
              <a:off x="3339483" y="2799971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5B9EC7-2923-4EE0-B0C3-9E2DA3B0C2E0}"/>
              </a:ext>
            </a:extLst>
          </p:cNvPr>
          <p:cNvGrpSpPr/>
          <p:nvPr/>
        </p:nvGrpSpPr>
        <p:grpSpPr>
          <a:xfrm>
            <a:off x="7103148" y="3851765"/>
            <a:ext cx="1029812" cy="700432"/>
            <a:chOff x="9394054" y="2550411"/>
            <a:chExt cx="1083076" cy="35952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18F6652-8C07-412A-BE41-505DEB862294}"/>
                </a:ext>
              </a:extLst>
            </p:cNvPr>
            <p:cNvCxnSpPr>
              <a:cxnSpLocks/>
            </p:cNvCxnSpPr>
            <p:nvPr/>
          </p:nvCxnSpPr>
          <p:spPr>
            <a:xfrm>
              <a:off x="9935592" y="2550411"/>
              <a:ext cx="0" cy="359521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FA2047A-6FA6-4414-9A40-10B9067707A5}"/>
                </a:ext>
              </a:extLst>
            </p:cNvPr>
            <p:cNvCxnSpPr/>
            <p:nvPr/>
          </p:nvCxnSpPr>
          <p:spPr>
            <a:xfrm>
              <a:off x="9953348" y="2622420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80AFE53-E3FF-4299-B8F2-63B142282B2A}"/>
                </a:ext>
              </a:extLst>
            </p:cNvPr>
            <p:cNvCxnSpPr>
              <a:cxnSpLocks/>
            </p:cNvCxnSpPr>
            <p:nvPr/>
          </p:nvCxnSpPr>
          <p:spPr>
            <a:xfrm>
              <a:off x="9394054" y="2730004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9C12655-3A30-4940-86D1-AFB30A90D41E}"/>
                </a:ext>
              </a:extLst>
            </p:cNvPr>
            <p:cNvCxnSpPr/>
            <p:nvPr/>
          </p:nvCxnSpPr>
          <p:spPr>
            <a:xfrm>
              <a:off x="9945954" y="2828088"/>
              <a:ext cx="52378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6DE5994-FFBF-451B-94F3-DEE8E14C02EB}"/>
              </a:ext>
            </a:extLst>
          </p:cNvPr>
          <p:cNvSpPr txBox="1"/>
          <p:nvPr/>
        </p:nvSpPr>
        <p:spPr>
          <a:xfrm>
            <a:off x="3174453" y="3991150"/>
            <a:ext cx="798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A32D19"/>
                </a:solidFill>
              </a:rPr>
              <a:t>Merge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6696EB-F65B-4E21-A6B3-19875CCFCE28}"/>
              </a:ext>
            </a:extLst>
          </p:cNvPr>
          <p:cNvSpPr txBox="1"/>
          <p:nvPr/>
        </p:nvSpPr>
        <p:spPr>
          <a:xfrm>
            <a:off x="6326246" y="4050048"/>
            <a:ext cx="69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A32D19"/>
                </a:solidFill>
              </a:rPr>
              <a:t>Fork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2169" y="868214"/>
            <a:ext cx="370759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Concurrent Activities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993263" y="1329879"/>
            <a:ext cx="986650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1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2" grpId="0"/>
      <p:bldP spid="34" grpId="0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an Activity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487648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</a:t>
            </a:r>
            <a:r>
              <a:rPr lang="en-US" dirty="0"/>
              <a:t>: </a:t>
            </a:r>
            <a:r>
              <a:rPr lang="en-US" dirty="0">
                <a:solidFill>
                  <a:srgbClr val="A32D19"/>
                </a:solidFill>
              </a:rPr>
              <a:t>Identify the various activities </a:t>
            </a:r>
            <a:r>
              <a:rPr lang="en-US" dirty="0"/>
              <a:t>and actions your business process or system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2:</a:t>
            </a:r>
            <a:r>
              <a:rPr lang="en-US" dirty="0"/>
              <a:t> Find a </a:t>
            </a:r>
            <a:r>
              <a:rPr lang="en-US" dirty="0">
                <a:solidFill>
                  <a:srgbClr val="A32D19"/>
                </a:solidFill>
              </a:rPr>
              <a:t>flow among the activities</a:t>
            </a:r>
          </a:p>
          <a:p>
            <a:r>
              <a:rPr lang="en-US" dirty="0"/>
              <a:t>For e.g. in library management system, </a:t>
            </a:r>
            <a:r>
              <a:rPr lang="en-US" dirty="0">
                <a:solidFill>
                  <a:srgbClr val="A32D19"/>
                </a:solidFill>
              </a:rPr>
              <a:t>book issue </a:t>
            </a:r>
            <a:r>
              <a:rPr lang="en-US" dirty="0"/>
              <a:t>is a one business process or a </a:t>
            </a:r>
            <a:r>
              <a:rPr lang="en-US" dirty="0">
                <a:solidFill>
                  <a:srgbClr val="A32D19"/>
                </a:solidFill>
              </a:rPr>
              <a:t>function</a:t>
            </a:r>
            <a:r>
              <a:rPr lang="en-US" dirty="0"/>
              <a:t>. Show we prepare a activity diagram for Book issue.</a:t>
            </a:r>
          </a:p>
          <a:p>
            <a:r>
              <a:rPr lang="en-US" dirty="0"/>
              <a:t>Various activity in book issue process like…</a:t>
            </a:r>
          </a:p>
          <a:p>
            <a:pPr lvl="1"/>
            <a:r>
              <a:rPr lang="en-US" dirty="0"/>
              <a:t>Check availability of book</a:t>
            </a:r>
          </a:p>
          <a:p>
            <a:pPr lvl="1"/>
            <a:r>
              <a:rPr lang="en-US" dirty="0"/>
              <a:t>Validate the member</a:t>
            </a:r>
          </a:p>
          <a:p>
            <a:pPr lvl="1"/>
            <a:r>
              <a:rPr lang="en-US" dirty="0"/>
              <a:t>Check No. of books issued by member</a:t>
            </a:r>
          </a:p>
          <a:p>
            <a:pPr lvl="1"/>
            <a:r>
              <a:rPr lang="en-US" dirty="0"/>
              <a:t>Add book issue details to transaction</a:t>
            </a:r>
          </a:p>
          <a:p>
            <a:pPr lvl="1"/>
            <a:r>
              <a:rPr lang="en-US" dirty="0"/>
              <a:t>Update no of book issued by member</a:t>
            </a:r>
          </a:p>
          <a:p>
            <a:pPr lvl="1"/>
            <a:r>
              <a:rPr lang="en-US" dirty="0"/>
              <a:t>Update book status.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60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Activity </a:t>
            </a:r>
            <a:r>
              <a:rPr lang="en-US">
                <a:latin typeface="+mn-lt"/>
              </a:rPr>
              <a:t>Diagram for </a:t>
            </a:r>
            <a:r>
              <a:rPr lang="en-US" dirty="0">
                <a:latin typeface="+mn-lt"/>
              </a:rPr>
              <a:t>Book Issue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D2D5BB-C395-4C1E-A079-AF431BF05693}"/>
              </a:ext>
            </a:extLst>
          </p:cNvPr>
          <p:cNvSpPr/>
          <p:nvPr/>
        </p:nvSpPr>
        <p:spPr>
          <a:xfrm>
            <a:off x="5817833" y="852256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935F36FB-6496-430F-8F4B-C5445A649728}"/>
              </a:ext>
            </a:extLst>
          </p:cNvPr>
          <p:cNvSpPr/>
          <p:nvPr/>
        </p:nvSpPr>
        <p:spPr>
          <a:xfrm>
            <a:off x="4612898" y="1233256"/>
            <a:ext cx="2637542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Check availability book</a:t>
            </a:r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5D6C5A05-FDF6-47F8-BD19-1DD7889E32C7}"/>
              </a:ext>
            </a:extLst>
          </p:cNvPr>
          <p:cNvSpPr/>
          <p:nvPr/>
        </p:nvSpPr>
        <p:spPr>
          <a:xfrm>
            <a:off x="8942569" y="1614256"/>
            <a:ext cx="1904463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“Book not available”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F105AA58-3E39-4A44-9744-827CB06AFC86}"/>
              </a:ext>
            </a:extLst>
          </p:cNvPr>
          <p:cNvSpPr/>
          <p:nvPr/>
        </p:nvSpPr>
        <p:spPr>
          <a:xfrm>
            <a:off x="4953045" y="2300056"/>
            <a:ext cx="1938338" cy="2609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Member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42BC508E-807C-47B6-86F4-0A6D3D20D2D8}"/>
              </a:ext>
            </a:extLst>
          </p:cNvPr>
          <p:cNvSpPr/>
          <p:nvPr/>
        </p:nvSpPr>
        <p:spPr>
          <a:xfrm>
            <a:off x="5589233" y="28334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7B5AFFAF-A340-4080-954B-DF1E6BBCB6C1}"/>
              </a:ext>
            </a:extLst>
          </p:cNvPr>
          <p:cNvSpPr/>
          <p:nvPr/>
        </p:nvSpPr>
        <p:spPr>
          <a:xfrm>
            <a:off x="5584470" y="17666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F2DD3DC1-2A8C-4D35-A02E-7824273E740E}"/>
              </a:ext>
            </a:extLst>
          </p:cNvPr>
          <p:cNvSpPr/>
          <p:nvPr/>
        </p:nvSpPr>
        <p:spPr>
          <a:xfrm>
            <a:off x="1780043" y="2713356"/>
            <a:ext cx="1909691" cy="6535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“not a valid member”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F1C198F4-3747-4E20-AEDC-6CCB9C59E845}"/>
              </a:ext>
            </a:extLst>
          </p:cNvPr>
          <p:cNvSpPr/>
          <p:nvPr/>
        </p:nvSpPr>
        <p:spPr>
          <a:xfrm>
            <a:off x="4208352" y="3366856"/>
            <a:ext cx="3447311" cy="2887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No. of books issued to member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0A572AE8-224D-46E9-B416-1A2D18C339FD}"/>
              </a:ext>
            </a:extLst>
          </p:cNvPr>
          <p:cNvSpPr/>
          <p:nvPr/>
        </p:nvSpPr>
        <p:spPr>
          <a:xfrm>
            <a:off x="5589836" y="3824056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D0B55C30-E49E-4048-8773-BC28DE9329A3}"/>
              </a:ext>
            </a:extLst>
          </p:cNvPr>
          <p:cNvSpPr/>
          <p:nvPr/>
        </p:nvSpPr>
        <p:spPr>
          <a:xfrm>
            <a:off x="8560496" y="3671656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“No more book can be issued”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2A86A964-20D0-47B5-BD8F-D6C5690CFFE6}"/>
              </a:ext>
            </a:extLst>
          </p:cNvPr>
          <p:cNvSpPr/>
          <p:nvPr/>
        </p:nvSpPr>
        <p:spPr>
          <a:xfrm>
            <a:off x="3896784" y="4433655"/>
            <a:ext cx="4086498" cy="32406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 book issue details to transaction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id="{7C74B798-D941-4316-BE89-223DAF86A4C1}"/>
              </a:ext>
            </a:extLst>
          </p:cNvPr>
          <p:cNvSpPr/>
          <p:nvPr/>
        </p:nvSpPr>
        <p:spPr>
          <a:xfrm>
            <a:off x="6122632" y="5348055"/>
            <a:ext cx="2161417" cy="32680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book status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2C21761C-BB43-4E28-B6A1-0E11E59D5BDD}"/>
              </a:ext>
            </a:extLst>
          </p:cNvPr>
          <p:cNvSpPr/>
          <p:nvPr/>
        </p:nvSpPr>
        <p:spPr>
          <a:xfrm>
            <a:off x="2033516" y="5336949"/>
            <a:ext cx="4050748" cy="35781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no of book issued to member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DC43CE-6A72-4C6F-9E91-7C6F818AF6A9}"/>
              </a:ext>
            </a:extLst>
          </p:cNvPr>
          <p:cNvGrpSpPr/>
          <p:nvPr/>
        </p:nvGrpSpPr>
        <p:grpSpPr>
          <a:xfrm>
            <a:off x="2581337" y="3693121"/>
            <a:ext cx="313788" cy="304800"/>
            <a:chOff x="838200" y="4343400"/>
            <a:chExt cx="600612" cy="6096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08F6967-7442-49A5-A894-FAC61EC289F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CEB192E-6AD6-4F9D-8065-5BE447215920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54D275-8594-49CC-9274-F7056635F87C}"/>
              </a:ext>
            </a:extLst>
          </p:cNvPr>
          <p:cNvGrpSpPr/>
          <p:nvPr/>
        </p:nvGrpSpPr>
        <p:grpSpPr>
          <a:xfrm>
            <a:off x="9741323" y="2737670"/>
            <a:ext cx="313788" cy="304800"/>
            <a:chOff x="838200" y="4343400"/>
            <a:chExt cx="600612" cy="6096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5BFE06F-05D6-413D-88DD-652F35EEC12D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1D583B5-7D1D-49B7-B35E-2B6641DCB959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11A5D93-D7C9-40AD-AC2A-8A3A9930457F}"/>
              </a:ext>
            </a:extLst>
          </p:cNvPr>
          <p:cNvGrpSpPr/>
          <p:nvPr/>
        </p:nvGrpSpPr>
        <p:grpSpPr>
          <a:xfrm>
            <a:off x="9551765" y="4815462"/>
            <a:ext cx="313788" cy="304800"/>
            <a:chOff x="838200" y="4343400"/>
            <a:chExt cx="600612" cy="6096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8DEBED9-9C2C-45F4-970A-2CEAE23F673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FA4B8B6-1C6E-4E01-93D1-A1106744A4C5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C4EA5E-D729-41D9-B973-959CB4C8B1CE}"/>
              </a:ext>
            </a:extLst>
          </p:cNvPr>
          <p:cNvGrpSpPr/>
          <p:nvPr/>
        </p:nvGrpSpPr>
        <p:grpSpPr>
          <a:xfrm>
            <a:off x="5779729" y="6077859"/>
            <a:ext cx="313788" cy="304800"/>
            <a:chOff x="838200" y="4343400"/>
            <a:chExt cx="600612" cy="6096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E173BA-F300-4DC5-BEBE-D0C60308C6D8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4A34B6A-74F8-475D-948A-490EFA879A6F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3ACAA5-8B36-4EB4-8146-824A2736BE79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5931669" y="1080856"/>
            <a:ext cx="464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DA189DD-560C-4485-B2C4-B526877A5BD6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 flipH="1">
            <a:off x="5927370" y="1563814"/>
            <a:ext cx="4299" cy="202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EDE36B-EFCD-44AB-BB2C-B23AC2E01ED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5922214" y="2560956"/>
            <a:ext cx="9919" cy="272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FB52CD4-4099-4C75-8BB1-0C5750E2F132}"/>
              </a:ext>
            </a:extLst>
          </p:cNvPr>
          <p:cNvCxnSpPr>
            <a:stCxn id="14" idx="2"/>
            <a:endCxn id="12" idx="0"/>
          </p:cNvCxnSpPr>
          <p:nvPr/>
        </p:nvCxnSpPr>
        <p:spPr>
          <a:xfrm flipH="1">
            <a:off x="5922214" y="2147656"/>
            <a:ext cx="5156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4F91811-21DB-4FA1-B74F-FD09340C70FF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5932008" y="3655557"/>
            <a:ext cx="728" cy="16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D88E7A-4A93-4C63-96DD-ADDED2BA959E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 flipH="1">
            <a:off x="5932008" y="3214456"/>
            <a:ext cx="125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81A74A-34FE-44A9-8CFF-C9860977D93A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5932736" y="4205056"/>
            <a:ext cx="7297" cy="228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76429D8-8CD3-4107-9B92-811CC804746A}"/>
              </a:ext>
            </a:extLst>
          </p:cNvPr>
          <p:cNvCxnSpPr>
            <a:stCxn id="19" idx="2"/>
          </p:cNvCxnSpPr>
          <p:nvPr/>
        </p:nvCxnSpPr>
        <p:spPr>
          <a:xfrm>
            <a:off x="5940033" y="4757722"/>
            <a:ext cx="0" cy="292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2730175-98D1-484A-9E68-F400CED77682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 flipV="1">
            <a:off x="6270270" y="1919056"/>
            <a:ext cx="2672299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59D6791-833E-4FAC-829D-6418DEF83EF1}"/>
              </a:ext>
            </a:extLst>
          </p:cNvPr>
          <p:cNvCxnSpPr>
            <a:stCxn id="11" idx="2"/>
            <a:endCxn id="26" idx="0"/>
          </p:cNvCxnSpPr>
          <p:nvPr/>
        </p:nvCxnSpPr>
        <p:spPr>
          <a:xfrm>
            <a:off x="9894801" y="2223856"/>
            <a:ext cx="3416" cy="513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322DCE-9A2B-4C7D-8BAC-76EFF1A2C582}"/>
              </a:ext>
            </a:extLst>
          </p:cNvPr>
          <p:cNvCxnSpPr>
            <a:stCxn id="13" idx="1"/>
            <a:endCxn id="15" idx="3"/>
          </p:cNvCxnSpPr>
          <p:nvPr/>
        </p:nvCxnSpPr>
        <p:spPr>
          <a:xfrm flipH="1">
            <a:off x="3689734" y="3023956"/>
            <a:ext cx="1899499" cy="16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5E9828-9372-4E9C-A859-EC12732ACF1A}"/>
              </a:ext>
            </a:extLst>
          </p:cNvPr>
          <p:cNvCxnSpPr>
            <a:stCxn id="15" idx="2"/>
            <a:endCxn id="23" idx="0"/>
          </p:cNvCxnSpPr>
          <p:nvPr/>
        </p:nvCxnSpPr>
        <p:spPr>
          <a:xfrm>
            <a:off x="2734889" y="3366856"/>
            <a:ext cx="3342" cy="326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42A521-294E-4AA5-8DF5-2305A86FC86B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6275636" y="3976456"/>
            <a:ext cx="2284860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B983B4-86F3-4DD2-8B84-68D8C0AAF0B6}"/>
              </a:ext>
            </a:extLst>
          </p:cNvPr>
          <p:cNvCxnSpPr>
            <a:stCxn id="18" idx="2"/>
            <a:endCxn id="29" idx="0"/>
          </p:cNvCxnSpPr>
          <p:nvPr/>
        </p:nvCxnSpPr>
        <p:spPr>
          <a:xfrm>
            <a:off x="9703765" y="4281256"/>
            <a:ext cx="4894" cy="534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BF9F7E5-A8EE-4D5D-A853-95243279B809}"/>
              </a:ext>
            </a:extLst>
          </p:cNvPr>
          <p:cNvSpPr txBox="1"/>
          <p:nvPr/>
        </p:nvSpPr>
        <p:spPr>
          <a:xfrm>
            <a:off x="6917970" y="1617102"/>
            <a:ext cx="1760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[book not available]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7521A2-8330-4930-9781-C9DCE3D6F526}"/>
              </a:ext>
            </a:extLst>
          </p:cNvPr>
          <p:cNvSpPr txBox="1"/>
          <p:nvPr/>
        </p:nvSpPr>
        <p:spPr>
          <a:xfrm>
            <a:off x="4145084" y="1979662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[book available]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05ADF0-44E1-48C6-9261-2183DCC4BE11}"/>
              </a:ext>
            </a:extLst>
          </p:cNvPr>
          <p:cNvSpPr txBox="1"/>
          <p:nvPr/>
        </p:nvSpPr>
        <p:spPr>
          <a:xfrm>
            <a:off x="6083427" y="3048408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[authorized user]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B28E4F-A423-4773-B22B-137767DA0071}"/>
              </a:ext>
            </a:extLst>
          </p:cNvPr>
          <p:cNvSpPr txBox="1"/>
          <p:nvPr/>
        </p:nvSpPr>
        <p:spPr>
          <a:xfrm>
            <a:off x="3780788" y="2716312"/>
            <a:ext cx="1741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[unauthorized user]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7CF0C0-ED02-4571-9EFF-C01BE3524F1A}"/>
              </a:ext>
            </a:extLst>
          </p:cNvPr>
          <p:cNvSpPr txBox="1"/>
          <p:nvPr/>
        </p:nvSpPr>
        <p:spPr>
          <a:xfrm>
            <a:off x="6858504" y="3700189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[max limit]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C90D37-F770-4A6D-BF08-491B79052AB8}"/>
              </a:ext>
            </a:extLst>
          </p:cNvPr>
          <p:cNvSpPr txBox="1"/>
          <p:nvPr/>
        </p:nvSpPr>
        <p:spPr>
          <a:xfrm>
            <a:off x="5065954" y="4118557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[else]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C1B503-4C8D-4F28-A21F-BDC01050B5AF}"/>
              </a:ext>
            </a:extLst>
          </p:cNvPr>
          <p:cNvCxnSpPr/>
          <p:nvPr/>
        </p:nvCxnSpPr>
        <p:spPr>
          <a:xfrm flipV="1">
            <a:off x="4512908" y="5032150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630F654-6B30-40A1-9E2E-49CF3AED068C}"/>
              </a:ext>
            </a:extLst>
          </p:cNvPr>
          <p:cNvCxnSpPr/>
          <p:nvPr/>
        </p:nvCxnSpPr>
        <p:spPr>
          <a:xfrm flipH="1">
            <a:off x="4743624" y="5050609"/>
            <a:ext cx="9351" cy="274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EC5247A-A792-483B-9483-87641633061C}"/>
              </a:ext>
            </a:extLst>
          </p:cNvPr>
          <p:cNvCxnSpPr/>
          <p:nvPr/>
        </p:nvCxnSpPr>
        <p:spPr>
          <a:xfrm>
            <a:off x="6953554" y="5050610"/>
            <a:ext cx="7279" cy="2974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AC6113-C504-4560-B452-6F3683257B5D}"/>
              </a:ext>
            </a:extLst>
          </p:cNvPr>
          <p:cNvCxnSpPr/>
          <p:nvPr/>
        </p:nvCxnSpPr>
        <p:spPr>
          <a:xfrm flipV="1">
            <a:off x="4522433" y="5881456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7B0A1A5-7FE1-4F0C-9889-36507C9BDB8F}"/>
              </a:ext>
            </a:extLst>
          </p:cNvPr>
          <p:cNvCxnSpPr/>
          <p:nvPr/>
        </p:nvCxnSpPr>
        <p:spPr>
          <a:xfrm flipH="1">
            <a:off x="4896025" y="5706740"/>
            <a:ext cx="4588" cy="174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CEF6F79-3823-4F8F-BADD-654740C93420}"/>
              </a:ext>
            </a:extLst>
          </p:cNvPr>
          <p:cNvCxnSpPr>
            <a:stCxn id="20" idx="2"/>
          </p:cNvCxnSpPr>
          <p:nvPr/>
        </p:nvCxnSpPr>
        <p:spPr>
          <a:xfrm>
            <a:off x="7203341" y="5674856"/>
            <a:ext cx="2322" cy="1866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F2320F9-A0E9-4ABF-8C66-165FB3E98A14}"/>
              </a:ext>
            </a:extLst>
          </p:cNvPr>
          <p:cNvCxnSpPr>
            <a:endCxn id="34" idx="0"/>
          </p:cNvCxnSpPr>
          <p:nvPr/>
        </p:nvCxnSpPr>
        <p:spPr>
          <a:xfrm flipH="1">
            <a:off x="5936623" y="5881456"/>
            <a:ext cx="3410" cy="1964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19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Swimlane Diagram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F950-F8E2-4CCE-90A8-FB0820C1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191127"/>
          </a:xfrm>
        </p:spPr>
        <p:txBody>
          <a:bodyPr/>
          <a:lstStyle/>
          <a:p>
            <a:r>
              <a:rPr lang="en-US" dirty="0"/>
              <a:t>In a business model, it is often useful to know </a:t>
            </a:r>
            <a:r>
              <a:rPr lang="en-US" dirty="0">
                <a:solidFill>
                  <a:srgbClr val="A32D19"/>
                </a:solidFill>
              </a:rPr>
              <a:t>which human department is responsible </a:t>
            </a:r>
            <a:r>
              <a:rPr lang="en-US" dirty="0"/>
              <a:t>for an activity.</a:t>
            </a:r>
          </a:p>
          <a:p>
            <a:r>
              <a:rPr lang="en-US" dirty="0"/>
              <a:t>When design of the system is complete, the activity will be </a:t>
            </a:r>
            <a:r>
              <a:rPr lang="en-US" dirty="0">
                <a:solidFill>
                  <a:srgbClr val="A32D19"/>
                </a:solidFill>
              </a:rPr>
              <a:t>assigned to a person/department</a:t>
            </a:r>
            <a:r>
              <a:rPr lang="en-US" dirty="0"/>
              <a:t>, but at a high level it is </a:t>
            </a:r>
            <a:r>
              <a:rPr lang="en-US" dirty="0">
                <a:solidFill>
                  <a:srgbClr val="A32D19"/>
                </a:solidFill>
              </a:rPr>
              <a:t>sufficient to partition the activities </a:t>
            </a:r>
            <a:r>
              <a:rPr lang="en-US" dirty="0"/>
              <a:t>among departments.</a:t>
            </a:r>
          </a:p>
          <a:p>
            <a:r>
              <a:rPr lang="en-US" dirty="0"/>
              <a:t>You can show such a partitioning with an activity diagram by </a:t>
            </a:r>
            <a:r>
              <a:rPr lang="en-US" dirty="0">
                <a:solidFill>
                  <a:srgbClr val="A32D19"/>
                </a:solidFill>
              </a:rPr>
              <a:t>dividing in to columns and lines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A32D19"/>
                </a:solidFill>
              </a:rPr>
              <a:t>Each column is called swim-lane </a:t>
            </a:r>
            <a:r>
              <a:rPr lang="en-US" dirty="0"/>
              <a:t>by analogy to a swimming pool.</a:t>
            </a:r>
          </a:p>
          <a:p>
            <a:r>
              <a:rPr lang="en-US" dirty="0"/>
              <a:t>Placing an </a:t>
            </a:r>
            <a:r>
              <a:rPr lang="en-US" dirty="0">
                <a:solidFill>
                  <a:srgbClr val="A32D19"/>
                </a:solidFill>
              </a:rPr>
              <a:t>activity</a:t>
            </a:r>
            <a:r>
              <a:rPr lang="en-US" dirty="0"/>
              <a:t> within a </a:t>
            </a:r>
            <a:r>
              <a:rPr lang="en-US" dirty="0">
                <a:solidFill>
                  <a:srgbClr val="A32D19"/>
                </a:solidFill>
              </a:rPr>
              <a:t>particular</a:t>
            </a:r>
            <a:r>
              <a:rPr lang="en-US" dirty="0"/>
              <a:t> swim-lane </a:t>
            </a:r>
            <a:r>
              <a:rPr lang="en-US" dirty="0">
                <a:solidFill>
                  <a:srgbClr val="A32D19"/>
                </a:solidFill>
              </a:rPr>
              <a:t>indicates</a:t>
            </a:r>
            <a:r>
              <a:rPr lang="en-US" dirty="0"/>
              <a:t> that is </a:t>
            </a:r>
            <a:r>
              <a:rPr lang="en-US" dirty="0">
                <a:solidFill>
                  <a:srgbClr val="A32D19"/>
                </a:solidFill>
              </a:rPr>
              <a:t>performed by a person/ department.</a:t>
            </a:r>
          </a:p>
          <a:p>
            <a:r>
              <a:rPr lang="en-US" dirty="0"/>
              <a:t>Lines across swim-lane </a:t>
            </a:r>
            <a:r>
              <a:rPr lang="en-US" dirty="0">
                <a:solidFill>
                  <a:srgbClr val="A32D19"/>
                </a:solidFill>
              </a:rPr>
              <a:t>boundaries indicate interaction among different person/department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49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 Swimlane Diagram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9"/>
            <a:ext cx="11929641" cy="3551640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1:</a:t>
            </a:r>
            <a:r>
              <a:rPr lang="en-US" dirty="0"/>
              <a:t> Identify the various activities and actions your business process or system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2: </a:t>
            </a:r>
            <a:r>
              <a:rPr lang="en-US" dirty="0"/>
              <a:t>Figure out which person/departments are responsible for the competition of activity.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3:</a:t>
            </a:r>
            <a:r>
              <a:rPr lang="en-US" dirty="0"/>
              <a:t> Figure out in which order the actions are processed. 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4: </a:t>
            </a:r>
            <a:r>
              <a:rPr lang="en-US" dirty="0"/>
              <a:t>Figured out who is responsible for each action and assign them a swim lane and group each action they are responsible for under them.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9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4F6F-9CC6-43B5-B52E-E85A6F05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</a:rPr>
              <a:t>Swimlane Diagram for Book Issue</a:t>
            </a:r>
            <a:endParaRPr lang="en-IN" dirty="0"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75C978-2167-4D32-AB30-0034D55B11C1}"/>
              </a:ext>
            </a:extLst>
          </p:cNvPr>
          <p:cNvCxnSpPr/>
          <p:nvPr/>
        </p:nvCxnSpPr>
        <p:spPr>
          <a:xfrm>
            <a:off x="9449321" y="5811347"/>
            <a:ext cx="0" cy="22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7C1C82-14CB-4D62-95B3-96B0A884280F}"/>
              </a:ext>
            </a:extLst>
          </p:cNvPr>
          <p:cNvCxnSpPr/>
          <p:nvPr/>
        </p:nvCxnSpPr>
        <p:spPr>
          <a:xfrm flipH="1">
            <a:off x="7384510" y="5786029"/>
            <a:ext cx="1" cy="253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73">
            <a:extLst>
              <a:ext uri="{FF2B5EF4-FFF2-40B4-BE49-F238E27FC236}">
                <a16:creationId xmlns:a16="http://schemas.microsoft.com/office/drawing/2014/main" id="{2EAC7B77-7C49-4A8E-BDEC-A21BCCABB498}"/>
              </a:ext>
            </a:extLst>
          </p:cNvPr>
          <p:cNvCxnSpPr/>
          <p:nvPr/>
        </p:nvCxnSpPr>
        <p:spPr>
          <a:xfrm rot="16200000" flipH="1">
            <a:off x="5415162" y="3118935"/>
            <a:ext cx="399647" cy="3623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1A35CA0-2698-4FC5-BF3F-3E58099EAF4B}"/>
              </a:ext>
            </a:extLst>
          </p:cNvPr>
          <p:cNvSpPr/>
          <p:nvPr/>
        </p:nvSpPr>
        <p:spPr>
          <a:xfrm>
            <a:off x="2009534" y="1385586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A82CBA0-962D-4850-BDAA-2825F8F85FF3}"/>
              </a:ext>
            </a:extLst>
          </p:cNvPr>
          <p:cNvSpPr/>
          <p:nvPr/>
        </p:nvSpPr>
        <p:spPr>
          <a:xfrm>
            <a:off x="2714747" y="1334607"/>
            <a:ext cx="227043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 availability book</a:t>
            </a:r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BCB1EB1-8F46-4CCE-BDF8-044B4C55F43E}"/>
              </a:ext>
            </a:extLst>
          </p:cNvPr>
          <p:cNvSpPr/>
          <p:nvPr/>
        </p:nvSpPr>
        <p:spPr>
          <a:xfrm>
            <a:off x="8036924" y="1683262"/>
            <a:ext cx="1447264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“Book not available”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54F8FA46-D3B6-4BFA-9BC5-CA6D0E95C166}"/>
              </a:ext>
            </a:extLst>
          </p:cNvPr>
          <p:cNvSpPr/>
          <p:nvPr/>
        </p:nvSpPr>
        <p:spPr>
          <a:xfrm>
            <a:off x="2738426" y="2368858"/>
            <a:ext cx="1762260" cy="31915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Validate Member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6F666164-20D1-4EBE-B0D4-091E188E965E}"/>
              </a:ext>
            </a:extLst>
          </p:cNvPr>
          <p:cNvSpPr/>
          <p:nvPr/>
        </p:nvSpPr>
        <p:spPr>
          <a:xfrm>
            <a:off x="5977459" y="2902259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F8FE5E2B-1901-46CD-81BD-C62EFAAC9DCE}"/>
              </a:ext>
            </a:extLst>
          </p:cNvPr>
          <p:cNvSpPr/>
          <p:nvPr/>
        </p:nvSpPr>
        <p:spPr>
          <a:xfrm>
            <a:off x="5972696" y="1825274"/>
            <a:ext cx="685800" cy="33143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E73AF3E1-A1DF-408D-9B4D-2798EF28470D}"/>
              </a:ext>
            </a:extLst>
          </p:cNvPr>
          <p:cNvSpPr/>
          <p:nvPr/>
        </p:nvSpPr>
        <p:spPr>
          <a:xfrm>
            <a:off x="8031288" y="2860110"/>
            <a:ext cx="1602750" cy="46471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“not a valid member”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28B48A94-EA29-48D8-B574-59D13EEA3188}"/>
              </a:ext>
            </a:extLst>
          </p:cNvPr>
          <p:cNvSpPr/>
          <p:nvPr/>
        </p:nvSpPr>
        <p:spPr>
          <a:xfrm>
            <a:off x="2325731" y="3511859"/>
            <a:ext cx="3042128" cy="31769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No. of books issued to member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1A6293FA-A920-4B57-9348-C8C01EA5E899}"/>
              </a:ext>
            </a:extLst>
          </p:cNvPr>
          <p:cNvSpPr/>
          <p:nvPr/>
        </p:nvSpPr>
        <p:spPr>
          <a:xfrm>
            <a:off x="5978062" y="3969059"/>
            <a:ext cx="685800" cy="3810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A2489EE6-1553-4769-9156-FFD5109AF28E}"/>
              </a:ext>
            </a:extLst>
          </p:cNvPr>
          <p:cNvSpPr/>
          <p:nvPr/>
        </p:nvSpPr>
        <p:spPr>
          <a:xfrm>
            <a:off x="8034322" y="3854759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 more book can be issued”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82CCF8BC-6637-4AAF-AB29-FBCDE0077BD5}"/>
              </a:ext>
            </a:extLst>
          </p:cNvPr>
          <p:cNvSpPr/>
          <p:nvPr/>
        </p:nvSpPr>
        <p:spPr>
          <a:xfrm>
            <a:off x="2135148" y="4487554"/>
            <a:ext cx="3348383" cy="323541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Add book issue details to transaction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690DFFF5-14BF-4130-9214-8C60027F3762}"/>
              </a:ext>
            </a:extLst>
          </p:cNvPr>
          <p:cNvSpPr/>
          <p:nvPr/>
        </p:nvSpPr>
        <p:spPr>
          <a:xfrm>
            <a:off x="8720116" y="5354976"/>
            <a:ext cx="1785938" cy="52057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book status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14A2A73E-0EE4-40CC-A8E7-CA2949F6EEA3}"/>
              </a:ext>
            </a:extLst>
          </p:cNvPr>
          <p:cNvSpPr/>
          <p:nvPr/>
        </p:nvSpPr>
        <p:spPr>
          <a:xfrm>
            <a:off x="5831465" y="5354976"/>
            <a:ext cx="2828928" cy="56812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no of book issued to member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A79F25-5B1A-4A5E-99AF-7C274B2EBD63}"/>
              </a:ext>
            </a:extLst>
          </p:cNvPr>
          <p:cNvGrpSpPr/>
          <p:nvPr/>
        </p:nvGrpSpPr>
        <p:grpSpPr>
          <a:xfrm>
            <a:off x="9982306" y="2941011"/>
            <a:ext cx="313788" cy="304800"/>
            <a:chOff x="838200" y="4343400"/>
            <a:chExt cx="600612" cy="6096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1CD120-6221-47FF-A0F9-C76F9F34B18F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1E00BA-9B4E-4CBB-B9CA-8A16E0DE044E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E3F26A-6D09-40C4-BEF4-6A3E1B97C36F}"/>
              </a:ext>
            </a:extLst>
          </p:cNvPr>
          <p:cNvGrpSpPr/>
          <p:nvPr/>
        </p:nvGrpSpPr>
        <p:grpSpPr>
          <a:xfrm>
            <a:off x="9982306" y="1832894"/>
            <a:ext cx="313788" cy="304800"/>
            <a:chOff x="838200" y="4343400"/>
            <a:chExt cx="600612" cy="6096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229B42-5E6E-43B4-8591-5D4F988236E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2EE029-6CB7-451F-BCEE-44C6236C51FD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ED6DA3-E8A2-464A-A0C0-6B47178F2143}"/>
              </a:ext>
            </a:extLst>
          </p:cNvPr>
          <p:cNvGrpSpPr/>
          <p:nvPr/>
        </p:nvGrpSpPr>
        <p:grpSpPr>
          <a:xfrm>
            <a:off x="9020696" y="4585338"/>
            <a:ext cx="313788" cy="304800"/>
            <a:chOff x="838200" y="4343400"/>
            <a:chExt cx="600612" cy="6096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DD6CC73-64F1-4D2C-98F1-406865F2DC3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20FEA7A-5D53-4AC3-B528-9DF2682E6598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3EC506-B053-4A32-9661-EA8E10C4E9A5}"/>
              </a:ext>
            </a:extLst>
          </p:cNvPr>
          <p:cNvGrpSpPr/>
          <p:nvPr/>
        </p:nvGrpSpPr>
        <p:grpSpPr>
          <a:xfrm>
            <a:off x="8340597" y="6203641"/>
            <a:ext cx="313788" cy="304800"/>
            <a:chOff x="838200" y="4343400"/>
            <a:chExt cx="600612" cy="6096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BDD843-86E2-46C7-BEF8-F9CDDAF1FAFB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9B517C-4FD4-4AA2-85E5-D9B34DB68AB1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09DEDF-03A9-465B-8046-6DFA03A51C41}"/>
              </a:ext>
            </a:extLst>
          </p:cNvPr>
          <p:cNvCxnSpPr>
            <a:stCxn id="7" idx="6"/>
            <a:endCxn id="8" idx="1"/>
          </p:cNvCxnSpPr>
          <p:nvPr/>
        </p:nvCxnSpPr>
        <p:spPr>
          <a:xfrm>
            <a:off x="2238134" y="1499886"/>
            <a:ext cx="476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44">
            <a:extLst>
              <a:ext uri="{FF2B5EF4-FFF2-40B4-BE49-F238E27FC236}">
                <a16:creationId xmlns:a16="http://schemas.microsoft.com/office/drawing/2014/main" id="{69B63EF3-31CD-4BD1-B1A7-F4D3D8A1AE26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5002727" y="512404"/>
            <a:ext cx="160109" cy="2465630"/>
          </a:xfrm>
          <a:prstGeom prst="bentConnector3">
            <a:avLst>
              <a:gd name="adj1" fmla="val 3215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7">
            <a:extLst>
              <a:ext uri="{FF2B5EF4-FFF2-40B4-BE49-F238E27FC236}">
                <a16:creationId xmlns:a16="http://schemas.microsoft.com/office/drawing/2014/main" id="{B0B0D401-1EBE-49FA-BED8-E10303D4EE5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16200000" flipH="1">
            <a:off x="4862833" y="1444733"/>
            <a:ext cx="214248" cy="27008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49">
            <a:extLst>
              <a:ext uri="{FF2B5EF4-FFF2-40B4-BE49-F238E27FC236}">
                <a16:creationId xmlns:a16="http://schemas.microsoft.com/office/drawing/2014/main" id="{40BE2F73-E46D-4A57-9E01-1C9DF6460377}"/>
              </a:ext>
            </a:extLst>
          </p:cNvPr>
          <p:cNvCxnSpPr>
            <a:stCxn id="12" idx="2"/>
            <a:endCxn id="10" idx="0"/>
          </p:cNvCxnSpPr>
          <p:nvPr/>
        </p:nvCxnSpPr>
        <p:spPr>
          <a:xfrm rot="5400000">
            <a:off x="4861501" y="914763"/>
            <a:ext cx="212150" cy="26960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53">
            <a:extLst>
              <a:ext uri="{FF2B5EF4-FFF2-40B4-BE49-F238E27FC236}">
                <a16:creationId xmlns:a16="http://schemas.microsoft.com/office/drawing/2014/main" id="{F3F9C404-9B3C-489C-8884-7223A5E90D6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16200000" flipH="1">
            <a:off x="5014126" y="2662223"/>
            <a:ext cx="139504" cy="2474167"/>
          </a:xfrm>
          <a:prstGeom prst="bentConnector3">
            <a:avLst>
              <a:gd name="adj1" fmla="val 272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58">
            <a:extLst>
              <a:ext uri="{FF2B5EF4-FFF2-40B4-BE49-F238E27FC236}">
                <a16:creationId xmlns:a16="http://schemas.microsoft.com/office/drawing/2014/main" id="{90DCEC6C-F217-4593-BC3E-B1E84EF63D31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rot="5400000">
            <a:off x="4969277" y="2160777"/>
            <a:ext cx="228600" cy="24735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71">
            <a:extLst>
              <a:ext uri="{FF2B5EF4-FFF2-40B4-BE49-F238E27FC236}">
                <a16:creationId xmlns:a16="http://schemas.microsoft.com/office/drawing/2014/main" id="{A162DC2E-D073-4AE9-9EB7-269AC441BD99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rot="5400000">
            <a:off x="4996404" y="3162995"/>
            <a:ext cx="137495" cy="25116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3DD3A1-47A7-47C6-B41E-18E9A47BE037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6658496" y="1988062"/>
            <a:ext cx="1378428" cy="2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5B0E6-C854-4C0A-A5D4-3145E2A5724B}"/>
              </a:ext>
            </a:extLst>
          </p:cNvPr>
          <p:cNvCxnSpPr>
            <a:stCxn id="9" idx="3"/>
            <a:endCxn id="24" idx="2"/>
          </p:cNvCxnSpPr>
          <p:nvPr/>
        </p:nvCxnSpPr>
        <p:spPr>
          <a:xfrm flipV="1">
            <a:off x="9484188" y="1985294"/>
            <a:ext cx="498118" cy="2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11C587-0884-45B7-A67C-4141F5AB3B2A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6663259" y="3092466"/>
            <a:ext cx="1368029" cy="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420ECE-C799-4A27-BA02-4436D5F46913}"/>
              </a:ext>
            </a:extLst>
          </p:cNvPr>
          <p:cNvCxnSpPr>
            <a:cxnSpLocks/>
            <a:stCxn id="13" idx="3"/>
            <a:endCxn id="21" idx="2"/>
          </p:cNvCxnSpPr>
          <p:nvPr/>
        </p:nvCxnSpPr>
        <p:spPr>
          <a:xfrm>
            <a:off x="9634038" y="3092466"/>
            <a:ext cx="348268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690D90-362D-4A62-AAB7-48A24D511F60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6663862" y="4159559"/>
            <a:ext cx="13704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212EC81-9054-4D74-9DD0-8FD71B03312A}"/>
              </a:ext>
            </a:extLst>
          </p:cNvPr>
          <p:cNvCxnSpPr>
            <a:stCxn id="16" idx="2"/>
            <a:endCxn id="27" idx="0"/>
          </p:cNvCxnSpPr>
          <p:nvPr/>
        </p:nvCxnSpPr>
        <p:spPr>
          <a:xfrm flipH="1">
            <a:off x="9177590" y="4464359"/>
            <a:ext cx="1" cy="120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BAB5A08-914D-41A9-91F3-F6F2E124549A}"/>
              </a:ext>
            </a:extLst>
          </p:cNvPr>
          <p:cNvSpPr txBox="1"/>
          <p:nvPr/>
        </p:nvSpPr>
        <p:spPr>
          <a:xfrm>
            <a:off x="6587059" y="1720951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not available]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041C5A-4351-42AC-AC44-2F907625E92A}"/>
              </a:ext>
            </a:extLst>
          </p:cNvPr>
          <p:cNvSpPr txBox="1"/>
          <p:nvPr/>
        </p:nvSpPr>
        <p:spPr>
          <a:xfrm>
            <a:off x="4500686" y="1977559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available]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6CE0E9-54D3-4C8D-B607-1CF1AC72C7F2}"/>
              </a:ext>
            </a:extLst>
          </p:cNvPr>
          <p:cNvSpPr txBox="1"/>
          <p:nvPr/>
        </p:nvSpPr>
        <p:spPr>
          <a:xfrm>
            <a:off x="4373787" y="3118479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[authorized user]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2EE8FF-B48B-44FA-BA23-F3FE3555ECC0}"/>
              </a:ext>
            </a:extLst>
          </p:cNvPr>
          <p:cNvSpPr txBox="1"/>
          <p:nvPr/>
        </p:nvSpPr>
        <p:spPr>
          <a:xfrm>
            <a:off x="6639589" y="2798889"/>
            <a:ext cx="1348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[unauthorized user]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A43C18-A4AE-40AC-B30F-607CEDBDF0CD}"/>
              </a:ext>
            </a:extLst>
          </p:cNvPr>
          <p:cNvSpPr txBox="1"/>
          <p:nvPr/>
        </p:nvSpPr>
        <p:spPr>
          <a:xfrm>
            <a:off x="6850983" y="3890111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[max limit]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4D7988-6CDA-4267-B290-C62684135EEB}"/>
              </a:ext>
            </a:extLst>
          </p:cNvPr>
          <p:cNvSpPr txBox="1"/>
          <p:nvPr/>
        </p:nvSpPr>
        <p:spPr>
          <a:xfrm>
            <a:off x="4942067" y="4210555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[else]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DE3704-F139-43DD-84A8-0F43DB8EF16A}"/>
              </a:ext>
            </a:extLst>
          </p:cNvPr>
          <p:cNvCxnSpPr/>
          <p:nvPr/>
        </p:nvCxnSpPr>
        <p:spPr>
          <a:xfrm flipV="1">
            <a:off x="7001396" y="5123786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9D9196-9738-4E37-B6EE-7AA1BA97946D}"/>
              </a:ext>
            </a:extLst>
          </p:cNvPr>
          <p:cNvCxnSpPr/>
          <p:nvPr/>
        </p:nvCxnSpPr>
        <p:spPr>
          <a:xfrm>
            <a:off x="7245929" y="5130707"/>
            <a:ext cx="1" cy="224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157D2A-446A-4484-9591-407E5E4E8830}"/>
              </a:ext>
            </a:extLst>
          </p:cNvPr>
          <p:cNvCxnSpPr/>
          <p:nvPr/>
        </p:nvCxnSpPr>
        <p:spPr>
          <a:xfrm>
            <a:off x="9449321" y="5123786"/>
            <a:ext cx="0" cy="228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1974BE8-2A36-4571-ADF1-5633A41476F3}"/>
              </a:ext>
            </a:extLst>
          </p:cNvPr>
          <p:cNvCxnSpPr/>
          <p:nvPr/>
        </p:nvCxnSpPr>
        <p:spPr>
          <a:xfrm flipV="1">
            <a:off x="7010921" y="6039947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FA3695-2C77-42F9-8AF1-B8F60A177EA4}"/>
              </a:ext>
            </a:extLst>
          </p:cNvPr>
          <p:cNvCxnSpPr/>
          <p:nvPr/>
        </p:nvCxnSpPr>
        <p:spPr>
          <a:xfrm>
            <a:off x="8497491" y="6037749"/>
            <a:ext cx="1" cy="1573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06594A-2FD8-47F2-B67E-B7A0BD6F667D}"/>
              </a:ext>
            </a:extLst>
          </p:cNvPr>
          <p:cNvCxnSpPr>
            <a:cxnSpLocks/>
          </p:cNvCxnSpPr>
          <p:nvPr/>
        </p:nvCxnSpPr>
        <p:spPr>
          <a:xfrm>
            <a:off x="5596459" y="861308"/>
            <a:ext cx="0" cy="56471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0806567-9450-41B9-97F4-434809C3E7A4}"/>
              </a:ext>
            </a:extLst>
          </p:cNvPr>
          <p:cNvSpPr txBox="1"/>
          <p:nvPr/>
        </p:nvSpPr>
        <p:spPr>
          <a:xfrm>
            <a:off x="3063629" y="828867"/>
            <a:ext cx="100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Librarian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1EE186-58EE-4B17-B3F6-14DB37A6013E}"/>
              </a:ext>
            </a:extLst>
          </p:cNvPr>
          <p:cNvSpPr txBox="1"/>
          <p:nvPr/>
        </p:nvSpPr>
        <p:spPr>
          <a:xfrm>
            <a:off x="6663864" y="83747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 Management Software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0BAC03-5B45-41D2-AF9D-BB24AE8B38ED}"/>
              </a:ext>
            </a:extLst>
          </p:cNvPr>
          <p:cNvCxnSpPr/>
          <p:nvPr/>
        </p:nvCxnSpPr>
        <p:spPr>
          <a:xfrm flipV="1">
            <a:off x="1862659" y="1198199"/>
            <a:ext cx="8643395" cy="27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33D5D2C-4273-482A-A74E-3FD913916977}"/>
              </a:ext>
            </a:extLst>
          </p:cNvPr>
          <p:cNvCxnSpPr/>
          <p:nvPr/>
        </p:nvCxnSpPr>
        <p:spPr>
          <a:xfrm>
            <a:off x="1862659" y="844859"/>
            <a:ext cx="8686800" cy="164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15AF68E-B1CC-4762-9253-43DC69AA9728}"/>
              </a:ext>
            </a:extLst>
          </p:cNvPr>
          <p:cNvCxnSpPr>
            <a:cxnSpLocks/>
          </p:cNvCxnSpPr>
          <p:nvPr/>
        </p:nvCxnSpPr>
        <p:spPr>
          <a:xfrm>
            <a:off x="1862659" y="844859"/>
            <a:ext cx="0" cy="5663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51910BD-5E0E-4E91-977D-9CDE6C1ED087}"/>
              </a:ext>
            </a:extLst>
          </p:cNvPr>
          <p:cNvCxnSpPr>
            <a:cxnSpLocks/>
          </p:cNvCxnSpPr>
          <p:nvPr/>
        </p:nvCxnSpPr>
        <p:spPr>
          <a:xfrm>
            <a:off x="10549459" y="844859"/>
            <a:ext cx="0" cy="5663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A24A60B-5B9D-3702-1166-F65E748B9B01}"/>
              </a:ext>
            </a:extLst>
          </p:cNvPr>
          <p:cNvCxnSpPr>
            <a:cxnSpLocks/>
          </p:cNvCxnSpPr>
          <p:nvPr/>
        </p:nvCxnSpPr>
        <p:spPr>
          <a:xfrm>
            <a:off x="1862659" y="6508441"/>
            <a:ext cx="868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12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5" grpId="0"/>
      <p:bldP spid="46" grpId="0"/>
      <p:bldP spid="47" grpId="0"/>
      <p:bldP spid="48" grpId="0"/>
      <p:bldP spid="49" grpId="0"/>
      <p:bldP spid="50" grpId="0"/>
      <p:bldP spid="57" grpId="0"/>
      <p:bldP spid="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4F6F-9CC6-43B5-B52E-E85A6F05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</a:rPr>
              <a:t>Swimlane Diagram for Book Issue</a:t>
            </a:r>
            <a:endParaRPr lang="en-IN" dirty="0"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75C978-2167-4D32-AB30-0034D55B11C1}"/>
              </a:ext>
            </a:extLst>
          </p:cNvPr>
          <p:cNvCxnSpPr/>
          <p:nvPr/>
        </p:nvCxnSpPr>
        <p:spPr>
          <a:xfrm>
            <a:off x="10909409" y="5693680"/>
            <a:ext cx="0" cy="22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07C1C82-14CB-4D62-95B3-96B0A884280F}"/>
              </a:ext>
            </a:extLst>
          </p:cNvPr>
          <p:cNvCxnSpPr/>
          <p:nvPr/>
        </p:nvCxnSpPr>
        <p:spPr>
          <a:xfrm flipH="1">
            <a:off x="8844598" y="5668362"/>
            <a:ext cx="1" cy="2539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73">
            <a:extLst>
              <a:ext uri="{FF2B5EF4-FFF2-40B4-BE49-F238E27FC236}">
                <a16:creationId xmlns:a16="http://schemas.microsoft.com/office/drawing/2014/main" id="{2EAC7B77-7C49-4A8E-BDEC-A21BCCABB4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875250" y="2924576"/>
            <a:ext cx="399647" cy="36238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1A35CA0-2698-4FC5-BF3F-3E58099EAF4B}"/>
              </a:ext>
            </a:extLst>
          </p:cNvPr>
          <p:cNvSpPr/>
          <p:nvPr/>
        </p:nvSpPr>
        <p:spPr>
          <a:xfrm>
            <a:off x="221358" y="1182242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9" name="Flowchart: Terminator 8">
            <a:extLst>
              <a:ext uri="{FF2B5EF4-FFF2-40B4-BE49-F238E27FC236}">
                <a16:creationId xmlns:a16="http://schemas.microsoft.com/office/drawing/2014/main" id="{3BCB1EB1-8F46-4CCE-BDF8-044B4C55F43E}"/>
              </a:ext>
            </a:extLst>
          </p:cNvPr>
          <p:cNvSpPr/>
          <p:nvPr/>
        </p:nvSpPr>
        <p:spPr>
          <a:xfrm>
            <a:off x="9497012" y="1536099"/>
            <a:ext cx="1447264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“Book not available”</a:t>
            </a:r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54F8FA46-D3B6-4BFA-9BC5-CA6D0E95C166}"/>
              </a:ext>
            </a:extLst>
          </p:cNvPr>
          <p:cNvSpPr/>
          <p:nvPr/>
        </p:nvSpPr>
        <p:spPr>
          <a:xfrm>
            <a:off x="4198514" y="2251191"/>
            <a:ext cx="1762260" cy="31915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Validate Member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6F666164-20D1-4EBE-B0D4-091E188E965E}"/>
              </a:ext>
            </a:extLst>
          </p:cNvPr>
          <p:cNvSpPr/>
          <p:nvPr/>
        </p:nvSpPr>
        <p:spPr>
          <a:xfrm>
            <a:off x="7475951" y="2691892"/>
            <a:ext cx="572699" cy="35934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F8FE5E2B-1901-46CD-81BD-C62EFAAC9DCE}"/>
              </a:ext>
            </a:extLst>
          </p:cNvPr>
          <p:cNvSpPr/>
          <p:nvPr/>
        </p:nvSpPr>
        <p:spPr>
          <a:xfrm>
            <a:off x="7446849" y="1677413"/>
            <a:ext cx="685800" cy="33143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E73AF3E1-A1DF-408D-9B4D-2798EF28470D}"/>
              </a:ext>
            </a:extLst>
          </p:cNvPr>
          <p:cNvSpPr/>
          <p:nvPr/>
        </p:nvSpPr>
        <p:spPr>
          <a:xfrm>
            <a:off x="9491376" y="2639207"/>
            <a:ext cx="1602750" cy="46471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“not a valid member”</a:t>
            </a: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28B48A94-EA29-48D8-B574-59D13EEA3188}"/>
              </a:ext>
            </a:extLst>
          </p:cNvPr>
          <p:cNvSpPr/>
          <p:nvPr/>
        </p:nvSpPr>
        <p:spPr>
          <a:xfrm>
            <a:off x="4014419" y="3231964"/>
            <a:ext cx="3042128" cy="31769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No. of books issued to member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1A6293FA-A920-4B57-9348-C8C01EA5E899}"/>
              </a:ext>
            </a:extLst>
          </p:cNvPr>
          <p:cNvSpPr/>
          <p:nvPr/>
        </p:nvSpPr>
        <p:spPr>
          <a:xfrm>
            <a:off x="7438150" y="3806768"/>
            <a:ext cx="685800" cy="32238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A2489EE6-1553-4769-9156-FFD5109AF28E}"/>
              </a:ext>
            </a:extLst>
          </p:cNvPr>
          <p:cNvSpPr/>
          <p:nvPr/>
        </p:nvSpPr>
        <p:spPr>
          <a:xfrm>
            <a:off x="9494410" y="3633856"/>
            <a:ext cx="228653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Alert “No more book can be issued”</a:t>
            </a:r>
          </a:p>
        </p:txBody>
      </p:sp>
      <p:sp>
        <p:nvSpPr>
          <p:cNvPr id="17" name="Flowchart: Terminator 16">
            <a:extLst>
              <a:ext uri="{FF2B5EF4-FFF2-40B4-BE49-F238E27FC236}">
                <a16:creationId xmlns:a16="http://schemas.microsoft.com/office/drawing/2014/main" id="{82CCF8BC-6637-4AAF-AB29-FBCDE0077BD5}"/>
              </a:ext>
            </a:extLst>
          </p:cNvPr>
          <p:cNvSpPr/>
          <p:nvPr/>
        </p:nvSpPr>
        <p:spPr>
          <a:xfrm>
            <a:off x="3869555" y="4318324"/>
            <a:ext cx="3186992" cy="36029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book issue details to transaction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690DFFF5-14BF-4130-9214-8C60027F3762}"/>
              </a:ext>
            </a:extLst>
          </p:cNvPr>
          <p:cNvSpPr/>
          <p:nvPr/>
        </p:nvSpPr>
        <p:spPr>
          <a:xfrm>
            <a:off x="10180204" y="5145869"/>
            <a:ext cx="1785938" cy="52057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book status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14A2A73E-0EE4-40CC-A8E7-CA2949F6EEA3}"/>
              </a:ext>
            </a:extLst>
          </p:cNvPr>
          <p:cNvSpPr/>
          <p:nvPr/>
        </p:nvSpPr>
        <p:spPr>
          <a:xfrm>
            <a:off x="7291553" y="5145869"/>
            <a:ext cx="2828928" cy="568123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no of book issued to member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A79F25-5B1A-4A5E-99AF-7C274B2EBD63}"/>
              </a:ext>
            </a:extLst>
          </p:cNvPr>
          <p:cNvGrpSpPr/>
          <p:nvPr/>
        </p:nvGrpSpPr>
        <p:grpSpPr>
          <a:xfrm>
            <a:off x="11442394" y="2720108"/>
            <a:ext cx="313788" cy="304800"/>
            <a:chOff x="838200" y="4343400"/>
            <a:chExt cx="600612" cy="6096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1CD120-6221-47FF-A0F9-C76F9F34B18F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1E00BA-9B4E-4CBB-B9CA-8A16E0DE044E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2E3F26A-6D09-40C4-BEF4-6A3E1B97C36F}"/>
              </a:ext>
            </a:extLst>
          </p:cNvPr>
          <p:cNvGrpSpPr/>
          <p:nvPr/>
        </p:nvGrpSpPr>
        <p:grpSpPr>
          <a:xfrm>
            <a:off x="11442394" y="1685731"/>
            <a:ext cx="313788" cy="304800"/>
            <a:chOff x="838200" y="4343400"/>
            <a:chExt cx="600612" cy="6096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2229B42-5E6E-43B4-8591-5D4F988236E4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42EE029-6CB7-451F-BCEE-44C6236C51FD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2ED6DA3-E8A2-464A-A0C0-6B47178F2143}"/>
              </a:ext>
            </a:extLst>
          </p:cNvPr>
          <p:cNvGrpSpPr/>
          <p:nvPr/>
        </p:nvGrpSpPr>
        <p:grpSpPr>
          <a:xfrm>
            <a:off x="10480784" y="4364435"/>
            <a:ext cx="313788" cy="304800"/>
            <a:chOff x="838200" y="4343400"/>
            <a:chExt cx="600612" cy="6096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DD6CC73-64F1-4D2C-98F1-406865F2DC35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20FEA7A-5D53-4AC3-B528-9DF2682E6598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3EC506-B053-4A32-9661-EA8E10C4E9A5}"/>
              </a:ext>
            </a:extLst>
          </p:cNvPr>
          <p:cNvGrpSpPr/>
          <p:nvPr/>
        </p:nvGrpSpPr>
        <p:grpSpPr>
          <a:xfrm>
            <a:off x="9800685" y="6085974"/>
            <a:ext cx="313788" cy="304800"/>
            <a:chOff x="838200" y="4343400"/>
            <a:chExt cx="600612" cy="6096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8BDD843-86E2-46C7-BEF8-F9CDDAF1FAFB}"/>
                </a:ext>
              </a:extLst>
            </p:cNvPr>
            <p:cNvSpPr/>
            <p:nvPr/>
          </p:nvSpPr>
          <p:spPr>
            <a:xfrm>
              <a:off x="838200" y="4343400"/>
              <a:ext cx="600612" cy="609600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9B517C-4FD4-4AA2-85E5-D9B34DB68AB1}"/>
                </a:ext>
              </a:extLst>
            </p:cNvPr>
            <p:cNvSpPr/>
            <p:nvPr/>
          </p:nvSpPr>
          <p:spPr>
            <a:xfrm>
              <a:off x="981612" y="4495800"/>
              <a:ext cx="313788" cy="304800"/>
            </a:xfrm>
            <a:prstGeom prst="ellipse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09DEDF-03A9-465B-8046-6DFA03A51C41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449958" y="1296542"/>
            <a:ext cx="4766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44">
            <a:extLst>
              <a:ext uri="{FF2B5EF4-FFF2-40B4-BE49-F238E27FC236}">
                <a16:creationId xmlns:a16="http://schemas.microsoft.com/office/drawing/2014/main" id="{69B63EF3-31CD-4BD1-B1A7-F4D3D8A1AE26}"/>
              </a:ext>
            </a:extLst>
          </p:cNvPr>
          <p:cNvCxnSpPr>
            <a:cxnSpLocks/>
            <a:stCxn id="103" idx="2"/>
            <a:endCxn id="12" idx="0"/>
          </p:cNvCxnSpPr>
          <p:nvPr/>
        </p:nvCxnSpPr>
        <p:spPr>
          <a:xfrm rot="16200000" flipH="1">
            <a:off x="4819091" y="-1293245"/>
            <a:ext cx="199032" cy="57422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47">
            <a:extLst>
              <a:ext uri="{FF2B5EF4-FFF2-40B4-BE49-F238E27FC236}">
                <a16:creationId xmlns:a16="http://schemas.microsoft.com/office/drawing/2014/main" id="{B0B0D401-1EBE-49FA-BED8-E10303D4EE5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16200000" flipH="1">
            <a:off x="6360198" y="1289789"/>
            <a:ext cx="121548" cy="2682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49">
            <a:extLst>
              <a:ext uri="{FF2B5EF4-FFF2-40B4-BE49-F238E27FC236}">
                <a16:creationId xmlns:a16="http://schemas.microsoft.com/office/drawing/2014/main" id="{40BE2F73-E46D-4A57-9E01-1C9DF6460377}"/>
              </a:ext>
            </a:extLst>
          </p:cNvPr>
          <p:cNvCxnSpPr>
            <a:cxnSpLocks/>
            <a:stCxn id="12" idx="1"/>
            <a:endCxn id="105" idx="0"/>
          </p:cNvCxnSpPr>
          <p:nvPr/>
        </p:nvCxnSpPr>
        <p:spPr>
          <a:xfrm rot="10800000">
            <a:off x="2047467" y="1786796"/>
            <a:ext cx="5399383" cy="56334"/>
          </a:xfrm>
          <a:prstGeom prst="bentConnector4">
            <a:avLst>
              <a:gd name="adj1" fmla="val 39488"/>
              <a:gd name="adj2" fmla="val 29635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53">
            <a:extLst>
              <a:ext uri="{FF2B5EF4-FFF2-40B4-BE49-F238E27FC236}">
                <a16:creationId xmlns:a16="http://schemas.microsoft.com/office/drawing/2014/main" id="{F3F9C404-9B3C-489C-8884-7223A5E90D6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6529712" y="2555430"/>
            <a:ext cx="257108" cy="22455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58">
            <a:extLst>
              <a:ext uri="{FF2B5EF4-FFF2-40B4-BE49-F238E27FC236}">
                <a16:creationId xmlns:a16="http://schemas.microsoft.com/office/drawing/2014/main" id="{90DCEC6C-F217-4593-BC3E-B1E84EF63D31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rot="5400000">
            <a:off x="6558527" y="2028189"/>
            <a:ext cx="180731" cy="22268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71">
            <a:extLst>
              <a:ext uri="{FF2B5EF4-FFF2-40B4-BE49-F238E27FC236}">
                <a16:creationId xmlns:a16="http://schemas.microsoft.com/office/drawing/2014/main" id="{A162DC2E-D073-4AE9-9EB7-269AC441BD99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>
            <a:off x="6527467" y="3064741"/>
            <a:ext cx="189168" cy="23179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43DD3A1-47A7-47C6-B41E-18E9A47BE037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8132649" y="1840899"/>
            <a:ext cx="1364363" cy="2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EE5B0E6-C854-4C0A-A5D4-3145E2A5724B}"/>
              </a:ext>
            </a:extLst>
          </p:cNvPr>
          <p:cNvCxnSpPr>
            <a:stCxn id="9" idx="3"/>
            <a:endCxn id="24" idx="2"/>
          </p:cNvCxnSpPr>
          <p:nvPr/>
        </p:nvCxnSpPr>
        <p:spPr>
          <a:xfrm flipV="1">
            <a:off x="10944276" y="1838131"/>
            <a:ext cx="498118" cy="27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11C587-0884-45B7-A67C-4141F5AB3B2A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8048650" y="2871563"/>
            <a:ext cx="14427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420ECE-C799-4A27-BA02-4436D5F46913}"/>
              </a:ext>
            </a:extLst>
          </p:cNvPr>
          <p:cNvCxnSpPr>
            <a:cxnSpLocks/>
            <a:stCxn id="13" idx="3"/>
            <a:endCxn id="21" idx="2"/>
          </p:cNvCxnSpPr>
          <p:nvPr/>
        </p:nvCxnSpPr>
        <p:spPr>
          <a:xfrm>
            <a:off x="11094126" y="2871563"/>
            <a:ext cx="348268" cy="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690D90-362D-4A62-AAB7-48A24D511F60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8123950" y="3938656"/>
            <a:ext cx="1370460" cy="29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212EC81-9054-4D74-9DD0-8FD71B03312A}"/>
              </a:ext>
            </a:extLst>
          </p:cNvPr>
          <p:cNvCxnSpPr>
            <a:stCxn id="16" idx="2"/>
            <a:endCxn id="27" idx="0"/>
          </p:cNvCxnSpPr>
          <p:nvPr/>
        </p:nvCxnSpPr>
        <p:spPr>
          <a:xfrm flipH="1">
            <a:off x="10637678" y="4243456"/>
            <a:ext cx="1" cy="1209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BAB5A08-914D-41A9-91F3-F6F2E124549A}"/>
              </a:ext>
            </a:extLst>
          </p:cNvPr>
          <p:cNvSpPr txBox="1"/>
          <p:nvPr/>
        </p:nvSpPr>
        <p:spPr>
          <a:xfrm>
            <a:off x="8080771" y="1555611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not available]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041C5A-4351-42AC-AC44-2F907625E92A}"/>
              </a:ext>
            </a:extLst>
          </p:cNvPr>
          <p:cNvSpPr txBox="1"/>
          <p:nvPr/>
        </p:nvSpPr>
        <p:spPr>
          <a:xfrm>
            <a:off x="4052295" y="1707607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[book available]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6CE0E9-54D3-4C8D-B607-1CF1AC72C7F2}"/>
              </a:ext>
            </a:extLst>
          </p:cNvPr>
          <p:cNvSpPr txBox="1"/>
          <p:nvPr/>
        </p:nvSpPr>
        <p:spPr>
          <a:xfrm>
            <a:off x="5833875" y="2897576"/>
            <a:ext cx="1200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[authorized user]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2EE8FF-B48B-44FA-BA23-F3FE3555ECC0}"/>
              </a:ext>
            </a:extLst>
          </p:cNvPr>
          <p:cNvSpPr txBox="1"/>
          <p:nvPr/>
        </p:nvSpPr>
        <p:spPr>
          <a:xfrm>
            <a:off x="8099677" y="2577986"/>
            <a:ext cx="1348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[unauthorized user]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A43C18-A4AE-40AC-B30F-607CEDBDF0CD}"/>
              </a:ext>
            </a:extLst>
          </p:cNvPr>
          <p:cNvSpPr txBox="1"/>
          <p:nvPr/>
        </p:nvSpPr>
        <p:spPr>
          <a:xfrm>
            <a:off x="8311071" y="3669208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[max limit]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4D7988-6CDA-4267-B290-C62684135EEB}"/>
              </a:ext>
            </a:extLst>
          </p:cNvPr>
          <p:cNvSpPr txBox="1"/>
          <p:nvPr/>
        </p:nvSpPr>
        <p:spPr>
          <a:xfrm>
            <a:off x="6411090" y="3976053"/>
            <a:ext cx="5277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[else]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DE3704-F139-43DD-84A8-0F43DB8EF16A}"/>
              </a:ext>
            </a:extLst>
          </p:cNvPr>
          <p:cNvCxnSpPr>
            <a:cxnSpLocks/>
          </p:cNvCxnSpPr>
          <p:nvPr/>
        </p:nvCxnSpPr>
        <p:spPr>
          <a:xfrm flipV="1">
            <a:off x="8461484" y="4914679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9D9196-9738-4E37-B6EE-7AA1BA97946D}"/>
              </a:ext>
            </a:extLst>
          </p:cNvPr>
          <p:cNvCxnSpPr>
            <a:cxnSpLocks/>
          </p:cNvCxnSpPr>
          <p:nvPr/>
        </p:nvCxnSpPr>
        <p:spPr>
          <a:xfrm>
            <a:off x="8706017" y="4921600"/>
            <a:ext cx="1" cy="2242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157D2A-446A-4484-9591-407E5E4E8830}"/>
              </a:ext>
            </a:extLst>
          </p:cNvPr>
          <p:cNvCxnSpPr>
            <a:cxnSpLocks/>
          </p:cNvCxnSpPr>
          <p:nvPr/>
        </p:nvCxnSpPr>
        <p:spPr>
          <a:xfrm>
            <a:off x="10909409" y="4914679"/>
            <a:ext cx="0" cy="2289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1974BE8-2A36-4571-ADF1-5633A41476F3}"/>
              </a:ext>
            </a:extLst>
          </p:cNvPr>
          <p:cNvCxnSpPr/>
          <p:nvPr/>
        </p:nvCxnSpPr>
        <p:spPr>
          <a:xfrm flipV="1">
            <a:off x="8471009" y="5922280"/>
            <a:ext cx="2828926" cy="119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FA3695-2C77-42F9-8AF1-B8F60A177EA4}"/>
              </a:ext>
            </a:extLst>
          </p:cNvPr>
          <p:cNvCxnSpPr/>
          <p:nvPr/>
        </p:nvCxnSpPr>
        <p:spPr>
          <a:xfrm>
            <a:off x="9957579" y="5920082"/>
            <a:ext cx="1" cy="1573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06594A-2FD8-47F2-B67E-B7A0BD6F667D}"/>
              </a:ext>
            </a:extLst>
          </p:cNvPr>
          <p:cNvCxnSpPr>
            <a:cxnSpLocks/>
          </p:cNvCxnSpPr>
          <p:nvPr/>
        </p:nvCxnSpPr>
        <p:spPr>
          <a:xfrm>
            <a:off x="7056547" y="743641"/>
            <a:ext cx="0" cy="56471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0806567-9450-41B9-97F4-434809C3E7A4}"/>
              </a:ext>
            </a:extLst>
          </p:cNvPr>
          <p:cNvSpPr txBox="1"/>
          <p:nvPr/>
        </p:nvSpPr>
        <p:spPr>
          <a:xfrm>
            <a:off x="4523717" y="711200"/>
            <a:ext cx="1008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Librarian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1EE186-58EE-4B17-B3F6-14DB37A6013E}"/>
              </a:ext>
            </a:extLst>
          </p:cNvPr>
          <p:cNvSpPr txBox="1"/>
          <p:nvPr/>
        </p:nvSpPr>
        <p:spPr>
          <a:xfrm>
            <a:off x="8123952" y="719804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Library Management Software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50BAC03-5B45-41D2-AF9D-BB24AE8B38ED}"/>
              </a:ext>
            </a:extLst>
          </p:cNvPr>
          <p:cNvCxnSpPr>
            <a:cxnSpLocks/>
          </p:cNvCxnSpPr>
          <p:nvPr/>
        </p:nvCxnSpPr>
        <p:spPr>
          <a:xfrm flipV="1">
            <a:off x="182452" y="1080532"/>
            <a:ext cx="11783690" cy="8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33D5D2C-4273-482A-A74E-3FD913916977}"/>
              </a:ext>
            </a:extLst>
          </p:cNvPr>
          <p:cNvCxnSpPr>
            <a:cxnSpLocks/>
          </p:cNvCxnSpPr>
          <p:nvPr/>
        </p:nvCxnSpPr>
        <p:spPr>
          <a:xfrm>
            <a:off x="182452" y="743641"/>
            <a:ext cx="118270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15AF68E-B1CC-4762-9253-43DC69AA9728}"/>
              </a:ext>
            </a:extLst>
          </p:cNvPr>
          <p:cNvCxnSpPr>
            <a:cxnSpLocks/>
          </p:cNvCxnSpPr>
          <p:nvPr/>
        </p:nvCxnSpPr>
        <p:spPr>
          <a:xfrm>
            <a:off x="3868423" y="727192"/>
            <a:ext cx="0" cy="5663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51910BD-5E0E-4E91-977D-9CDE6C1ED087}"/>
              </a:ext>
            </a:extLst>
          </p:cNvPr>
          <p:cNvCxnSpPr>
            <a:cxnSpLocks/>
          </p:cNvCxnSpPr>
          <p:nvPr/>
        </p:nvCxnSpPr>
        <p:spPr>
          <a:xfrm>
            <a:off x="12009547" y="727192"/>
            <a:ext cx="0" cy="5663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A24A60B-5B9D-3702-1166-F65E748B9B01}"/>
              </a:ext>
            </a:extLst>
          </p:cNvPr>
          <p:cNvCxnSpPr>
            <a:cxnSpLocks/>
          </p:cNvCxnSpPr>
          <p:nvPr/>
        </p:nvCxnSpPr>
        <p:spPr>
          <a:xfrm flipV="1">
            <a:off x="182452" y="6390774"/>
            <a:ext cx="11827095" cy="75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F636D-26D8-2197-217E-0C3D547EBFB1}"/>
              </a:ext>
            </a:extLst>
          </p:cNvPr>
          <p:cNvCxnSpPr>
            <a:cxnSpLocks/>
          </p:cNvCxnSpPr>
          <p:nvPr/>
        </p:nvCxnSpPr>
        <p:spPr>
          <a:xfrm>
            <a:off x="182452" y="743641"/>
            <a:ext cx="0" cy="57229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9447A15-92F0-C8F8-4FEE-4F244BD42E4E}"/>
              </a:ext>
            </a:extLst>
          </p:cNvPr>
          <p:cNvSpPr txBox="1"/>
          <p:nvPr/>
        </p:nvSpPr>
        <p:spPr>
          <a:xfrm>
            <a:off x="1233648" y="727192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Member</a:t>
            </a:r>
          </a:p>
        </p:txBody>
      </p:sp>
      <p:sp>
        <p:nvSpPr>
          <p:cNvPr id="103" name="Flowchart: Terminator 102">
            <a:extLst>
              <a:ext uri="{FF2B5EF4-FFF2-40B4-BE49-F238E27FC236}">
                <a16:creationId xmlns:a16="http://schemas.microsoft.com/office/drawing/2014/main" id="{6438134F-D44C-E0F9-4867-E228B3D2C7C1}"/>
              </a:ext>
            </a:extLst>
          </p:cNvPr>
          <p:cNvSpPr/>
          <p:nvPr/>
        </p:nvSpPr>
        <p:spPr>
          <a:xfrm>
            <a:off x="912247" y="1147823"/>
            <a:ext cx="227043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Check availability book</a:t>
            </a:r>
          </a:p>
        </p:txBody>
      </p:sp>
      <p:sp>
        <p:nvSpPr>
          <p:cNvPr id="105" name="Flowchart: Terminator 104">
            <a:extLst>
              <a:ext uri="{FF2B5EF4-FFF2-40B4-BE49-F238E27FC236}">
                <a16:creationId xmlns:a16="http://schemas.microsoft.com/office/drawing/2014/main" id="{C36D220F-DED7-257E-B170-DED3F2BDC9CD}"/>
              </a:ext>
            </a:extLst>
          </p:cNvPr>
          <p:cNvSpPr/>
          <p:nvPr/>
        </p:nvSpPr>
        <p:spPr>
          <a:xfrm>
            <a:off x="912247" y="1786796"/>
            <a:ext cx="2270437" cy="330558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Give member code</a:t>
            </a:r>
          </a:p>
        </p:txBody>
      </p:sp>
      <p:cxnSp>
        <p:nvCxnSpPr>
          <p:cNvPr id="111" name="Straight Arrow Connector 49">
            <a:extLst>
              <a:ext uri="{FF2B5EF4-FFF2-40B4-BE49-F238E27FC236}">
                <a16:creationId xmlns:a16="http://schemas.microsoft.com/office/drawing/2014/main" id="{8BB02C24-08BB-2A14-9CB2-3757C5DF4845}"/>
              </a:ext>
            </a:extLst>
          </p:cNvPr>
          <p:cNvCxnSpPr>
            <a:cxnSpLocks/>
            <a:stCxn id="105" idx="2"/>
            <a:endCxn id="10" idx="0"/>
          </p:cNvCxnSpPr>
          <p:nvPr/>
        </p:nvCxnSpPr>
        <p:spPr>
          <a:xfrm rot="16200000" flipH="1">
            <a:off x="3496637" y="668183"/>
            <a:ext cx="133837" cy="3032178"/>
          </a:xfrm>
          <a:prstGeom prst="bentConnector3">
            <a:avLst>
              <a:gd name="adj1" fmla="val 3898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37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5" grpId="0"/>
      <p:bldP spid="46" grpId="0"/>
      <p:bldP spid="47" grpId="0"/>
      <p:bldP spid="48" grpId="0"/>
      <p:bldP spid="49" grpId="0"/>
      <p:bldP spid="50" grpId="0"/>
      <p:bldP spid="57" grpId="0"/>
      <p:bldP spid="58" grpId="0"/>
      <p:bldP spid="95" grpId="0"/>
      <p:bldP spid="103" grpId="0" animBg="1"/>
      <p:bldP spid="1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4258322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05986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205892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2714</TotalTime>
  <Words>1024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Roboto Condensed Light</vt:lpstr>
      <vt:lpstr>Roboto Condensed</vt:lpstr>
      <vt:lpstr>Wingdings 3</vt:lpstr>
      <vt:lpstr>Calibri</vt:lpstr>
      <vt:lpstr>Wingdings</vt:lpstr>
      <vt:lpstr>Office Theme</vt:lpstr>
      <vt:lpstr>PowerPoint Presentation</vt:lpstr>
      <vt:lpstr>Activity Diagram</vt:lpstr>
      <vt:lpstr>Elements of Activity Diagram</vt:lpstr>
      <vt:lpstr>Elements of Activity Diagram Cont.</vt:lpstr>
      <vt:lpstr>Elements of Activity Diagram Cont.</vt:lpstr>
      <vt:lpstr>How to Draw an Activity Diagram</vt:lpstr>
      <vt:lpstr>Activity Diagram for Book Issue</vt:lpstr>
      <vt:lpstr>Swimlane Diagram</vt:lpstr>
      <vt:lpstr>How to Draw a Swimlane Diagram</vt:lpstr>
      <vt:lpstr>Swimlane Diagram for Book Issue</vt:lpstr>
      <vt:lpstr>Swimlane Diagram for Book Issue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EKTA BALDHA</cp:lastModifiedBy>
  <cp:revision>137</cp:revision>
  <dcterms:created xsi:type="dcterms:W3CDTF">2020-05-01T05:09:15Z</dcterms:created>
  <dcterms:modified xsi:type="dcterms:W3CDTF">2023-07-06T07:24:09Z</dcterms:modified>
</cp:coreProperties>
</file>