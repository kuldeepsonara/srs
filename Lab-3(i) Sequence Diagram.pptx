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395" r:id="rId2"/>
    <p:sldId id="426" r:id="rId3"/>
    <p:sldId id="427" r:id="rId4"/>
    <p:sldId id="428" r:id="rId5"/>
    <p:sldId id="429" r:id="rId6"/>
    <p:sldId id="431" r:id="rId7"/>
    <p:sldId id="432" r:id="rId8"/>
    <p:sldId id="433" r:id="rId9"/>
    <p:sldId id="39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 Condensed" pitchFamily="2" charset="0"/>
      <p:regular r:id="rId16"/>
      <p:bold r:id="rId17"/>
      <p:italic r:id="rId18"/>
      <p:boldItalic r:id="rId19"/>
    </p:embeddedFont>
    <p:embeddedFont>
      <p:font typeface="Roboto Condensed Light" panose="02000000000000000000" pitchFamily="2" charset="0"/>
      <p:regular r:id="rId20"/>
      <p:italic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T20rPxHsnQoRjPbuQnAQQ==" hashData="AzSmwi+17AEJWGRoncIVN3JmgIJYLZE1HryttEY0J7XcnTdvqUudfwDhES0EoJcV6g635rYEHOk/GtxCtaGag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305B6EF-F9F3-59F1-576E-4FA5B9F0864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257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7C5DC-6E39-9859-D671-B4A5EB7BC62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B2371C9-9733-ADC9-C8B4-A8050748EC6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B017C4-5789-B9D5-5F3F-4AF60A31E3B2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F772C86-1963-F205-DAC4-EB76F0934F11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DDBA231-C16D-858F-693F-966296A9C88F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205AB-4091-1E5C-B6F9-69DFAED73C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8C5B5E2-E9C9-6DC8-817F-DB1093DA93A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1055E0-4166-8283-C34F-739D926AD939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6955B0-F905-A23A-E8C1-527DAB130B52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1CAB3A2-C9A8-B190-F0C4-4EBCFEAAC2D3}"/>
              </a:ext>
            </a:extLst>
          </p:cNvPr>
          <p:cNvSpPr txBox="1">
            <a:spLocks/>
          </p:cNvSpPr>
          <p:nvPr userDrawn="1"/>
        </p:nvSpPr>
        <p:spPr>
          <a:xfrm>
            <a:off x="4191000" y="661126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10233">
                  <a:shade val="30000"/>
                  <a:satMod val="115000"/>
                </a:srgbClr>
              </a:gs>
              <a:gs pos="50000">
                <a:srgbClr val="D10233">
                  <a:shade val="67500"/>
                  <a:satMod val="115000"/>
                </a:srgbClr>
              </a:gs>
              <a:gs pos="100000">
                <a:srgbClr val="D10233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78CEF7-BDC7-785F-EC2D-E2E4584FB02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3E34E3A-B4BC-24C2-5F9E-9CB5CF7F612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00466D-ADF6-2BC1-B5C1-CF8846C5A0FD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F505AB4-F050-05C3-0733-FD0F9F412E8E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F2B7A-8C18-4FD4-5611-CA259149AE2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57075E-92C1-A0AD-7836-B1A67FB06262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D38B228-9699-D25D-D32C-66B80794F5B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05EFB-C997-BC25-840F-0D6CFD90256C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CA4645-6AE2-4276-F423-91A1E5F2807C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90AD6-ADA4-940D-CBCD-72DC3297195F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8AF25-05AF-472D-5BDA-C12555B8A87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0DB19E-D774-A0D8-6E57-EFD060ECB4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2C8C4D-DE88-75EC-5C45-DD7C01792148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DD75719-098F-0654-9C35-BF49E0150298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D11F0E-DA90-B2B2-FC5D-A2DC6111B130}"/>
              </a:ext>
            </a:extLst>
          </p:cNvPr>
          <p:cNvSpPr txBox="1">
            <a:spLocks/>
          </p:cNvSpPr>
          <p:nvPr userDrawn="1"/>
        </p:nvSpPr>
        <p:spPr>
          <a:xfrm>
            <a:off x="4191000" y="661126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D53D90-D9D5-4989-8E97-31CC943F62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3874" y="6170137"/>
            <a:ext cx="3735998" cy="290081"/>
          </a:xfrm>
        </p:spPr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5537768"/>
            <a:ext cx="4459883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78" y="5191433"/>
            <a:ext cx="1341551" cy="137651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-3</a:t>
            </a:r>
          </a:p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Practical - 1</a:t>
            </a:r>
            <a:br>
              <a:rPr lang="en-US" dirty="0"/>
            </a:br>
            <a:r>
              <a:rPr lang="en-US" sz="5400" dirty="0"/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123965"/>
            <a:ext cx="11929641" cy="3264145"/>
          </a:xfrm>
        </p:spPr>
        <p:txBody>
          <a:bodyPr/>
          <a:lstStyle/>
          <a:p>
            <a:r>
              <a:rPr lang="en-US" dirty="0"/>
              <a:t>A sequence diagram shows the </a:t>
            </a:r>
            <a:r>
              <a:rPr lang="en-US" dirty="0">
                <a:solidFill>
                  <a:srgbClr val="A32D19"/>
                </a:solidFill>
              </a:rPr>
              <a:t>interaction of a system with its actors</a:t>
            </a:r>
            <a:r>
              <a:rPr lang="en-US" dirty="0"/>
              <a:t> to </a:t>
            </a:r>
            <a:r>
              <a:rPr lang="en-US" dirty="0">
                <a:solidFill>
                  <a:srgbClr val="A32D19"/>
                </a:solidFill>
              </a:rPr>
              <a:t>perform</a:t>
            </a:r>
            <a:r>
              <a:rPr lang="en-US" dirty="0"/>
              <a:t> all or part of a </a:t>
            </a:r>
            <a:r>
              <a:rPr lang="en-US" dirty="0">
                <a:solidFill>
                  <a:srgbClr val="A32D19"/>
                </a:solidFill>
              </a:rPr>
              <a:t>use case</a:t>
            </a:r>
            <a:r>
              <a:rPr lang="en-US" dirty="0"/>
              <a:t>. </a:t>
            </a:r>
            <a:endParaRPr lang="en-US" dirty="0">
              <a:solidFill>
                <a:srgbClr val="A32D19"/>
              </a:solidFill>
            </a:endParaRPr>
          </a:p>
          <a:p>
            <a:r>
              <a:rPr lang="en-US" dirty="0"/>
              <a:t>Sequence diagram represent the </a:t>
            </a:r>
            <a:r>
              <a:rPr lang="en-US" dirty="0">
                <a:solidFill>
                  <a:srgbClr val="A32D19"/>
                </a:solidFill>
              </a:rPr>
              <a:t>dynamic communication between object during execution </a:t>
            </a:r>
            <a:r>
              <a:rPr lang="en-US" dirty="0"/>
              <a:t>of task.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A32D19"/>
                </a:solidFill>
              </a:rPr>
              <a:t>use case </a:t>
            </a:r>
            <a:r>
              <a:rPr lang="en-US" dirty="0"/>
              <a:t>requires </a:t>
            </a:r>
            <a:r>
              <a:rPr lang="en-US" dirty="0">
                <a:solidFill>
                  <a:srgbClr val="A32D19"/>
                </a:solidFill>
              </a:rPr>
              <a:t>one or more sequence </a:t>
            </a:r>
            <a:r>
              <a:rPr lang="en-US" dirty="0"/>
              <a:t>diagram to describe its behavior.</a:t>
            </a:r>
          </a:p>
          <a:p>
            <a:r>
              <a:rPr lang="en-US" dirty="0"/>
              <a:t>Each sequence diagram shows </a:t>
            </a:r>
            <a:r>
              <a:rPr lang="en-US" dirty="0">
                <a:solidFill>
                  <a:srgbClr val="A32D19"/>
                </a:solidFill>
              </a:rPr>
              <a:t>a particular behavior </a:t>
            </a:r>
            <a:r>
              <a:rPr lang="en-US" dirty="0"/>
              <a:t>sequence of the </a:t>
            </a:r>
            <a:r>
              <a:rPr lang="en-US" dirty="0">
                <a:solidFill>
                  <a:srgbClr val="A32D19"/>
                </a:solidFill>
              </a:rPr>
              <a:t>use case</a:t>
            </a:r>
            <a:r>
              <a:rPr lang="en-US" dirty="0"/>
              <a:t>. </a:t>
            </a:r>
          </a:p>
          <a:p>
            <a:r>
              <a:rPr lang="en-US" dirty="0"/>
              <a:t>You can draw a </a:t>
            </a:r>
            <a:r>
              <a:rPr lang="en-US" dirty="0">
                <a:solidFill>
                  <a:srgbClr val="A32D19"/>
                </a:solidFill>
              </a:rPr>
              <a:t>separate sequence diagram for each task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80" y="947066"/>
            <a:ext cx="11929640" cy="941033"/>
          </a:xfrm>
          <a:prstGeom prst="wedgeRoundRectCallout">
            <a:avLst>
              <a:gd name="adj1" fmla="val -37121"/>
              <a:gd name="adj2" fmla="val -7860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Sequence diagram shows the </a:t>
            </a:r>
            <a:r>
              <a:rPr lang="en-US" sz="2400" dirty="0">
                <a:solidFill>
                  <a:srgbClr val="A32D19"/>
                </a:solidFill>
              </a:rPr>
              <a:t>participants (Objects) in an interaction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A32D19"/>
                </a:solidFill>
              </a:rPr>
              <a:t>sequence of message among them</a:t>
            </a:r>
            <a:r>
              <a:rPr lang="en-US" sz="2400" dirty="0"/>
              <a:t>. 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7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of Sequence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79" y="1348057"/>
            <a:ext cx="12004261" cy="963306"/>
          </a:xfrm>
          <a:ln w="3175">
            <a:noFill/>
          </a:ln>
        </p:spPr>
        <p:txBody>
          <a:bodyPr/>
          <a:lstStyle/>
          <a:p>
            <a:r>
              <a:rPr lang="en-US" dirty="0"/>
              <a:t>Class roles describe the way an </a:t>
            </a:r>
            <a:r>
              <a:rPr lang="en-US" dirty="0">
                <a:solidFill>
                  <a:srgbClr val="A32D19"/>
                </a:solidFill>
              </a:rPr>
              <a:t>object will behave in context</a:t>
            </a:r>
            <a:r>
              <a:rPr lang="en-US" dirty="0"/>
              <a:t>. </a:t>
            </a:r>
          </a:p>
          <a:p>
            <a:r>
              <a:rPr lang="en-US" dirty="0"/>
              <a:t>Use the UML object symbol to illustrate class roles, but </a:t>
            </a:r>
            <a:r>
              <a:rPr lang="en-US" dirty="0">
                <a:solidFill>
                  <a:srgbClr val="A32D19"/>
                </a:solidFill>
              </a:rPr>
              <a:t>don't list object attributes</a:t>
            </a:r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DD7100-B690-4542-84E9-AE0BDE645FBC}"/>
              </a:ext>
            </a:extLst>
          </p:cNvPr>
          <p:cNvSpPr/>
          <p:nvPr/>
        </p:nvSpPr>
        <p:spPr>
          <a:xfrm>
            <a:off x="130379" y="821077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Object - Class Roles or Participants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30378" y="2947557"/>
            <a:ext cx="10142325" cy="12710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Activation boxes represent the </a:t>
            </a:r>
            <a:r>
              <a:rPr lang="en-US" dirty="0">
                <a:solidFill>
                  <a:srgbClr val="A32D19"/>
                </a:solidFill>
              </a:rPr>
              <a:t>time an object needs to complete a task. </a:t>
            </a:r>
          </a:p>
          <a:p>
            <a:r>
              <a:rPr lang="en-US" dirty="0"/>
              <a:t>When an object is busy executing a process or </a:t>
            </a:r>
            <a:r>
              <a:rPr lang="en-US" dirty="0">
                <a:solidFill>
                  <a:srgbClr val="A32D19"/>
                </a:solidFill>
              </a:rPr>
              <a:t>waiting for a reply message</a:t>
            </a:r>
            <a:r>
              <a:rPr lang="en-US" dirty="0"/>
              <a:t>, use a thin gray rectangle </a:t>
            </a:r>
            <a:r>
              <a:rPr lang="en-US" dirty="0">
                <a:solidFill>
                  <a:srgbClr val="A32D19"/>
                </a:solidFill>
              </a:rPr>
              <a:t>placed vertically on its lifeline</a:t>
            </a:r>
            <a:r>
              <a:rPr lang="en-US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E0AB4-45DC-4AC6-A7E9-457653311BDC}"/>
              </a:ext>
            </a:extLst>
          </p:cNvPr>
          <p:cNvSpPr/>
          <p:nvPr/>
        </p:nvSpPr>
        <p:spPr>
          <a:xfrm>
            <a:off x="130379" y="2407513"/>
            <a:ext cx="4437534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Activation or Execution Occurrence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88C92C-8BD4-4327-8E00-7195A19B1E25}"/>
              </a:ext>
            </a:extLst>
          </p:cNvPr>
          <p:cNvCxnSpPr>
            <a:cxnSpLocks/>
          </p:cNvCxnSpPr>
          <p:nvPr/>
        </p:nvCxnSpPr>
        <p:spPr>
          <a:xfrm>
            <a:off x="2349146" y="1273864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ED9A67-9448-4F9D-ACA1-8F799D31027C}"/>
              </a:ext>
            </a:extLst>
          </p:cNvPr>
          <p:cNvCxnSpPr>
            <a:cxnSpLocks/>
          </p:cNvCxnSpPr>
          <p:nvPr/>
        </p:nvCxnSpPr>
        <p:spPr>
          <a:xfrm>
            <a:off x="2349146" y="2860300"/>
            <a:ext cx="957835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A65C5-8DE4-4023-B147-F1D19C774FE3}"/>
              </a:ext>
            </a:extLst>
          </p:cNvPr>
          <p:cNvSpPr/>
          <p:nvPr/>
        </p:nvSpPr>
        <p:spPr>
          <a:xfrm>
            <a:off x="10272703" y="824864"/>
            <a:ext cx="1624614" cy="35178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Object :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FF8EFF-949F-4DFA-B542-97A8DF025269}"/>
              </a:ext>
            </a:extLst>
          </p:cNvPr>
          <p:cNvSpPr/>
          <p:nvPr/>
        </p:nvSpPr>
        <p:spPr>
          <a:xfrm>
            <a:off x="11249540" y="2965986"/>
            <a:ext cx="173116" cy="10492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D042C69E-9F67-4CC0-8361-D46DD0E944B5}"/>
              </a:ext>
            </a:extLst>
          </p:cNvPr>
          <p:cNvSpPr txBox="1">
            <a:spLocks/>
          </p:cNvSpPr>
          <p:nvPr/>
        </p:nvSpPr>
        <p:spPr>
          <a:xfrm>
            <a:off x="130378" y="4785077"/>
            <a:ext cx="10142325" cy="121009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lifeline represents a </a:t>
            </a:r>
            <a:r>
              <a:rPr lang="en-US" dirty="0">
                <a:solidFill>
                  <a:srgbClr val="A32D19"/>
                </a:solidFill>
              </a:rPr>
              <a:t>Object in an interaction</a:t>
            </a:r>
            <a:r>
              <a:rPr lang="en-US" dirty="0"/>
              <a:t>. </a:t>
            </a:r>
          </a:p>
          <a:p>
            <a:r>
              <a:rPr lang="en-US" dirty="0"/>
              <a:t>When that object's lifeline ends, you can </a:t>
            </a:r>
            <a:r>
              <a:rPr lang="en-US" dirty="0">
                <a:solidFill>
                  <a:srgbClr val="A32D19"/>
                </a:solidFill>
              </a:rPr>
              <a:t>place an X at the end of its lifeline </a:t>
            </a:r>
            <a:r>
              <a:rPr lang="en-US" dirty="0"/>
              <a:t>to denote a destruction occurrence.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0CBE7B-ED96-440A-BE30-93DC600FC1BE}"/>
              </a:ext>
            </a:extLst>
          </p:cNvPr>
          <p:cNvSpPr/>
          <p:nvPr/>
        </p:nvSpPr>
        <p:spPr>
          <a:xfrm>
            <a:off x="130376" y="4258097"/>
            <a:ext cx="4499679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Lifeline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78DBC7-C406-4315-9B7B-55C381DF78DA}"/>
              </a:ext>
            </a:extLst>
          </p:cNvPr>
          <p:cNvCxnSpPr>
            <a:cxnSpLocks/>
          </p:cNvCxnSpPr>
          <p:nvPr/>
        </p:nvCxnSpPr>
        <p:spPr>
          <a:xfrm>
            <a:off x="2380216" y="4719762"/>
            <a:ext cx="7892487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6A65C3-ADE5-4CD9-BA53-414BFD43B467}"/>
              </a:ext>
            </a:extLst>
          </p:cNvPr>
          <p:cNvGrpSpPr/>
          <p:nvPr/>
        </p:nvGrpSpPr>
        <p:grpSpPr>
          <a:xfrm>
            <a:off x="11085010" y="4797554"/>
            <a:ext cx="311304" cy="963474"/>
            <a:chOff x="11088151" y="1606498"/>
            <a:chExt cx="311304" cy="111337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156010-44BC-4211-88E7-41626E98B64D}"/>
                </a:ext>
              </a:extLst>
            </p:cNvPr>
            <p:cNvCxnSpPr>
              <a:cxnSpLocks/>
            </p:cNvCxnSpPr>
            <p:nvPr/>
          </p:nvCxnSpPr>
          <p:spPr>
            <a:xfrm>
              <a:off x="11252681" y="1606498"/>
              <a:ext cx="0" cy="886336"/>
            </a:xfrm>
            <a:prstGeom prst="line">
              <a:avLst/>
            </a:prstGeom>
            <a:ln w="28575">
              <a:solidFill>
                <a:srgbClr val="A32D19"/>
              </a:solidFill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624A46-B6E6-49D7-9618-7D96218A2A1B}"/>
                </a:ext>
              </a:extLst>
            </p:cNvPr>
            <p:cNvSpPr/>
            <p:nvPr/>
          </p:nvSpPr>
          <p:spPr>
            <a:xfrm>
              <a:off x="11088151" y="2258212"/>
              <a:ext cx="311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A32D19"/>
                  </a:solidFill>
                </a:rPr>
                <a:t>X</a:t>
              </a:r>
              <a:endParaRPr lang="en-IN" sz="2400" dirty="0">
                <a:solidFill>
                  <a:srgbClr val="A32D19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2CB39-5D71-4189-89F5-FE4A875D9E96}"/>
              </a:ext>
            </a:extLst>
          </p:cNvPr>
          <p:cNvSpPr/>
          <p:nvPr/>
        </p:nvSpPr>
        <p:spPr>
          <a:xfrm>
            <a:off x="10533701" y="4512879"/>
            <a:ext cx="1393800" cy="21831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80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22" grpId="0" build="p"/>
      <p:bldP spid="23" grpId="0" animBg="1"/>
      <p:bldP spid="16" grpId="0" animBg="1"/>
      <p:bldP spid="18" grpId="0" animBg="1"/>
      <p:bldP spid="17" grpId="0" build="p"/>
      <p:bldP spid="20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Sequence Diagram Cont.</a:t>
            </a:r>
            <a:endParaRPr lang="en-US" dirty="0">
              <a:latin typeface="+mn-lt"/>
            </a:endParaRP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C4D30011-F663-4A92-B8D5-754503295173}"/>
              </a:ext>
            </a:extLst>
          </p:cNvPr>
          <p:cNvSpPr txBox="1">
            <a:spLocks/>
          </p:cNvSpPr>
          <p:nvPr/>
        </p:nvSpPr>
        <p:spPr>
          <a:xfrm>
            <a:off x="140058" y="1390425"/>
            <a:ext cx="11912531" cy="11340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Messages are </a:t>
            </a:r>
            <a:r>
              <a:rPr lang="en-US" dirty="0">
                <a:solidFill>
                  <a:srgbClr val="A32D19"/>
                </a:solidFill>
              </a:rPr>
              <a:t>arrows that represent </a:t>
            </a:r>
            <a:r>
              <a:rPr lang="en-US" dirty="0"/>
              <a:t>communication between objects. </a:t>
            </a:r>
          </a:p>
          <a:p>
            <a:r>
              <a:rPr lang="en-US" dirty="0"/>
              <a:t>Use the following arrows and message symbols to show </a:t>
            </a:r>
            <a:r>
              <a:rPr lang="en-US" dirty="0">
                <a:solidFill>
                  <a:srgbClr val="A32D19"/>
                </a:solidFill>
              </a:rPr>
              <a:t>how information is transmitted </a:t>
            </a:r>
            <a:r>
              <a:rPr lang="en-US" dirty="0"/>
              <a:t>between objects.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C795F0-BFEF-416D-8D74-F24700DFDBDD}"/>
              </a:ext>
            </a:extLst>
          </p:cNvPr>
          <p:cNvSpPr/>
          <p:nvPr/>
        </p:nvSpPr>
        <p:spPr>
          <a:xfrm>
            <a:off x="131179" y="863444"/>
            <a:ext cx="3854895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Messages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4AE8DD-B490-487C-A7D3-44DA05D91D5C}"/>
              </a:ext>
            </a:extLst>
          </p:cNvPr>
          <p:cNvCxnSpPr>
            <a:cxnSpLocks/>
          </p:cNvCxnSpPr>
          <p:nvPr/>
        </p:nvCxnSpPr>
        <p:spPr>
          <a:xfrm>
            <a:off x="2058627" y="1316231"/>
            <a:ext cx="998508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0FFE5-B389-48AB-A1E2-0132FEC81C0D}"/>
              </a:ext>
            </a:extLst>
          </p:cNvPr>
          <p:cNvSpPr/>
          <p:nvPr/>
        </p:nvSpPr>
        <p:spPr>
          <a:xfrm>
            <a:off x="140058" y="2657808"/>
            <a:ext cx="308253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Synchronous message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8264B38-9F02-4441-BD0B-C7A1DDC10995}"/>
              </a:ext>
            </a:extLst>
          </p:cNvPr>
          <p:cNvSpPr txBox="1">
            <a:spLocks/>
          </p:cNvSpPr>
          <p:nvPr/>
        </p:nvSpPr>
        <p:spPr>
          <a:xfrm>
            <a:off x="140057" y="3197851"/>
            <a:ext cx="11903653" cy="30436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solid line with a solid arrowhead. </a:t>
            </a:r>
          </a:p>
          <a:p>
            <a:r>
              <a:rPr lang="en-US" dirty="0"/>
              <a:t>This symbol is used when a </a:t>
            </a:r>
            <a:r>
              <a:rPr lang="en-US" dirty="0">
                <a:solidFill>
                  <a:srgbClr val="A32D19"/>
                </a:solidFill>
              </a:rPr>
              <a:t>sender must wait for a response</a:t>
            </a:r>
            <a:r>
              <a:rPr lang="en-US" dirty="0"/>
              <a:t> to a message before it continues. </a:t>
            </a:r>
          </a:p>
          <a:p>
            <a:r>
              <a:rPr lang="en-US" dirty="0"/>
              <a:t>The diagram should show both the </a:t>
            </a:r>
            <a:r>
              <a:rPr lang="en-US" dirty="0">
                <a:solidFill>
                  <a:srgbClr val="A32D19"/>
                </a:solidFill>
              </a:rPr>
              <a:t>call and the reply.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D70A0D-B657-43A3-8064-87D83657096F}"/>
              </a:ext>
            </a:extLst>
          </p:cNvPr>
          <p:cNvCxnSpPr/>
          <p:nvPr/>
        </p:nvCxnSpPr>
        <p:spPr>
          <a:xfrm>
            <a:off x="3551068" y="2851792"/>
            <a:ext cx="1775534" cy="0"/>
          </a:xfrm>
          <a:prstGeom prst="straightConnector1">
            <a:avLst/>
          </a:prstGeom>
          <a:ln w="38100">
            <a:solidFill>
              <a:srgbClr val="A32D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B289F6-FA30-403F-A05F-F3AADDE086E1}"/>
              </a:ext>
            </a:extLst>
          </p:cNvPr>
          <p:cNvSpPr/>
          <p:nvPr/>
        </p:nvSpPr>
        <p:spPr>
          <a:xfrm>
            <a:off x="144368" y="4588606"/>
            <a:ext cx="307822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Asynchronous message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ED06FF4-647A-4830-AE82-A5BC5307B344}"/>
              </a:ext>
            </a:extLst>
          </p:cNvPr>
          <p:cNvSpPr txBox="1">
            <a:spLocks/>
          </p:cNvSpPr>
          <p:nvPr/>
        </p:nvSpPr>
        <p:spPr>
          <a:xfrm>
            <a:off x="148290" y="5128649"/>
            <a:ext cx="11895420" cy="13656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solid line with a lined arrowhead. </a:t>
            </a:r>
          </a:p>
          <a:p>
            <a:r>
              <a:rPr lang="en-US" dirty="0"/>
              <a:t>Asynchronous </a:t>
            </a:r>
            <a:r>
              <a:rPr lang="en-US" dirty="0">
                <a:solidFill>
                  <a:srgbClr val="A32D19"/>
                </a:solidFill>
              </a:rPr>
              <a:t>messages don't require a response</a:t>
            </a:r>
            <a:r>
              <a:rPr lang="en-US" dirty="0"/>
              <a:t> before the sender continues. </a:t>
            </a:r>
          </a:p>
          <a:p>
            <a:r>
              <a:rPr lang="en-US" dirty="0">
                <a:solidFill>
                  <a:srgbClr val="A32D19"/>
                </a:solidFill>
              </a:rPr>
              <a:t>Only the call </a:t>
            </a:r>
            <a:r>
              <a:rPr lang="en-US" dirty="0"/>
              <a:t>should be included in the diagram.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C708FD-B3A4-4B22-9479-65C11BDD0FA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681328" y="3119473"/>
            <a:ext cx="103623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FF38EA-6D95-4ADE-8953-37695CC8F4F9}"/>
              </a:ext>
            </a:extLst>
          </p:cNvPr>
          <p:cNvCxnSpPr>
            <a:cxnSpLocks/>
          </p:cNvCxnSpPr>
          <p:nvPr/>
        </p:nvCxnSpPr>
        <p:spPr>
          <a:xfrm flipH="1">
            <a:off x="3222598" y="5042924"/>
            <a:ext cx="88211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598275-E891-4D9C-874E-350D5FE2A4F1}"/>
              </a:ext>
            </a:extLst>
          </p:cNvPr>
          <p:cNvCxnSpPr/>
          <p:nvPr/>
        </p:nvCxnSpPr>
        <p:spPr>
          <a:xfrm>
            <a:off x="3563232" y="4846059"/>
            <a:ext cx="2104008" cy="0"/>
          </a:xfrm>
          <a:prstGeom prst="straightConnector1">
            <a:avLst/>
          </a:prstGeom>
          <a:ln w="28575">
            <a:solidFill>
              <a:srgbClr val="A32D1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3" grpId="0" animBg="1"/>
      <p:bldP spid="14" grpId="0" uiExpand="1" build="allAtOnce"/>
      <p:bldP spid="19" grpId="0" animBg="1"/>
      <p:bldP spid="2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Sequence Diagram Cont.</a:t>
            </a:r>
            <a:endParaRPr lang="en-US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0FFE5-B389-48AB-A1E2-0132FEC81C0D}"/>
              </a:ext>
            </a:extLst>
          </p:cNvPr>
          <p:cNvSpPr/>
          <p:nvPr/>
        </p:nvSpPr>
        <p:spPr>
          <a:xfrm>
            <a:off x="140058" y="853583"/>
            <a:ext cx="308253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Reply message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8264B38-9F02-4441-BD0B-C7A1DDC10995}"/>
              </a:ext>
            </a:extLst>
          </p:cNvPr>
          <p:cNvSpPr txBox="1">
            <a:spLocks/>
          </p:cNvSpPr>
          <p:nvPr/>
        </p:nvSpPr>
        <p:spPr>
          <a:xfrm>
            <a:off x="140058" y="1393626"/>
            <a:ext cx="11747142" cy="8988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dashed line</a:t>
            </a:r>
            <a:r>
              <a:rPr lang="en-US" dirty="0"/>
              <a:t> with a lined arrowhead.</a:t>
            </a:r>
          </a:p>
          <a:p>
            <a:r>
              <a:rPr lang="en-US" dirty="0"/>
              <a:t>these messages are </a:t>
            </a:r>
            <a:r>
              <a:rPr lang="en-US" dirty="0">
                <a:solidFill>
                  <a:srgbClr val="A32D19"/>
                </a:solidFill>
              </a:rPr>
              <a:t>replies to calls</a:t>
            </a:r>
            <a:r>
              <a:rPr lang="en-US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D70A0D-B657-43A3-8064-87D83657096F}"/>
              </a:ext>
            </a:extLst>
          </p:cNvPr>
          <p:cNvCxnSpPr/>
          <p:nvPr/>
        </p:nvCxnSpPr>
        <p:spPr>
          <a:xfrm>
            <a:off x="3551068" y="1047567"/>
            <a:ext cx="1775534" cy="0"/>
          </a:xfrm>
          <a:prstGeom prst="straightConnector1">
            <a:avLst/>
          </a:prstGeom>
          <a:ln w="38100">
            <a:solidFill>
              <a:srgbClr val="A32D19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B289F6-FA30-403F-A05F-F3AADDE086E1}"/>
              </a:ext>
            </a:extLst>
          </p:cNvPr>
          <p:cNvSpPr/>
          <p:nvPr/>
        </p:nvSpPr>
        <p:spPr>
          <a:xfrm>
            <a:off x="144369" y="2516952"/>
            <a:ext cx="3078229" cy="461665"/>
          </a:xfrm>
          <a:prstGeom prst="rect">
            <a:avLst/>
          </a:prstGeom>
          <a:noFill/>
          <a:ln>
            <a:solidFill>
              <a:srgbClr val="A32D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Delete message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ED06FF4-647A-4830-AE82-A5BC5307B344}"/>
              </a:ext>
            </a:extLst>
          </p:cNvPr>
          <p:cNvSpPr txBox="1">
            <a:spLocks/>
          </p:cNvSpPr>
          <p:nvPr/>
        </p:nvSpPr>
        <p:spPr>
          <a:xfrm>
            <a:off x="148291" y="3056995"/>
            <a:ext cx="11738909" cy="12770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Represented by a </a:t>
            </a:r>
            <a:r>
              <a:rPr lang="en-US" dirty="0">
                <a:solidFill>
                  <a:srgbClr val="A32D19"/>
                </a:solidFill>
              </a:rPr>
              <a:t>solid line </a:t>
            </a:r>
            <a:r>
              <a:rPr lang="en-US" dirty="0"/>
              <a:t>with a solid arrowhead, followed by an </a:t>
            </a:r>
            <a:r>
              <a:rPr lang="en-US" dirty="0">
                <a:solidFill>
                  <a:srgbClr val="A32D19"/>
                </a:solidFill>
              </a:rPr>
              <a:t>X</a:t>
            </a:r>
            <a:r>
              <a:rPr lang="en-US" dirty="0"/>
              <a:t>. </a:t>
            </a:r>
          </a:p>
          <a:p>
            <a:r>
              <a:rPr lang="en-US" dirty="0"/>
              <a:t>This message </a:t>
            </a:r>
            <a:r>
              <a:rPr lang="en-US" dirty="0">
                <a:solidFill>
                  <a:srgbClr val="A32D19"/>
                </a:solidFill>
              </a:rPr>
              <a:t>destroys an object</a:t>
            </a:r>
            <a:r>
              <a:rPr lang="en-US" dirty="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C708FD-B3A4-4B22-9479-65C11BDD0FA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681328" y="1315248"/>
            <a:ext cx="1020587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FF38EA-6D95-4ADE-8953-37695CC8F4F9}"/>
              </a:ext>
            </a:extLst>
          </p:cNvPr>
          <p:cNvCxnSpPr>
            <a:cxnSpLocks/>
            <a:stCxn id="20" idx="0"/>
          </p:cNvCxnSpPr>
          <p:nvPr/>
        </p:nvCxnSpPr>
        <p:spPr>
          <a:xfrm flipH="1">
            <a:off x="5942450" y="3056995"/>
            <a:ext cx="7529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C180C0-9E03-4BA1-9C45-3D32BAF1CCA7}"/>
              </a:ext>
            </a:extLst>
          </p:cNvPr>
          <p:cNvCxnSpPr>
            <a:cxnSpLocks/>
          </p:cNvCxnSpPr>
          <p:nvPr/>
        </p:nvCxnSpPr>
        <p:spPr>
          <a:xfrm>
            <a:off x="3933" y="2516952"/>
            <a:ext cx="8233" cy="173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615B277-1539-48A9-ADDA-EA7D6E16E74D}"/>
              </a:ext>
            </a:extLst>
          </p:cNvPr>
          <p:cNvGrpSpPr/>
          <p:nvPr/>
        </p:nvGrpSpPr>
        <p:grpSpPr>
          <a:xfrm>
            <a:off x="3563233" y="2600406"/>
            <a:ext cx="1149953" cy="369332"/>
            <a:chOff x="9579005" y="937037"/>
            <a:chExt cx="1149953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3598275-E891-4D9C-874E-350D5FE2A4F1}"/>
                </a:ext>
              </a:extLst>
            </p:cNvPr>
            <p:cNvCxnSpPr>
              <a:cxnSpLocks/>
            </p:cNvCxnSpPr>
            <p:nvPr/>
          </p:nvCxnSpPr>
          <p:spPr>
            <a:xfrm>
              <a:off x="9579005" y="1111036"/>
              <a:ext cx="976545" cy="0"/>
            </a:xfrm>
            <a:prstGeom prst="straightConnector1">
              <a:avLst/>
            </a:prstGeom>
            <a:ln w="28575">
              <a:solidFill>
                <a:srgbClr val="A32D19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0DAE9F-589E-4EB1-BF91-67B635B5A799}"/>
                </a:ext>
              </a:extLst>
            </p:cNvPr>
            <p:cNvSpPr/>
            <p:nvPr/>
          </p:nvSpPr>
          <p:spPr>
            <a:xfrm>
              <a:off x="10417654" y="937037"/>
              <a:ext cx="3113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A32D19"/>
                  </a:solidFill>
                </a:rPr>
                <a:t>X</a:t>
              </a:r>
              <a:endParaRPr lang="en-IN" dirty="0">
                <a:solidFill>
                  <a:srgbClr val="A32D19"/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FC708FD-B3A4-4B22-9479-65C11BDD0FAC}"/>
              </a:ext>
            </a:extLst>
          </p:cNvPr>
          <p:cNvCxnSpPr>
            <a:cxnSpLocks/>
          </p:cNvCxnSpPr>
          <p:nvPr/>
        </p:nvCxnSpPr>
        <p:spPr>
          <a:xfrm>
            <a:off x="2735065" y="2983225"/>
            <a:ext cx="91521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53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uiExpand="1" build="p"/>
      <p:bldP spid="19" grpId="0" animBg="1"/>
      <p:bldP spid="2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Steps to Draw a </a:t>
            </a:r>
            <a:r>
              <a:rPr lang="en-US" dirty="0"/>
              <a:t>Sequence Diagram</a:t>
            </a:r>
            <a:endParaRPr lang="en-US" dirty="0"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61258" y="931811"/>
            <a:ext cx="11088913" cy="461665"/>
            <a:chOff x="261258" y="931811"/>
            <a:chExt cx="11088913" cy="461665"/>
          </a:xfrm>
        </p:grpSpPr>
        <p:sp>
          <p:nvSpPr>
            <p:cNvPr id="4" name="Rectangle 3"/>
            <p:cNvSpPr/>
            <p:nvPr/>
          </p:nvSpPr>
          <p:spPr>
            <a:xfrm>
              <a:off x="1444111" y="931811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Select one </a:t>
              </a:r>
              <a:r>
                <a:rPr lang="en-US" sz="2400" dirty="0"/>
                <a:t>scenario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1258" y="931812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1258" y="1641642"/>
            <a:ext cx="11088913" cy="461665"/>
            <a:chOff x="261258" y="1427557"/>
            <a:chExt cx="11088913" cy="461665"/>
          </a:xfrm>
        </p:grpSpPr>
        <p:sp>
          <p:nvSpPr>
            <p:cNvPr id="5" name="Rectangle 4"/>
            <p:cNvSpPr/>
            <p:nvPr/>
          </p:nvSpPr>
          <p:spPr>
            <a:xfrm>
              <a:off x="1444111" y="1427557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Identify the </a:t>
              </a:r>
              <a:r>
                <a:rPr lang="en-US" sz="2400" dirty="0"/>
                <a:t>necessary </a:t>
              </a:r>
              <a:r>
                <a:rPr lang="en-US" sz="2400" dirty="0">
                  <a:solidFill>
                    <a:srgbClr val="A32D19"/>
                  </a:solidFill>
                </a:rPr>
                <a:t>set of the objects</a:t>
              </a:r>
              <a:r>
                <a:rPr lang="en-US" sz="2400" dirty="0"/>
                <a:t>. Who is taking part ?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1258" y="1427558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Step-2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1258" y="2351473"/>
            <a:ext cx="11088913" cy="461665"/>
            <a:chOff x="261258" y="1923303"/>
            <a:chExt cx="11088913" cy="461665"/>
          </a:xfrm>
        </p:grpSpPr>
        <p:sp>
          <p:nvSpPr>
            <p:cNvPr id="6" name="Rectangle 5"/>
            <p:cNvSpPr/>
            <p:nvPr/>
          </p:nvSpPr>
          <p:spPr>
            <a:xfrm>
              <a:off x="1444111" y="1923303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IN" sz="2400" dirty="0"/>
                <a:t>Identify the </a:t>
              </a:r>
              <a:r>
                <a:rPr lang="en-US" sz="2400" dirty="0"/>
                <a:t>necessary </a:t>
              </a:r>
              <a:r>
                <a:rPr lang="en-US" sz="2400" dirty="0">
                  <a:solidFill>
                    <a:srgbClr val="A32D19"/>
                  </a:solidFill>
                </a:rPr>
                <a:t>interactions/steps</a:t>
              </a:r>
              <a:r>
                <a:rPr lang="en-US" sz="2400" dirty="0"/>
                <a:t>.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1258" y="1923304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1258" y="3061304"/>
            <a:ext cx="11088913" cy="461665"/>
            <a:chOff x="261258" y="2419049"/>
            <a:chExt cx="11088913" cy="461665"/>
          </a:xfrm>
        </p:grpSpPr>
        <p:sp>
          <p:nvSpPr>
            <p:cNvPr id="7" name="Rectangle 6"/>
            <p:cNvSpPr/>
            <p:nvPr/>
          </p:nvSpPr>
          <p:spPr>
            <a:xfrm>
              <a:off x="1444111" y="2419049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Describe </a:t>
              </a:r>
              <a:r>
                <a:rPr lang="en-US" sz="2400" dirty="0">
                  <a:solidFill>
                    <a:srgbClr val="A32D19"/>
                  </a:solidFill>
                </a:rPr>
                <a:t>the message exchange between object</a:t>
              </a:r>
              <a:r>
                <a:rPr lang="en-US" sz="2400" dirty="0"/>
                <a:t>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1258" y="2419049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Step-4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61258" y="3771137"/>
            <a:ext cx="11088913" cy="461665"/>
            <a:chOff x="261258" y="2914795"/>
            <a:chExt cx="11088913" cy="461665"/>
          </a:xfrm>
        </p:grpSpPr>
        <p:sp>
          <p:nvSpPr>
            <p:cNvPr id="8" name="Rectangle 7"/>
            <p:cNvSpPr/>
            <p:nvPr/>
          </p:nvSpPr>
          <p:spPr>
            <a:xfrm>
              <a:off x="1444111" y="2914795"/>
              <a:ext cx="990606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Identify the </a:t>
              </a:r>
              <a:r>
                <a:rPr lang="en-US" sz="2400" dirty="0">
                  <a:solidFill>
                    <a:srgbClr val="A32D19"/>
                  </a:solidFill>
                </a:rPr>
                <a:t>sequence of interactions </a:t>
              </a:r>
              <a:r>
                <a:rPr lang="en-US" sz="2400" dirty="0"/>
                <a:t>and who starts Interactions.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1258" y="2914796"/>
              <a:ext cx="1182853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Step-5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86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Example: Sequence Diagram for Book Issue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9"/>
            <a:ext cx="11929641" cy="190457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Book issue</a:t>
            </a:r>
            <a:r>
              <a:rPr lang="en-US" dirty="0">
                <a:solidFill>
                  <a:srgbClr val="A32D19"/>
                </a:solidFill>
              </a:rPr>
              <a:t> </a:t>
            </a:r>
            <a:r>
              <a:rPr lang="en-US" dirty="0"/>
              <a:t>is a one business process or a </a:t>
            </a:r>
            <a:r>
              <a:rPr lang="en-US" dirty="0">
                <a:solidFill>
                  <a:srgbClr val="A32D19"/>
                </a:solidFill>
              </a:rPr>
              <a:t>function </a:t>
            </a:r>
            <a:r>
              <a:rPr lang="en-US" dirty="0"/>
              <a:t>in Library Management System.</a:t>
            </a:r>
          </a:p>
          <a:p>
            <a:r>
              <a:rPr lang="en-US" dirty="0"/>
              <a:t>Necessary </a:t>
            </a:r>
            <a:r>
              <a:rPr lang="en-US" b="1" dirty="0"/>
              <a:t>objects for book issue process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Librarian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Book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Member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Transaction</a:t>
            </a:r>
            <a:r>
              <a:rPr lang="en-US" dirty="0"/>
              <a:t> .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Member class object starts the interaction.</a:t>
            </a:r>
          </a:p>
          <a:p>
            <a:r>
              <a:rPr lang="en-US" dirty="0"/>
              <a:t>Various </a:t>
            </a:r>
            <a:r>
              <a:rPr lang="en-US" b="1" dirty="0"/>
              <a:t>interactions</a:t>
            </a:r>
            <a:r>
              <a:rPr lang="en-US" dirty="0"/>
              <a:t> in book issue process are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589253" y="2761081"/>
            <a:ext cx="7714400" cy="461665"/>
            <a:chOff x="1589253" y="2875381"/>
            <a:chExt cx="7714400" cy="461665"/>
          </a:xfrm>
        </p:grpSpPr>
        <p:sp>
          <p:nvSpPr>
            <p:cNvPr id="3" name="Rectangle 2"/>
            <p:cNvSpPr/>
            <p:nvPr/>
          </p:nvSpPr>
          <p:spPr>
            <a:xfrm>
              <a:off x="2010167" y="2875381"/>
              <a:ext cx="7293486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Request for a book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89253" y="2875382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89253" y="3293022"/>
            <a:ext cx="7714399" cy="461665"/>
            <a:chOff x="1589253" y="3371127"/>
            <a:chExt cx="7714399" cy="461665"/>
          </a:xfrm>
        </p:grpSpPr>
        <p:sp>
          <p:nvSpPr>
            <p:cNvPr id="4" name="Rectangle 3"/>
            <p:cNvSpPr/>
            <p:nvPr/>
          </p:nvSpPr>
          <p:spPr>
            <a:xfrm>
              <a:off x="2010167" y="3371127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availability of book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89253" y="337112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589253" y="3824963"/>
            <a:ext cx="7714399" cy="461665"/>
            <a:chOff x="1589253" y="3866873"/>
            <a:chExt cx="7714399" cy="461665"/>
          </a:xfrm>
        </p:grpSpPr>
        <p:sp>
          <p:nvSpPr>
            <p:cNvPr id="5" name="Rectangle 4"/>
            <p:cNvSpPr/>
            <p:nvPr/>
          </p:nvSpPr>
          <p:spPr>
            <a:xfrm>
              <a:off x="2010167" y="3866873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Validate the member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89253" y="3866874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89253" y="4356904"/>
            <a:ext cx="7714399" cy="461665"/>
            <a:chOff x="1589253" y="4362619"/>
            <a:chExt cx="7714399" cy="461665"/>
          </a:xfrm>
        </p:grpSpPr>
        <p:sp>
          <p:nvSpPr>
            <p:cNvPr id="6" name="Rectangle 5"/>
            <p:cNvSpPr/>
            <p:nvPr/>
          </p:nvSpPr>
          <p:spPr>
            <a:xfrm>
              <a:off x="2010167" y="4362619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Check No. of books issued by member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89253" y="436261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4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589253" y="4888845"/>
            <a:ext cx="7714399" cy="461665"/>
            <a:chOff x="1589253" y="4858365"/>
            <a:chExt cx="7714399" cy="461665"/>
          </a:xfrm>
        </p:grpSpPr>
        <p:sp>
          <p:nvSpPr>
            <p:cNvPr id="7" name="Rectangle 6"/>
            <p:cNvSpPr/>
            <p:nvPr/>
          </p:nvSpPr>
          <p:spPr>
            <a:xfrm>
              <a:off x="2010167" y="4858365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Add book issue details to transaction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589253" y="4858366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5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589253" y="5420786"/>
            <a:ext cx="7714399" cy="461665"/>
            <a:chOff x="1589253" y="5354111"/>
            <a:chExt cx="7714399" cy="461665"/>
          </a:xfrm>
        </p:grpSpPr>
        <p:sp>
          <p:nvSpPr>
            <p:cNvPr id="8" name="Rectangle 7"/>
            <p:cNvSpPr/>
            <p:nvPr/>
          </p:nvSpPr>
          <p:spPr>
            <a:xfrm>
              <a:off x="2010167" y="5354111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no of book issued by member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89253" y="5354111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6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589253" y="5952728"/>
            <a:ext cx="7714399" cy="461665"/>
            <a:chOff x="1589253" y="5849858"/>
            <a:chExt cx="7714399" cy="461665"/>
          </a:xfrm>
        </p:grpSpPr>
        <p:sp>
          <p:nvSpPr>
            <p:cNvPr id="9" name="Rectangle 8"/>
            <p:cNvSpPr/>
            <p:nvPr/>
          </p:nvSpPr>
          <p:spPr>
            <a:xfrm>
              <a:off x="2010167" y="5849858"/>
              <a:ext cx="7293485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Update book status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89253" y="5849859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15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Sequence Diagram for Book Issue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135762D-C12F-4083-907C-60AD94310741}"/>
              </a:ext>
            </a:extLst>
          </p:cNvPr>
          <p:cNvCxnSpPr>
            <a:stCxn id="135" idx="2"/>
          </p:cNvCxnSpPr>
          <p:nvPr/>
        </p:nvCxnSpPr>
        <p:spPr>
          <a:xfrm>
            <a:off x="9105900" y="1529178"/>
            <a:ext cx="0" cy="47244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2F6A2D4-D0E5-4ADC-9917-94473EDFC0B0}"/>
              </a:ext>
            </a:extLst>
          </p:cNvPr>
          <p:cNvSpPr/>
          <p:nvPr/>
        </p:nvSpPr>
        <p:spPr>
          <a:xfrm>
            <a:off x="1206500" y="1071979"/>
            <a:ext cx="18669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L:Librarian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2799F0A-18C5-4DBF-AF11-CAB8F53FAB45}"/>
              </a:ext>
            </a:extLst>
          </p:cNvPr>
          <p:cNvSpPr/>
          <p:nvPr/>
        </p:nvSpPr>
        <p:spPr>
          <a:xfrm>
            <a:off x="5016500" y="1081102"/>
            <a:ext cx="12954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B:Book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DCE78F4-A451-4D29-BBF1-8A972DA8B1CF}"/>
              </a:ext>
            </a:extLst>
          </p:cNvPr>
          <p:cNvSpPr/>
          <p:nvPr/>
        </p:nvSpPr>
        <p:spPr>
          <a:xfrm>
            <a:off x="7962900" y="1071978"/>
            <a:ext cx="22860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u="sng" dirty="0"/>
              <a:t>MR: Member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F91E5DA-F1FE-463F-96D2-02289BC0EC75}"/>
              </a:ext>
            </a:extLst>
          </p:cNvPr>
          <p:cNvCxnSpPr>
            <a:stCxn id="133" idx="2"/>
          </p:cNvCxnSpPr>
          <p:nvPr/>
        </p:nvCxnSpPr>
        <p:spPr>
          <a:xfrm flipH="1">
            <a:off x="2133600" y="1529179"/>
            <a:ext cx="6350" cy="464820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0B17DEF-1588-42FD-A5D7-52854EAFECF4}"/>
              </a:ext>
            </a:extLst>
          </p:cNvPr>
          <p:cNvSpPr/>
          <p:nvPr/>
        </p:nvSpPr>
        <p:spPr>
          <a:xfrm>
            <a:off x="2057400" y="1615736"/>
            <a:ext cx="152389" cy="4256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27A2D33-E598-42FC-AA77-E1D34CFAAD72}"/>
              </a:ext>
            </a:extLst>
          </p:cNvPr>
          <p:cNvCxnSpPr>
            <a:cxnSpLocks/>
          </p:cNvCxnSpPr>
          <p:nvPr/>
        </p:nvCxnSpPr>
        <p:spPr>
          <a:xfrm>
            <a:off x="2209789" y="213583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7C33CBD-4916-4B32-A874-CA4D58933E35}"/>
              </a:ext>
            </a:extLst>
          </p:cNvPr>
          <p:cNvCxnSpPr/>
          <p:nvPr/>
        </p:nvCxnSpPr>
        <p:spPr>
          <a:xfrm flipH="1">
            <a:off x="2209789" y="2839387"/>
            <a:ext cx="337821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FD10839-7286-4679-A9B1-F9EA32C4AC2A}"/>
              </a:ext>
            </a:extLst>
          </p:cNvPr>
          <p:cNvSpPr/>
          <p:nvPr/>
        </p:nvSpPr>
        <p:spPr>
          <a:xfrm>
            <a:off x="9029700" y="30058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28A30DD-39C3-4D55-B3A9-75BBC3B65C94}"/>
              </a:ext>
            </a:extLst>
          </p:cNvPr>
          <p:cNvSpPr/>
          <p:nvPr/>
        </p:nvSpPr>
        <p:spPr>
          <a:xfrm>
            <a:off x="9029700" y="3615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EB2250-84BA-4BE7-896E-75A47B4019AB}"/>
              </a:ext>
            </a:extLst>
          </p:cNvPr>
          <p:cNvSpPr/>
          <p:nvPr/>
        </p:nvSpPr>
        <p:spPr>
          <a:xfrm>
            <a:off x="9029700" y="5520441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65F942E-2318-412F-94C9-9D44E3B71C5E}"/>
              </a:ext>
            </a:extLst>
          </p:cNvPr>
          <p:cNvCxnSpPr>
            <a:stCxn id="134" idx="2"/>
          </p:cNvCxnSpPr>
          <p:nvPr/>
        </p:nvCxnSpPr>
        <p:spPr>
          <a:xfrm>
            <a:off x="5664200" y="1538302"/>
            <a:ext cx="0" cy="463907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2CCAA6-C73D-4EA2-BA3C-1E7F6FE54B83}"/>
              </a:ext>
            </a:extLst>
          </p:cNvPr>
          <p:cNvSpPr/>
          <p:nvPr/>
        </p:nvSpPr>
        <p:spPr>
          <a:xfrm>
            <a:off x="5588000" y="2091441"/>
            <a:ext cx="152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38013FE-1D18-4A12-B010-006902551149}"/>
              </a:ext>
            </a:extLst>
          </p:cNvPr>
          <p:cNvSpPr/>
          <p:nvPr/>
        </p:nvSpPr>
        <p:spPr>
          <a:xfrm>
            <a:off x="5588000" y="5063241"/>
            <a:ext cx="152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ACFFA1A-5AE4-44CB-A21A-4071201CAE17}"/>
              </a:ext>
            </a:extLst>
          </p:cNvPr>
          <p:cNvCxnSpPr/>
          <p:nvPr/>
        </p:nvCxnSpPr>
        <p:spPr>
          <a:xfrm>
            <a:off x="2209789" y="30058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C42070B-CA3C-4C1B-9DA6-7A645A0FEF42}"/>
              </a:ext>
            </a:extLst>
          </p:cNvPr>
          <p:cNvCxnSpPr/>
          <p:nvPr/>
        </p:nvCxnSpPr>
        <p:spPr>
          <a:xfrm>
            <a:off x="2209789" y="3691641"/>
            <a:ext cx="6807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1F3C4DF-4CEC-45F3-9260-90830A2261F6}"/>
              </a:ext>
            </a:extLst>
          </p:cNvPr>
          <p:cNvCxnSpPr/>
          <p:nvPr/>
        </p:nvCxnSpPr>
        <p:spPr>
          <a:xfrm flipH="1">
            <a:off x="2209789" y="4424051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7C2AA9F-612D-4893-9AC5-B32274440FD8}"/>
              </a:ext>
            </a:extLst>
          </p:cNvPr>
          <p:cNvCxnSpPr/>
          <p:nvPr/>
        </p:nvCxnSpPr>
        <p:spPr>
          <a:xfrm>
            <a:off x="2209789" y="5063241"/>
            <a:ext cx="337821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855B5FD-0F05-4371-83A4-A8907B8CC2E6}"/>
              </a:ext>
            </a:extLst>
          </p:cNvPr>
          <p:cNvCxnSpPr/>
          <p:nvPr/>
        </p:nvCxnSpPr>
        <p:spPr>
          <a:xfrm>
            <a:off x="2209789" y="5520441"/>
            <a:ext cx="680721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67FC9A57-B506-4E71-A96A-008DAB88BAD9}"/>
              </a:ext>
            </a:extLst>
          </p:cNvPr>
          <p:cNvSpPr txBox="1"/>
          <p:nvPr/>
        </p:nvSpPr>
        <p:spPr>
          <a:xfrm>
            <a:off x="2775385" y="1862356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Check availability of book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A5C79A-B160-4176-8E4B-2654229582AF}"/>
              </a:ext>
            </a:extLst>
          </p:cNvPr>
          <p:cNvSpPr txBox="1"/>
          <p:nvPr/>
        </p:nvSpPr>
        <p:spPr>
          <a:xfrm>
            <a:off x="2775385" y="2559349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Book available rack no.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AE7F5FA-4794-442C-A17B-9C7DD0BEFD6B}"/>
              </a:ext>
            </a:extLst>
          </p:cNvPr>
          <p:cNvSpPr txBox="1"/>
          <p:nvPr/>
        </p:nvSpPr>
        <p:spPr>
          <a:xfrm>
            <a:off x="5816600" y="27264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4. Validate Member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1A6588F-D90D-4332-BD2A-24ED5E4FC7E9}"/>
              </a:ext>
            </a:extLst>
          </p:cNvPr>
          <p:cNvCxnSpPr/>
          <p:nvPr/>
        </p:nvCxnSpPr>
        <p:spPr>
          <a:xfrm flipH="1">
            <a:off x="2209789" y="3381665"/>
            <a:ext cx="6807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67C59D48-402D-44C3-9125-07E539E94C11}"/>
              </a:ext>
            </a:extLst>
          </p:cNvPr>
          <p:cNvSpPr txBox="1"/>
          <p:nvPr/>
        </p:nvSpPr>
        <p:spPr>
          <a:xfrm>
            <a:off x="2775385" y="3102265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5. Response for validation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78CDB9-EE1D-463B-AEB7-C9C2D6DFBD4D}"/>
              </a:ext>
            </a:extLst>
          </p:cNvPr>
          <p:cNvSpPr txBox="1"/>
          <p:nvPr/>
        </p:nvSpPr>
        <p:spPr>
          <a:xfrm>
            <a:off x="5816600" y="341224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6. Check no of book issued  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C6BABAE-E8AC-4F9D-9F9A-F780DFA3E9D1}"/>
              </a:ext>
            </a:extLst>
          </p:cNvPr>
          <p:cNvSpPr txBox="1"/>
          <p:nvPr/>
        </p:nvSpPr>
        <p:spPr>
          <a:xfrm>
            <a:off x="5816600" y="4131951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7. Book can be issued 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1E79E61-2D3F-49DC-8107-001D71C7C9E6}"/>
              </a:ext>
            </a:extLst>
          </p:cNvPr>
          <p:cNvSpPr txBox="1"/>
          <p:nvPr/>
        </p:nvSpPr>
        <p:spPr>
          <a:xfrm>
            <a:off x="2775385" y="4783842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8. Update book status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12CBED1-9731-47D4-B4E1-8BE98472859F}"/>
              </a:ext>
            </a:extLst>
          </p:cNvPr>
          <p:cNvSpPr txBox="1"/>
          <p:nvPr/>
        </p:nvSpPr>
        <p:spPr>
          <a:xfrm>
            <a:off x="2775385" y="5253741"/>
            <a:ext cx="2955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9. Update member status</a:t>
            </a:r>
          </a:p>
        </p:txBody>
      </p:sp>
      <p:sp>
        <p:nvSpPr>
          <p:cNvPr id="160" name="Multiply 80">
            <a:extLst>
              <a:ext uri="{FF2B5EF4-FFF2-40B4-BE49-F238E27FC236}">
                <a16:creationId xmlns:a16="http://schemas.microsoft.com/office/drawing/2014/main" id="{D0E71194-0573-4FA8-AEF4-2E3EB78B57E6}"/>
              </a:ext>
            </a:extLst>
          </p:cNvPr>
          <p:cNvSpPr/>
          <p:nvPr/>
        </p:nvSpPr>
        <p:spPr>
          <a:xfrm>
            <a:off x="2057400" y="6099134"/>
            <a:ext cx="152400" cy="228600"/>
          </a:xfrm>
          <a:prstGeom prst="mathMultiply">
            <a:avLst/>
          </a:prstGeom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Multiply 81">
            <a:extLst>
              <a:ext uri="{FF2B5EF4-FFF2-40B4-BE49-F238E27FC236}">
                <a16:creationId xmlns:a16="http://schemas.microsoft.com/office/drawing/2014/main" id="{EB27AD04-013A-4DF1-838A-6B098034D9CA}"/>
              </a:ext>
            </a:extLst>
          </p:cNvPr>
          <p:cNvSpPr/>
          <p:nvPr/>
        </p:nvSpPr>
        <p:spPr>
          <a:xfrm>
            <a:off x="5582097" y="6098596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Multiply 82">
            <a:extLst>
              <a:ext uri="{FF2B5EF4-FFF2-40B4-BE49-F238E27FC236}">
                <a16:creationId xmlns:a16="http://schemas.microsoft.com/office/drawing/2014/main" id="{AD611142-66D9-4D64-AD21-A45BAD159B08}"/>
              </a:ext>
            </a:extLst>
          </p:cNvPr>
          <p:cNvSpPr/>
          <p:nvPr/>
        </p:nvSpPr>
        <p:spPr>
          <a:xfrm>
            <a:off x="9029700" y="6136158"/>
            <a:ext cx="152400" cy="228600"/>
          </a:xfrm>
          <a:prstGeom prst="mathMultiply">
            <a:avLst/>
          </a:prstGeom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3278B8-933C-475D-9C50-34EB04B6E19A}"/>
              </a:ext>
            </a:extLst>
          </p:cNvPr>
          <p:cNvSpPr/>
          <p:nvPr/>
        </p:nvSpPr>
        <p:spPr>
          <a:xfrm>
            <a:off x="9029700" y="1766019"/>
            <a:ext cx="152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AA2E7D-28AC-480D-A47F-2618E75A3C00}"/>
              </a:ext>
            </a:extLst>
          </p:cNvPr>
          <p:cNvCxnSpPr>
            <a:cxnSpLocks/>
          </p:cNvCxnSpPr>
          <p:nvPr/>
        </p:nvCxnSpPr>
        <p:spPr>
          <a:xfrm>
            <a:off x="2209789" y="1814371"/>
            <a:ext cx="680721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D5D1877-14B7-444A-BBEE-FF343B7B9D68}"/>
              </a:ext>
            </a:extLst>
          </p:cNvPr>
          <p:cNvSpPr txBox="1"/>
          <p:nvPr/>
        </p:nvSpPr>
        <p:spPr>
          <a:xfrm>
            <a:off x="2775385" y="1538481"/>
            <a:ext cx="2736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Request for a book</a:t>
            </a:r>
          </a:p>
        </p:txBody>
      </p:sp>
    </p:spTree>
    <p:extLst>
      <p:ext uri="{BB962C8B-B14F-4D97-AF65-F5344CB8AC3E}">
        <p14:creationId xmlns:p14="http://schemas.microsoft.com/office/powerpoint/2010/main" val="196111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  <p:bldP spid="135" grpId="0" animBg="1"/>
      <p:bldP spid="137" grpId="0" animBg="1"/>
      <p:bldP spid="140" grpId="0" animBg="1"/>
      <p:bldP spid="141" grpId="0" animBg="1"/>
      <p:bldP spid="142" grpId="0" animBg="1"/>
      <p:bldP spid="144" grpId="0" animBg="1"/>
      <p:bldP spid="145" grpId="0" animBg="1"/>
      <p:bldP spid="151" grpId="0"/>
      <p:bldP spid="152" grpId="0"/>
      <p:bldP spid="153" grpId="0"/>
      <p:bldP spid="155" grpId="0"/>
      <p:bldP spid="156" grpId="0"/>
      <p:bldP spid="157" grpId="0"/>
      <p:bldP spid="158" grpId="0"/>
      <p:bldP spid="159" grpId="0"/>
      <p:bldP spid="160" grpId="0" animBg="1"/>
      <p:bldP spid="161" grpId="0" animBg="1"/>
      <p:bldP spid="162" grpId="0" animBg="1"/>
      <p:bldP spid="35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4258322" cy="35388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05986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05892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645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Roboto Condensed</vt:lpstr>
      <vt:lpstr>Wingdings 3</vt:lpstr>
      <vt:lpstr>Roboto Condensed Light</vt:lpstr>
      <vt:lpstr>Calibri</vt:lpstr>
      <vt:lpstr>Wingdings</vt:lpstr>
      <vt:lpstr>Office Theme</vt:lpstr>
      <vt:lpstr>PowerPoint Presentation</vt:lpstr>
      <vt:lpstr>Sequence Diagram </vt:lpstr>
      <vt:lpstr>Components of Sequence Diagram</vt:lpstr>
      <vt:lpstr>Components of Sequence Diagram Cont.</vt:lpstr>
      <vt:lpstr>Components of Sequence Diagram Cont.</vt:lpstr>
      <vt:lpstr>Steps to Draw a Sequence Diagram</vt:lpstr>
      <vt:lpstr>Example: Sequence Diagram for Book Issue</vt:lpstr>
      <vt:lpstr>Sequence Diagram for Book Issue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EKTA BALDHA</cp:lastModifiedBy>
  <cp:revision>138</cp:revision>
  <dcterms:created xsi:type="dcterms:W3CDTF">2020-05-01T05:09:15Z</dcterms:created>
  <dcterms:modified xsi:type="dcterms:W3CDTF">2023-07-06T10:01:33Z</dcterms:modified>
</cp:coreProperties>
</file>