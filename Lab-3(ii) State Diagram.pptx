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395" r:id="rId2"/>
    <p:sldId id="434" r:id="rId3"/>
    <p:sldId id="435" r:id="rId4"/>
    <p:sldId id="436" r:id="rId5"/>
    <p:sldId id="437" r:id="rId6"/>
    <p:sldId id="438" r:id="rId7"/>
    <p:sldId id="439" r:id="rId8"/>
    <p:sldId id="440" r:id="rId9"/>
    <p:sldId id="441" r:id="rId10"/>
    <p:sldId id="442" r:id="rId11"/>
    <p:sldId id="443" r:id="rId12"/>
    <p:sldId id="394" r:id="rId13"/>
  </p:sldIdLst>
  <p:sldSz cx="12192000" cy="6858000"/>
  <p:notesSz cx="6858000" cy="9144000"/>
  <p:embeddedFontLs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Roboto Condensed" pitchFamily="2" charset="0"/>
      <p:regular r:id="rId19"/>
      <p:bold r:id="rId20"/>
      <p:italic r:id="rId21"/>
      <p:boldItalic r:id="rId22"/>
    </p:embeddedFont>
    <p:embeddedFont>
      <p:font typeface="Roboto Condensed Light" panose="02000000000000000000" pitchFamily="2" charset="0"/>
      <p:regular r:id="rId23"/>
      <p:italic r:id="rId24"/>
    </p:embeddedFont>
    <p:embeddedFont>
      <p:font typeface="Wingdings 3" panose="05040102010807070707" pitchFamily="18" charset="2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sT20rPxHsnQoRjPbuQnAQQ==" hashData="AzSmwi+17AEJWGRoncIVN3JmgIJYLZE1HryttEY0J7XcnTdvqUudfwDhES0EoJcV6g635rYEHOk/GtxCtaGagg=="/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10233"/>
    <a:srgbClr val="301B92"/>
    <a:srgbClr val="673BB7"/>
    <a:srgbClr val="607D8B"/>
    <a:srgbClr val="ED524F"/>
    <a:srgbClr val="B71B1C"/>
    <a:srgbClr val="F54337"/>
    <a:srgbClr val="D81A60"/>
    <a:srgbClr val="890E4F"/>
    <a:srgbClr val="EA1E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84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t>7/10/2023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8.jpe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png"/><Relationship Id="rId4" Type="http://schemas.microsoft.com/office/2007/relationships/hdphoto" Target="../media/hdphoto2.wdp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2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3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4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5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6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7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8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9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20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8.jpeg"/><Relationship Id="rId4" Type="http://schemas.openxmlformats.org/officeDocument/2006/relationships/image" Target="../media/image3.png"/><Relationship Id="rId9" Type="http://schemas.openxmlformats.org/officeDocument/2006/relationships/image" Target="../media/image12.jpeg"/></Relationships>
</file>

<file path=ppt/slideLayouts/_rels/slideLayout2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image" Target="../media/image13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microsoft.com/office/2007/relationships/hdphoto" Target="../media/hdphoto3.wdp"/><Relationship Id="rId10" Type="http://schemas.openxmlformats.org/officeDocument/2006/relationships/image" Target="../media/image9.png"/><Relationship Id="rId4" Type="http://schemas.openxmlformats.org/officeDocument/2006/relationships/image" Target="../media/image14.png"/><Relationship Id="rId9" Type="http://schemas.openxmlformats.org/officeDocument/2006/relationships/image" Target="../media/image16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E75253BA-841C-4898-BAAF-3A16D7F9433E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593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9A329F3-B4EA-403B-BD1C-FDD65D8E9D3F}"/>
              </a:ext>
            </a:extLst>
          </p:cNvPr>
          <p:cNvGrpSpPr/>
          <p:nvPr userDrawn="1"/>
        </p:nvGrpSpPr>
        <p:grpSpPr>
          <a:xfrm>
            <a:off x="10721798" y="852808"/>
            <a:ext cx="1339023" cy="407045"/>
            <a:chOff x="10721798" y="852808"/>
            <a:chExt cx="1339023" cy="407045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F0325C5E-F004-43A9-9277-53A0BD206A7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B63808E-204C-4894-A747-B51DDC7425C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Ekta A. Baldha</a:t>
            </a: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#2101CS503 (SE)   </a:t>
            </a:r>
            <a:r>
              <a:rPr lang="en-US" b="0" dirty="0">
                <a:solidFill>
                  <a:schemeClr val="tx1"/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b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Lab -3 State Diagram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C5E65E47-27D3-8BC3-A15C-67C349AC8D3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0623"/>
            <a:ext cx="2743200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Ekta A. Baldha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128DE0-BCB8-522C-1AF0-2A63DCAA8BBC}"/>
              </a:ext>
            </a:extLst>
          </p:cNvPr>
          <p:cNvCxnSpPr/>
          <p:nvPr userDrawn="1"/>
        </p:nvCxnSpPr>
        <p:spPr>
          <a:xfrm>
            <a:off x="0" y="6602874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1">
            <a:extLst>
              <a:ext uri="{FF2B5EF4-FFF2-40B4-BE49-F238E27FC236}">
                <a16:creationId xmlns:a16="http://schemas.microsoft.com/office/drawing/2014/main" id="{3DD48941-E50E-0FA2-0E73-3F071D62699F}"/>
              </a:ext>
            </a:extLst>
          </p:cNvPr>
          <p:cNvSpPr txBox="1">
            <a:spLocks/>
          </p:cNvSpPr>
          <p:nvPr userDrawn="1"/>
        </p:nvSpPr>
        <p:spPr>
          <a:xfrm>
            <a:off x="838200" y="6601748"/>
            <a:ext cx="2743200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Ekta A. Baldha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FF381B7-10EB-5E79-01E0-4984C7D00A18}"/>
              </a:ext>
            </a:extLst>
          </p:cNvPr>
          <p:cNvCxnSpPr/>
          <p:nvPr userDrawn="1"/>
        </p:nvCxnSpPr>
        <p:spPr>
          <a:xfrm>
            <a:off x="0" y="6603999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Date Placeholder 1">
            <a:extLst>
              <a:ext uri="{FF2B5EF4-FFF2-40B4-BE49-F238E27FC236}">
                <a16:creationId xmlns:a16="http://schemas.microsoft.com/office/drawing/2014/main" id="{D305B6EF-F9F3-59F1-576E-4FA5B9F08641}"/>
              </a:ext>
            </a:extLst>
          </p:cNvPr>
          <p:cNvSpPr txBox="1">
            <a:spLocks/>
          </p:cNvSpPr>
          <p:nvPr userDrawn="1"/>
        </p:nvSpPr>
        <p:spPr>
          <a:xfrm>
            <a:off x="838200" y="6600622"/>
            <a:ext cx="2743200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Ekta A. Baldha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FD49581-DBD8-97EF-4D89-41E69E74D535}"/>
              </a:ext>
            </a:extLst>
          </p:cNvPr>
          <p:cNvCxnSpPr/>
          <p:nvPr userDrawn="1"/>
        </p:nvCxnSpPr>
        <p:spPr>
          <a:xfrm>
            <a:off x="0" y="6602873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721797" y="6047527"/>
            <a:ext cx="1339023" cy="407045"/>
            <a:chOff x="10721798" y="852808"/>
            <a:chExt cx="1339023" cy="407045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25771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Rajkumar B. Gondaliya</a:t>
            </a: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#21CS05203 (SE)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2 – Software Process Models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9E7C5DC-6E39-9859-D671-B4A5EB7BC624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Date Placeholder 1">
            <a:extLst>
              <a:ext uri="{FF2B5EF4-FFF2-40B4-BE49-F238E27FC236}">
                <a16:creationId xmlns:a16="http://schemas.microsoft.com/office/drawing/2014/main" id="{AB2371C9-9733-ADC9-C8B4-A8050748EC6A}"/>
              </a:ext>
            </a:extLst>
          </p:cNvPr>
          <p:cNvSpPr txBox="1">
            <a:spLocks/>
          </p:cNvSpPr>
          <p:nvPr userDrawn="1"/>
        </p:nvSpPr>
        <p:spPr>
          <a:xfrm>
            <a:off x="838200" y="6600622"/>
            <a:ext cx="2743200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Ekta A. Baldha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BB017C4-5789-B9D5-5F3F-4AF60A31E3B2}"/>
              </a:ext>
            </a:extLst>
          </p:cNvPr>
          <p:cNvCxnSpPr/>
          <p:nvPr userDrawn="1"/>
        </p:nvCxnSpPr>
        <p:spPr>
          <a:xfrm>
            <a:off x="0" y="6602873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BF772C86-1963-F205-DAC4-EB76F0934F11}"/>
              </a:ext>
            </a:extLst>
          </p:cNvPr>
          <p:cNvSpPr txBox="1">
            <a:spLocks/>
          </p:cNvSpPr>
          <p:nvPr userDrawn="1"/>
        </p:nvSpPr>
        <p:spPr>
          <a:xfrm>
            <a:off x="8763000" y="6625774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A8FA1CE0-3170-EC60-6505-937631DDE865}"/>
              </a:ext>
            </a:extLst>
          </p:cNvPr>
          <p:cNvSpPr txBox="1">
            <a:spLocks/>
          </p:cNvSpPr>
          <p:nvPr userDrawn="1"/>
        </p:nvSpPr>
        <p:spPr>
          <a:xfrm>
            <a:off x="4191000" y="6625774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#2101CS503 (SE)   </a:t>
            </a:r>
            <a:r>
              <a:rPr lang="en-US" b="0" dirty="0">
                <a:solidFill>
                  <a:schemeClr val="tx1"/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b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Lab -3 State Diagram</a:t>
            </a:r>
          </a:p>
        </p:txBody>
      </p:sp>
    </p:spTree>
    <p:extLst>
      <p:ext uri="{BB962C8B-B14F-4D97-AF65-F5344CB8AC3E}">
        <p14:creationId xmlns:p14="http://schemas.microsoft.com/office/powerpoint/2010/main" val="4202761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AE04132C-088A-4457-A3C3-1DC6427585FC}"/>
              </a:ext>
            </a:extLst>
          </p:cNvPr>
          <p:cNvGrpSpPr/>
          <p:nvPr userDrawn="1"/>
        </p:nvGrpSpPr>
        <p:grpSpPr>
          <a:xfrm>
            <a:off x="131179" y="6047527"/>
            <a:ext cx="1339023" cy="407045"/>
            <a:chOff x="10721798" y="852808"/>
            <a:chExt cx="1339023" cy="407045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49C31A0-0173-45C3-B715-F73A797EA6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26EB3A16-1B2C-44F3-A559-3929B9A2E162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Rajkumar B. Gondaliya</a:t>
            </a: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#21CS05203 (SE)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2 – Software Process Models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C3205AB-4091-1E5C-B6F9-69DFAED73C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Date Placeholder 1">
            <a:extLst>
              <a:ext uri="{FF2B5EF4-FFF2-40B4-BE49-F238E27FC236}">
                <a16:creationId xmlns:a16="http://schemas.microsoft.com/office/drawing/2014/main" id="{A8C5B5E2-E9C9-6DC8-817F-DB1093DA93A5}"/>
              </a:ext>
            </a:extLst>
          </p:cNvPr>
          <p:cNvSpPr txBox="1">
            <a:spLocks/>
          </p:cNvSpPr>
          <p:nvPr userDrawn="1"/>
        </p:nvSpPr>
        <p:spPr>
          <a:xfrm>
            <a:off x="838200" y="6600622"/>
            <a:ext cx="2743200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Ekta A. Baldha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91055E0-4166-8283-C34F-739D926AD939}"/>
              </a:ext>
            </a:extLst>
          </p:cNvPr>
          <p:cNvCxnSpPr/>
          <p:nvPr userDrawn="1"/>
        </p:nvCxnSpPr>
        <p:spPr>
          <a:xfrm>
            <a:off x="0" y="6602873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6C6955B0-F905-A23A-E8C1-527DAB130B52}"/>
              </a:ext>
            </a:extLst>
          </p:cNvPr>
          <p:cNvSpPr txBox="1">
            <a:spLocks/>
          </p:cNvSpPr>
          <p:nvPr userDrawn="1"/>
        </p:nvSpPr>
        <p:spPr>
          <a:xfrm>
            <a:off x="8763000" y="6625774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4226EB2E-8881-B075-F074-A89E2F0D6D65}"/>
              </a:ext>
            </a:extLst>
          </p:cNvPr>
          <p:cNvSpPr txBox="1">
            <a:spLocks/>
          </p:cNvSpPr>
          <p:nvPr userDrawn="1"/>
        </p:nvSpPr>
        <p:spPr>
          <a:xfrm>
            <a:off x="4191000" y="6596746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#2101CS503 (SE)   </a:t>
            </a:r>
            <a:r>
              <a:rPr lang="en-US" b="0" dirty="0">
                <a:solidFill>
                  <a:schemeClr val="tx1"/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b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Lab -3 State Diagram</a:t>
            </a:r>
          </a:p>
        </p:txBody>
      </p: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910DC0DC-3FC7-402D-8C9F-62D3ACC8DC86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2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 flip="none" rotWithShape="1">
            <a:gsLst>
              <a:gs pos="0">
                <a:srgbClr val="D10233">
                  <a:shade val="30000"/>
                  <a:satMod val="115000"/>
                </a:srgbClr>
              </a:gs>
              <a:gs pos="50000">
                <a:srgbClr val="D10233">
                  <a:shade val="67500"/>
                  <a:satMod val="115000"/>
                </a:srgbClr>
              </a:gs>
              <a:gs pos="100000">
                <a:srgbClr val="D10233">
                  <a:shade val="100000"/>
                  <a:satMod val="115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04132C-088A-4457-A3C3-1DC6427585FC}"/>
              </a:ext>
            </a:extLst>
          </p:cNvPr>
          <p:cNvGrpSpPr/>
          <p:nvPr userDrawn="1"/>
        </p:nvGrpSpPr>
        <p:grpSpPr>
          <a:xfrm>
            <a:off x="10677938" y="6350844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B49C31A0-0173-45C3-B715-F73A797EA6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6EB3A16-1B2C-44F3-A559-3929B9A2E162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01692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36657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Rajkumar B. Gondaliya</a:t>
            </a: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#21CS05203 (SE)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2 – Software Process Models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4000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AA5C57A-F840-488A-AACF-E658D398FCEC}"/>
              </a:ext>
            </a:extLst>
          </p:cNvPr>
          <p:cNvGrpSpPr/>
          <p:nvPr userDrawn="1"/>
        </p:nvGrpSpPr>
        <p:grpSpPr>
          <a:xfrm>
            <a:off x="10304203" y="212531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1B8F12B0-F30C-4955-8E3F-625C9D2A74C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508BA0B-FE99-4953-98B0-D2708C070068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A78CEF7-BDC7-785F-EC2D-E2E4584FB02D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1">
            <a:extLst>
              <a:ext uri="{FF2B5EF4-FFF2-40B4-BE49-F238E27FC236}">
                <a16:creationId xmlns:a16="http://schemas.microsoft.com/office/drawing/2014/main" id="{F3E34E3A-B4BC-24C2-5F9E-9CB5CF7F612C}"/>
              </a:ext>
            </a:extLst>
          </p:cNvPr>
          <p:cNvSpPr txBox="1">
            <a:spLocks/>
          </p:cNvSpPr>
          <p:nvPr userDrawn="1"/>
        </p:nvSpPr>
        <p:spPr>
          <a:xfrm>
            <a:off x="838200" y="6600622"/>
            <a:ext cx="2743200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Ekta A. Baldha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00466D-ADF6-2BC1-B5C1-CF8846C5A0FD}"/>
              </a:ext>
            </a:extLst>
          </p:cNvPr>
          <p:cNvCxnSpPr/>
          <p:nvPr userDrawn="1"/>
        </p:nvCxnSpPr>
        <p:spPr>
          <a:xfrm>
            <a:off x="0" y="6602873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C8F4F7AD-0496-8052-AEC5-20643F06967D}"/>
              </a:ext>
            </a:extLst>
          </p:cNvPr>
          <p:cNvSpPr txBox="1">
            <a:spLocks/>
          </p:cNvSpPr>
          <p:nvPr userDrawn="1"/>
        </p:nvSpPr>
        <p:spPr>
          <a:xfrm>
            <a:off x="4191000" y="6625774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#2101CS503 (SE)   </a:t>
            </a:r>
            <a:r>
              <a:rPr lang="en-US" b="0" dirty="0">
                <a:solidFill>
                  <a:schemeClr val="tx1"/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b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Lab -2 Use case Diagram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FF505AB4-F050-05C3-0733-FD0F9F412E8E}"/>
              </a:ext>
            </a:extLst>
          </p:cNvPr>
          <p:cNvSpPr txBox="1">
            <a:spLocks/>
          </p:cNvSpPr>
          <p:nvPr userDrawn="1"/>
        </p:nvSpPr>
        <p:spPr>
          <a:xfrm>
            <a:off x="8763000" y="6625774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71972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36657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Rajkumar B. Gondaliya</a:t>
            </a: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#21CS05203 (SE)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2 – Software Process Models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357991" y="5976558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557075E-92C1-A0AD-7836-B1A67FB06262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1">
            <a:extLst>
              <a:ext uri="{FF2B5EF4-FFF2-40B4-BE49-F238E27FC236}">
                <a16:creationId xmlns:a16="http://schemas.microsoft.com/office/drawing/2014/main" id="{1D38B228-9699-D25D-D32C-66B80794F5BC}"/>
              </a:ext>
            </a:extLst>
          </p:cNvPr>
          <p:cNvSpPr txBox="1">
            <a:spLocks/>
          </p:cNvSpPr>
          <p:nvPr userDrawn="1"/>
        </p:nvSpPr>
        <p:spPr>
          <a:xfrm>
            <a:off x="838200" y="6600622"/>
            <a:ext cx="2743200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Ekta A. Baldha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EE05EFB-C997-BC25-840F-0D6CFD90256C}"/>
              </a:ext>
            </a:extLst>
          </p:cNvPr>
          <p:cNvCxnSpPr/>
          <p:nvPr userDrawn="1"/>
        </p:nvCxnSpPr>
        <p:spPr>
          <a:xfrm>
            <a:off x="0" y="6602873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E06A646D-E58C-0BB7-3D7B-2C8B787A2A28}"/>
              </a:ext>
            </a:extLst>
          </p:cNvPr>
          <p:cNvSpPr txBox="1">
            <a:spLocks/>
          </p:cNvSpPr>
          <p:nvPr userDrawn="1"/>
        </p:nvSpPr>
        <p:spPr>
          <a:xfrm>
            <a:off x="4191000" y="6625774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#2101CS503 (SE)   </a:t>
            </a:r>
            <a:r>
              <a:rPr lang="en-US" b="0" dirty="0">
                <a:solidFill>
                  <a:schemeClr val="tx1"/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b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Lab -2 Use case Diagram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2ECA4645-6AE2-4276-F423-91A1E5F2807C}"/>
              </a:ext>
            </a:extLst>
          </p:cNvPr>
          <p:cNvSpPr txBox="1">
            <a:spLocks/>
          </p:cNvSpPr>
          <p:nvPr userDrawn="1"/>
        </p:nvSpPr>
        <p:spPr>
          <a:xfrm>
            <a:off x="8763000" y="6625774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06247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Rajkumar B. Gondaliya</a:t>
            </a: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#21CS05203 (SE)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2 – Software Process Models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759F472-1FD0-4F1C-9A8D-BB1BC2650E4B}"/>
              </a:ext>
            </a:extLst>
          </p:cNvPr>
          <p:cNvGrpSpPr/>
          <p:nvPr userDrawn="1"/>
        </p:nvGrpSpPr>
        <p:grpSpPr>
          <a:xfrm>
            <a:off x="77648" y="6030563"/>
            <a:ext cx="1649043" cy="501287"/>
            <a:chOff x="10721798" y="852808"/>
            <a:chExt cx="1339023" cy="407045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AE28ADB9-71A2-4BA8-A110-0B47E20B6BA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1D19CEDE-31B1-4998-902D-244C358C541E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A18AF25-05AF-472D-5BDA-C12555B8A874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1">
            <a:extLst>
              <a:ext uri="{FF2B5EF4-FFF2-40B4-BE49-F238E27FC236}">
                <a16:creationId xmlns:a16="http://schemas.microsoft.com/office/drawing/2014/main" id="{D70DB19E-D774-A0D8-6E57-EFD060ECB437}"/>
              </a:ext>
            </a:extLst>
          </p:cNvPr>
          <p:cNvSpPr txBox="1">
            <a:spLocks/>
          </p:cNvSpPr>
          <p:nvPr userDrawn="1"/>
        </p:nvSpPr>
        <p:spPr>
          <a:xfrm>
            <a:off x="838200" y="6600622"/>
            <a:ext cx="2743200" cy="25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Ekta A. Baldha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C2C8C4D-DE88-75EC-5C45-DD7C01792148}"/>
              </a:ext>
            </a:extLst>
          </p:cNvPr>
          <p:cNvCxnSpPr/>
          <p:nvPr userDrawn="1"/>
        </p:nvCxnSpPr>
        <p:spPr>
          <a:xfrm>
            <a:off x="0" y="6602873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4675AEA0-E096-2F27-0771-E9CC60A6454D}"/>
              </a:ext>
            </a:extLst>
          </p:cNvPr>
          <p:cNvSpPr txBox="1">
            <a:spLocks/>
          </p:cNvSpPr>
          <p:nvPr userDrawn="1"/>
        </p:nvSpPr>
        <p:spPr>
          <a:xfrm>
            <a:off x="4191000" y="6625774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#2101CS503 (SE)   </a:t>
            </a:r>
            <a:r>
              <a:rPr lang="en-US" b="0" dirty="0">
                <a:solidFill>
                  <a:schemeClr val="tx1"/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b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Lab -2 Use case Diagram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8DD75719-098F-0654-9C35-BF49E0150298}"/>
              </a:ext>
            </a:extLst>
          </p:cNvPr>
          <p:cNvSpPr txBox="1">
            <a:spLocks/>
          </p:cNvSpPr>
          <p:nvPr userDrawn="1"/>
        </p:nvSpPr>
        <p:spPr>
          <a:xfrm>
            <a:off x="8763000" y="6625774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43314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11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3312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65C24A8B-C009-4A74-9481-67BB67CA49B0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8808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:a16="http://schemas.microsoft.com/office/drawing/2014/main" id="{5F55812D-505A-4B1A-9EB5-16DCD08F2B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DCFBA18-DBB7-4232-9BDC-C0D95AE93AF0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5704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5E75AD4F-9BB9-4005-AB78-4A6D388A4CD6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0339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4964C355-848F-46E4-BB2A-EA2EE69FEBA2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8597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036D56FE-CA91-4481-9096-27448303AC20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6259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A561853C-B15A-4153-A982-7E7EB1213BCE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8816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B976521A-C815-4A64-A047-CE405ED0E59A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5262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631765DD-2E04-4EE4-AFB7-43E328823E61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2809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1018DFAF-9B15-4199-9C36-C730A2CE6C5E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8075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44A518A-BE68-4048-BDCB-77578CB57230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1319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C248CBD5-99BA-4017-857A-5ED400F43651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5025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sp>
        <p:nvSpPr>
          <p:cNvPr id="41" name="Hexagon 40"/>
          <p:cNvSpPr/>
          <p:nvPr userDrawn="1"/>
        </p:nvSpPr>
        <p:spPr>
          <a:xfrm rot="5400000">
            <a:off x="4309292" y="1717040"/>
            <a:ext cx="3461658" cy="2984188"/>
          </a:xfrm>
          <a:prstGeom prst="hexagon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accent6"/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TextBox 41"/>
          <p:cNvSpPr txBox="1"/>
          <p:nvPr userDrawn="1"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1" dirty="0"/>
              <a:t>Thank</a:t>
            </a:r>
          </a:p>
          <a:p>
            <a:pPr algn="ctr"/>
            <a:r>
              <a:rPr lang="en-US" sz="6000" b="1" i="1" dirty="0"/>
              <a:t>You</a:t>
            </a:r>
          </a:p>
        </p:txBody>
      </p:sp>
      <p:sp>
        <p:nvSpPr>
          <p:cNvPr id="43" name="Rectangle 42"/>
          <p:cNvSpPr/>
          <p:nvPr userDrawn="1"/>
        </p:nvSpPr>
        <p:spPr>
          <a:xfrm>
            <a:off x="7678346" y="2221532"/>
            <a:ext cx="4513654" cy="195169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 userDrawn="1"/>
        </p:nvSpPr>
        <p:spPr>
          <a:xfrm>
            <a:off x="0" y="2221532"/>
            <a:ext cx="4402106" cy="195169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47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Picture 48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7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59" name="Picture 58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54D53D90-D9D5-4989-8E97-31CC943F620C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633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t>7/10/2023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95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0" r:id="rId2"/>
    <p:sldLayoutId id="2147483687" r:id="rId3"/>
    <p:sldLayoutId id="2147483688" r:id="rId4"/>
    <p:sldLayoutId id="2147483671" r:id="rId5"/>
    <p:sldLayoutId id="2147483672" r:id="rId6"/>
    <p:sldLayoutId id="2147483689" r:id="rId7"/>
    <p:sldLayoutId id="2147483690" r:id="rId8"/>
    <p:sldLayoutId id="2147483673" r:id="rId9"/>
    <p:sldLayoutId id="2147483691" r:id="rId10"/>
    <p:sldLayoutId id="2147483674" r:id="rId11"/>
    <p:sldLayoutId id="2147483676" r:id="rId12"/>
    <p:sldLayoutId id="2147483677" r:id="rId13"/>
    <p:sldLayoutId id="2147483678" r:id="rId14"/>
    <p:sldLayoutId id="2147483679" r:id="rId15"/>
    <p:sldLayoutId id="2147483681" r:id="rId16"/>
    <p:sldLayoutId id="2147483683" r:id="rId17"/>
    <p:sldLayoutId id="2147483682" r:id="rId18"/>
    <p:sldLayoutId id="2147483684" r:id="rId19"/>
    <p:sldLayoutId id="2147483685" r:id="rId20"/>
    <p:sldLayoutId id="2147483686" r:id="rId21"/>
    <p:sldLayoutId id="2147483692" r:id="rId2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D5B2E74-80A6-4F07-A7FA-978E4D2F1BD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183874" y="6170137"/>
            <a:ext cx="3735998" cy="290081"/>
          </a:xfrm>
        </p:spPr>
        <p:txBody>
          <a:bodyPr/>
          <a:lstStyle/>
          <a:p>
            <a:r>
              <a:rPr lang="en-US" dirty="0"/>
              <a:t>Ekta.baldha@darshan.ac.in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6A0C49B-F435-476C-B3F1-40C1A36200F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+91-7984243066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F0FE21D-9899-4D11-98BF-91E8BA562FC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7677" y="5537768"/>
            <a:ext cx="4459883" cy="290081"/>
          </a:xfrm>
        </p:spPr>
        <p:txBody>
          <a:bodyPr/>
          <a:lstStyle/>
          <a:p>
            <a:r>
              <a:rPr lang="en-US" dirty="0"/>
              <a:t>Computer Science &amp; Engineering Department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B6ABA64-C63D-491F-9124-201012CF881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Prof. Ekta A. Baldha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5919B75D-4B6D-4192-B4EB-B4E8000BD9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Software Engineering (SE)</a:t>
            </a:r>
          </a:p>
          <a:p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2101CS503</a:t>
            </a:r>
          </a:p>
        </p:txBody>
      </p:sp>
      <p:pic>
        <p:nvPicPr>
          <p:cNvPr id="2" name="Picture Placeholder 1"/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5678" y="5191433"/>
            <a:ext cx="1341551" cy="1376514"/>
          </a:xfr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0E0A5353-D4D5-43D7-A039-6CFC6871D64F}"/>
              </a:ext>
            </a:extLst>
          </p:cNvPr>
          <p:cNvSpPr txBox="1">
            <a:spLocks/>
          </p:cNvSpPr>
          <p:nvPr/>
        </p:nvSpPr>
        <p:spPr>
          <a:xfrm>
            <a:off x="711890" y="1046156"/>
            <a:ext cx="7860610" cy="257878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sz="4800" b="0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Lab -3 </a:t>
            </a:r>
          </a:p>
          <a:p>
            <a:r>
              <a:rPr lang="en-US" sz="4800" b="0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Practical – 2</a:t>
            </a:r>
          </a:p>
          <a:p>
            <a:r>
              <a:rPr lang="en-US" sz="5400" dirty="0"/>
              <a:t>State Diagram</a:t>
            </a:r>
          </a:p>
        </p:txBody>
      </p:sp>
    </p:spTree>
    <p:extLst>
      <p:ext uri="{BB962C8B-B14F-4D97-AF65-F5344CB8AC3E}">
        <p14:creationId xmlns:p14="http://schemas.microsoft.com/office/powerpoint/2010/main" val="37887284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State diagram </a:t>
            </a:r>
          </a:p>
        </p:txBody>
      </p:sp>
      <p:sp>
        <p:nvSpPr>
          <p:cNvPr id="10" name="Content Placeholder 12">
            <a:extLst>
              <a:ext uri="{FF2B5EF4-FFF2-40B4-BE49-F238E27FC236}">
                <a16:creationId xmlns:a16="http://schemas.microsoft.com/office/drawing/2014/main" id="{61FBC286-D163-4541-9A3A-31743E81A4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2407776"/>
            <a:ext cx="11929641" cy="3633477"/>
          </a:xfrm>
        </p:spPr>
        <p:txBody>
          <a:bodyPr/>
          <a:lstStyle/>
          <a:p>
            <a:r>
              <a:rPr lang="en-US" dirty="0"/>
              <a:t>The state diagram is a standard computer science concept that </a:t>
            </a:r>
            <a:r>
              <a:rPr lang="en-US" dirty="0">
                <a:solidFill>
                  <a:srgbClr val="A32D19"/>
                </a:solidFill>
              </a:rPr>
              <a:t>relates events and state.</a:t>
            </a:r>
          </a:p>
          <a:p>
            <a:r>
              <a:rPr lang="en-US" dirty="0"/>
              <a:t>Events represent </a:t>
            </a:r>
            <a:r>
              <a:rPr lang="en-US" dirty="0">
                <a:solidFill>
                  <a:srgbClr val="A32D19"/>
                </a:solidFill>
              </a:rPr>
              <a:t>external stimuli.</a:t>
            </a:r>
          </a:p>
          <a:p>
            <a:r>
              <a:rPr lang="en-US" dirty="0"/>
              <a:t>States represent </a:t>
            </a:r>
            <a:r>
              <a:rPr lang="en-US" dirty="0">
                <a:solidFill>
                  <a:srgbClr val="A32D19"/>
                </a:solidFill>
              </a:rPr>
              <a:t>value of objects</a:t>
            </a:r>
            <a:r>
              <a:rPr lang="en-US" dirty="0"/>
              <a:t>. </a:t>
            </a:r>
          </a:p>
          <a:p>
            <a:r>
              <a:rPr lang="en-US" dirty="0">
                <a:solidFill>
                  <a:srgbClr val="A32D19"/>
                </a:solidFill>
              </a:rPr>
              <a:t>All objects </a:t>
            </a:r>
            <a:r>
              <a:rPr lang="en-US" dirty="0"/>
              <a:t>in a class </a:t>
            </a:r>
            <a:r>
              <a:rPr lang="en-US" dirty="0">
                <a:solidFill>
                  <a:srgbClr val="A32D19"/>
                </a:solidFill>
              </a:rPr>
              <a:t>execute the state diagram </a:t>
            </a:r>
            <a:r>
              <a:rPr lang="en-US" dirty="0"/>
              <a:t>for that class, which models their common behavior.</a:t>
            </a:r>
          </a:p>
          <a:p>
            <a:r>
              <a:rPr lang="en-US" dirty="0"/>
              <a:t>The UML notation for a state diagram is a </a:t>
            </a:r>
            <a:r>
              <a:rPr lang="en-US" dirty="0">
                <a:solidFill>
                  <a:srgbClr val="A32D19"/>
                </a:solidFill>
              </a:rPr>
              <a:t>rectangle with object name in a small pentagonal tag </a:t>
            </a:r>
            <a:r>
              <a:rPr lang="en-US" dirty="0"/>
              <a:t>in the upper left corner.</a:t>
            </a:r>
          </a:p>
          <a:p>
            <a:endParaRPr lang="en-US" dirty="0"/>
          </a:p>
        </p:txBody>
      </p:sp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4ECEE23B-30E0-497F-A702-7C0B02AD1238}"/>
              </a:ext>
            </a:extLst>
          </p:cNvPr>
          <p:cNvSpPr/>
          <p:nvPr/>
        </p:nvSpPr>
        <p:spPr>
          <a:xfrm>
            <a:off x="131180" y="816746"/>
            <a:ext cx="11929640" cy="941033"/>
          </a:xfrm>
          <a:prstGeom prst="wedgeRoundRectCallout">
            <a:avLst>
              <a:gd name="adj1" fmla="val -37012"/>
              <a:gd name="adj2" fmla="val -73049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A state diagram is a graph whose </a:t>
            </a:r>
            <a:r>
              <a:rPr lang="en-US" sz="2400" dirty="0">
                <a:solidFill>
                  <a:srgbClr val="A32D19"/>
                </a:solidFill>
              </a:rPr>
              <a:t>nodes are states </a:t>
            </a:r>
            <a:r>
              <a:rPr lang="en-US" sz="2400" dirty="0"/>
              <a:t>and whose </a:t>
            </a:r>
            <a:r>
              <a:rPr lang="en-US" sz="2400" dirty="0">
                <a:solidFill>
                  <a:srgbClr val="A32D19"/>
                </a:solidFill>
              </a:rPr>
              <a:t>directed arcs are transitions between states</a:t>
            </a:r>
            <a:r>
              <a:rPr lang="en-US" sz="2400" dirty="0"/>
              <a:t>.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C02AC0-7415-45F5-8394-5E4E67C1B843}"/>
              </a:ext>
            </a:extLst>
          </p:cNvPr>
          <p:cNvSpPr/>
          <p:nvPr/>
        </p:nvSpPr>
        <p:spPr>
          <a:xfrm>
            <a:off x="131180" y="1851945"/>
            <a:ext cx="11929640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400" dirty="0"/>
              <a:t>A state diagram specifies the </a:t>
            </a:r>
            <a:r>
              <a:rPr lang="en-US" sz="2400" dirty="0">
                <a:solidFill>
                  <a:srgbClr val="A32D19"/>
                </a:solidFill>
              </a:rPr>
              <a:t>state sequences</a:t>
            </a:r>
            <a:r>
              <a:rPr lang="en-US" sz="2400" dirty="0"/>
              <a:t> caused by </a:t>
            </a:r>
            <a:r>
              <a:rPr lang="en-US" sz="2400" dirty="0">
                <a:solidFill>
                  <a:srgbClr val="A32D19"/>
                </a:solidFill>
              </a:rPr>
              <a:t>event sequences</a:t>
            </a:r>
            <a:r>
              <a:rPr lang="en-US" sz="2400" dirty="0"/>
              <a:t>.</a:t>
            </a:r>
            <a:endParaRPr lang="en-US" sz="2400" dirty="0">
              <a:solidFill>
                <a:srgbClr val="A32D19"/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AFE9229-6311-4087-BF15-6A50198A6DCC}"/>
              </a:ext>
            </a:extLst>
          </p:cNvPr>
          <p:cNvGrpSpPr/>
          <p:nvPr/>
        </p:nvGrpSpPr>
        <p:grpSpPr>
          <a:xfrm>
            <a:off x="6791418" y="5406502"/>
            <a:ext cx="2219417" cy="906994"/>
            <a:chOff x="2057400" y="1048304"/>
            <a:chExt cx="8077200" cy="498851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B17AB2F-DECF-4CD1-BAE6-8370E8383FC9}"/>
                </a:ext>
              </a:extLst>
            </p:cNvPr>
            <p:cNvSpPr/>
            <p:nvPr/>
          </p:nvSpPr>
          <p:spPr>
            <a:xfrm>
              <a:off x="2057400" y="1048304"/>
              <a:ext cx="8077200" cy="498851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49286C9B-1456-4BDF-8199-9EAAAAFCC49C}"/>
                </a:ext>
              </a:extLst>
            </p:cNvPr>
            <p:cNvGrpSpPr/>
            <p:nvPr/>
          </p:nvGrpSpPr>
          <p:grpSpPr>
            <a:xfrm>
              <a:off x="2057400" y="1048304"/>
              <a:ext cx="1600200" cy="685800"/>
              <a:chOff x="533400" y="1447800"/>
              <a:chExt cx="1600200" cy="685800"/>
            </a:xfrm>
          </p:grpSpPr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165E62FD-402F-449A-9226-1229C6BF9C92}"/>
                  </a:ext>
                </a:extLst>
              </p:cNvPr>
              <p:cNvCxnSpPr/>
              <p:nvPr/>
            </p:nvCxnSpPr>
            <p:spPr>
              <a:xfrm>
                <a:off x="2133600" y="1447800"/>
                <a:ext cx="0" cy="45720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E619F7F0-2277-48A5-B406-56BEBDF052F8}"/>
                  </a:ext>
                </a:extLst>
              </p:cNvPr>
              <p:cNvCxnSpPr/>
              <p:nvPr/>
            </p:nvCxnSpPr>
            <p:spPr>
              <a:xfrm>
                <a:off x="533400" y="2133600"/>
                <a:ext cx="137160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1B0DC440-7A22-4A9C-B19F-5FACE1D32420}"/>
                  </a:ext>
                </a:extLst>
              </p:cNvPr>
              <p:cNvCxnSpPr/>
              <p:nvPr/>
            </p:nvCxnSpPr>
            <p:spPr>
              <a:xfrm flipH="1">
                <a:off x="1905000" y="1905000"/>
                <a:ext cx="228600" cy="22860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580445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P spid="3" grpId="0" animBg="1"/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Components of state diagram</a:t>
            </a:r>
          </a:p>
        </p:txBody>
      </p: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39ABAE1C-3B8E-4EB7-9BED-7038593DE0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049" y="1282742"/>
            <a:ext cx="11912535" cy="488296"/>
          </a:xfrm>
          <a:ln w="3175">
            <a:noFill/>
          </a:ln>
        </p:spPr>
        <p:txBody>
          <a:bodyPr/>
          <a:lstStyle/>
          <a:p>
            <a:r>
              <a:rPr lang="en-US" dirty="0"/>
              <a:t>A </a:t>
            </a:r>
            <a:r>
              <a:rPr lang="en-US" dirty="0">
                <a:solidFill>
                  <a:srgbClr val="A32D19"/>
                </a:solidFill>
              </a:rPr>
              <a:t>solid circle with an outgoing arrow </a:t>
            </a:r>
            <a:r>
              <a:rPr lang="en-US" dirty="0"/>
              <a:t>shows the initial state.</a:t>
            </a:r>
          </a:p>
          <a:p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DD7100-B690-4542-84E9-AE0BDE645FBC}"/>
              </a:ext>
            </a:extLst>
          </p:cNvPr>
          <p:cNvSpPr/>
          <p:nvPr/>
        </p:nvSpPr>
        <p:spPr>
          <a:xfrm>
            <a:off x="164050" y="821077"/>
            <a:ext cx="4345807" cy="461665"/>
          </a:xfrm>
          <a:prstGeom prst="rect">
            <a:avLst/>
          </a:prstGeom>
          <a:solidFill>
            <a:srgbClr val="A32D19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Initial State</a:t>
            </a:r>
          </a:p>
        </p:txBody>
      </p:sp>
      <p:sp>
        <p:nvSpPr>
          <p:cNvPr id="22" name="Content Placeholder 12">
            <a:extLst>
              <a:ext uri="{FF2B5EF4-FFF2-40B4-BE49-F238E27FC236}">
                <a16:creationId xmlns:a16="http://schemas.microsoft.com/office/drawing/2014/main" id="{F466249B-ECFE-487F-8ABC-7D863BC5B3D5}"/>
              </a:ext>
            </a:extLst>
          </p:cNvPr>
          <p:cNvSpPr txBox="1">
            <a:spLocks/>
          </p:cNvSpPr>
          <p:nvPr/>
        </p:nvSpPr>
        <p:spPr>
          <a:xfrm>
            <a:off x="164050" y="3466523"/>
            <a:ext cx="11820804" cy="16777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Drawn as </a:t>
            </a:r>
            <a:r>
              <a:rPr lang="en-US" dirty="0">
                <a:solidFill>
                  <a:srgbClr val="A32D19"/>
                </a:solidFill>
              </a:rPr>
              <a:t>a rounded box containing the name of the state</a:t>
            </a:r>
            <a:r>
              <a:rPr lang="en-US" dirty="0"/>
              <a:t>.</a:t>
            </a:r>
          </a:p>
          <a:p>
            <a:r>
              <a:rPr lang="en-US" dirty="0"/>
              <a:t>State names </a:t>
            </a:r>
            <a:r>
              <a:rPr lang="en-US" dirty="0">
                <a:solidFill>
                  <a:srgbClr val="A32D19"/>
                </a:solidFill>
              </a:rPr>
              <a:t>must be unique within the scope </a:t>
            </a:r>
            <a:r>
              <a:rPr lang="en-US" dirty="0"/>
              <a:t>of the state diagram.</a:t>
            </a:r>
          </a:p>
          <a:p>
            <a:r>
              <a:rPr lang="en-US" dirty="0"/>
              <a:t>Our convention is to list state name in </a:t>
            </a:r>
            <a:r>
              <a:rPr lang="en-US" dirty="0">
                <a:solidFill>
                  <a:srgbClr val="A32D19"/>
                </a:solidFill>
              </a:rPr>
              <a:t>boldface</a:t>
            </a:r>
            <a:r>
              <a:rPr lang="en-US" dirty="0"/>
              <a:t>, </a:t>
            </a:r>
            <a:r>
              <a:rPr lang="en-US" dirty="0">
                <a:solidFill>
                  <a:srgbClr val="A32D19"/>
                </a:solidFill>
              </a:rPr>
              <a:t>center</a:t>
            </a:r>
            <a:r>
              <a:rPr lang="en-US" dirty="0"/>
              <a:t> the name near the top of the box, and </a:t>
            </a:r>
            <a:r>
              <a:rPr lang="en-US" dirty="0">
                <a:solidFill>
                  <a:srgbClr val="A32D19"/>
                </a:solidFill>
              </a:rPr>
              <a:t>capitalize the first letter</a:t>
            </a:r>
            <a:r>
              <a:rPr lang="en-US" dirty="0"/>
              <a:t>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59E0AB4-45DC-4AC6-A7E9-457653311BDC}"/>
              </a:ext>
            </a:extLst>
          </p:cNvPr>
          <p:cNvSpPr/>
          <p:nvPr/>
        </p:nvSpPr>
        <p:spPr>
          <a:xfrm>
            <a:off x="164049" y="3004857"/>
            <a:ext cx="4345807" cy="461665"/>
          </a:xfrm>
          <a:prstGeom prst="rect">
            <a:avLst/>
          </a:prstGeom>
          <a:solidFill>
            <a:srgbClr val="A32D19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State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288C92C-8BD4-4327-8E00-7195A19B1E25}"/>
              </a:ext>
            </a:extLst>
          </p:cNvPr>
          <p:cNvCxnSpPr>
            <a:cxnSpLocks/>
          </p:cNvCxnSpPr>
          <p:nvPr/>
        </p:nvCxnSpPr>
        <p:spPr>
          <a:xfrm>
            <a:off x="2291090" y="1273864"/>
            <a:ext cx="9693764" cy="0"/>
          </a:xfrm>
          <a:prstGeom prst="line">
            <a:avLst/>
          </a:prstGeom>
          <a:ln w="1905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BED9A67-9448-4F9D-ACA1-8F799D31027C}"/>
              </a:ext>
            </a:extLst>
          </p:cNvPr>
          <p:cNvCxnSpPr>
            <a:cxnSpLocks/>
          </p:cNvCxnSpPr>
          <p:nvPr/>
        </p:nvCxnSpPr>
        <p:spPr>
          <a:xfrm>
            <a:off x="2291090" y="3457644"/>
            <a:ext cx="9693765" cy="0"/>
          </a:xfrm>
          <a:prstGeom prst="line">
            <a:avLst/>
          </a:prstGeom>
          <a:ln w="1905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7" name="Content Placeholder 12">
            <a:extLst>
              <a:ext uri="{FF2B5EF4-FFF2-40B4-BE49-F238E27FC236}">
                <a16:creationId xmlns:a16="http://schemas.microsoft.com/office/drawing/2014/main" id="{D042C69E-9F67-4CC0-8361-D46DD0E944B5}"/>
              </a:ext>
            </a:extLst>
          </p:cNvPr>
          <p:cNvSpPr txBox="1">
            <a:spLocks/>
          </p:cNvSpPr>
          <p:nvPr/>
        </p:nvSpPr>
        <p:spPr>
          <a:xfrm>
            <a:off x="164048" y="5641426"/>
            <a:ext cx="11912536" cy="83447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Drawn as a </a:t>
            </a:r>
            <a:r>
              <a:rPr lang="en-US" dirty="0">
                <a:solidFill>
                  <a:srgbClr val="A32D19"/>
                </a:solidFill>
              </a:rPr>
              <a:t>line</a:t>
            </a:r>
            <a:r>
              <a:rPr lang="en-US" dirty="0"/>
              <a:t> from the </a:t>
            </a:r>
            <a:r>
              <a:rPr lang="en-US" dirty="0">
                <a:solidFill>
                  <a:srgbClr val="A32D19"/>
                </a:solidFill>
              </a:rPr>
              <a:t>origin state to the target state</a:t>
            </a:r>
            <a:r>
              <a:rPr lang="en-US" dirty="0"/>
              <a:t>.</a:t>
            </a:r>
          </a:p>
          <a:p>
            <a:r>
              <a:rPr lang="en-US" dirty="0"/>
              <a:t>An arrowhead points to the target state.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50CBE7B-ED96-440A-BE30-93DC600FC1BE}"/>
              </a:ext>
            </a:extLst>
          </p:cNvPr>
          <p:cNvSpPr/>
          <p:nvPr/>
        </p:nvSpPr>
        <p:spPr>
          <a:xfrm>
            <a:off x="164050" y="5179761"/>
            <a:ext cx="4499679" cy="461665"/>
          </a:xfrm>
          <a:prstGeom prst="rect">
            <a:avLst/>
          </a:prstGeom>
          <a:solidFill>
            <a:srgbClr val="A32D19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Transition/Event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578DBC7-C406-4315-9B7B-55C381DF78DA}"/>
              </a:ext>
            </a:extLst>
          </p:cNvPr>
          <p:cNvCxnSpPr>
            <a:cxnSpLocks/>
          </p:cNvCxnSpPr>
          <p:nvPr/>
        </p:nvCxnSpPr>
        <p:spPr>
          <a:xfrm>
            <a:off x="2413890" y="5641426"/>
            <a:ext cx="9570964" cy="0"/>
          </a:xfrm>
          <a:prstGeom prst="line">
            <a:avLst/>
          </a:prstGeom>
          <a:ln w="1905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B099090-96E0-4473-8F84-6E3D2944E1C3}"/>
              </a:ext>
            </a:extLst>
          </p:cNvPr>
          <p:cNvGrpSpPr/>
          <p:nvPr/>
        </p:nvGrpSpPr>
        <p:grpSpPr>
          <a:xfrm>
            <a:off x="10595702" y="780712"/>
            <a:ext cx="1153686" cy="360000"/>
            <a:chOff x="3253722" y="2549356"/>
            <a:chExt cx="1153686" cy="36000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A828C98B-D4C2-43F0-990B-77DE08433CB3}"/>
                </a:ext>
              </a:extLst>
            </p:cNvPr>
            <p:cNvSpPr/>
            <p:nvPr/>
          </p:nvSpPr>
          <p:spPr>
            <a:xfrm>
              <a:off x="3253722" y="2549356"/>
              <a:ext cx="360000" cy="360000"/>
            </a:xfrm>
            <a:prstGeom prst="ellipse">
              <a:avLst/>
            </a:prstGeom>
            <a:ln>
              <a:solidFill>
                <a:srgbClr val="A32D19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DD185EEA-D5AB-400F-89FE-E0BB40FDCFAE}"/>
                </a:ext>
              </a:extLst>
            </p:cNvPr>
            <p:cNvCxnSpPr>
              <a:cxnSpLocks/>
              <a:stCxn id="29" idx="6"/>
            </p:cNvCxnSpPr>
            <p:nvPr/>
          </p:nvCxnSpPr>
          <p:spPr>
            <a:xfrm>
              <a:off x="3613722" y="2729356"/>
              <a:ext cx="793686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956114B-29B9-43C7-A3B7-36F4F2562DE9}"/>
              </a:ext>
            </a:extLst>
          </p:cNvPr>
          <p:cNvCxnSpPr>
            <a:cxnSpLocks/>
          </p:cNvCxnSpPr>
          <p:nvPr/>
        </p:nvCxnSpPr>
        <p:spPr>
          <a:xfrm>
            <a:off x="8948691" y="5436849"/>
            <a:ext cx="283955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4" name="Content Placeholder 12">
            <a:extLst>
              <a:ext uri="{FF2B5EF4-FFF2-40B4-BE49-F238E27FC236}">
                <a16:creationId xmlns:a16="http://schemas.microsoft.com/office/drawing/2014/main" id="{CCE0CA07-81A3-42BD-8A13-2B4F884D4390}"/>
              </a:ext>
            </a:extLst>
          </p:cNvPr>
          <p:cNvSpPr txBox="1">
            <a:spLocks/>
          </p:cNvSpPr>
          <p:nvPr/>
        </p:nvSpPr>
        <p:spPr>
          <a:xfrm>
            <a:off x="164049" y="2238173"/>
            <a:ext cx="11912536" cy="722298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 bull’s eye – a </a:t>
            </a:r>
            <a:r>
              <a:rPr lang="en-US" dirty="0">
                <a:solidFill>
                  <a:srgbClr val="A32D19"/>
                </a:solidFill>
              </a:rPr>
              <a:t>solid circle surrounded by a hollow circle/encircled X </a:t>
            </a:r>
            <a:r>
              <a:rPr lang="en-US" dirty="0"/>
              <a:t>shows the termination point.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0DEE519-E05D-429C-9058-0DDD0AA977FE}"/>
              </a:ext>
            </a:extLst>
          </p:cNvPr>
          <p:cNvSpPr/>
          <p:nvPr/>
        </p:nvSpPr>
        <p:spPr>
          <a:xfrm>
            <a:off x="164050" y="1776508"/>
            <a:ext cx="4345808" cy="461665"/>
          </a:xfrm>
          <a:prstGeom prst="rect">
            <a:avLst/>
          </a:prstGeom>
          <a:solidFill>
            <a:srgbClr val="A32D19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Final State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3930CD0-A5A4-412E-97C0-E8D42CB2A835}"/>
              </a:ext>
            </a:extLst>
          </p:cNvPr>
          <p:cNvCxnSpPr>
            <a:cxnSpLocks/>
          </p:cNvCxnSpPr>
          <p:nvPr/>
        </p:nvCxnSpPr>
        <p:spPr>
          <a:xfrm>
            <a:off x="2291090" y="2229295"/>
            <a:ext cx="9693764" cy="8878"/>
          </a:xfrm>
          <a:prstGeom prst="line">
            <a:avLst/>
          </a:prstGeom>
          <a:ln w="1905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5EF5199-FC60-441A-AA50-46F269964AC2}"/>
              </a:ext>
            </a:extLst>
          </p:cNvPr>
          <p:cNvGrpSpPr/>
          <p:nvPr/>
        </p:nvGrpSpPr>
        <p:grpSpPr>
          <a:xfrm>
            <a:off x="10692897" y="1816187"/>
            <a:ext cx="790425" cy="382306"/>
            <a:chOff x="10692897" y="2002625"/>
            <a:chExt cx="790425" cy="382306"/>
          </a:xfrm>
        </p:grpSpPr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60B0F10D-684C-4343-AA7E-837720C600E9}"/>
                </a:ext>
              </a:extLst>
            </p:cNvPr>
            <p:cNvCxnSpPr>
              <a:cxnSpLocks/>
              <a:endCxn id="43" idx="2"/>
            </p:cNvCxnSpPr>
            <p:nvPr/>
          </p:nvCxnSpPr>
          <p:spPr>
            <a:xfrm>
              <a:off x="10692897" y="2193779"/>
              <a:ext cx="528478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C6AAC688-F922-4283-9221-48EED05A35D1}"/>
                </a:ext>
              </a:extLst>
            </p:cNvPr>
            <p:cNvSpPr/>
            <p:nvPr/>
          </p:nvSpPr>
          <p:spPr>
            <a:xfrm>
              <a:off x="11221375" y="2044720"/>
              <a:ext cx="261947" cy="298118"/>
            </a:xfrm>
            <a:prstGeom prst="ellipse">
              <a:avLst/>
            </a:prstGeom>
            <a:noFill/>
            <a:ln w="28575">
              <a:solidFill>
                <a:srgbClr val="A32D19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" name="Multiplication Sign 8">
              <a:extLst>
                <a:ext uri="{FF2B5EF4-FFF2-40B4-BE49-F238E27FC236}">
                  <a16:creationId xmlns:a16="http://schemas.microsoft.com/office/drawing/2014/main" id="{518E5A9C-8FA6-4947-AEC9-87FE14FF8BC4}"/>
                </a:ext>
              </a:extLst>
            </p:cNvPr>
            <p:cNvSpPr/>
            <p:nvPr/>
          </p:nvSpPr>
          <p:spPr>
            <a:xfrm>
              <a:off x="11221375" y="2002625"/>
              <a:ext cx="261947" cy="382306"/>
            </a:xfrm>
            <a:prstGeom prst="mathMultiply">
              <a:avLst>
                <a:gd name="adj1" fmla="val 5075"/>
              </a:avLst>
            </a:prstGeom>
            <a:solidFill>
              <a:schemeClr val="accent6"/>
            </a:solidFill>
            <a:ln w="3175">
              <a:solidFill>
                <a:srgbClr val="B8474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81CB12BA-CAC7-44A3-A798-0BAB3E0F477D}"/>
              </a:ext>
            </a:extLst>
          </p:cNvPr>
          <p:cNvGrpSpPr/>
          <p:nvPr/>
        </p:nvGrpSpPr>
        <p:grpSpPr>
          <a:xfrm>
            <a:off x="8797766" y="1789176"/>
            <a:ext cx="852768" cy="360000"/>
            <a:chOff x="9525740" y="2573126"/>
            <a:chExt cx="852768" cy="360000"/>
          </a:xfrm>
        </p:grpSpPr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EFDE6ECB-2A98-42B6-8B0F-F2BAD6D1729E}"/>
                </a:ext>
              </a:extLst>
            </p:cNvPr>
            <p:cNvCxnSpPr>
              <a:cxnSpLocks/>
              <a:endCxn id="48" idx="2"/>
            </p:cNvCxnSpPr>
            <p:nvPr/>
          </p:nvCxnSpPr>
          <p:spPr>
            <a:xfrm>
              <a:off x="9525740" y="2753126"/>
              <a:ext cx="492768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11FC610A-6EDD-4DE4-8C05-87FCE5693DF8}"/>
                </a:ext>
              </a:extLst>
            </p:cNvPr>
            <p:cNvGrpSpPr/>
            <p:nvPr/>
          </p:nvGrpSpPr>
          <p:grpSpPr>
            <a:xfrm>
              <a:off x="10018508" y="2573126"/>
              <a:ext cx="360000" cy="360000"/>
              <a:chOff x="9658905" y="2055376"/>
              <a:chExt cx="368252" cy="376895"/>
            </a:xfrm>
          </p:grpSpPr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C9F7423D-484B-4E8E-8E8A-D105D20BB326}"/>
                  </a:ext>
                </a:extLst>
              </p:cNvPr>
              <p:cNvSpPr/>
              <p:nvPr/>
            </p:nvSpPr>
            <p:spPr>
              <a:xfrm>
                <a:off x="9658905" y="2055376"/>
                <a:ext cx="368252" cy="376895"/>
              </a:xfrm>
              <a:prstGeom prst="ellipse">
                <a:avLst/>
              </a:prstGeom>
              <a:noFill/>
              <a:ln w="28575">
                <a:solidFill>
                  <a:srgbClr val="A32D19"/>
                </a:solidFill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8F9D3466-B3B9-437B-903D-D6024C792DBF}"/>
                  </a:ext>
                </a:extLst>
              </p:cNvPr>
              <p:cNvSpPr/>
              <p:nvPr/>
            </p:nvSpPr>
            <p:spPr>
              <a:xfrm>
                <a:off x="9714669" y="2114725"/>
                <a:ext cx="257776" cy="263827"/>
              </a:xfrm>
              <a:prstGeom prst="ellipse">
                <a:avLst/>
              </a:prstGeom>
              <a:ln>
                <a:solidFill>
                  <a:srgbClr val="A32D19"/>
                </a:solidFill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8F9A50E5-05D3-432E-B215-16135F4FB485}"/>
              </a:ext>
            </a:extLst>
          </p:cNvPr>
          <p:cNvSpPr txBox="1"/>
          <p:nvPr/>
        </p:nvSpPr>
        <p:spPr>
          <a:xfrm>
            <a:off x="9991602" y="1789176"/>
            <a:ext cx="444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B84742"/>
                </a:solidFill>
              </a:rPr>
              <a:t>OR</a:t>
            </a:r>
          </a:p>
        </p:txBody>
      </p:sp>
      <p:sp>
        <p:nvSpPr>
          <p:cNvPr id="31" name="Flowchart: Terminator 30">
            <a:extLst>
              <a:ext uri="{FF2B5EF4-FFF2-40B4-BE49-F238E27FC236}">
                <a16:creationId xmlns:a16="http://schemas.microsoft.com/office/drawing/2014/main" id="{D9EA26F7-C23C-42A3-BD30-07B967A8636C}"/>
              </a:ext>
            </a:extLst>
          </p:cNvPr>
          <p:cNvSpPr/>
          <p:nvPr/>
        </p:nvSpPr>
        <p:spPr>
          <a:xfrm>
            <a:off x="10271464" y="2887575"/>
            <a:ext cx="1477924" cy="404108"/>
          </a:xfrm>
          <a:prstGeom prst="flowChartTerminator">
            <a:avLst/>
          </a:prstGeom>
          <a:ln w="19050">
            <a:solidFill>
              <a:srgbClr val="B8474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State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0E614A3-D835-4BD8-B284-B7BA2CCEBFD2}"/>
              </a:ext>
            </a:extLst>
          </p:cNvPr>
          <p:cNvSpPr txBox="1"/>
          <p:nvPr/>
        </p:nvSpPr>
        <p:spPr>
          <a:xfrm>
            <a:off x="9163101" y="5078094"/>
            <a:ext cx="2698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A32D19"/>
                </a:solidFill>
              </a:rPr>
              <a:t>event(</a:t>
            </a:r>
            <a:r>
              <a:rPr lang="en-IN" b="1" dirty="0" err="1">
                <a:solidFill>
                  <a:srgbClr val="A32D19"/>
                </a:solidFill>
              </a:rPr>
              <a:t>attribs</a:t>
            </a:r>
            <a:r>
              <a:rPr lang="en-IN" b="1" dirty="0">
                <a:solidFill>
                  <a:srgbClr val="A32D19"/>
                </a:solidFill>
              </a:rPr>
              <a:t>) </a:t>
            </a:r>
            <a:r>
              <a:rPr lang="en-IN" dirty="0"/>
              <a:t>[condition]</a:t>
            </a:r>
          </a:p>
        </p:txBody>
      </p:sp>
    </p:spTree>
    <p:extLst>
      <p:ext uri="{BB962C8B-B14F-4D97-AF65-F5344CB8AC3E}">
        <p14:creationId xmlns:p14="http://schemas.microsoft.com/office/powerpoint/2010/main" val="642123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  <p:bldP spid="13" grpId="0" animBg="1"/>
      <p:bldP spid="22" grpId="0" build="p"/>
      <p:bldP spid="23" grpId="0" animBg="1"/>
      <p:bldP spid="17" grpId="0" build="p"/>
      <p:bldP spid="20" grpId="0" animBg="1"/>
      <p:bldP spid="34" grpId="0"/>
      <p:bldP spid="35" grpId="0" animBg="1"/>
      <p:bldP spid="15" grpId="0"/>
      <p:bldP spid="31" grpId="0" animBg="1"/>
      <p:bldP spid="2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of state diagram</a:t>
            </a:r>
            <a:endParaRPr lang="en-US" dirty="0">
              <a:latin typeface="+mn-lt"/>
            </a:endParaRPr>
          </a:p>
        </p:txBody>
      </p:sp>
      <p:sp>
        <p:nvSpPr>
          <p:cNvPr id="15" name="Content Placeholder 12">
            <a:extLst>
              <a:ext uri="{FF2B5EF4-FFF2-40B4-BE49-F238E27FC236}">
                <a16:creationId xmlns:a16="http://schemas.microsoft.com/office/drawing/2014/main" id="{7D25E212-F44F-4365-9821-7AF3CF475682}"/>
              </a:ext>
            </a:extLst>
          </p:cNvPr>
          <p:cNvSpPr txBox="1">
            <a:spLocks/>
          </p:cNvSpPr>
          <p:nvPr/>
        </p:nvSpPr>
        <p:spPr>
          <a:xfrm>
            <a:off x="106532" y="1402124"/>
            <a:ext cx="11897558" cy="1544833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 guard condition is a </a:t>
            </a:r>
            <a:r>
              <a:rPr lang="en-US" dirty="0">
                <a:solidFill>
                  <a:srgbClr val="A32D19"/>
                </a:solidFill>
              </a:rPr>
              <a:t>Boolean expression</a:t>
            </a:r>
            <a:r>
              <a:rPr lang="en-US" dirty="0"/>
              <a:t> that must be true in </a:t>
            </a:r>
            <a:r>
              <a:rPr lang="en-US" dirty="0">
                <a:solidFill>
                  <a:srgbClr val="A32D19"/>
                </a:solidFill>
              </a:rPr>
              <a:t>order for a transition to occur</a:t>
            </a:r>
            <a:r>
              <a:rPr lang="en-US" dirty="0"/>
              <a:t>.</a:t>
            </a:r>
          </a:p>
          <a:p>
            <a:r>
              <a:rPr lang="en-US" dirty="0"/>
              <a:t>A guarded </a:t>
            </a:r>
            <a:r>
              <a:rPr lang="en-US" dirty="0">
                <a:solidFill>
                  <a:srgbClr val="A32D19"/>
                </a:solidFill>
              </a:rPr>
              <a:t>transition fires when its event occurs</a:t>
            </a:r>
            <a:r>
              <a:rPr lang="en-US" dirty="0"/>
              <a:t>.</a:t>
            </a:r>
          </a:p>
          <a:p>
            <a:r>
              <a:rPr lang="en-US" dirty="0"/>
              <a:t>Optionally listed </a:t>
            </a:r>
            <a:r>
              <a:rPr lang="en-US" dirty="0">
                <a:solidFill>
                  <a:srgbClr val="A32D19"/>
                </a:solidFill>
              </a:rPr>
              <a:t>in square brackets after an event</a:t>
            </a:r>
            <a:r>
              <a:rPr lang="en-US" dirty="0"/>
              <a:t>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476E0CF-5168-487B-94B3-552B6EB012E8}"/>
              </a:ext>
            </a:extLst>
          </p:cNvPr>
          <p:cNvSpPr/>
          <p:nvPr/>
        </p:nvSpPr>
        <p:spPr>
          <a:xfrm>
            <a:off x="106532" y="896303"/>
            <a:ext cx="4581057" cy="461665"/>
          </a:xfrm>
          <a:prstGeom prst="rect">
            <a:avLst/>
          </a:prstGeom>
          <a:solidFill>
            <a:srgbClr val="A32D19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Guard condition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019FE62-0156-4926-B202-D0F802B539AB}"/>
              </a:ext>
            </a:extLst>
          </p:cNvPr>
          <p:cNvCxnSpPr>
            <a:cxnSpLocks/>
          </p:cNvCxnSpPr>
          <p:nvPr/>
        </p:nvCxnSpPr>
        <p:spPr>
          <a:xfrm>
            <a:off x="2292570" y="1357863"/>
            <a:ext cx="9785495" cy="0"/>
          </a:xfrm>
          <a:prstGeom prst="line">
            <a:avLst/>
          </a:prstGeom>
          <a:ln w="1905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41610E97-7A91-4DDD-B75B-363B4E209AA9}"/>
              </a:ext>
            </a:extLst>
          </p:cNvPr>
          <p:cNvSpPr txBox="1"/>
          <p:nvPr/>
        </p:nvSpPr>
        <p:spPr>
          <a:xfrm>
            <a:off x="7354282" y="811258"/>
            <a:ext cx="37499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event(</a:t>
            </a:r>
            <a:r>
              <a:rPr lang="en-IN" dirty="0" err="1"/>
              <a:t>attribs</a:t>
            </a:r>
            <a:r>
              <a:rPr lang="en-IN" dirty="0"/>
              <a:t>) </a:t>
            </a:r>
            <a:r>
              <a:rPr lang="en-IN" b="1" dirty="0">
                <a:solidFill>
                  <a:srgbClr val="A32D19"/>
                </a:solidFill>
              </a:rPr>
              <a:t>[condition]</a:t>
            </a:r>
            <a:endParaRPr lang="en-IN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D5EB443-A25B-4E83-8A58-DEF4D32C59DD}"/>
              </a:ext>
            </a:extLst>
          </p:cNvPr>
          <p:cNvCxnSpPr>
            <a:cxnSpLocks/>
          </p:cNvCxnSpPr>
          <p:nvPr/>
        </p:nvCxnSpPr>
        <p:spPr>
          <a:xfrm>
            <a:off x="6253165" y="1217693"/>
            <a:ext cx="547395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593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uiExpand="1" build="p"/>
      <p:bldP spid="16" grpId="0" animBg="1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How to draw a </a:t>
            </a:r>
            <a:r>
              <a:rPr lang="en-US" dirty="0"/>
              <a:t>state diagram</a:t>
            </a:r>
            <a:endParaRPr lang="en-US" dirty="0">
              <a:latin typeface="+mn-lt"/>
            </a:endParaRPr>
          </a:p>
        </p:txBody>
      </p:sp>
      <p:sp>
        <p:nvSpPr>
          <p:cNvPr id="10" name="Content Placeholder 12">
            <a:extLst>
              <a:ext uri="{FF2B5EF4-FFF2-40B4-BE49-F238E27FC236}">
                <a16:creationId xmlns:a16="http://schemas.microsoft.com/office/drawing/2014/main" id="{61FBC286-D163-4541-9A3A-31743E81A4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43378"/>
            <a:ext cx="11929641" cy="5584055"/>
          </a:xfrm>
        </p:spPr>
        <p:txBody>
          <a:bodyPr/>
          <a:lstStyle/>
          <a:p>
            <a:r>
              <a:rPr lang="en-US" b="1" dirty="0">
                <a:solidFill>
                  <a:srgbClr val="A32D19"/>
                </a:solidFill>
              </a:rPr>
              <a:t>Step 1:</a:t>
            </a:r>
            <a:r>
              <a:rPr lang="en-US" dirty="0"/>
              <a:t> Identify the important </a:t>
            </a:r>
            <a:r>
              <a:rPr lang="en-US" dirty="0">
                <a:solidFill>
                  <a:srgbClr val="A32D19"/>
                </a:solidFill>
              </a:rPr>
              <a:t>objects</a:t>
            </a:r>
            <a:r>
              <a:rPr lang="en-US" dirty="0"/>
              <a:t>.</a:t>
            </a:r>
            <a:endParaRPr lang="en-US" b="1" dirty="0">
              <a:solidFill>
                <a:srgbClr val="A32D19"/>
              </a:solidFill>
            </a:endParaRPr>
          </a:p>
          <a:p>
            <a:r>
              <a:rPr lang="en-US" b="1" dirty="0">
                <a:solidFill>
                  <a:srgbClr val="A32D19"/>
                </a:solidFill>
              </a:rPr>
              <a:t>Step 2:</a:t>
            </a:r>
            <a:r>
              <a:rPr lang="en-US" dirty="0"/>
              <a:t> Identify the </a:t>
            </a:r>
            <a:r>
              <a:rPr lang="en-US" dirty="0">
                <a:solidFill>
                  <a:srgbClr val="A32D19"/>
                </a:solidFill>
              </a:rPr>
              <a:t>possible states </a:t>
            </a:r>
            <a:r>
              <a:rPr lang="en-US" dirty="0"/>
              <a:t>in which the </a:t>
            </a:r>
            <a:r>
              <a:rPr lang="en-US" dirty="0">
                <a:solidFill>
                  <a:srgbClr val="A32D19"/>
                </a:solidFill>
              </a:rPr>
              <a:t>object</a:t>
            </a:r>
            <a:r>
              <a:rPr lang="en-US" dirty="0"/>
              <a:t> can exist.  </a:t>
            </a:r>
          </a:p>
          <a:p>
            <a:r>
              <a:rPr lang="en-US" b="1" dirty="0">
                <a:solidFill>
                  <a:srgbClr val="A32D19"/>
                </a:solidFill>
              </a:rPr>
              <a:t>Step 3:</a:t>
            </a:r>
            <a:r>
              <a:rPr lang="en-US" dirty="0"/>
              <a:t> Identify the </a:t>
            </a:r>
            <a:r>
              <a:rPr lang="en-US" dirty="0">
                <a:solidFill>
                  <a:srgbClr val="A32D19"/>
                </a:solidFill>
              </a:rPr>
              <a:t>initial state and the final terminating states</a:t>
            </a:r>
            <a:r>
              <a:rPr lang="en-US" dirty="0"/>
              <a:t>.</a:t>
            </a:r>
          </a:p>
          <a:p>
            <a:r>
              <a:rPr lang="en-US" b="1" dirty="0">
                <a:solidFill>
                  <a:srgbClr val="A32D19"/>
                </a:solidFill>
              </a:rPr>
              <a:t>Step 4:</a:t>
            </a:r>
            <a:r>
              <a:rPr lang="en-US" dirty="0"/>
              <a:t> Label the </a:t>
            </a:r>
            <a:r>
              <a:rPr lang="en-US" dirty="0">
                <a:solidFill>
                  <a:srgbClr val="A32D19"/>
                </a:solidFill>
              </a:rPr>
              <a:t>events</a:t>
            </a:r>
            <a:r>
              <a:rPr lang="en-US" dirty="0"/>
              <a:t> which </a:t>
            </a:r>
            <a:r>
              <a:rPr lang="en-US" dirty="0">
                <a:solidFill>
                  <a:srgbClr val="A32D19"/>
                </a:solidFill>
              </a:rPr>
              <a:t>trigger</a:t>
            </a:r>
            <a:r>
              <a:rPr lang="en-US" dirty="0"/>
              <a:t> these </a:t>
            </a:r>
            <a:r>
              <a:rPr lang="en-US" dirty="0">
                <a:solidFill>
                  <a:srgbClr val="A32D19"/>
                </a:solidFill>
              </a:rPr>
              <a:t>transitions</a:t>
            </a:r>
            <a:r>
              <a:rPr lang="en-US" dirty="0"/>
              <a:t>.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871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5CB5F-C148-4560-A512-543482C1C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State diagram for library management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44639E-79F1-428F-A9BC-C3587D02EB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643888"/>
          </a:xfrm>
        </p:spPr>
        <p:txBody>
          <a:bodyPr/>
          <a:lstStyle/>
          <a:p>
            <a:r>
              <a:rPr lang="en-IN" dirty="0"/>
              <a:t>Identify the important objects</a:t>
            </a:r>
          </a:p>
          <a:p>
            <a:pPr lvl="1"/>
            <a:r>
              <a:rPr lang="en-IN" dirty="0"/>
              <a:t>Book</a:t>
            </a:r>
          </a:p>
          <a:p>
            <a:pPr lvl="1"/>
            <a:r>
              <a:rPr lang="en-IN" dirty="0"/>
              <a:t>CD/DVD</a:t>
            </a:r>
          </a:p>
          <a:p>
            <a:pPr lvl="1"/>
            <a:r>
              <a:rPr lang="en-IN" dirty="0"/>
              <a:t>News Paper</a:t>
            </a:r>
          </a:p>
          <a:p>
            <a:pPr lvl="1"/>
            <a:r>
              <a:rPr lang="en-IN" dirty="0"/>
              <a:t>Librarian</a:t>
            </a:r>
          </a:p>
          <a:p>
            <a:pPr lvl="1"/>
            <a:r>
              <a:rPr lang="en-IN" dirty="0"/>
              <a:t>Member</a:t>
            </a:r>
          </a:p>
          <a:p>
            <a:r>
              <a:rPr lang="en-IN" dirty="0"/>
              <a:t>Identify the states of Book’s Object</a:t>
            </a:r>
          </a:p>
          <a:p>
            <a:pPr lvl="1"/>
            <a:r>
              <a:rPr lang="en-US" dirty="0"/>
              <a:t>Available</a:t>
            </a:r>
          </a:p>
          <a:p>
            <a:pPr lvl="1"/>
            <a:r>
              <a:rPr lang="en-US" dirty="0"/>
              <a:t>Issue</a:t>
            </a:r>
          </a:p>
          <a:p>
            <a:pPr lvl="1"/>
            <a:r>
              <a:rPr lang="en-US" dirty="0"/>
              <a:t>Return</a:t>
            </a:r>
          </a:p>
          <a:p>
            <a:pPr lvl="1"/>
            <a:r>
              <a:rPr lang="en-US" dirty="0"/>
              <a:t>Renew</a:t>
            </a:r>
          </a:p>
          <a:p>
            <a:r>
              <a:rPr lang="en-US" dirty="0"/>
              <a:t>Identify the events / transition</a:t>
            </a:r>
          </a:p>
          <a:p>
            <a:pPr lvl="1"/>
            <a:r>
              <a:rPr lang="en-US" dirty="0"/>
              <a:t>Book issued to user</a:t>
            </a:r>
          </a:p>
          <a:p>
            <a:pPr lvl="1"/>
            <a:r>
              <a:rPr lang="en-US" dirty="0"/>
              <a:t>Submit the book</a:t>
            </a:r>
          </a:p>
          <a:p>
            <a:pPr lvl="1"/>
            <a:r>
              <a:rPr lang="en-US" dirty="0"/>
              <a:t>Request to issue same book</a:t>
            </a:r>
          </a:p>
          <a:p>
            <a:pPr lvl="1"/>
            <a:r>
              <a:rPr lang="en-US" dirty="0"/>
              <a:t>Completion of exam / end of the Semester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IN" dirty="0"/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059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54CD9540-3550-445B-A642-C32500C14DD7}"/>
              </a:ext>
            </a:extLst>
          </p:cNvPr>
          <p:cNvGrpSpPr/>
          <p:nvPr/>
        </p:nvGrpSpPr>
        <p:grpSpPr>
          <a:xfrm>
            <a:off x="1121369" y="978754"/>
            <a:ext cx="8077200" cy="5361374"/>
            <a:chOff x="2057400" y="1048304"/>
            <a:chExt cx="8077200" cy="4988512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0E533921-9B17-47C2-95FD-8F97B1DF9C1D}"/>
                </a:ext>
              </a:extLst>
            </p:cNvPr>
            <p:cNvSpPr/>
            <p:nvPr/>
          </p:nvSpPr>
          <p:spPr>
            <a:xfrm>
              <a:off x="2057400" y="1048304"/>
              <a:ext cx="8077200" cy="498851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BB12B5C7-2EB0-4A66-AA61-6E996F6C6EFE}"/>
                </a:ext>
              </a:extLst>
            </p:cNvPr>
            <p:cNvGrpSpPr/>
            <p:nvPr/>
          </p:nvGrpSpPr>
          <p:grpSpPr>
            <a:xfrm>
              <a:off x="2057400" y="1048304"/>
              <a:ext cx="1600200" cy="685800"/>
              <a:chOff x="533400" y="1447800"/>
              <a:chExt cx="1600200" cy="685800"/>
            </a:xfrm>
          </p:grpSpPr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0DF14D6F-7710-4BAA-A93B-DA747AEF85CC}"/>
                  </a:ext>
                </a:extLst>
              </p:cNvPr>
              <p:cNvCxnSpPr/>
              <p:nvPr/>
            </p:nvCxnSpPr>
            <p:spPr>
              <a:xfrm>
                <a:off x="2133600" y="1447800"/>
                <a:ext cx="0" cy="45720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183DE222-70CF-4AC4-BB03-9B478BC699A5}"/>
                  </a:ext>
                </a:extLst>
              </p:cNvPr>
              <p:cNvCxnSpPr/>
              <p:nvPr/>
            </p:nvCxnSpPr>
            <p:spPr>
              <a:xfrm>
                <a:off x="533400" y="2133600"/>
                <a:ext cx="137160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C8C9D3C6-38AA-4EDA-A2C9-D313CACCEA65}"/>
                  </a:ext>
                </a:extLst>
              </p:cNvPr>
              <p:cNvCxnSpPr/>
              <p:nvPr/>
            </p:nvCxnSpPr>
            <p:spPr>
              <a:xfrm flipH="1">
                <a:off x="1905000" y="1905000"/>
                <a:ext cx="228600" cy="22860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 diagram of book</a:t>
            </a:r>
            <a:endParaRPr lang="en-US" dirty="0">
              <a:latin typeface="+mn-lt"/>
            </a:endParaRPr>
          </a:p>
        </p:txBody>
      </p:sp>
      <p:sp>
        <p:nvSpPr>
          <p:cNvPr id="28" name="Flowchart: Terminator 27">
            <a:extLst>
              <a:ext uri="{FF2B5EF4-FFF2-40B4-BE49-F238E27FC236}">
                <a16:creationId xmlns:a16="http://schemas.microsoft.com/office/drawing/2014/main" id="{EBA3091F-A526-468E-8945-4E9726EF4335}"/>
              </a:ext>
            </a:extLst>
          </p:cNvPr>
          <p:cNvSpPr/>
          <p:nvPr/>
        </p:nvSpPr>
        <p:spPr>
          <a:xfrm>
            <a:off x="2035770" y="2513859"/>
            <a:ext cx="1676400" cy="609600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Available</a:t>
            </a:r>
          </a:p>
        </p:txBody>
      </p:sp>
      <p:sp>
        <p:nvSpPr>
          <p:cNvPr id="29" name="Flowchart: Terminator 28">
            <a:extLst>
              <a:ext uri="{FF2B5EF4-FFF2-40B4-BE49-F238E27FC236}">
                <a16:creationId xmlns:a16="http://schemas.microsoft.com/office/drawing/2014/main" id="{F0C03AA0-A53B-4B6F-B9B6-970ADE327C8F}"/>
              </a:ext>
            </a:extLst>
          </p:cNvPr>
          <p:cNvSpPr/>
          <p:nvPr/>
        </p:nvSpPr>
        <p:spPr>
          <a:xfrm>
            <a:off x="6760170" y="2513859"/>
            <a:ext cx="1676400" cy="609600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Issue</a:t>
            </a:r>
          </a:p>
        </p:txBody>
      </p:sp>
      <p:sp>
        <p:nvSpPr>
          <p:cNvPr id="30" name="Flowchart: Terminator 29">
            <a:extLst>
              <a:ext uri="{FF2B5EF4-FFF2-40B4-BE49-F238E27FC236}">
                <a16:creationId xmlns:a16="http://schemas.microsoft.com/office/drawing/2014/main" id="{EC8FA6D4-4406-4B14-89B2-3BD834B5B6A1}"/>
              </a:ext>
            </a:extLst>
          </p:cNvPr>
          <p:cNvSpPr/>
          <p:nvPr/>
        </p:nvSpPr>
        <p:spPr>
          <a:xfrm>
            <a:off x="6760170" y="5269646"/>
            <a:ext cx="1676400" cy="609600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Renew</a:t>
            </a:r>
          </a:p>
        </p:txBody>
      </p:sp>
      <p:sp>
        <p:nvSpPr>
          <p:cNvPr id="31" name="Flowchart: Terminator 30">
            <a:extLst>
              <a:ext uri="{FF2B5EF4-FFF2-40B4-BE49-F238E27FC236}">
                <a16:creationId xmlns:a16="http://schemas.microsoft.com/office/drawing/2014/main" id="{E8786641-0466-4674-AA88-CD4202127446}"/>
              </a:ext>
            </a:extLst>
          </p:cNvPr>
          <p:cNvSpPr/>
          <p:nvPr/>
        </p:nvSpPr>
        <p:spPr>
          <a:xfrm>
            <a:off x="2035770" y="5269646"/>
            <a:ext cx="1676400" cy="609600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Return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AFE652A-4E41-4235-9C0E-DE48A017123F}"/>
              </a:ext>
            </a:extLst>
          </p:cNvPr>
          <p:cNvSpPr/>
          <p:nvPr/>
        </p:nvSpPr>
        <p:spPr>
          <a:xfrm>
            <a:off x="1465134" y="1136932"/>
            <a:ext cx="64633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Book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B72C4BEE-4A14-4763-BD06-7DA42D6A6551}"/>
              </a:ext>
            </a:extLst>
          </p:cNvPr>
          <p:cNvSpPr/>
          <p:nvPr/>
        </p:nvSpPr>
        <p:spPr>
          <a:xfrm>
            <a:off x="2759670" y="1866159"/>
            <a:ext cx="228600" cy="2286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C5DC7F00-32D3-4D9F-805C-563DC8D8B416}"/>
              </a:ext>
            </a:extLst>
          </p:cNvPr>
          <p:cNvCxnSpPr>
            <a:stCxn id="47" idx="4"/>
          </p:cNvCxnSpPr>
          <p:nvPr/>
        </p:nvCxnSpPr>
        <p:spPr>
          <a:xfrm>
            <a:off x="2873970" y="2094759"/>
            <a:ext cx="0" cy="4191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166388CA-CF86-4D68-BD96-3DB5723D4B7F}"/>
              </a:ext>
            </a:extLst>
          </p:cNvPr>
          <p:cNvCxnSpPr/>
          <p:nvPr/>
        </p:nvCxnSpPr>
        <p:spPr>
          <a:xfrm>
            <a:off x="3712170" y="2818659"/>
            <a:ext cx="3048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A5A93748-F7F0-47A8-AECF-C72EB89A07BC}"/>
              </a:ext>
            </a:extLst>
          </p:cNvPr>
          <p:cNvCxnSpPr/>
          <p:nvPr/>
        </p:nvCxnSpPr>
        <p:spPr>
          <a:xfrm>
            <a:off x="7598370" y="3123459"/>
            <a:ext cx="0" cy="21461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FC100BA6-A417-4926-ABCB-276B34A0356E}"/>
              </a:ext>
            </a:extLst>
          </p:cNvPr>
          <p:cNvCxnSpPr>
            <a:cxnSpLocks/>
          </p:cNvCxnSpPr>
          <p:nvPr/>
        </p:nvCxnSpPr>
        <p:spPr>
          <a:xfrm flipV="1">
            <a:off x="8199092" y="3095658"/>
            <a:ext cx="0" cy="21739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AA61D7B5-4AD2-4616-95DF-5AAE9494C380}"/>
              </a:ext>
            </a:extLst>
          </p:cNvPr>
          <p:cNvCxnSpPr/>
          <p:nvPr/>
        </p:nvCxnSpPr>
        <p:spPr>
          <a:xfrm flipV="1">
            <a:off x="2873970" y="3123459"/>
            <a:ext cx="0" cy="21461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3BB16A25-2E8A-4148-81E0-B759D33C304E}"/>
              </a:ext>
            </a:extLst>
          </p:cNvPr>
          <p:cNvCxnSpPr>
            <a:cxnSpLocks/>
            <a:endCxn id="31" idx="3"/>
          </p:cNvCxnSpPr>
          <p:nvPr/>
        </p:nvCxnSpPr>
        <p:spPr>
          <a:xfrm flipH="1">
            <a:off x="3712170" y="3000652"/>
            <a:ext cx="3132513" cy="25737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596174F6-DE2D-46E7-A3CB-88AE92191D0B}"/>
              </a:ext>
            </a:extLst>
          </p:cNvPr>
          <p:cNvSpPr txBox="1"/>
          <p:nvPr/>
        </p:nvSpPr>
        <p:spPr>
          <a:xfrm>
            <a:off x="4207469" y="2555561"/>
            <a:ext cx="19050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Book issued to user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B112888-63A4-43E5-88BA-050EC45FB239}"/>
              </a:ext>
            </a:extLst>
          </p:cNvPr>
          <p:cNvSpPr txBox="1"/>
          <p:nvPr/>
        </p:nvSpPr>
        <p:spPr>
          <a:xfrm rot="19256900">
            <a:off x="3341424" y="3987546"/>
            <a:ext cx="31903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/>
              <a:t>[After</a:t>
            </a:r>
            <a:r>
              <a:rPr lang="en-US" sz="1200" dirty="0"/>
              <a:t> completion of exam] OR Book No of Days Completed OR User want to Return the book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E800690-C524-4601-8C73-1A1B0A705157}"/>
              </a:ext>
            </a:extLst>
          </p:cNvPr>
          <p:cNvSpPr txBox="1"/>
          <p:nvPr/>
        </p:nvSpPr>
        <p:spPr>
          <a:xfrm rot="16200000">
            <a:off x="2085311" y="4101666"/>
            <a:ext cx="17985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Submit the book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64DC812-BB0A-4B1A-8312-97F533DD4CA0}"/>
              </a:ext>
            </a:extLst>
          </p:cNvPr>
          <p:cNvSpPr txBox="1"/>
          <p:nvPr/>
        </p:nvSpPr>
        <p:spPr>
          <a:xfrm rot="16200000">
            <a:off x="6514087" y="4055159"/>
            <a:ext cx="18915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Request to issue same book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27BE67A-07A4-4D3A-93F9-C4290777B231}"/>
              </a:ext>
            </a:extLst>
          </p:cNvPr>
          <p:cNvSpPr txBox="1"/>
          <p:nvPr/>
        </p:nvSpPr>
        <p:spPr>
          <a:xfrm rot="16200000">
            <a:off x="7352296" y="4174576"/>
            <a:ext cx="14352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Book re-issue</a:t>
            </a:r>
          </a:p>
        </p:txBody>
      </p:sp>
    </p:spTree>
    <p:extLst>
      <p:ext uri="{BB962C8B-B14F-4D97-AF65-F5344CB8AC3E}">
        <p14:creationId xmlns:p14="http://schemas.microsoft.com/office/powerpoint/2010/main" val="569449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  <p:bldP spid="30" grpId="0" animBg="1"/>
      <p:bldP spid="31" grpId="0" animBg="1"/>
      <p:bldP spid="46" grpId="0"/>
      <p:bldP spid="47" grpId="0" animBg="1"/>
      <p:bldP spid="59" grpId="0"/>
      <p:bldP spid="61" grpId="0"/>
      <p:bldP spid="63" grpId="0"/>
      <p:bldP spid="36" grpId="0"/>
      <p:bldP spid="3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5CB5F-C148-4560-A512-543482C1C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State diagram of </a:t>
            </a:r>
            <a:r>
              <a:rPr lang="de-DE" dirty="0"/>
              <a:t>Bank Automated Teller Machine (ATM)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9241FB-FACE-4998-A5BF-7E74753897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an example of UML behavioral state diagram showing Bank Automated Teller Machine (ATM) top level state machine.</a:t>
            </a:r>
          </a:p>
          <a:p>
            <a:r>
              <a:rPr lang="en-US" dirty="0"/>
              <a:t>ATM is initially </a:t>
            </a:r>
            <a:r>
              <a:rPr lang="en-US" dirty="0">
                <a:solidFill>
                  <a:srgbClr val="A32D19"/>
                </a:solidFill>
              </a:rPr>
              <a:t>turned off</a:t>
            </a:r>
            <a:r>
              <a:rPr lang="en-US" dirty="0"/>
              <a:t>. After the power is turned on, ATM performs startup action and enters </a:t>
            </a:r>
            <a:r>
              <a:rPr lang="en-US" dirty="0">
                <a:solidFill>
                  <a:srgbClr val="A32D19"/>
                </a:solidFill>
              </a:rPr>
              <a:t>Self Test state</a:t>
            </a:r>
            <a:r>
              <a:rPr lang="en-US" dirty="0"/>
              <a:t>.</a:t>
            </a:r>
          </a:p>
          <a:p>
            <a:r>
              <a:rPr lang="en-US" dirty="0"/>
              <a:t>If the </a:t>
            </a:r>
            <a:r>
              <a:rPr lang="en-US" dirty="0">
                <a:solidFill>
                  <a:srgbClr val="A32D19"/>
                </a:solidFill>
              </a:rPr>
              <a:t>test fails</a:t>
            </a:r>
            <a:r>
              <a:rPr lang="en-US" dirty="0"/>
              <a:t>, ATM goes into </a:t>
            </a:r>
            <a:r>
              <a:rPr lang="en-US" dirty="0">
                <a:solidFill>
                  <a:srgbClr val="A32D19"/>
                </a:solidFill>
              </a:rPr>
              <a:t>Out of Service </a:t>
            </a:r>
            <a:r>
              <a:rPr lang="en-US" dirty="0"/>
              <a:t>state, otherwise there is trigger less transition to the </a:t>
            </a:r>
            <a:r>
              <a:rPr lang="en-US" dirty="0">
                <a:solidFill>
                  <a:srgbClr val="A32D19"/>
                </a:solidFill>
              </a:rPr>
              <a:t>Idle state</a:t>
            </a:r>
            <a:r>
              <a:rPr lang="en-US" dirty="0"/>
              <a:t>. In this state ATM </a:t>
            </a:r>
            <a:r>
              <a:rPr lang="en-US" dirty="0">
                <a:solidFill>
                  <a:srgbClr val="A32D19"/>
                </a:solidFill>
              </a:rPr>
              <a:t>waits for customer interaction</a:t>
            </a:r>
            <a:r>
              <a:rPr lang="en-US" dirty="0"/>
              <a:t>.</a:t>
            </a:r>
          </a:p>
          <a:p>
            <a:r>
              <a:rPr lang="en-US" dirty="0"/>
              <a:t>The ATM state changes from </a:t>
            </a:r>
            <a:r>
              <a:rPr lang="en-US" dirty="0">
                <a:solidFill>
                  <a:srgbClr val="A32D19"/>
                </a:solidFill>
              </a:rPr>
              <a:t>Idle to Serving Customer </a:t>
            </a:r>
            <a:r>
              <a:rPr lang="en-US" dirty="0"/>
              <a:t>when the customer </a:t>
            </a:r>
            <a:r>
              <a:rPr lang="en-US" dirty="0">
                <a:solidFill>
                  <a:srgbClr val="A32D19"/>
                </a:solidFill>
              </a:rPr>
              <a:t>inserts</a:t>
            </a:r>
            <a:r>
              <a:rPr lang="en-US" dirty="0"/>
              <a:t> banking or credit </a:t>
            </a:r>
            <a:r>
              <a:rPr lang="en-US" dirty="0">
                <a:solidFill>
                  <a:srgbClr val="A32D19"/>
                </a:solidFill>
              </a:rPr>
              <a:t>card</a:t>
            </a:r>
            <a:r>
              <a:rPr lang="en-US" dirty="0"/>
              <a:t> in the ATM's card reader. </a:t>
            </a:r>
          </a:p>
          <a:p>
            <a:r>
              <a:rPr lang="en-US" dirty="0"/>
              <a:t>On entering the Serving Customer state, the entry action </a:t>
            </a:r>
            <a:r>
              <a:rPr lang="en-US" dirty="0" err="1">
                <a:solidFill>
                  <a:srgbClr val="A32D19"/>
                </a:solidFill>
              </a:rPr>
              <a:t>readCard</a:t>
            </a:r>
            <a:r>
              <a:rPr lang="en-US" dirty="0"/>
              <a:t> is performed. </a:t>
            </a:r>
          </a:p>
          <a:p>
            <a:r>
              <a:rPr lang="en-US" dirty="0"/>
              <a:t>Note, that transition from Serving Customer state back to the Idle state could be triggered by cancel event as the </a:t>
            </a:r>
            <a:r>
              <a:rPr lang="en-US" dirty="0">
                <a:solidFill>
                  <a:srgbClr val="A32D19"/>
                </a:solidFill>
              </a:rPr>
              <a:t>customer could cancel transaction at any time.</a:t>
            </a:r>
          </a:p>
          <a:p>
            <a:r>
              <a:rPr lang="en-US" dirty="0"/>
              <a:t>Serving Customer state is a </a:t>
            </a:r>
            <a:r>
              <a:rPr lang="en-US" dirty="0">
                <a:solidFill>
                  <a:srgbClr val="A32D19"/>
                </a:solidFill>
              </a:rPr>
              <a:t>composite state </a:t>
            </a:r>
            <a:r>
              <a:rPr lang="en-US" dirty="0"/>
              <a:t>with sequential substates </a:t>
            </a:r>
            <a:r>
              <a:rPr lang="en-US" dirty="0">
                <a:solidFill>
                  <a:srgbClr val="A32D19"/>
                </a:solidFill>
              </a:rPr>
              <a:t>Customer Authentication</a:t>
            </a:r>
            <a:r>
              <a:rPr lang="en-US" dirty="0"/>
              <a:t>, </a:t>
            </a:r>
            <a:r>
              <a:rPr lang="en-US" dirty="0">
                <a:solidFill>
                  <a:srgbClr val="A32D19"/>
                </a:solidFill>
              </a:rPr>
              <a:t>Selecting Transaction </a:t>
            </a:r>
            <a:r>
              <a:rPr lang="en-US" dirty="0"/>
              <a:t>and </a:t>
            </a:r>
            <a:r>
              <a:rPr lang="en-US" dirty="0">
                <a:solidFill>
                  <a:srgbClr val="A32D19"/>
                </a:solidFill>
              </a:rPr>
              <a:t>Transaction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1949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7594F6E0-D16D-4F9C-A42D-B489D5913FC4}"/>
              </a:ext>
            </a:extLst>
          </p:cNvPr>
          <p:cNvGrpSpPr/>
          <p:nvPr/>
        </p:nvGrpSpPr>
        <p:grpSpPr>
          <a:xfrm>
            <a:off x="466902" y="822202"/>
            <a:ext cx="8854651" cy="5605231"/>
            <a:chOff x="157901" y="1012129"/>
            <a:chExt cx="10836852" cy="4738465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0E533921-9B17-47C2-95FD-8F97B1DF9C1D}"/>
                </a:ext>
              </a:extLst>
            </p:cNvPr>
            <p:cNvSpPr/>
            <p:nvPr/>
          </p:nvSpPr>
          <p:spPr>
            <a:xfrm>
              <a:off x="157901" y="1012129"/>
              <a:ext cx="10836852" cy="47384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BB12B5C7-2EB0-4A66-AA61-6E996F6C6EFE}"/>
                </a:ext>
              </a:extLst>
            </p:cNvPr>
            <p:cNvGrpSpPr/>
            <p:nvPr/>
          </p:nvGrpSpPr>
          <p:grpSpPr>
            <a:xfrm>
              <a:off x="157901" y="1012129"/>
              <a:ext cx="1482420" cy="372788"/>
              <a:chOff x="540016" y="1447800"/>
              <a:chExt cx="1104915" cy="392460"/>
            </a:xfrm>
          </p:grpSpPr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0DF14D6F-7710-4BAA-A93B-DA747AEF85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33224" y="1447800"/>
                <a:ext cx="0" cy="22097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183DE222-70CF-4AC4-BB03-9B478BC699A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40016" y="1825716"/>
                <a:ext cx="980212" cy="1454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C8C9D3C6-38AA-4EDA-A2C9-D313CACCEA6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515642" y="1662485"/>
                <a:ext cx="129289" cy="15694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 diagram of </a:t>
            </a:r>
            <a:r>
              <a:rPr lang="de-DE" dirty="0"/>
              <a:t>Bank Automated Teller Machine (ATM)</a:t>
            </a:r>
            <a:endParaRPr lang="en-US" dirty="0">
              <a:latin typeface="+mn-lt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AFE652A-4E41-4235-9C0E-DE48A017123F}"/>
              </a:ext>
            </a:extLst>
          </p:cNvPr>
          <p:cNvSpPr/>
          <p:nvPr/>
        </p:nvSpPr>
        <p:spPr>
          <a:xfrm>
            <a:off x="466902" y="873976"/>
            <a:ext cx="1175446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Bank ATM 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B72C4BEE-4A14-4763-BD06-7DA42D6A6551}"/>
              </a:ext>
            </a:extLst>
          </p:cNvPr>
          <p:cNvSpPr/>
          <p:nvPr/>
        </p:nvSpPr>
        <p:spPr>
          <a:xfrm>
            <a:off x="5250440" y="928467"/>
            <a:ext cx="228600" cy="2286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C5DC7F00-32D3-4D9F-805C-563DC8D8B416}"/>
              </a:ext>
            </a:extLst>
          </p:cNvPr>
          <p:cNvCxnSpPr>
            <a:cxnSpLocks/>
            <a:stCxn id="47" idx="4"/>
            <a:endCxn id="37" idx="0"/>
          </p:cNvCxnSpPr>
          <p:nvPr/>
        </p:nvCxnSpPr>
        <p:spPr>
          <a:xfrm>
            <a:off x="5364740" y="1157067"/>
            <a:ext cx="0" cy="3550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Flowchart: Terminator 36">
            <a:extLst>
              <a:ext uri="{FF2B5EF4-FFF2-40B4-BE49-F238E27FC236}">
                <a16:creationId xmlns:a16="http://schemas.microsoft.com/office/drawing/2014/main" id="{F9BD868B-4BA0-472C-A6E5-92BE1837EC9F}"/>
              </a:ext>
            </a:extLst>
          </p:cNvPr>
          <p:cNvSpPr/>
          <p:nvPr/>
        </p:nvSpPr>
        <p:spPr>
          <a:xfrm>
            <a:off x="4946578" y="1512069"/>
            <a:ext cx="836324" cy="380762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off</a:t>
            </a:r>
          </a:p>
        </p:txBody>
      </p:sp>
      <p:sp>
        <p:nvSpPr>
          <p:cNvPr id="39" name="Flowchart: Terminator 38">
            <a:extLst>
              <a:ext uri="{FF2B5EF4-FFF2-40B4-BE49-F238E27FC236}">
                <a16:creationId xmlns:a16="http://schemas.microsoft.com/office/drawing/2014/main" id="{AE9CCAEB-5CA0-437A-8FA9-34E16A103D3D}"/>
              </a:ext>
            </a:extLst>
          </p:cNvPr>
          <p:cNvSpPr/>
          <p:nvPr/>
        </p:nvSpPr>
        <p:spPr>
          <a:xfrm>
            <a:off x="4805082" y="2672589"/>
            <a:ext cx="1090905" cy="481404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Self Test</a:t>
            </a:r>
          </a:p>
        </p:txBody>
      </p:sp>
      <p:sp>
        <p:nvSpPr>
          <p:cNvPr id="43" name="Flowchart: Terminator 42">
            <a:extLst>
              <a:ext uri="{FF2B5EF4-FFF2-40B4-BE49-F238E27FC236}">
                <a16:creationId xmlns:a16="http://schemas.microsoft.com/office/drawing/2014/main" id="{6A172EEF-10DC-44AB-B964-2793345F7B7E}"/>
              </a:ext>
            </a:extLst>
          </p:cNvPr>
          <p:cNvSpPr/>
          <p:nvPr/>
        </p:nvSpPr>
        <p:spPr>
          <a:xfrm>
            <a:off x="2223654" y="3795197"/>
            <a:ext cx="1090905" cy="380762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Idle</a:t>
            </a:r>
          </a:p>
        </p:txBody>
      </p:sp>
      <p:sp>
        <p:nvSpPr>
          <p:cNvPr id="54" name="Flowchart: Terminator 53">
            <a:extLst>
              <a:ext uri="{FF2B5EF4-FFF2-40B4-BE49-F238E27FC236}">
                <a16:creationId xmlns:a16="http://schemas.microsoft.com/office/drawing/2014/main" id="{E081CA53-5E93-4735-9841-4949004F3E58}"/>
              </a:ext>
            </a:extLst>
          </p:cNvPr>
          <p:cNvSpPr/>
          <p:nvPr/>
        </p:nvSpPr>
        <p:spPr>
          <a:xfrm>
            <a:off x="4596723" y="3759128"/>
            <a:ext cx="1499277" cy="481404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Maintenance</a:t>
            </a:r>
          </a:p>
        </p:txBody>
      </p:sp>
      <p:sp>
        <p:nvSpPr>
          <p:cNvPr id="55" name="Flowchart: Terminator 54">
            <a:extLst>
              <a:ext uri="{FF2B5EF4-FFF2-40B4-BE49-F238E27FC236}">
                <a16:creationId xmlns:a16="http://schemas.microsoft.com/office/drawing/2014/main" id="{B887FB86-1A20-48CF-BE93-40642F9F6C08}"/>
              </a:ext>
            </a:extLst>
          </p:cNvPr>
          <p:cNvSpPr/>
          <p:nvPr/>
        </p:nvSpPr>
        <p:spPr>
          <a:xfrm>
            <a:off x="7333595" y="3689039"/>
            <a:ext cx="1338002" cy="561447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Out of Service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F6D507F-CAA3-476A-9200-273ECCE16A9E}"/>
              </a:ext>
            </a:extLst>
          </p:cNvPr>
          <p:cNvCxnSpPr>
            <a:cxnSpLocks/>
            <a:stCxn id="37" idx="2"/>
            <a:endCxn id="39" idx="0"/>
          </p:cNvCxnSpPr>
          <p:nvPr/>
        </p:nvCxnSpPr>
        <p:spPr>
          <a:xfrm flipH="1">
            <a:off x="5350535" y="1892831"/>
            <a:ext cx="14205" cy="7797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C613E47B-9323-4986-AEAB-F35C776365ED}"/>
              </a:ext>
            </a:extLst>
          </p:cNvPr>
          <p:cNvSpPr txBox="1"/>
          <p:nvPr/>
        </p:nvSpPr>
        <p:spPr>
          <a:xfrm rot="16200000">
            <a:off x="4775587" y="2012974"/>
            <a:ext cx="7024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turn on /</a:t>
            </a:r>
          </a:p>
          <a:p>
            <a:r>
              <a:rPr lang="en-IN" sz="1200" dirty="0"/>
              <a:t> </a:t>
            </a:r>
            <a:r>
              <a:rPr lang="en-IN" sz="1200" dirty="0" err="1"/>
              <a:t>startup</a:t>
            </a:r>
            <a:endParaRPr lang="en-IN" sz="1200" dirty="0"/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0B39AE45-7009-4E55-AF2E-B08C7A154B14}"/>
              </a:ext>
            </a:extLst>
          </p:cNvPr>
          <p:cNvCxnSpPr>
            <a:cxnSpLocks/>
          </p:cNvCxnSpPr>
          <p:nvPr/>
        </p:nvCxnSpPr>
        <p:spPr>
          <a:xfrm>
            <a:off x="6062861" y="3859205"/>
            <a:ext cx="13107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7F6D1506-C685-42DD-9FEA-2849EDC28239}"/>
              </a:ext>
            </a:extLst>
          </p:cNvPr>
          <p:cNvCxnSpPr>
            <a:cxnSpLocks/>
            <a:stCxn id="43" idx="3"/>
            <a:endCxn id="54" idx="1"/>
          </p:cNvCxnSpPr>
          <p:nvPr/>
        </p:nvCxnSpPr>
        <p:spPr>
          <a:xfrm>
            <a:off x="3314559" y="3985578"/>
            <a:ext cx="1282164" cy="142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1" name="Connector: Elbow 100">
            <a:extLst>
              <a:ext uri="{FF2B5EF4-FFF2-40B4-BE49-F238E27FC236}">
                <a16:creationId xmlns:a16="http://schemas.microsoft.com/office/drawing/2014/main" id="{3EF9584D-F29E-4F31-A679-FE746DBEA023}"/>
              </a:ext>
            </a:extLst>
          </p:cNvPr>
          <p:cNvCxnSpPr>
            <a:cxnSpLocks/>
            <a:stCxn id="37" idx="1"/>
            <a:endCxn id="43" idx="1"/>
          </p:cNvCxnSpPr>
          <p:nvPr/>
        </p:nvCxnSpPr>
        <p:spPr>
          <a:xfrm rot="10800000" flipV="1">
            <a:off x="2223654" y="1702450"/>
            <a:ext cx="2722924" cy="2283128"/>
          </a:xfrm>
          <a:prstGeom prst="bentConnector3">
            <a:avLst>
              <a:gd name="adj1" fmla="val 108395"/>
            </a:avLst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3" name="Connector: Elbow 102">
            <a:extLst>
              <a:ext uri="{FF2B5EF4-FFF2-40B4-BE49-F238E27FC236}">
                <a16:creationId xmlns:a16="http://schemas.microsoft.com/office/drawing/2014/main" id="{C7EFEE18-91F0-439C-B6FA-27D7F595CE4E}"/>
              </a:ext>
            </a:extLst>
          </p:cNvPr>
          <p:cNvCxnSpPr>
            <a:cxnSpLocks/>
            <a:stCxn id="39" idx="1"/>
            <a:endCxn id="43" idx="0"/>
          </p:cNvCxnSpPr>
          <p:nvPr/>
        </p:nvCxnSpPr>
        <p:spPr>
          <a:xfrm rot="10800000" flipV="1">
            <a:off x="2769108" y="2913291"/>
            <a:ext cx="2035975" cy="88190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4" name="Connector: Elbow 113">
            <a:extLst>
              <a:ext uri="{FF2B5EF4-FFF2-40B4-BE49-F238E27FC236}">
                <a16:creationId xmlns:a16="http://schemas.microsoft.com/office/drawing/2014/main" id="{845AD61B-D48B-4490-AD7D-F7BCF783F4B4}"/>
              </a:ext>
            </a:extLst>
          </p:cNvPr>
          <p:cNvCxnSpPr>
            <a:cxnSpLocks/>
            <a:stCxn id="37" idx="3"/>
            <a:endCxn id="55" idx="0"/>
          </p:cNvCxnSpPr>
          <p:nvPr/>
        </p:nvCxnSpPr>
        <p:spPr>
          <a:xfrm>
            <a:off x="5782902" y="1702450"/>
            <a:ext cx="2219694" cy="1986589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7FA6E5FF-267D-44E8-A5AD-4B84430D9870}"/>
              </a:ext>
            </a:extLst>
          </p:cNvPr>
          <p:cNvCxnSpPr>
            <a:cxnSpLocks/>
            <a:stCxn id="39" idx="2"/>
            <a:endCxn id="54" idx="0"/>
          </p:cNvCxnSpPr>
          <p:nvPr/>
        </p:nvCxnSpPr>
        <p:spPr>
          <a:xfrm flipH="1">
            <a:off x="5346362" y="3153993"/>
            <a:ext cx="4173" cy="605135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7" name="TextBox 136">
            <a:extLst>
              <a:ext uri="{FF2B5EF4-FFF2-40B4-BE49-F238E27FC236}">
                <a16:creationId xmlns:a16="http://schemas.microsoft.com/office/drawing/2014/main" id="{29E4DE9E-13D9-469A-A2F2-66944F9589F7}"/>
              </a:ext>
            </a:extLst>
          </p:cNvPr>
          <p:cNvSpPr txBox="1"/>
          <p:nvPr/>
        </p:nvSpPr>
        <p:spPr>
          <a:xfrm>
            <a:off x="6338811" y="1468760"/>
            <a:ext cx="13853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turn off / shut-down</a:t>
            </a:r>
          </a:p>
        </p:txBody>
      </p:sp>
      <p:grpSp>
        <p:nvGrpSpPr>
          <p:cNvPr id="84" name="Group 83">
            <a:extLst>
              <a:ext uri="{FF2B5EF4-FFF2-40B4-BE49-F238E27FC236}">
                <a16:creationId xmlns:a16="http://schemas.microsoft.com/office/drawing/2014/main" id="{AE318581-805F-47F7-9141-9C0DADE1CB06}"/>
              </a:ext>
            </a:extLst>
          </p:cNvPr>
          <p:cNvGrpSpPr/>
          <p:nvPr/>
        </p:nvGrpSpPr>
        <p:grpSpPr>
          <a:xfrm>
            <a:off x="1783496" y="4676385"/>
            <a:ext cx="7112036" cy="1562828"/>
            <a:chOff x="230596" y="4785545"/>
            <a:chExt cx="7112036" cy="1562828"/>
          </a:xfrm>
        </p:grpSpPr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A434ED02-57D4-4EF2-B158-30A538B3D91B}"/>
                </a:ext>
              </a:extLst>
            </p:cNvPr>
            <p:cNvGrpSpPr/>
            <p:nvPr/>
          </p:nvGrpSpPr>
          <p:grpSpPr>
            <a:xfrm>
              <a:off x="230596" y="4794115"/>
              <a:ext cx="7112036" cy="1554258"/>
              <a:chOff x="230596" y="4794115"/>
              <a:chExt cx="7112036" cy="1554258"/>
            </a:xfrm>
          </p:grpSpPr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4EEDA8A9-76EB-42C9-A2C1-38169BC526CE}"/>
                  </a:ext>
                </a:extLst>
              </p:cNvPr>
              <p:cNvSpPr/>
              <p:nvPr/>
            </p:nvSpPr>
            <p:spPr>
              <a:xfrm>
                <a:off x="250252" y="4794115"/>
                <a:ext cx="7092380" cy="1554258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7DE9AD2E-B387-4527-916D-3C53A5CF98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596" y="5128608"/>
                <a:ext cx="7112036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68BAF788-B192-4F6E-A745-B857DD51B134}"/>
                </a:ext>
              </a:extLst>
            </p:cNvPr>
            <p:cNvSpPr/>
            <p:nvPr/>
          </p:nvSpPr>
          <p:spPr>
            <a:xfrm>
              <a:off x="2732484" y="4785545"/>
              <a:ext cx="2026712" cy="338554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1600" b="1" cap="none" spc="0" dirty="0">
                  <a:ln w="0"/>
                  <a:solidFill>
                    <a:schemeClr val="tx1"/>
                  </a:solidFill>
                </a:rPr>
                <a:t>serving customer</a:t>
              </a:r>
            </a:p>
          </p:txBody>
        </p:sp>
      </p:grp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EA80C632-3BFF-40D9-A103-8C96DFDE3C38}"/>
              </a:ext>
            </a:extLst>
          </p:cNvPr>
          <p:cNvCxnSpPr>
            <a:cxnSpLocks/>
          </p:cNvCxnSpPr>
          <p:nvPr/>
        </p:nvCxnSpPr>
        <p:spPr>
          <a:xfrm>
            <a:off x="6059813" y="4130477"/>
            <a:ext cx="1310720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1" name="Connector: Elbow 90">
            <a:extLst>
              <a:ext uri="{FF2B5EF4-FFF2-40B4-BE49-F238E27FC236}">
                <a16:creationId xmlns:a16="http://schemas.microsoft.com/office/drawing/2014/main" id="{BBAC5707-CD3D-4D03-B266-A38A14582F3A}"/>
              </a:ext>
            </a:extLst>
          </p:cNvPr>
          <p:cNvCxnSpPr>
            <a:cxnSpLocks/>
            <a:stCxn id="39" idx="3"/>
          </p:cNvCxnSpPr>
          <p:nvPr/>
        </p:nvCxnSpPr>
        <p:spPr>
          <a:xfrm>
            <a:off x="5895987" y="2913291"/>
            <a:ext cx="1641164" cy="775748"/>
          </a:xfrm>
          <a:prstGeom prst="bentConnector3">
            <a:avLst>
              <a:gd name="adj1" fmla="val 100702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FC4F4058-3F96-4879-B510-AF8C6BC94996}"/>
              </a:ext>
            </a:extLst>
          </p:cNvPr>
          <p:cNvSpPr txBox="1"/>
          <p:nvPr/>
        </p:nvSpPr>
        <p:spPr>
          <a:xfrm>
            <a:off x="6664598" y="2631305"/>
            <a:ext cx="5693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failure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7DCB443-A3AE-4D70-8957-CC9821CFFF69}"/>
              </a:ext>
            </a:extLst>
          </p:cNvPr>
          <p:cNvSpPr txBox="1"/>
          <p:nvPr/>
        </p:nvSpPr>
        <p:spPr>
          <a:xfrm>
            <a:off x="2934898" y="1443973"/>
            <a:ext cx="13853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turn off / shut-down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F411AC8-62C4-42FB-AACE-0DA6EA3E5ED1}"/>
              </a:ext>
            </a:extLst>
          </p:cNvPr>
          <p:cNvSpPr txBox="1"/>
          <p:nvPr/>
        </p:nvSpPr>
        <p:spPr>
          <a:xfrm>
            <a:off x="6497271" y="3652742"/>
            <a:ext cx="5693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failure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33D9A28-BD35-4254-A4C4-500E2DF85E13}"/>
              </a:ext>
            </a:extLst>
          </p:cNvPr>
          <p:cNvSpPr txBox="1"/>
          <p:nvPr/>
        </p:nvSpPr>
        <p:spPr>
          <a:xfrm>
            <a:off x="6462082" y="4151491"/>
            <a:ext cx="6174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service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60C0AD4-83F5-445D-B7D0-95F32258792E}"/>
              </a:ext>
            </a:extLst>
          </p:cNvPr>
          <p:cNvSpPr txBox="1"/>
          <p:nvPr/>
        </p:nvSpPr>
        <p:spPr>
          <a:xfrm>
            <a:off x="3635667" y="3712631"/>
            <a:ext cx="6174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service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8621DF3-AFE8-4337-B6AD-4650D7F22966}"/>
              </a:ext>
            </a:extLst>
          </p:cNvPr>
          <p:cNvSpPr txBox="1"/>
          <p:nvPr/>
        </p:nvSpPr>
        <p:spPr>
          <a:xfrm>
            <a:off x="3494221" y="2645553"/>
            <a:ext cx="9396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successfully</a:t>
            </a:r>
          </a:p>
        </p:txBody>
      </p: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101C7B65-1952-40A3-B32F-C5B4CEC946CB}"/>
              </a:ext>
            </a:extLst>
          </p:cNvPr>
          <p:cNvCxnSpPr>
            <a:cxnSpLocks/>
          </p:cNvCxnSpPr>
          <p:nvPr/>
        </p:nvCxnSpPr>
        <p:spPr>
          <a:xfrm flipH="1">
            <a:off x="2430551" y="4175959"/>
            <a:ext cx="2" cy="508996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727890C0-9CA6-4368-B593-7A15C30A95DC}"/>
              </a:ext>
            </a:extLst>
          </p:cNvPr>
          <p:cNvCxnSpPr>
            <a:cxnSpLocks/>
          </p:cNvCxnSpPr>
          <p:nvPr/>
        </p:nvCxnSpPr>
        <p:spPr>
          <a:xfrm flipH="1">
            <a:off x="3057952" y="4165286"/>
            <a:ext cx="1" cy="519669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98" name="Group 97">
            <a:extLst>
              <a:ext uri="{FF2B5EF4-FFF2-40B4-BE49-F238E27FC236}">
                <a16:creationId xmlns:a16="http://schemas.microsoft.com/office/drawing/2014/main" id="{FC440D5C-411D-4CDE-AED7-0BFD6D3ABEE1}"/>
              </a:ext>
            </a:extLst>
          </p:cNvPr>
          <p:cNvGrpSpPr/>
          <p:nvPr/>
        </p:nvGrpSpPr>
        <p:grpSpPr>
          <a:xfrm>
            <a:off x="2497973" y="4072852"/>
            <a:ext cx="276999" cy="664456"/>
            <a:chOff x="2497973" y="4072852"/>
            <a:chExt cx="276999" cy="664456"/>
          </a:xfrm>
        </p:grpSpPr>
        <p:cxnSp>
          <p:nvCxnSpPr>
            <p:cNvPr id="119" name="Straight Arrow Connector 118">
              <a:extLst>
                <a:ext uri="{FF2B5EF4-FFF2-40B4-BE49-F238E27FC236}">
                  <a16:creationId xmlns:a16="http://schemas.microsoft.com/office/drawing/2014/main" id="{E5295B71-157A-463B-800F-D41DA264D65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36379" y="4162139"/>
              <a:ext cx="1" cy="536637"/>
            </a:xfrm>
            <a:prstGeom prst="straightConnector1">
              <a:avLst/>
            </a:prstGeom>
            <a:ln>
              <a:headEnd type="triangl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FF856398-394B-4142-B68C-9CC5663B2EF4}"/>
                </a:ext>
              </a:extLst>
            </p:cNvPr>
            <p:cNvSpPr txBox="1"/>
            <p:nvPr/>
          </p:nvSpPr>
          <p:spPr>
            <a:xfrm rot="16200000">
              <a:off x="2304245" y="4266580"/>
              <a:ext cx="6644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 dirty="0"/>
                <a:t>cancel</a:t>
              </a:r>
            </a:p>
          </p:txBody>
        </p:sp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id="{E2375B32-FDD8-46DA-AA64-6F72F52BAFF5}"/>
              </a:ext>
            </a:extLst>
          </p:cNvPr>
          <p:cNvSpPr txBox="1"/>
          <p:nvPr/>
        </p:nvSpPr>
        <p:spPr>
          <a:xfrm>
            <a:off x="1486195" y="4263057"/>
            <a:ext cx="9957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card inserted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BC87A4A9-DA32-45CC-A94C-AC06A6337BB1}"/>
              </a:ext>
            </a:extLst>
          </p:cNvPr>
          <p:cNvSpPr txBox="1"/>
          <p:nvPr/>
        </p:nvSpPr>
        <p:spPr>
          <a:xfrm>
            <a:off x="3025967" y="4326471"/>
            <a:ext cx="9364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remove card</a:t>
            </a:r>
          </a:p>
        </p:txBody>
      </p:sp>
      <p:sp>
        <p:nvSpPr>
          <p:cNvPr id="129" name="Flowchart: Terminator 128">
            <a:extLst>
              <a:ext uri="{FF2B5EF4-FFF2-40B4-BE49-F238E27FC236}">
                <a16:creationId xmlns:a16="http://schemas.microsoft.com/office/drawing/2014/main" id="{ABEE45D0-5D50-4E30-85E9-D7E5C9F5CC41}"/>
              </a:ext>
            </a:extLst>
          </p:cNvPr>
          <p:cNvSpPr/>
          <p:nvPr/>
        </p:nvSpPr>
        <p:spPr>
          <a:xfrm>
            <a:off x="2497973" y="5303971"/>
            <a:ext cx="1503261" cy="594992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b="1" dirty="0"/>
              <a:t>Customer Authentication</a:t>
            </a:r>
            <a:endParaRPr lang="en-US" sz="1200" b="1" dirty="0"/>
          </a:p>
        </p:txBody>
      </p:sp>
      <p:sp>
        <p:nvSpPr>
          <p:cNvPr id="130" name="Flowchart: Terminator 129">
            <a:extLst>
              <a:ext uri="{FF2B5EF4-FFF2-40B4-BE49-F238E27FC236}">
                <a16:creationId xmlns:a16="http://schemas.microsoft.com/office/drawing/2014/main" id="{390514EA-A867-43B7-BA0A-F6ADA94D788B}"/>
              </a:ext>
            </a:extLst>
          </p:cNvPr>
          <p:cNvSpPr/>
          <p:nvPr/>
        </p:nvSpPr>
        <p:spPr>
          <a:xfrm>
            <a:off x="4641622" y="5301589"/>
            <a:ext cx="1314235" cy="573427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b="1" dirty="0"/>
              <a:t>Selecting Transaction</a:t>
            </a:r>
            <a:endParaRPr lang="en-US" sz="1200" b="1" dirty="0"/>
          </a:p>
        </p:txBody>
      </p:sp>
      <p:sp>
        <p:nvSpPr>
          <p:cNvPr id="133" name="Flowchart: Terminator 132">
            <a:extLst>
              <a:ext uri="{FF2B5EF4-FFF2-40B4-BE49-F238E27FC236}">
                <a16:creationId xmlns:a16="http://schemas.microsoft.com/office/drawing/2014/main" id="{9F79668F-6A0D-4968-BC27-DB91F0A0F5DA}"/>
              </a:ext>
            </a:extLst>
          </p:cNvPr>
          <p:cNvSpPr/>
          <p:nvPr/>
        </p:nvSpPr>
        <p:spPr>
          <a:xfrm>
            <a:off x="6497271" y="5299594"/>
            <a:ext cx="1314235" cy="573427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b="1" dirty="0"/>
              <a:t>Transaction</a:t>
            </a:r>
            <a:endParaRPr lang="en-US" sz="1200" b="1" dirty="0"/>
          </a:p>
        </p:txBody>
      </p:sp>
      <p:sp>
        <p:nvSpPr>
          <p:cNvPr id="134" name="Oval 133">
            <a:extLst>
              <a:ext uri="{FF2B5EF4-FFF2-40B4-BE49-F238E27FC236}">
                <a16:creationId xmlns:a16="http://schemas.microsoft.com/office/drawing/2014/main" id="{6CFDEFAA-4368-4979-B5D4-03E6853838ED}"/>
              </a:ext>
            </a:extLst>
          </p:cNvPr>
          <p:cNvSpPr/>
          <p:nvPr/>
        </p:nvSpPr>
        <p:spPr>
          <a:xfrm>
            <a:off x="1921963" y="5475974"/>
            <a:ext cx="228600" cy="2286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2FCBC024-A167-4AC6-A657-F13F97A16C73}"/>
              </a:ext>
            </a:extLst>
          </p:cNvPr>
          <p:cNvCxnSpPr>
            <a:cxnSpLocks/>
            <a:stCxn id="134" idx="6"/>
            <a:endCxn id="129" idx="1"/>
          </p:cNvCxnSpPr>
          <p:nvPr/>
        </p:nvCxnSpPr>
        <p:spPr>
          <a:xfrm>
            <a:off x="2150563" y="5590274"/>
            <a:ext cx="347410" cy="111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637A0D31-8D93-4A69-9C02-240C336432C6}"/>
              </a:ext>
            </a:extLst>
          </p:cNvPr>
          <p:cNvCxnSpPr>
            <a:cxnSpLocks/>
            <a:stCxn id="129" idx="3"/>
            <a:endCxn id="130" idx="1"/>
          </p:cNvCxnSpPr>
          <p:nvPr/>
        </p:nvCxnSpPr>
        <p:spPr>
          <a:xfrm flipV="1">
            <a:off x="4001234" y="5588303"/>
            <a:ext cx="640388" cy="131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FD9A6813-41B3-49FF-97A9-CFB40E553296}"/>
              </a:ext>
            </a:extLst>
          </p:cNvPr>
          <p:cNvCxnSpPr>
            <a:cxnSpLocks/>
            <a:stCxn id="130" idx="3"/>
            <a:endCxn id="133" idx="1"/>
          </p:cNvCxnSpPr>
          <p:nvPr/>
        </p:nvCxnSpPr>
        <p:spPr>
          <a:xfrm flipV="1">
            <a:off x="5955857" y="5586308"/>
            <a:ext cx="541414" cy="19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2F744D14-23F0-4AA4-BEA8-2184CF358B1D}"/>
              </a:ext>
            </a:extLst>
          </p:cNvPr>
          <p:cNvGrpSpPr/>
          <p:nvPr/>
        </p:nvGrpSpPr>
        <p:grpSpPr>
          <a:xfrm>
            <a:off x="8322071" y="5475418"/>
            <a:ext cx="259646" cy="256588"/>
            <a:chOff x="9290534" y="1789176"/>
            <a:chExt cx="360000" cy="360000"/>
          </a:xfrm>
        </p:grpSpPr>
        <p:sp>
          <p:nvSpPr>
            <p:cNvPr id="152" name="Oval 151">
              <a:extLst>
                <a:ext uri="{FF2B5EF4-FFF2-40B4-BE49-F238E27FC236}">
                  <a16:creationId xmlns:a16="http://schemas.microsoft.com/office/drawing/2014/main" id="{DC9E975C-3CD6-411F-B74B-8E7B6F0281BD}"/>
                </a:ext>
              </a:extLst>
            </p:cNvPr>
            <p:cNvSpPr/>
            <p:nvPr/>
          </p:nvSpPr>
          <p:spPr>
            <a:xfrm>
              <a:off x="9290534" y="1789176"/>
              <a:ext cx="360000" cy="3600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3" name="Oval 152">
              <a:extLst>
                <a:ext uri="{FF2B5EF4-FFF2-40B4-BE49-F238E27FC236}">
                  <a16:creationId xmlns:a16="http://schemas.microsoft.com/office/drawing/2014/main" id="{B8873BB1-824E-4E0E-8042-5AB586AAC805}"/>
                </a:ext>
              </a:extLst>
            </p:cNvPr>
            <p:cNvSpPr/>
            <p:nvPr/>
          </p:nvSpPr>
          <p:spPr>
            <a:xfrm>
              <a:off x="9366602" y="1853631"/>
              <a:ext cx="217253" cy="210771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589B1AA2-32C4-4DFD-9B01-1BF674E37452}"/>
              </a:ext>
            </a:extLst>
          </p:cNvPr>
          <p:cNvCxnSpPr>
            <a:cxnSpLocks/>
            <a:stCxn id="133" idx="3"/>
            <a:endCxn id="152" idx="2"/>
          </p:cNvCxnSpPr>
          <p:nvPr/>
        </p:nvCxnSpPr>
        <p:spPr>
          <a:xfrm>
            <a:off x="7811506" y="5586308"/>
            <a:ext cx="510565" cy="174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C65EFD53-D2C0-4991-933B-27C850A64471}"/>
              </a:ext>
            </a:extLst>
          </p:cNvPr>
          <p:cNvCxnSpPr>
            <a:cxnSpLocks/>
          </p:cNvCxnSpPr>
          <p:nvPr/>
        </p:nvCxnSpPr>
        <p:spPr>
          <a:xfrm>
            <a:off x="8316242" y="4234200"/>
            <a:ext cx="912" cy="450755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8" name="TextBox 157">
            <a:extLst>
              <a:ext uri="{FF2B5EF4-FFF2-40B4-BE49-F238E27FC236}">
                <a16:creationId xmlns:a16="http://schemas.microsoft.com/office/drawing/2014/main" id="{86AAB467-096C-4271-A54B-C6DA2D63CB6A}"/>
              </a:ext>
            </a:extLst>
          </p:cNvPr>
          <p:cNvSpPr txBox="1"/>
          <p:nvPr/>
        </p:nvSpPr>
        <p:spPr>
          <a:xfrm>
            <a:off x="8264247" y="4347880"/>
            <a:ext cx="5693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failure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AF4CA32-EA9E-4995-84B8-3384E79822C6}"/>
              </a:ext>
            </a:extLst>
          </p:cNvPr>
          <p:cNvSpPr txBox="1"/>
          <p:nvPr/>
        </p:nvSpPr>
        <p:spPr>
          <a:xfrm rot="16200000">
            <a:off x="4767292" y="3234358"/>
            <a:ext cx="7024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turn on /</a:t>
            </a:r>
          </a:p>
          <a:p>
            <a:r>
              <a:rPr lang="en-IN" sz="1200" dirty="0"/>
              <a:t> restart</a:t>
            </a:r>
          </a:p>
        </p:txBody>
      </p:sp>
    </p:spTree>
    <p:extLst>
      <p:ext uri="{BB962C8B-B14F-4D97-AF65-F5344CB8AC3E}">
        <p14:creationId xmlns:p14="http://schemas.microsoft.com/office/powerpoint/2010/main" val="1291185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  <p:bldP spid="37" grpId="0" animBg="1"/>
      <p:bldP spid="39" grpId="0" animBg="1"/>
      <p:bldP spid="43" grpId="0" animBg="1"/>
      <p:bldP spid="54" grpId="0" animBg="1"/>
      <p:bldP spid="55" grpId="0" animBg="1"/>
      <p:bldP spid="40" grpId="0"/>
      <p:bldP spid="137" grpId="0"/>
      <p:bldP spid="72" grpId="0"/>
      <p:bldP spid="73" grpId="0"/>
      <p:bldP spid="74" grpId="0"/>
      <p:bldP spid="77" grpId="0"/>
      <p:bldP spid="78" grpId="0"/>
      <p:bldP spid="79" grpId="0"/>
      <p:bldP spid="100" grpId="0"/>
      <p:bldP spid="106" grpId="0"/>
      <p:bldP spid="129" grpId="0" animBg="1"/>
      <p:bldP spid="130" grpId="0" animBg="1"/>
      <p:bldP spid="133" grpId="0" animBg="1"/>
      <p:bldP spid="134" grpId="0" animBg="1"/>
      <p:bldP spid="158" grpId="0"/>
      <p:bldP spid="5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5CB5F-C148-4560-A512-543482C1C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State diagram of </a:t>
            </a:r>
            <a:r>
              <a:rPr lang="de-DE" dirty="0"/>
              <a:t>Online Order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9241FB-FACE-4998-A5BF-7E74753897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Here is just another example of how an online ordering system might look like.</a:t>
            </a:r>
          </a:p>
          <a:p>
            <a:pPr fontAlgn="base"/>
            <a:r>
              <a:rPr lang="en-US" dirty="0"/>
              <a:t>On the event of an order being received, we transit from initial state to </a:t>
            </a:r>
            <a:r>
              <a:rPr lang="en-US" dirty="0">
                <a:solidFill>
                  <a:srgbClr val="A32D19"/>
                </a:solidFill>
              </a:rPr>
              <a:t>Unprocessed order </a:t>
            </a:r>
            <a:r>
              <a:rPr lang="en-US" dirty="0"/>
              <a:t>state.</a:t>
            </a:r>
          </a:p>
          <a:p>
            <a:pPr fontAlgn="base"/>
            <a:r>
              <a:rPr lang="en-US" dirty="0"/>
              <a:t>The unprocessed order is </a:t>
            </a:r>
            <a:r>
              <a:rPr lang="en-US" dirty="0">
                <a:solidFill>
                  <a:srgbClr val="A32D19"/>
                </a:solidFill>
              </a:rPr>
              <a:t>checked</a:t>
            </a:r>
            <a:r>
              <a:rPr lang="en-US" dirty="0"/>
              <a:t>.</a:t>
            </a:r>
          </a:p>
          <a:p>
            <a:pPr fontAlgn="base"/>
            <a:r>
              <a:rPr lang="en-US" dirty="0"/>
              <a:t>If the order is rejected, we transit to the </a:t>
            </a:r>
            <a:r>
              <a:rPr lang="en-US" dirty="0">
                <a:solidFill>
                  <a:srgbClr val="A32D19"/>
                </a:solidFill>
              </a:rPr>
              <a:t>Rejected order </a:t>
            </a:r>
            <a:r>
              <a:rPr lang="en-US" dirty="0"/>
              <a:t>state.</a:t>
            </a:r>
          </a:p>
          <a:p>
            <a:pPr fontAlgn="base"/>
            <a:r>
              <a:rPr lang="en-US" dirty="0"/>
              <a:t>If the order is </a:t>
            </a:r>
            <a:r>
              <a:rPr lang="en-US" dirty="0">
                <a:solidFill>
                  <a:srgbClr val="A32D19"/>
                </a:solidFill>
              </a:rPr>
              <a:t>accepted</a:t>
            </a:r>
            <a:r>
              <a:rPr lang="en-US" dirty="0"/>
              <a:t> and we have the items available, we transit to the </a:t>
            </a:r>
            <a:r>
              <a:rPr lang="en-US" dirty="0">
                <a:solidFill>
                  <a:srgbClr val="A32D19"/>
                </a:solidFill>
              </a:rPr>
              <a:t>fulfilled order</a:t>
            </a:r>
            <a:r>
              <a:rPr lang="en-US" dirty="0"/>
              <a:t> state.</a:t>
            </a:r>
          </a:p>
          <a:p>
            <a:pPr fontAlgn="base"/>
            <a:r>
              <a:rPr lang="en-US" dirty="0"/>
              <a:t>However if the items are </a:t>
            </a:r>
            <a:r>
              <a:rPr lang="en-US"/>
              <a:t>not available, </a:t>
            </a:r>
            <a:r>
              <a:rPr lang="en-US" dirty="0"/>
              <a:t>we transit to the </a:t>
            </a:r>
            <a:r>
              <a:rPr lang="en-US" dirty="0">
                <a:solidFill>
                  <a:srgbClr val="A32D19"/>
                </a:solidFill>
              </a:rPr>
              <a:t>Pending order</a:t>
            </a:r>
            <a:r>
              <a:rPr lang="en-US" dirty="0"/>
              <a:t> state.</a:t>
            </a:r>
          </a:p>
          <a:p>
            <a:pPr fontAlgn="base"/>
            <a:r>
              <a:rPr lang="en-US" dirty="0"/>
              <a:t>After the order is fulfilled, we transit to the </a:t>
            </a:r>
            <a:r>
              <a:rPr lang="en-US" dirty="0">
                <a:solidFill>
                  <a:srgbClr val="A32D19"/>
                </a:solidFill>
              </a:rPr>
              <a:t>final</a:t>
            </a:r>
            <a:r>
              <a:rPr lang="en-US" dirty="0"/>
              <a:t> state. In this example, we </a:t>
            </a:r>
            <a:r>
              <a:rPr lang="en-US" dirty="0">
                <a:solidFill>
                  <a:srgbClr val="A32D19"/>
                </a:solidFill>
              </a:rPr>
              <a:t>merge the two states </a:t>
            </a:r>
            <a:r>
              <a:rPr lang="en-US" dirty="0"/>
              <a:t>i.e. Fulfilled order and Rejected order into one final state.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3356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54CD9540-3550-445B-A642-C32500C14DD7}"/>
              </a:ext>
            </a:extLst>
          </p:cNvPr>
          <p:cNvGrpSpPr/>
          <p:nvPr/>
        </p:nvGrpSpPr>
        <p:grpSpPr>
          <a:xfrm>
            <a:off x="886679" y="952529"/>
            <a:ext cx="8579629" cy="5361374"/>
            <a:chOff x="2057400" y="1048304"/>
            <a:chExt cx="8077200" cy="4988512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0E533921-9B17-47C2-95FD-8F97B1DF9C1D}"/>
                </a:ext>
              </a:extLst>
            </p:cNvPr>
            <p:cNvSpPr/>
            <p:nvPr/>
          </p:nvSpPr>
          <p:spPr>
            <a:xfrm>
              <a:off x="2057400" y="1048304"/>
              <a:ext cx="8077200" cy="498851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BB12B5C7-2EB0-4A66-AA61-6E996F6C6EFE}"/>
                </a:ext>
              </a:extLst>
            </p:cNvPr>
            <p:cNvGrpSpPr/>
            <p:nvPr/>
          </p:nvGrpSpPr>
          <p:grpSpPr>
            <a:xfrm>
              <a:off x="2057400" y="1048304"/>
              <a:ext cx="1600200" cy="685800"/>
              <a:chOff x="533400" y="1447800"/>
              <a:chExt cx="1600200" cy="685800"/>
            </a:xfrm>
          </p:grpSpPr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0DF14D6F-7710-4BAA-A93B-DA747AEF85CC}"/>
                  </a:ext>
                </a:extLst>
              </p:cNvPr>
              <p:cNvCxnSpPr/>
              <p:nvPr/>
            </p:nvCxnSpPr>
            <p:spPr>
              <a:xfrm>
                <a:off x="2133600" y="1447800"/>
                <a:ext cx="0" cy="45720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183DE222-70CF-4AC4-BB03-9B478BC699A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3400" y="2133600"/>
                <a:ext cx="137160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C8C9D3C6-38AA-4EDA-A2C9-D313CACCEA6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905000" y="1905000"/>
                <a:ext cx="228600" cy="22860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 diagram of </a:t>
            </a:r>
            <a:r>
              <a:rPr lang="de-DE" dirty="0"/>
              <a:t>Online Order</a:t>
            </a:r>
            <a:endParaRPr lang="en-US" dirty="0">
              <a:latin typeface="+mn-lt"/>
            </a:endParaRPr>
          </a:p>
        </p:txBody>
      </p:sp>
      <p:sp>
        <p:nvSpPr>
          <p:cNvPr id="31" name="Flowchart: Terminator 30">
            <a:extLst>
              <a:ext uri="{FF2B5EF4-FFF2-40B4-BE49-F238E27FC236}">
                <a16:creationId xmlns:a16="http://schemas.microsoft.com/office/drawing/2014/main" id="{E8786641-0466-4674-AA88-CD4202127446}"/>
              </a:ext>
            </a:extLst>
          </p:cNvPr>
          <p:cNvSpPr/>
          <p:nvPr/>
        </p:nvSpPr>
        <p:spPr>
          <a:xfrm>
            <a:off x="3518827" y="1933971"/>
            <a:ext cx="1657667" cy="609600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Unprocessed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AFE652A-4E41-4235-9C0E-DE48A017123F}"/>
              </a:ext>
            </a:extLst>
          </p:cNvPr>
          <p:cNvSpPr/>
          <p:nvPr/>
        </p:nvSpPr>
        <p:spPr>
          <a:xfrm>
            <a:off x="1419451" y="1136932"/>
            <a:ext cx="73770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Order 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B72C4BEE-4A14-4763-BD06-7DA42D6A6551}"/>
              </a:ext>
            </a:extLst>
          </p:cNvPr>
          <p:cNvSpPr/>
          <p:nvPr/>
        </p:nvSpPr>
        <p:spPr>
          <a:xfrm>
            <a:off x="4233363" y="1391964"/>
            <a:ext cx="228600" cy="2286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C5DC7F00-32D3-4D9F-805C-563DC8D8B416}"/>
              </a:ext>
            </a:extLst>
          </p:cNvPr>
          <p:cNvCxnSpPr>
            <a:cxnSpLocks/>
            <a:stCxn id="47" idx="4"/>
            <a:endCxn id="31" idx="0"/>
          </p:cNvCxnSpPr>
          <p:nvPr/>
        </p:nvCxnSpPr>
        <p:spPr>
          <a:xfrm flipH="1">
            <a:off x="4347661" y="1620564"/>
            <a:ext cx="2" cy="3134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186B36EF-ED75-4F8F-8520-4C4FBFEF2A10}"/>
              </a:ext>
            </a:extLst>
          </p:cNvPr>
          <p:cNvSpPr txBox="1"/>
          <p:nvPr/>
        </p:nvSpPr>
        <p:spPr>
          <a:xfrm>
            <a:off x="4461961" y="1620564"/>
            <a:ext cx="19050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order received</a:t>
            </a:r>
          </a:p>
        </p:txBody>
      </p:sp>
      <p:sp>
        <p:nvSpPr>
          <p:cNvPr id="35" name="Flowchart: Terminator 34">
            <a:extLst>
              <a:ext uri="{FF2B5EF4-FFF2-40B4-BE49-F238E27FC236}">
                <a16:creationId xmlns:a16="http://schemas.microsoft.com/office/drawing/2014/main" id="{037E11B8-F1B1-4383-A211-2A63B8A0D2C7}"/>
              </a:ext>
            </a:extLst>
          </p:cNvPr>
          <p:cNvSpPr/>
          <p:nvPr/>
        </p:nvSpPr>
        <p:spPr>
          <a:xfrm>
            <a:off x="1035229" y="3023616"/>
            <a:ext cx="1835988" cy="609600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Rejected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642FF05-6ACB-4E8C-BBEC-81B435702824}"/>
              </a:ext>
            </a:extLst>
          </p:cNvPr>
          <p:cNvSpPr txBox="1"/>
          <p:nvPr/>
        </p:nvSpPr>
        <p:spPr>
          <a:xfrm rot="20007259">
            <a:off x="2114106" y="2330876"/>
            <a:ext cx="12438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[reject] Checked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70425E6-C176-4310-A802-916B76B39018}"/>
              </a:ext>
            </a:extLst>
          </p:cNvPr>
          <p:cNvCxnSpPr>
            <a:cxnSpLocks/>
            <a:stCxn id="31" idx="1"/>
            <a:endCxn id="35" idx="0"/>
          </p:cNvCxnSpPr>
          <p:nvPr/>
        </p:nvCxnSpPr>
        <p:spPr>
          <a:xfrm flipH="1">
            <a:off x="1953223" y="2238771"/>
            <a:ext cx="1565604" cy="7848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Flowchart: Terminator 40">
            <a:extLst>
              <a:ext uri="{FF2B5EF4-FFF2-40B4-BE49-F238E27FC236}">
                <a16:creationId xmlns:a16="http://schemas.microsoft.com/office/drawing/2014/main" id="{D22A1252-0670-49A4-9542-A2D7162584D0}"/>
              </a:ext>
            </a:extLst>
          </p:cNvPr>
          <p:cNvSpPr/>
          <p:nvPr/>
        </p:nvSpPr>
        <p:spPr>
          <a:xfrm>
            <a:off x="5688781" y="3023616"/>
            <a:ext cx="1835988" cy="609600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Accepted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1F242393-1619-432A-91E9-3C6523D73AC1}"/>
              </a:ext>
            </a:extLst>
          </p:cNvPr>
          <p:cNvCxnSpPr>
            <a:cxnSpLocks/>
            <a:stCxn id="31" idx="3"/>
            <a:endCxn id="41" idx="0"/>
          </p:cNvCxnSpPr>
          <p:nvPr/>
        </p:nvCxnSpPr>
        <p:spPr>
          <a:xfrm>
            <a:off x="5176494" y="2238771"/>
            <a:ext cx="1430281" cy="7848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61B9D6F0-6899-4470-B137-AA61BE7C88C1}"/>
              </a:ext>
            </a:extLst>
          </p:cNvPr>
          <p:cNvSpPr txBox="1"/>
          <p:nvPr/>
        </p:nvSpPr>
        <p:spPr>
          <a:xfrm rot="1774638">
            <a:off x="5282671" y="2330875"/>
            <a:ext cx="12438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[accept] Checked</a:t>
            </a:r>
          </a:p>
        </p:txBody>
      </p:sp>
      <p:sp>
        <p:nvSpPr>
          <p:cNvPr id="55" name="Flowchart: Terminator 54">
            <a:extLst>
              <a:ext uri="{FF2B5EF4-FFF2-40B4-BE49-F238E27FC236}">
                <a16:creationId xmlns:a16="http://schemas.microsoft.com/office/drawing/2014/main" id="{903EFFD5-F898-4CF3-B9B4-614CD80CFB35}"/>
              </a:ext>
            </a:extLst>
          </p:cNvPr>
          <p:cNvSpPr/>
          <p:nvPr/>
        </p:nvSpPr>
        <p:spPr>
          <a:xfrm>
            <a:off x="3540202" y="4411560"/>
            <a:ext cx="1835988" cy="609600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Pending</a:t>
            </a:r>
          </a:p>
        </p:txBody>
      </p:sp>
      <p:sp>
        <p:nvSpPr>
          <p:cNvPr id="56" name="Flowchart: Terminator 55">
            <a:extLst>
              <a:ext uri="{FF2B5EF4-FFF2-40B4-BE49-F238E27FC236}">
                <a16:creationId xmlns:a16="http://schemas.microsoft.com/office/drawing/2014/main" id="{8F63AD94-54B6-4B84-8ED9-FE81D6590B1C}"/>
              </a:ext>
            </a:extLst>
          </p:cNvPr>
          <p:cNvSpPr/>
          <p:nvPr/>
        </p:nvSpPr>
        <p:spPr>
          <a:xfrm>
            <a:off x="7524769" y="4380558"/>
            <a:ext cx="1835988" cy="609600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Fulfilled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0E3D82AE-7DF4-4EB0-B629-A7FD0D97A47E}"/>
              </a:ext>
            </a:extLst>
          </p:cNvPr>
          <p:cNvCxnSpPr>
            <a:cxnSpLocks/>
            <a:endCxn id="55" idx="0"/>
          </p:cNvCxnSpPr>
          <p:nvPr/>
        </p:nvCxnSpPr>
        <p:spPr>
          <a:xfrm flipH="1">
            <a:off x="4458196" y="3241052"/>
            <a:ext cx="1266188" cy="11705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5BE1E8EB-A008-4BA4-8EFB-D1E5E9562626}"/>
              </a:ext>
            </a:extLst>
          </p:cNvPr>
          <p:cNvCxnSpPr>
            <a:cxnSpLocks/>
            <a:stCxn id="41" idx="3"/>
            <a:endCxn id="56" idx="0"/>
          </p:cNvCxnSpPr>
          <p:nvPr/>
        </p:nvCxnSpPr>
        <p:spPr>
          <a:xfrm>
            <a:off x="7524769" y="3328416"/>
            <a:ext cx="917994" cy="10521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4E9ED86C-8529-4803-A64A-D840FA44C767}"/>
              </a:ext>
            </a:extLst>
          </p:cNvPr>
          <p:cNvCxnSpPr>
            <a:cxnSpLocks/>
            <a:stCxn id="55" idx="3"/>
            <a:endCxn id="56" idx="1"/>
          </p:cNvCxnSpPr>
          <p:nvPr/>
        </p:nvCxnSpPr>
        <p:spPr>
          <a:xfrm flipV="1">
            <a:off x="5376190" y="4685358"/>
            <a:ext cx="2148579" cy="310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65" name="Group 64">
            <a:extLst>
              <a:ext uri="{FF2B5EF4-FFF2-40B4-BE49-F238E27FC236}">
                <a16:creationId xmlns:a16="http://schemas.microsoft.com/office/drawing/2014/main" id="{B27DD75B-9E0E-4E8D-ADBA-C4397BE7750F}"/>
              </a:ext>
            </a:extLst>
          </p:cNvPr>
          <p:cNvGrpSpPr/>
          <p:nvPr/>
        </p:nvGrpSpPr>
        <p:grpSpPr>
          <a:xfrm>
            <a:off x="3973717" y="5847716"/>
            <a:ext cx="259646" cy="256588"/>
            <a:chOff x="9290534" y="1789176"/>
            <a:chExt cx="360000" cy="360000"/>
          </a:xfrm>
        </p:grpSpPr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4E945A61-D36D-40EB-B367-5674651DC539}"/>
                </a:ext>
              </a:extLst>
            </p:cNvPr>
            <p:cNvSpPr/>
            <p:nvPr/>
          </p:nvSpPr>
          <p:spPr>
            <a:xfrm>
              <a:off x="9290534" y="1789176"/>
              <a:ext cx="360000" cy="3600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DFD31710-027F-411D-9A22-50CE7AF3C2B7}"/>
                </a:ext>
              </a:extLst>
            </p:cNvPr>
            <p:cNvSpPr/>
            <p:nvPr/>
          </p:nvSpPr>
          <p:spPr>
            <a:xfrm>
              <a:off x="9353924" y="1866460"/>
              <a:ext cx="217253" cy="210771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69" name="Connector: Elbow 68">
            <a:extLst>
              <a:ext uri="{FF2B5EF4-FFF2-40B4-BE49-F238E27FC236}">
                <a16:creationId xmlns:a16="http://schemas.microsoft.com/office/drawing/2014/main" id="{E6CA71F1-8D30-462B-A507-0D99FF15D7BA}"/>
              </a:ext>
            </a:extLst>
          </p:cNvPr>
          <p:cNvCxnSpPr>
            <a:stCxn id="35" idx="2"/>
            <a:endCxn id="66" idx="2"/>
          </p:cNvCxnSpPr>
          <p:nvPr/>
        </p:nvCxnSpPr>
        <p:spPr>
          <a:xfrm rot="16200000" flipH="1">
            <a:off x="1792073" y="3794366"/>
            <a:ext cx="2342794" cy="202049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1" name="Connector: Elbow 70">
            <a:extLst>
              <a:ext uri="{FF2B5EF4-FFF2-40B4-BE49-F238E27FC236}">
                <a16:creationId xmlns:a16="http://schemas.microsoft.com/office/drawing/2014/main" id="{728A1038-FCD2-4540-BF7B-990CE2510A58}"/>
              </a:ext>
            </a:extLst>
          </p:cNvPr>
          <p:cNvCxnSpPr>
            <a:stCxn id="56" idx="2"/>
            <a:endCxn id="66" idx="6"/>
          </p:cNvCxnSpPr>
          <p:nvPr/>
        </p:nvCxnSpPr>
        <p:spPr>
          <a:xfrm rot="5400000">
            <a:off x="5845137" y="3378384"/>
            <a:ext cx="985852" cy="420940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4664C2AA-F8D3-4B59-B76C-F824A7E09963}"/>
              </a:ext>
            </a:extLst>
          </p:cNvPr>
          <p:cNvSpPr txBox="1"/>
          <p:nvPr/>
        </p:nvSpPr>
        <p:spPr>
          <a:xfrm rot="19036405">
            <a:off x="4052286" y="3584860"/>
            <a:ext cx="19050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items are not available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60C4A86-454B-437A-A67E-06DA5573C5BA}"/>
              </a:ext>
            </a:extLst>
          </p:cNvPr>
          <p:cNvSpPr txBox="1"/>
          <p:nvPr/>
        </p:nvSpPr>
        <p:spPr>
          <a:xfrm rot="2962500">
            <a:off x="7115988" y="3649959"/>
            <a:ext cx="19050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items are available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3DD6E8B-4383-4B40-8DDD-528F95B6A972}"/>
              </a:ext>
            </a:extLst>
          </p:cNvPr>
          <p:cNvSpPr txBox="1"/>
          <p:nvPr/>
        </p:nvSpPr>
        <p:spPr>
          <a:xfrm>
            <a:off x="5451435" y="4446756"/>
            <a:ext cx="19050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items are available</a:t>
            </a:r>
          </a:p>
        </p:txBody>
      </p:sp>
    </p:spTree>
    <p:extLst>
      <p:ext uri="{BB962C8B-B14F-4D97-AF65-F5344CB8AC3E}">
        <p14:creationId xmlns:p14="http://schemas.microsoft.com/office/powerpoint/2010/main" val="3402090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47" grpId="0" animBg="1"/>
      <p:bldP spid="34" grpId="0"/>
      <p:bldP spid="35" grpId="0" animBg="1"/>
      <p:bldP spid="37" grpId="0"/>
      <p:bldP spid="41" grpId="0" animBg="1"/>
      <p:bldP spid="54" grpId="0"/>
      <p:bldP spid="55" grpId="0" animBg="1"/>
      <p:bldP spid="56" grpId="0" animBg="1"/>
      <p:bldP spid="72" grpId="0"/>
      <p:bldP spid="73" grpId="0"/>
      <p:bldP spid="7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Software Engineering (SE)</a:t>
            </a:r>
          </a:p>
          <a:p>
            <a:r>
              <a:rPr lang="en-US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2101CS503</a:t>
            </a:r>
            <a:endParaRPr lang="en-US" dirty="0"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Ekta.baldha@darshan.ac.in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+91-7984243066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1837678" y="5537768"/>
            <a:ext cx="4258322" cy="353884"/>
          </a:xfrm>
        </p:spPr>
        <p:txBody>
          <a:bodyPr/>
          <a:lstStyle/>
          <a:p>
            <a:r>
              <a:rPr lang="en-US" dirty="0"/>
              <a:t>Computer science &amp; Engineering Department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Prof. Ekta A. Baldha</a:t>
            </a:r>
          </a:p>
        </p:txBody>
      </p:sp>
      <p:pic>
        <p:nvPicPr>
          <p:cNvPr id="10" name="Picture Placeholder 9"/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3569" y="5205986"/>
            <a:ext cx="1353599" cy="1353599"/>
          </a:xfrm>
        </p:spPr>
      </p:pic>
    </p:spTree>
    <p:extLst>
      <p:ext uri="{BB962C8B-B14F-4D97-AF65-F5344CB8AC3E}">
        <p14:creationId xmlns:p14="http://schemas.microsoft.com/office/powerpoint/2010/main" val="20589275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1596</TotalTime>
  <Words>884</Words>
  <Application>Microsoft Office PowerPoint</Application>
  <PresentationFormat>Widescreen</PresentationFormat>
  <Paragraphs>136</Paragraphs>
  <Slides>12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Calibri</vt:lpstr>
      <vt:lpstr>Wingdings</vt:lpstr>
      <vt:lpstr>Arial</vt:lpstr>
      <vt:lpstr>Roboto Condensed</vt:lpstr>
      <vt:lpstr>Roboto Condensed Light</vt:lpstr>
      <vt:lpstr>Wingdings 3</vt:lpstr>
      <vt:lpstr>Office Theme</vt:lpstr>
      <vt:lpstr>PowerPoint Presentation</vt:lpstr>
      <vt:lpstr>State diagram </vt:lpstr>
      <vt:lpstr>Components of state diagram</vt:lpstr>
      <vt:lpstr>Components of state diagram</vt:lpstr>
      <vt:lpstr>How to draw a state diagram</vt:lpstr>
      <vt:lpstr>State diagram for library management system</vt:lpstr>
      <vt:lpstr>State diagram of book</vt:lpstr>
      <vt:lpstr>Example: State diagram of Bank Automated Teller Machine (ATM)</vt:lpstr>
      <vt:lpstr>State diagram of Bank Automated Teller Machine (ATM)</vt:lpstr>
      <vt:lpstr>Example: State diagram of Online Order</vt:lpstr>
      <vt:lpstr>State diagram of Online Order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EKTA BALDHA</cp:lastModifiedBy>
  <cp:revision>136</cp:revision>
  <dcterms:created xsi:type="dcterms:W3CDTF">2020-05-01T05:09:15Z</dcterms:created>
  <dcterms:modified xsi:type="dcterms:W3CDTF">2023-07-10T06:23:15Z</dcterms:modified>
</cp:coreProperties>
</file>