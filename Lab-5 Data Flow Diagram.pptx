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395" r:id="rId2"/>
    <p:sldId id="499" r:id="rId3"/>
    <p:sldId id="500" r:id="rId4"/>
    <p:sldId id="501" r:id="rId5"/>
    <p:sldId id="502" r:id="rId6"/>
    <p:sldId id="503" r:id="rId7"/>
    <p:sldId id="504" r:id="rId8"/>
    <p:sldId id="407" r:id="rId9"/>
    <p:sldId id="410" r:id="rId10"/>
    <p:sldId id="408" r:id="rId11"/>
    <p:sldId id="505" r:id="rId12"/>
    <p:sldId id="506" r:id="rId13"/>
    <p:sldId id="507" r:id="rId14"/>
    <p:sldId id="508" r:id="rId15"/>
    <p:sldId id="394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Roboto Condensed" pitchFamily="2" charset="0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  <p:embeddedFont>
      <p:font typeface="Wingdings 3" panose="05040102010807070707" pitchFamily="18" charset="2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T20rPxHsnQoRjPbuQnAQQ==" hashData="AzSmwi+17AEJWGRoncIVN3JmgIJYLZE1HryttEY0J7XcnTdvqUudfwDhES0EoJcV6g635rYEHOk/GtxCtaGag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2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-5 Data Flow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E65E47-27D3-8BC3-A15C-67C349AC8D3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3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8DE0-BCB8-522C-1AF0-2A63DCAA8BBC}"/>
              </a:ext>
            </a:extLst>
          </p:cNvPr>
          <p:cNvCxnSpPr/>
          <p:nvPr userDrawn="1"/>
        </p:nvCxnSpPr>
        <p:spPr>
          <a:xfrm>
            <a:off x="0" y="660287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DD48941-E50E-0FA2-0E73-3F071D62699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748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381B7-10EB-5E79-01E0-4984C7D00A18}"/>
              </a:ext>
            </a:extLst>
          </p:cNvPr>
          <p:cNvCxnSpPr/>
          <p:nvPr userDrawn="1"/>
        </p:nvCxnSpPr>
        <p:spPr>
          <a:xfrm>
            <a:off x="0" y="660399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49581-DBD8-97EF-4D89-41E69E74D535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257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7C5DC-6E39-9859-D671-B4A5EB7BC62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B2371C9-9733-ADC9-C8B4-A8050748EC6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B017C4-5789-B9D5-5F3F-4AF60A31E3B2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F772C86-1963-F205-DAC4-EB76F0934F11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10C4393-1582-3E78-4642-768CC7C1995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-5 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3205AB-4091-1E5C-B6F9-69DFAED73C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8C5B5E2-E9C9-6DC8-817F-DB1093DA93A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1055E0-4166-8283-C34F-739D926AD939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C6955B0-F905-A23A-E8C1-527DAB130B52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B441C37-4ACA-7968-46AA-889E9E1EB971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-5 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10233">
                  <a:shade val="30000"/>
                  <a:satMod val="115000"/>
                </a:srgbClr>
              </a:gs>
              <a:gs pos="50000">
                <a:srgbClr val="D10233">
                  <a:shade val="67500"/>
                  <a:satMod val="115000"/>
                </a:srgbClr>
              </a:gs>
              <a:gs pos="100000">
                <a:srgbClr val="D10233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78CEF7-BDC7-785F-EC2D-E2E4584FB02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3E34E3A-B4BC-24C2-5F9E-9CB5CF7F612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00466D-ADF6-2BC1-B5C1-CF8846C5A0FD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8F4F7AD-0496-8052-AEC5-20643F06967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F505AB4-F050-05C3-0733-FD0F9F412E8E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57075E-92C1-A0AD-7836-B1A67FB06262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D38B228-9699-D25D-D32C-66B80794F5B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05EFB-C997-BC25-840F-0D6CFD90256C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6A646D-E58C-0BB7-3D7B-2C8B787A2A28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ECA4645-6AE2-4276-F423-91A1E5F2807C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8AF25-05AF-472D-5BDA-C12555B8A87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0DB19E-D774-A0D8-6E57-EFD060ECB43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2C8C4D-DE88-75EC-5C45-DD7C01792148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675AEA0-E096-2F27-0771-E9CC60A645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DD75719-098F-0654-9C35-BF49E0150298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D53D90-D9D5-4989-8E97-31CC943F62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3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3874" y="6170137"/>
            <a:ext cx="3735998" cy="290081"/>
          </a:xfrm>
        </p:spPr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5537768"/>
            <a:ext cx="4459883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678" y="5191433"/>
            <a:ext cx="1341551" cy="1376514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-5</a:t>
            </a:r>
            <a:br>
              <a:rPr lang="en-US" dirty="0"/>
            </a:br>
            <a:r>
              <a:rPr lang="en-US" sz="5400" dirty="0"/>
              <a:t>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18F7-966B-4AF4-986C-02347037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CEBA-F416-4985-B539-8421DBE4D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flow diagram (DFD) is a </a:t>
            </a:r>
            <a:r>
              <a:rPr lang="en-US" b="1" dirty="0"/>
              <a:t>graphical representation </a:t>
            </a:r>
            <a:r>
              <a:rPr lang="en-US" dirty="0"/>
              <a:t>of the "</a:t>
            </a:r>
            <a:r>
              <a:rPr lang="en-US" b="1" dirty="0"/>
              <a:t>flow of data</a:t>
            </a:r>
            <a:r>
              <a:rPr lang="en-US" dirty="0"/>
              <a:t>” through an information system.</a:t>
            </a:r>
          </a:p>
          <a:p>
            <a:r>
              <a:rPr lang="en-US" dirty="0"/>
              <a:t>It includes data </a:t>
            </a:r>
            <a:r>
              <a:rPr lang="en-US" b="1" dirty="0"/>
              <a:t>inputs</a:t>
            </a:r>
            <a:r>
              <a:rPr lang="en-US" dirty="0"/>
              <a:t> and </a:t>
            </a:r>
            <a:r>
              <a:rPr lang="en-US" b="1" dirty="0"/>
              <a:t>outputs</a:t>
            </a:r>
            <a:r>
              <a:rPr lang="en-US" dirty="0"/>
              <a:t>, </a:t>
            </a:r>
            <a:r>
              <a:rPr lang="en-US" b="1" dirty="0"/>
              <a:t>data stores</a:t>
            </a:r>
            <a:r>
              <a:rPr lang="en-US" dirty="0"/>
              <a:t>, and the various </a:t>
            </a:r>
            <a:r>
              <a:rPr lang="en-US" b="1" dirty="0"/>
              <a:t>sub processes</a:t>
            </a:r>
            <a:r>
              <a:rPr lang="en-US" dirty="0"/>
              <a:t>, the data moves through.</a:t>
            </a:r>
          </a:p>
          <a:p>
            <a:r>
              <a:rPr lang="en-US" dirty="0"/>
              <a:t>Before actually creating your data flow diagram, you’ll need to determine whether a </a:t>
            </a:r>
            <a:r>
              <a:rPr lang="en-US" b="1" dirty="0"/>
              <a:t>physical or logical </a:t>
            </a:r>
            <a:r>
              <a:rPr lang="en-US" dirty="0"/>
              <a:t>DFD best suits your needs.</a:t>
            </a:r>
          </a:p>
        </p:txBody>
      </p:sp>
    </p:spTree>
    <p:extLst>
      <p:ext uri="{BB962C8B-B14F-4D97-AF65-F5344CB8AC3E}">
        <p14:creationId xmlns:p14="http://schemas.microsoft.com/office/powerpoint/2010/main" val="186211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C12-D350-4F1A-986F-90D6EE36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and Notations Used in DFD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2265-0E92-49B7-BF9D-548CAC91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306029"/>
            <a:ext cx="11929641" cy="1073187"/>
          </a:xfrm>
          <a:ln>
            <a:solidFill>
              <a:srgbClr val="A32D19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is an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outside system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communicating with the system being diagrammed. They are 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entering or leaving the system.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139D0-727B-4B67-9ECD-7DBDF71D231A}"/>
              </a:ext>
            </a:extLst>
          </p:cNvPr>
          <p:cNvSpPr/>
          <p:nvPr/>
        </p:nvSpPr>
        <p:spPr>
          <a:xfrm>
            <a:off x="131180" y="844364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External Entity</a:t>
            </a:r>
          </a:p>
        </p:txBody>
      </p:sp>
      <p:sp>
        <p:nvSpPr>
          <p:cNvPr id="5" name="Google Shape;200;p27">
            <a:extLst>
              <a:ext uri="{FF2B5EF4-FFF2-40B4-BE49-F238E27FC236}">
                <a16:creationId xmlns:a16="http://schemas.microsoft.com/office/drawing/2014/main" id="{62BFAA2E-EEEB-4BBE-BEE1-E7F0C05ADF70}"/>
              </a:ext>
            </a:extLst>
          </p:cNvPr>
          <p:cNvSpPr/>
          <p:nvPr/>
        </p:nvSpPr>
        <p:spPr>
          <a:xfrm>
            <a:off x="3070490" y="2508842"/>
            <a:ext cx="2076114" cy="6640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External Entity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1;p27">
            <a:extLst>
              <a:ext uri="{FF2B5EF4-FFF2-40B4-BE49-F238E27FC236}">
                <a16:creationId xmlns:a16="http://schemas.microsoft.com/office/drawing/2014/main" id="{A1996CB3-ED8F-4DDD-BA77-0F3F1F74263C}"/>
              </a:ext>
            </a:extLst>
          </p:cNvPr>
          <p:cNvSpPr/>
          <p:nvPr/>
        </p:nvSpPr>
        <p:spPr>
          <a:xfrm>
            <a:off x="6668690" y="2508842"/>
            <a:ext cx="2244490" cy="6640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Entity</a:t>
            </a:r>
            <a:endParaRPr/>
          </a:p>
        </p:txBody>
      </p:sp>
      <p:sp>
        <p:nvSpPr>
          <p:cNvPr id="7" name="Google Shape;202;p27">
            <a:extLst>
              <a:ext uri="{FF2B5EF4-FFF2-40B4-BE49-F238E27FC236}">
                <a16:creationId xmlns:a16="http://schemas.microsoft.com/office/drawing/2014/main" id="{AF61AF90-8840-4750-82A5-1454945570F5}"/>
              </a:ext>
            </a:extLst>
          </p:cNvPr>
          <p:cNvSpPr/>
          <p:nvPr/>
        </p:nvSpPr>
        <p:spPr>
          <a:xfrm>
            <a:off x="6603100" y="3181750"/>
            <a:ext cx="269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Sarson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Notation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3;p27">
            <a:extLst>
              <a:ext uri="{FF2B5EF4-FFF2-40B4-BE49-F238E27FC236}">
                <a16:creationId xmlns:a16="http://schemas.microsoft.com/office/drawing/2014/main" id="{43132841-5C6A-450A-A3A9-CD6E9F7F2297}"/>
              </a:ext>
            </a:extLst>
          </p:cNvPr>
          <p:cNvSpPr/>
          <p:nvPr/>
        </p:nvSpPr>
        <p:spPr>
          <a:xfrm>
            <a:off x="2706545" y="3181750"/>
            <a:ext cx="3088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Yourdon and Coad Notation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0F306-64A6-48A1-B5ED-2CC454A0F5A0}"/>
              </a:ext>
            </a:extLst>
          </p:cNvPr>
          <p:cNvSpPr/>
          <p:nvPr/>
        </p:nvSpPr>
        <p:spPr>
          <a:xfrm>
            <a:off x="131180" y="3551082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Store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F76B371-4661-4C04-9282-AD938372D796}"/>
              </a:ext>
            </a:extLst>
          </p:cNvPr>
          <p:cNvSpPr txBox="1">
            <a:spLocks/>
          </p:cNvSpPr>
          <p:nvPr/>
        </p:nvSpPr>
        <p:spPr>
          <a:xfrm>
            <a:off x="131180" y="4012747"/>
            <a:ext cx="11929641" cy="1073187"/>
          </a:xfrm>
          <a:prstGeom prst="rect">
            <a:avLst/>
          </a:prstGeom>
          <a:ln>
            <a:solidFill>
              <a:srgbClr val="A32D19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 store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generate any operations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simply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data for later access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Data stores could consist of files held long term or a batch of documents stored briefly while they wait to be processed.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24;p29">
            <a:extLst>
              <a:ext uri="{FF2B5EF4-FFF2-40B4-BE49-F238E27FC236}">
                <a16:creationId xmlns:a16="http://schemas.microsoft.com/office/drawing/2014/main" id="{ED9A1A07-B6AB-4969-AA2A-25C1F089DA59}"/>
              </a:ext>
            </a:extLst>
          </p:cNvPr>
          <p:cNvSpPr/>
          <p:nvPr/>
        </p:nvSpPr>
        <p:spPr>
          <a:xfrm>
            <a:off x="6638612" y="6087407"/>
            <a:ext cx="269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 and Sarson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25;p29">
            <a:extLst>
              <a:ext uri="{FF2B5EF4-FFF2-40B4-BE49-F238E27FC236}">
                <a16:creationId xmlns:a16="http://schemas.microsoft.com/office/drawing/2014/main" id="{F669A6CC-1BE2-4B4D-9381-6A95145A19FB}"/>
              </a:ext>
            </a:extLst>
          </p:cNvPr>
          <p:cNvSpPr/>
          <p:nvPr/>
        </p:nvSpPr>
        <p:spPr>
          <a:xfrm>
            <a:off x="2720690" y="6024230"/>
            <a:ext cx="2832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Yourdon and Coad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227;p29">
            <a:extLst>
              <a:ext uri="{FF2B5EF4-FFF2-40B4-BE49-F238E27FC236}">
                <a16:creationId xmlns:a16="http://schemas.microsoft.com/office/drawing/2014/main" id="{91D2166A-735B-40FF-BEB6-AE333D4067B0}"/>
              </a:ext>
            </a:extLst>
          </p:cNvPr>
          <p:cNvGrpSpPr/>
          <p:nvPr/>
        </p:nvGrpSpPr>
        <p:grpSpPr>
          <a:xfrm>
            <a:off x="3121000" y="5262200"/>
            <a:ext cx="2032080" cy="762030"/>
            <a:chOff x="1908798" y="2987602"/>
            <a:chExt cx="2032080" cy="762030"/>
          </a:xfrm>
        </p:grpSpPr>
        <p:pic>
          <p:nvPicPr>
            <p:cNvPr id="20" name="Google Shape;228;p29">
              <a:extLst>
                <a:ext uri="{FF2B5EF4-FFF2-40B4-BE49-F238E27FC236}">
                  <a16:creationId xmlns:a16="http://schemas.microsoft.com/office/drawing/2014/main" id="{34440E5B-4195-4B4A-B2BE-99D4B2F2024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08798" y="2987602"/>
              <a:ext cx="2032080" cy="7620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29;p29">
              <a:extLst>
                <a:ext uri="{FF2B5EF4-FFF2-40B4-BE49-F238E27FC236}">
                  <a16:creationId xmlns:a16="http://schemas.microsoft.com/office/drawing/2014/main" id="{D51EDCF2-CC26-45B7-AB57-B638A93ADBE2}"/>
                </a:ext>
              </a:extLst>
            </p:cNvPr>
            <p:cNvSpPr txBox="1"/>
            <p:nvPr/>
          </p:nvSpPr>
          <p:spPr>
            <a:xfrm>
              <a:off x="2159820" y="3137784"/>
              <a:ext cx="15300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Store</a:t>
              </a:r>
              <a:endParaRPr dirty="0"/>
            </a:p>
          </p:txBody>
        </p:sp>
      </p:grpSp>
      <p:grpSp>
        <p:nvGrpSpPr>
          <p:cNvPr id="22" name="Google Shape;230;p29">
            <a:extLst>
              <a:ext uri="{FF2B5EF4-FFF2-40B4-BE49-F238E27FC236}">
                <a16:creationId xmlns:a16="http://schemas.microsoft.com/office/drawing/2014/main" id="{15D82D76-0BF8-4B0F-B529-E39B960D8859}"/>
              </a:ext>
            </a:extLst>
          </p:cNvPr>
          <p:cNvGrpSpPr/>
          <p:nvPr/>
        </p:nvGrpSpPr>
        <p:grpSpPr>
          <a:xfrm>
            <a:off x="6840915" y="5264114"/>
            <a:ext cx="2022195" cy="760116"/>
            <a:chOff x="5231503" y="2989516"/>
            <a:chExt cx="2022195" cy="760116"/>
          </a:xfrm>
        </p:grpSpPr>
        <p:pic>
          <p:nvPicPr>
            <p:cNvPr id="23" name="Google Shape;231;p29">
              <a:extLst>
                <a:ext uri="{FF2B5EF4-FFF2-40B4-BE49-F238E27FC236}">
                  <a16:creationId xmlns:a16="http://schemas.microsoft.com/office/drawing/2014/main" id="{7583E088-1127-437A-8A99-C0526565C18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31503" y="2989516"/>
              <a:ext cx="2022195" cy="7601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32;p29">
              <a:extLst>
                <a:ext uri="{FF2B5EF4-FFF2-40B4-BE49-F238E27FC236}">
                  <a16:creationId xmlns:a16="http://schemas.microsoft.com/office/drawing/2014/main" id="{A30BA1DF-E807-49C0-8C5E-7BC3DB76C2AB}"/>
                </a:ext>
              </a:extLst>
            </p:cNvPr>
            <p:cNvSpPr txBox="1"/>
            <p:nvPr/>
          </p:nvSpPr>
          <p:spPr>
            <a:xfrm>
              <a:off x="5723664" y="3137783"/>
              <a:ext cx="153003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Store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8243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  <p:bldP spid="6" grpId="0" animBg="1"/>
      <p:bldP spid="7" grpId="0"/>
      <p:bldP spid="8" grpId="0"/>
      <p:bldP spid="15" grpId="0" animBg="1"/>
      <p:bldP spid="16" grpId="0" animBg="1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C12-D350-4F1A-986F-90D6EE36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and Notations Used in DFD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2265-0E92-49B7-BF9D-548CAC91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306030"/>
            <a:ext cx="11929641" cy="806856"/>
          </a:xfrm>
          <a:ln>
            <a:solidFill>
              <a:srgbClr val="A32D19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activity that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or transforms data flows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Since they transform incoming data to outgoing data, all processes must have inputs and outputs on a DFD.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139D0-727B-4B67-9ECD-7DBDF71D231A}"/>
              </a:ext>
            </a:extLst>
          </p:cNvPr>
          <p:cNvSpPr/>
          <p:nvPr/>
        </p:nvSpPr>
        <p:spPr>
          <a:xfrm>
            <a:off x="131180" y="844364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Process</a:t>
            </a:r>
          </a:p>
        </p:txBody>
      </p:sp>
      <p:grpSp>
        <p:nvGrpSpPr>
          <p:cNvPr id="9" name="Google Shape;209;p28">
            <a:extLst>
              <a:ext uri="{FF2B5EF4-FFF2-40B4-BE49-F238E27FC236}">
                <a16:creationId xmlns:a16="http://schemas.microsoft.com/office/drawing/2014/main" id="{1B422C61-CB2F-4F7F-9176-79D8AC1CFB82}"/>
              </a:ext>
            </a:extLst>
          </p:cNvPr>
          <p:cNvGrpSpPr/>
          <p:nvPr/>
        </p:nvGrpSpPr>
        <p:grpSpPr>
          <a:xfrm>
            <a:off x="6939888" y="2122749"/>
            <a:ext cx="1837252" cy="1472838"/>
            <a:chOff x="5625906" y="3012313"/>
            <a:chExt cx="1837252" cy="1472838"/>
          </a:xfrm>
        </p:grpSpPr>
        <p:pic>
          <p:nvPicPr>
            <p:cNvPr id="10" name="Google Shape;210;p28">
              <a:extLst>
                <a:ext uri="{FF2B5EF4-FFF2-40B4-BE49-F238E27FC236}">
                  <a16:creationId xmlns:a16="http://schemas.microsoft.com/office/drawing/2014/main" id="{B22A1319-58EE-4348-93CB-EEF8E965DE5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625906" y="3012313"/>
              <a:ext cx="1837252" cy="1472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11;p28">
              <a:extLst>
                <a:ext uri="{FF2B5EF4-FFF2-40B4-BE49-F238E27FC236}">
                  <a16:creationId xmlns:a16="http://schemas.microsoft.com/office/drawing/2014/main" id="{6DC71E53-B930-4CBA-90B4-A692B390910B}"/>
                </a:ext>
              </a:extLst>
            </p:cNvPr>
            <p:cNvSpPr txBox="1"/>
            <p:nvPr/>
          </p:nvSpPr>
          <p:spPr>
            <a:xfrm>
              <a:off x="5969985" y="3074288"/>
              <a:ext cx="11490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endParaRPr/>
            </a:p>
          </p:txBody>
        </p:sp>
      </p:grpSp>
      <p:sp>
        <p:nvSpPr>
          <p:cNvPr id="12" name="Google Shape;213;p28">
            <a:extLst>
              <a:ext uri="{FF2B5EF4-FFF2-40B4-BE49-F238E27FC236}">
                <a16:creationId xmlns:a16="http://schemas.microsoft.com/office/drawing/2014/main" id="{505494FF-9313-485C-B172-F322CB60A493}"/>
              </a:ext>
            </a:extLst>
          </p:cNvPr>
          <p:cNvSpPr/>
          <p:nvPr/>
        </p:nvSpPr>
        <p:spPr>
          <a:xfrm>
            <a:off x="6512410" y="3516188"/>
            <a:ext cx="269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Sarson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Notation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14;p28">
            <a:extLst>
              <a:ext uri="{FF2B5EF4-FFF2-40B4-BE49-F238E27FC236}">
                <a16:creationId xmlns:a16="http://schemas.microsoft.com/office/drawing/2014/main" id="{963C8F5F-D911-41F4-8893-5C40849F8F7B}"/>
              </a:ext>
            </a:extLst>
          </p:cNvPr>
          <p:cNvSpPr/>
          <p:nvPr/>
        </p:nvSpPr>
        <p:spPr>
          <a:xfrm>
            <a:off x="2924936" y="3516188"/>
            <a:ext cx="2832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Yourdon and Coad Notation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5;p28">
            <a:extLst>
              <a:ext uri="{FF2B5EF4-FFF2-40B4-BE49-F238E27FC236}">
                <a16:creationId xmlns:a16="http://schemas.microsoft.com/office/drawing/2014/main" id="{EBC78C94-510D-45CB-8531-C587B78064E3}"/>
              </a:ext>
            </a:extLst>
          </p:cNvPr>
          <p:cNvSpPr/>
          <p:nvPr/>
        </p:nvSpPr>
        <p:spPr>
          <a:xfrm>
            <a:off x="3367928" y="2266420"/>
            <a:ext cx="1757362" cy="1249768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2C49A6-15CD-4874-A125-7342C58C6DB0}"/>
              </a:ext>
            </a:extLst>
          </p:cNvPr>
          <p:cNvSpPr txBox="1">
            <a:spLocks/>
          </p:cNvSpPr>
          <p:nvPr/>
        </p:nvSpPr>
        <p:spPr>
          <a:xfrm>
            <a:off x="131180" y="4323179"/>
            <a:ext cx="11929641" cy="806856"/>
          </a:xfrm>
          <a:prstGeom prst="rect">
            <a:avLst/>
          </a:prstGeom>
          <a:ln>
            <a:solidFill>
              <a:srgbClr val="A32D19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Movement of data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external entities, processes and data stores is represented with an arrow symbol, which indicates the direction of flow.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BCB77B-3653-4125-96E5-EDE1EEE43EDA}"/>
              </a:ext>
            </a:extLst>
          </p:cNvPr>
          <p:cNvSpPr/>
          <p:nvPr/>
        </p:nvSpPr>
        <p:spPr>
          <a:xfrm>
            <a:off x="131180" y="3861513"/>
            <a:ext cx="224803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Flow</a:t>
            </a:r>
          </a:p>
        </p:txBody>
      </p:sp>
      <p:cxnSp>
        <p:nvCxnSpPr>
          <p:cNvPr id="17" name="Google Shape;236;p29">
            <a:extLst>
              <a:ext uri="{FF2B5EF4-FFF2-40B4-BE49-F238E27FC236}">
                <a16:creationId xmlns:a16="http://schemas.microsoft.com/office/drawing/2014/main" id="{6840AB39-4B96-4B0C-850B-6EE61FF2DD13}"/>
              </a:ext>
            </a:extLst>
          </p:cNvPr>
          <p:cNvCxnSpPr/>
          <p:nvPr/>
        </p:nvCxnSpPr>
        <p:spPr>
          <a:xfrm>
            <a:off x="4915165" y="5673571"/>
            <a:ext cx="187274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8520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A9CE-9A60-454D-8CA1-4F965242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designing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E7EDB-22E5-47F6-A3EA-CCCCF4E0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41573"/>
          </a:xfrm>
        </p:spPr>
        <p:txBody>
          <a:bodyPr/>
          <a:lstStyle/>
          <a:p>
            <a:r>
              <a:rPr lang="en-US" dirty="0"/>
              <a:t>No process can have only output or only input. The process must have both input and output.</a:t>
            </a:r>
            <a:endParaRPr lang="en-IN" dirty="0"/>
          </a:p>
        </p:txBody>
      </p:sp>
      <p:grpSp>
        <p:nvGrpSpPr>
          <p:cNvPr id="4" name="Google Shape;257;p30">
            <a:extLst>
              <a:ext uri="{FF2B5EF4-FFF2-40B4-BE49-F238E27FC236}">
                <a16:creationId xmlns:a16="http://schemas.microsoft.com/office/drawing/2014/main" id="{93A8AEA1-D468-4B28-A532-C7F84C6C3A92}"/>
              </a:ext>
            </a:extLst>
          </p:cNvPr>
          <p:cNvGrpSpPr/>
          <p:nvPr/>
        </p:nvGrpSpPr>
        <p:grpSpPr>
          <a:xfrm>
            <a:off x="2419212" y="1729063"/>
            <a:ext cx="3429012" cy="1066800"/>
            <a:chOff x="457200" y="4295853"/>
            <a:chExt cx="3429012" cy="1066800"/>
          </a:xfrm>
        </p:grpSpPr>
        <p:sp>
          <p:nvSpPr>
            <p:cNvPr id="5" name="Google Shape;258;p30">
              <a:extLst>
                <a:ext uri="{FF2B5EF4-FFF2-40B4-BE49-F238E27FC236}">
                  <a16:creationId xmlns:a16="http://schemas.microsoft.com/office/drawing/2014/main" id="{9F51A05C-63F4-4DBF-A072-DFE25C888F01}"/>
                </a:ext>
              </a:extLst>
            </p:cNvPr>
            <p:cNvSpPr/>
            <p:nvPr/>
          </p:nvSpPr>
          <p:spPr>
            <a:xfrm>
              <a:off x="1524000" y="4295853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" name="Google Shape;259;p30">
              <a:extLst>
                <a:ext uri="{FF2B5EF4-FFF2-40B4-BE49-F238E27FC236}">
                  <a16:creationId xmlns:a16="http://schemas.microsoft.com/office/drawing/2014/main" id="{4406FBB6-8BA6-4660-96C6-82EBB0DF4130}"/>
                </a:ext>
              </a:extLst>
            </p:cNvPr>
            <p:cNvCxnSpPr>
              <a:stCxn id="5" idx="7"/>
            </p:cNvCxnSpPr>
            <p:nvPr/>
          </p:nvCxnSpPr>
          <p:spPr>
            <a:xfrm rot="10800000" flipH="1">
              <a:off x="2499612" y="4448182"/>
              <a:ext cx="1386600" cy="3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" name="Google Shape;260;p30">
              <a:extLst>
                <a:ext uri="{FF2B5EF4-FFF2-40B4-BE49-F238E27FC236}">
                  <a16:creationId xmlns:a16="http://schemas.microsoft.com/office/drawing/2014/main" id="{0EC478E3-D169-4835-9A67-B5BF0DC412A7}"/>
                </a:ext>
              </a:extLst>
            </p:cNvPr>
            <p:cNvCxnSpPr/>
            <p:nvPr/>
          </p:nvCxnSpPr>
          <p:spPr>
            <a:xfrm rot="10800000" flipH="1">
              <a:off x="2473854" y="5210253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" name="Google Shape;261;p30">
              <a:extLst>
                <a:ext uri="{FF2B5EF4-FFF2-40B4-BE49-F238E27FC236}">
                  <a16:creationId xmlns:a16="http://schemas.microsoft.com/office/drawing/2014/main" id="{67242FC8-0E4B-49B7-88B6-1A125E5F410A}"/>
                </a:ext>
              </a:extLst>
            </p:cNvPr>
            <p:cNvCxnSpPr>
              <a:endCxn id="5" idx="2"/>
            </p:cNvCxnSpPr>
            <p:nvPr/>
          </p:nvCxnSpPr>
          <p:spPr>
            <a:xfrm>
              <a:off x="457200" y="4829253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9" name="Google Shape;262;p30">
            <a:extLst>
              <a:ext uri="{FF2B5EF4-FFF2-40B4-BE49-F238E27FC236}">
                <a16:creationId xmlns:a16="http://schemas.microsoft.com/office/drawing/2014/main" id="{8F838002-B04A-45F7-B1EA-57394DC93305}"/>
              </a:ext>
            </a:extLst>
          </p:cNvPr>
          <p:cNvGrpSpPr/>
          <p:nvPr/>
        </p:nvGrpSpPr>
        <p:grpSpPr>
          <a:xfrm>
            <a:off x="6593833" y="1692092"/>
            <a:ext cx="3469746" cy="1066800"/>
            <a:chOff x="4531254" y="4284372"/>
            <a:chExt cx="3469746" cy="1066800"/>
          </a:xfrm>
        </p:grpSpPr>
        <p:sp>
          <p:nvSpPr>
            <p:cNvPr id="10" name="Google Shape;263;p30">
              <a:extLst>
                <a:ext uri="{FF2B5EF4-FFF2-40B4-BE49-F238E27FC236}">
                  <a16:creationId xmlns:a16="http://schemas.microsoft.com/office/drawing/2014/main" id="{915A0E2E-69B9-4B92-97F6-9933DB0BCE32}"/>
                </a:ext>
              </a:extLst>
            </p:cNvPr>
            <p:cNvSpPr/>
            <p:nvPr/>
          </p:nvSpPr>
          <p:spPr>
            <a:xfrm>
              <a:off x="5782884" y="4284372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" name="Google Shape;264;p30">
              <a:extLst>
                <a:ext uri="{FF2B5EF4-FFF2-40B4-BE49-F238E27FC236}">
                  <a16:creationId xmlns:a16="http://schemas.microsoft.com/office/drawing/2014/main" id="{E6F8529B-B15D-4C72-802D-45CB668684C7}"/>
                </a:ext>
              </a:extLst>
            </p:cNvPr>
            <p:cNvCxnSpPr/>
            <p:nvPr/>
          </p:nvCxnSpPr>
          <p:spPr>
            <a:xfrm rot="10800000" flipH="1">
              <a:off x="4557012" y="4436772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2" name="Google Shape;265;p30">
              <a:extLst>
                <a:ext uri="{FF2B5EF4-FFF2-40B4-BE49-F238E27FC236}">
                  <a16:creationId xmlns:a16="http://schemas.microsoft.com/office/drawing/2014/main" id="{6AA40D33-8AE7-4EF7-AB64-2E719C3E5F08}"/>
                </a:ext>
              </a:extLst>
            </p:cNvPr>
            <p:cNvCxnSpPr/>
            <p:nvPr/>
          </p:nvCxnSpPr>
          <p:spPr>
            <a:xfrm rot="10800000" flipH="1">
              <a:off x="4531254" y="5198772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266;p30">
              <a:extLst>
                <a:ext uri="{FF2B5EF4-FFF2-40B4-BE49-F238E27FC236}">
                  <a16:creationId xmlns:a16="http://schemas.microsoft.com/office/drawing/2014/main" id="{9086C8A1-E48C-468F-B953-4CC84EC86B38}"/>
                </a:ext>
              </a:extLst>
            </p:cNvPr>
            <p:cNvCxnSpPr/>
            <p:nvPr/>
          </p:nvCxnSpPr>
          <p:spPr>
            <a:xfrm>
              <a:off x="6934200" y="4817772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" name="Google Shape;243;p30">
            <a:extLst>
              <a:ext uri="{FF2B5EF4-FFF2-40B4-BE49-F238E27FC236}">
                <a16:creationId xmlns:a16="http://schemas.microsoft.com/office/drawing/2014/main" id="{6ED8D831-58F1-4258-8BDF-F4F4517286BF}"/>
              </a:ext>
            </a:extLst>
          </p:cNvPr>
          <p:cNvGrpSpPr/>
          <p:nvPr/>
        </p:nvGrpSpPr>
        <p:grpSpPr>
          <a:xfrm>
            <a:off x="3203776" y="3875194"/>
            <a:ext cx="2362212" cy="1066800"/>
            <a:chOff x="1828800" y="1905000"/>
            <a:chExt cx="2362212" cy="1066800"/>
          </a:xfrm>
        </p:grpSpPr>
        <p:sp>
          <p:nvSpPr>
            <p:cNvPr id="15" name="Google Shape;244;p30">
              <a:extLst>
                <a:ext uri="{FF2B5EF4-FFF2-40B4-BE49-F238E27FC236}">
                  <a16:creationId xmlns:a16="http://schemas.microsoft.com/office/drawing/2014/main" id="{BE760F77-BE2B-402B-BF42-DBCAA5626D1D}"/>
                </a:ext>
              </a:extLst>
            </p:cNvPr>
            <p:cNvSpPr/>
            <p:nvPr/>
          </p:nvSpPr>
          <p:spPr>
            <a:xfrm>
              <a:off x="1828800" y="1905000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" name="Google Shape;245;p30">
              <a:extLst>
                <a:ext uri="{FF2B5EF4-FFF2-40B4-BE49-F238E27FC236}">
                  <a16:creationId xmlns:a16="http://schemas.microsoft.com/office/drawing/2014/main" id="{BE30220E-078E-439C-874D-65EC114E5567}"/>
                </a:ext>
              </a:extLst>
            </p:cNvPr>
            <p:cNvCxnSpPr>
              <a:stCxn id="15" idx="7"/>
            </p:cNvCxnSpPr>
            <p:nvPr/>
          </p:nvCxnSpPr>
          <p:spPr>
            <a:xfrm rot="10800000" flipH="1">
              <a:off x="2804412" y="2057329"/>
              <a:ext cx="1386600" cy="3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" name="Google Shape;246;p30">
              <a:extLst>
                <a:ext uri="{FF2B5EF4-FFF2-40B4-BE49-F238E27FC236}">
                  <a16:creationId xmlns:a16="http://schemas.microsoft.com/office/drawing/2014/main" id="{3A22B5FC-40C8-4385-B9FE-C40D5178F0D8}"/>
                </a:ext>
              </a:extLst>
            </p:cNvPr>
            <p:cNvCxnSpPr/>
            <p:nvPr/>
          </p:nvCxnSpPr>
          <p:spPr>
            <a:xfrm rot="10800000" flipH="1">
              <a:off x="2778654" y="2819400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oogle Shape;247;p30">
            <a:extLst>
              <a:ext uri="{FF2B5EF4-FFF2-40B4-BE49-F238E27FC236}">
                <a16:creationId xmlns:a16="http://schemas.microsoft.com/office/drawing/2014/main" id="{C8B43B3A-86DD-44DD-969F-B0F958C43D48}"/>
              </a:ext>
            </a:extLst>
          </p:cNvPr>
          <p:cNvGrpSpPr/>
          <p:nvPr/>
        </p:nvGrpSpPr>
        <p:grpSpPr>
          <a:xfrm>
            <a:off x="7031481" y="3911796"/>
            <a:ext cx="2402946" cy="1066800"/>
            <a:chOff x="568854" y="1905000"/>
            <a:chExt cx="2402946" cy="1066800"/>
          </a:xfrm>
        </p:grpSpPr>
        <p:sp>
          <p:nvSpPr>
            <p:cNvPr id="19" name="Google Shape;248;p30">
              <a:extLst>
                <a:ext uri="{FF2B5EF4-FFF2-40B4-BE49-F238E27FC236}">
                  <a16:creationId xmlns:a16="http://schemas.microsoft.com/office/drawing/2014/main" id="{52E5F8F0-F8EF-4F6D-8EE3-AE0D376205D8}"/>
                </a:ext>
              </a:extLst>
            </p:cNvPr>
            <p:cNvSpPr/>
            <p:nvPr/>
          </p:nvSpPr>
          <p:spPr>
            <a:xfrm>
              <a:off x="1828800" y="1905000"/>
              <a:ext cx="1143000" cy="10668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" name="Google Shape;249;p30">
              <a:extLst>
                <a:ext uri="{FF2B5EF4-FFF2-40B4-BE49-F238E27FC236}">
                  <a16:creationId xmlns:a16="http://schemas.microsoft.com/office/drawing/2014/main" id="{B00127CE-EC0D-4454-A70C-5D83C7D11616}"/>
                </a:ext>
              </a:extLst>
            </p:cNvPr>
            <p:cNvCxnSpPr/>
            <p:nvPr/>
          </p:nvCxnSpPr>
          <p:spPr>
            <a:xfrm rot="10800000" flipH="1">
              <a:off x="594612" y="2057400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50;p30">
              <a:extLst>
                <a:ext uri="{FF2B5EF4-FFF2-40B4-BE49-F238E27FC236}">
                  <a16:creationId xmlns:a16="http://schemas.microsoft.com/office/drawing/2014/main" id="{3E920959-B4F1-4729-B8AB-E6EABB6C16E7}"/>
                </a:ext>
              </a:extLst>
            </p:cNvPr>
            <p:cNvCxnSpPr/>
            <p:nvPr/>
          </p:nvCxnSpPr>
          <p:spPr>
            <a:xfrm rot="10800000" flipH="1">
              <a:off x="568854" y="2819400"/>
              <a:ext cx="1386588" cy="382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2" name="Google Shape;251;p30">
            <a:extLst>
              <a:ext uri="{FF2B5EF4-FFF2-40B4-BE49-F238E27FC236}">
                <a16:creationId xmlns:a16="http://schemas.microsoft.com/office/drawing/2014/main" id="{32A40766-ED3A-423B-91CB-64CA07817A2F}"/>
              </a:ext>
            </a:extLst>
          </p:cNvPr>
          <p:cNvGrpSpPr/>
          <p:nvPr/>
        </p:nvGrpSpPr>
        <p:grpSpPr>
          <a:xfrm>
            <a:off x="3658330" y="3784319"/>
            <a:ext cx="1210600" cy="1248549"/>
            <a:chOff x="2656847" y="3839296"/>
            <a:chExt cx="1902372" cy="1824801"/>
          </a:xfrm>
        </p:grpSpPr>
        <p:cxnSp>
          <p:nvCxnSpPr>
            <p:cNvPr id="23" name="Google Shape;252;p30">
              <a:extLst>
                <a:ext uri="{FF2B5EF4-FFF2-40B4-BE49-F238E27FC236}">
                  <a16:creationId xmlns:a16="http://schemas.microsoft.com/office/drawing/2014/main" id="{3CF04746-FCA4-44B7-A612-9F3D51CD52B0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53;p30">
              <a:extLst>
                <a:ext uri="{FF2B5EF4-FFF2-40B4-BE49-F238E27FC236}">
                  <a16:creationId xmlns:a16="http://schemas.microsoft.com/office/drawing/2014/main" id="{BC6A363D-B924-409C-B3B1-81F4DE24AEFD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" name="Google Shape;254;p30">
            <a:extLst>
              <a:ext uri="{FF2B5EF4-FFF2-40B4-BE49-F238E27FC236}">
                <a16:creationId xmlns:a16="http://schemas.microsoft.com/office/drawing/2014/main" id="{8391FBA5-3AF8-4A54-94D2-E2FF4CF4EA12}"/>
              </a:ext>
            </a:extLst>
          </p:cNvPr>
          <p:cNvGrpSpPr/>
          <p:nvPr/>
        </p:nvGrpSpPr>
        <p:grpSpPr>
          <a:xfrm>
            <a:off x="7686127" y="3820921"/>
            <a:ext cx="1210600" cy="1248549"/>
            <a:chOff x="2656847" y="3839296"/>
            <a:chExt cx="1902372" cy="1824801"/>
          </a:xfrm>
        </p:grpSpPr>
        <p:cxnSp>
          <p:nvCxnSpPr>
            <p:cNvPr id="26" name="Google Shape;255;p30">
              <a:extLst>
                <a:ext uri="{FF2B5EF4-FFF2-40B4-BE49-F238E27FC236}">
                  <a16:creationId xmlns:a16="http://schemas.microsoft.com/office/drawing/2014/main" id="{F785945B-729A-40F4-8370-560FFEEC2C1F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56;p30">
              <a:extLst>
                <a:ext uri="{FF2B5EF4-FFF2-40B4-BE49-F238E27FC236}">
                  <a16:creationId xmlns:a16="http://schemas.microsoft.com/office/drawing/2014/main" id="{F33713C6-CE75-4071-83B8-DF200719F6E7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71661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9825-9560-47CA-8408-3BBCE47B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designing DFD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0388-267C-4FB1-A90E-99CD61D4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711201"/>
          </a:xfrm>
        </p:spPr>
        <p:txBody>
          <a:bodyPr/>
          <a:lstStyle/>
          <a:p>
            <a:r>
              <a:rPr lang="en-US" dirty="0"/>
              <a:t>There should not be a direct flow between data stored and external entity. The flow should be go through a process.</a:t>
            </a:r>
            <a:endParaRPr lang="en-IN" dirty="0"/>
          </a:p>
        </p:txBody>
      </p:sp>
      <p:grpSp>
        <p:nvGrpSpPr>
          <p:cNvPr id="4" name="Google Shape;287;p31">
            <a:extLst>
              <a:ext uri="{FF2B5EF4-FFF2-40B4-BE49-F238E27FC236}">
                <a16:creationId xmlns:a16="http://schemas.microsoft.com/office/drawing/2014/main" id="{8830D0AC-F15A-4198-8153-93293F322278}"/>
              </a:ext>
            </a:extLst>
          </p:cNvPr>
          <p:cNvGrpSpPr/>
          <p:nvPr/>
        </p:nvGrpSpPr>
        <p:grpSpPr>
          <a:xfrm>
            <a:off x="2365034" y="1693844"/>
            <a:ext cx="1649364" cy="2590800"/>
            <a:chOff x="1361858" y="3810000"/>
            <a:chExt cx="1649364" cy="2590800"/>
          </a:xfrm>
        </p:grpSpPr>
        <p:pic>
          <p:nvPicPr>
            <p:cNvPr id="5" name="Google Shape;288;p31">
              <a:extLst>
                <a:ext uri="{FF2B5EF4-FFF2-40B4-BE49-F238E27FC236}">
                  <a16:creationId xmlns:a16="http://schemas.microsoft.com/office/drawing/2014/main" id="{DD7F81CF-AEC9-4537-95DF-030B60878B5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361858" y="5797072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289;p31">
              <a:extLst>
                <a:ext uri="{FF2B5EF4-FFF2-40B4-BE49-F238E27FC236}">
                  <a16:creationId xmlns:a16="http://schemas.microsoft.com/office/drawing/2014/main" id="{DB9F4D16-D511-4BD0-80B9-9B6247C06CD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01280" y="3810000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" name="Google Shape;290;p31">
              <a:extLst>
                <a:ext uri="{FF2B5EF4-FFF2-40B4-BE49-F238E27FC236}">
                  <a16:creationId xmlns:a16="http://schemas.microsoft.com/office/drawing/2014/main" id="{4D6DC792-5B0F-4B44-ACFE-BE90C4F7A018}"/>
                </a:ext>
              </a:extLst>
            </p:cNvPr>
            <p:cNvCxnSpPr/>
            <p:nvPr/>
          </p:nvCxnSpPr>
          <p:spPr>
            <a:xfrm>
              <a:off x="2166829" y="4343400"/>
              <a:ext cx="0" cy="43574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8" name="Google Shape;291;p31">
              <a:extLst>
                <a:ext uri="{FF2B5EF4-FFF2-40B4-BE49-F238E27FC236}">
                  <a16:creationId xmlns:a16="http://schemas.microsoft.com/office/drawing/2014/main" id="{BAC28EE8-CA25-41C5-8B67-1E7C7E2672A8}"/>
                </a:ext>
              </a:extLst>
            </p:cNvPr>
            <p:cNvCxnSpPr/>
            <p:nvPr/>
          </p:nvCxnSpPr>
          <p:spPr>
            <a:xfrm>
              <a:off x="2166829" y="5486400"/>
              <a:ext cx="0" cy="40463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" name="Google Shape;292;p31">
              <a:extLst>
                <a:ext uri="{FF2B5EF4-FFF2-40B4-BE49-F238E27FC236}">
                  <a16:creationId xmlns:a16="http://schemas.microsoft.com/office/drawing/2014/main" id="{BE2B1EFC-1DFC-4ABA-B029-3AF3FA0F64DE}"/>
                </a:ext>
              </a:extLst>
            </p:cNvPr>
            <p:cNvSpPr/>
            <p:nvPr/>
          </p:nvSpPr>
          <p:spPr>
            <a:xfrm>
              <a:off x="1711779" y="4776967"/>
              <a:ext cx="910100" cy="762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293;p31">
            <a:extLst>
              <a:ext uri="{FF2B5EF4-FFF2-40B4-BE49-F238E27FC236}">
                <a16:creationId xmlns:a16="http://schemas.microsoft.com/office/drawing/2014/main" id="{B9234982-8E1D-4433-8F9B-C048DF2D2686}"/>
              </a:ext>
            </a:extLst>
          </p:cNvPr>
          <p:cNvGrpSpPr/>
          <p:nvPr/>
        </p:nvGrpSpPr>
        <p:grpSpPr>
          <a:xfrm>
            <a:off x="4937224" y="2532938"/>
            <a:ext cx="5113116" cy="762000"/>
            <a:chOff x="3934048" y="4649094"/>
            <a:chExt cx="5113116" cy="762000"/>
          </a:xfrm>
        </p:grpSpPr>
        <p:pic>
          <p:nvPicPr>
            <p:cNvPr id="11" name="Google Shape;294;p31">
              <a:extLst>
                <a:ext uri="{FF2B5EF4-FFF2-40B4-BE49-F238E27FC236}">
                  <a16:creationId xmlns:a16="http://schemas.microsoft.com/office/drawing/2014/main" id="{3241B5A5-A1D8-4699-B398-CA78B26DF49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437222" y="4710622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" name="Google Shape;295;p31">
              <a:extLst>
                <a:ext uri="{FF2B5EF4-FFF2-40B4-BE49-F238E27FC236}">
                  <a16:creationId xmlns:a16="http://schemas.microsoft.com/office/drawing/2014/main" id="{78AFEBF1-240E-468F-854B-9B7C8E3CB16F}"/>
                </a:ext>
              </a:extLst>
            </p:cNvPr>
            <p:cNvCxnSpPr/>
            <p:nvPr/>
          </p:nvCxnSpPr>
          <p:spPr>
            <a:xfrm>
              <a:off x="5224034" y="5030094"/>
              <a:ext cx="64336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296;p31">
              <a:extLst>
                <a:ext uri="{FF2B5EF4-FFF2-40B4-BE49-F238E27FC236}">
                  <a16:creationId xmlns:a16="http://schemas.microsoft.com/office/drawing/2014/main" id="{C7A08D2C-88FC-411D-82EB-B98163D725A8}"/>
                </a:ext>
              </a:extLst>
            </p:cNvPr>
            <p:cNvCxnSpPr>
              <a:stCxn id="14" idx="6"/>
            </p:cNvCxnSpPr>
            <p:nvPr/>
          </p:nvCxnSpPr>
          <p:spPr>
            <a:xfrm rot="10800000" flipH="1">
              <a:off x="6777500" y="5012394"/>
              <a:ext cx="659700" cy="17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" name="Google Shape;297;p31">
              <a:extLst>
                <a:ext uri="{FF2B5EF4-FFF2-40B4-BE49-F238E27FC236}">
                  <a16:creationId xmlns:a16="http://schemas.microsoft.com/office/drawing/2014/main" id="{7E14D18A-9927-4CC9-9939-28D4CA39FD38}"/>
                </a:ext>
              </a:extLst>
            </p:cNvPr>
            <p:cNvSpPr/>
            <p:nvPr/>
          </p:nvSpPr>
          <p:spPr>
            <a:xfrm>
              <a:off x="5867400" y="4649094"/>
              <a:ext cx="910100" cy="762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8;p31">
              <a:extLst>
                <a:ext uri="{FF2B5EF4-FFF2-40B4-BE49-F238E27FC236}">
                  <a16:creationId xmlns:a16="http://schemas.microsoft.com/office/drawing/2014/main" id="{D97AF8FE-9593-4607-A049-12B47DDC898B}"/>
                </a:ext>
              </a:extLst>
            </p:cNvPr>
            <p:cNvSpPr/>
            <p:nvPr/>
          </p:nvSpPr>
          <p:spPr>
            <a:xfrm>
              <a:off x="3934048" y="4806674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" name="Google Shape;273;p31">
            <a:extLst>
              <a:ext uri="{FF2B5EF4-FFF2-40B4-BE49-F238E27FC236}">
                <a16:creationId xmlns:a16="http://schemas.microsoft.com/office/drawing/2014/main" id="{4275BAA4-5F17-4C53-B5A7-B44698609194}"/>
              </a:ext>
            </a:extLst>
          </p:cNvPr>
          <p:cNvGrpSpPr/>
          <p:nvPr/>
        </p:nvGrpSpPr>
        <p:grpSpPr>
          <a:xfrm>
            <a:off x="2387940" y="4716131"/>
            <a:ext cx="1617040" cy="1588669"/>
            <a:chOff x="1465331" y="1905000"/>
            <a:chExt cx="1617040" cy="1588669"/>
          </a:xfrm>
        </p:grpSpPr>
        <p:pic>
          <p:nvPicPr>
            <p:cNvPr id="17" name="Google Shape;274;p31">
              <a:extLst>
                <a:ext uri="{FF2B5EF4-FFF2-40B4-BE49-F238E27FC236}">
                  <a16:creationId xmlns:a16="http://schemas.microsoft.com/office/drawing/2014/main" id="{FBD57C84-25E8-4234-99ED-44EDCDDD80F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5331" y="1905000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275;p31">
              <a:extLst>
                <a:ext uri="{FF2B5EF4-FFF2-40B4-BE49-F238E27FC236}">
                  <a16:creationId xmlns:a16="http://schemas.microsoft.com/office/drawing/2014/main" id="{57C4BE5C-8A74-4DDD-947C-2278CB9C3D7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72429" y="2889941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276;p31">
              <a:extLst>
                <a:ext uri="{FF2B5EF4-FFF2-40B4-BE49-F238E27FC236}">
                  <a16:creationId xmlns:a16="http://schemas.microsoft.com/office/drawing/2014/main" id="{06256C53-DE84-4E1D-ADFA-9D3D4CDA92BB}"/>
                </a:ext>
              </a:extLst>
            </p:cNvPr>
            <p:cNvCxnSpPr/>
            <p:nvPr/>
          </p:nvCxnSpPr>
          <p:spPr>
            <a:xfrm>
              <a:off x="2209800" y="2438400"/>
              <a:ext cx="0" cy="53927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0" name="Google Shape;277;p31">
            <a:extLst>
              <a:ext uri="{FF2B5EF4-FFF2-40B4-BE49-F238E27FC236}">
                <a16:creationId xmlns:a16="http://schemas.microsoft.com/office/drawing/2014/main" id="{8C054868-BDEE-41F1-B5A0-98E44CE34884}"/>
              </a:ext>
            </a:extLst>
          </p:cNvPr>
          <p:cNvGrpSpPr/>
          <p:nvPr/>
        </p:nvGrpSpPr>
        <p:grpSpPr>
          <a:xfrm>
            <a:off x="2527109" y="4983534"/>
            <a:ext cx="1210600" cy="1248549"/>
            <a:chOff x="2656847" y="3839296"/>
            <a:chExt cx="1902372" cy="1824801"/>
          </a:xfrm>
        </p:grpSpPr>
        <p:cxnSp>
          <p:nvCxnSpPr>
            <p:cNvPr id="21" name="Google Shape;278;p31">
              <a:extLst>
                <a:ext uri="{FF2B5EF4-FFF2-40B4-BE49-F238E27FC236}">
                  <a16:creationId xmlns:a16="http://schemas.microsoft.com/office/drawing/2014/main" id="{76E3F3F0-7D9F-418C-9BE3-DCF026F55AA0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79;p31">
              <a:extLst>
                <a:ext uri="{FF2B5EF4-FFF2-40B4-BE49-F238E27FC236}">
                  <a16:creationId xmlns:a16="http://schemas.microsoft.com/office/drawing/2014/main" id="{860D443B-A889-4D81-9C1A-8974FF762EB1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Google Shape;280;p31">
            <a:extLst>
              <a:ext uri="{FF2B5EF4-FFF2-40B4-BE49-F238E27FC236}">
                <a16:creationId xmlns:a16="http://schemas.microsoft.com/office/drawing/2014/main" id="{83262A37-8E0D-4941-99C7-27F187594C25}"/>
              </a:ext>
            </a:extLst>
          </p:cNvPr>
          <p:cNvGrpSpPr/>
          <p:nvPr/>
        </p:nvGrpSpPr>
        <p:grpSpPr>
          <a:xfrm>
            <a:off x="5647009" y="5099345"/>
            <a:ext cx="3895942" cy="603728"/>
            <a:chOff x="4724400" y="2288214"/>
            <a:chExt cx="3895942" cy="603728"/>
          </a:xfrm>
        </p:grpSpPr>
        <p:pic>
          <p:nvPicPr>
            <p:cNvPr id="24" name="Google Shape;281;p31">
              <a:extLst>
                <a:ext uri="{FF2B5EF4-FFF2-40B4-BE49-F238E27FC236}">
                  <a16:creationId xmlns:a16="http://schemas.microsoft.com/office/drawing/2014/main" id="{BDD0BDE8-45FF-40D9-B864-630E22C0082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010400" y="2288214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82;p31">
              <a:extLst>
                <a:ext uri="{FF2B5EF4-FFF2-40B4-BE49-F238E27FC236}">
                  <a16:creationId xmlns:a16="http://schemas.microsoft.com/office/drawing/2014/main" id="{8CAA97D3-C48B-4CE4-B45D-95DDD922DEC6}"/>
                </a:ext>
              </a:extLst>
            </p:cNvPr>
            <p:cNvSpPr/>
            <p:nvPr/>
          </p:nvSpPr>
          <p:spPr>
            <a:xfrm>
              <a:off x="4724400" y="2397876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26" name="Google Shape;283;p31">
              <a:extLst>
                <a:ext uri="{FF2B5EF4-FFF2-40B4-BE49-F238E27FC236}">
                  <a16:creationId xmlns:a16="http://schemas.microsoft.com/office/drawing/2014/main" id="{90D23D1B-56DD-42C0-9B95-299EABBA012A}"/>
                </a:ext>
              </a:extLst>
            </p:cNvPr>
            <p:cNvCxnSpPr>
              <a:stCxn id="25" idx="3"/>
            </p:cNvCxnSpPr>
            <p:nvPr/>
          </p:nvCxnSpPr>
          <p:spPr>
            <a:xfrm rot="10800000" flipH="1">
              <a:off x="6014386" y="2590038"/>
              <a:ext cx="996000" cy="1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" name="Google Shape;284;p31">
            <a:extLst>
              <a:ext uri="{FF2B5EF4-FFF2-40B4-BE49-F238E27FC236}">
                <a16:creationId xmlns:a16="http://schemas.microsoft.com/office/drawing/2014/main" id="{9F5ED262-2273-4584-A9E4-4E841BEA5709}"/>
              </a:ext>
            </a:extLst>
          </p:cNvPr>
          <p:cNvGrpSpPr/>
          <p:nvPr/>
        </p:nvGrpSpPr>
        <p:grpSpPr>
          <a:xfrm>
            <a:off x="6956410" y="4795494"/>
            <a:ext cx="1210600" cy="1248549"/>
            <a:chOff x="2656847" y="3839296"/>
            <a:chExt cx="1902372" cy="1824801"/>
          </a:xfrm>
        </p:grpSpPr>
        <p:cxnSp>
          <p:nvCxnSpPr>
            <p:cNvPr id="28" name="Google Shape;285;p31">
              <a:extLst>
                <a:ext uri="{FF2B5EF4-FFF2-40B4-BE49-F238E27FC236}">
                  <a16:creationId xmlns:a16="http://schemas.microsoft.com/office/drawing/2014/main" id="{D51BF7E1-6CCA-4C98-B6BD-F06702BD5E6A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86;p31">
              <a:extLst>
                <a:ext uri="{FF2B5EF4-FFF2-40B4-BE49-F238E27FC236}">
                  <a16:creationId xmlns:a16="http://schemas.microsoft.com/office/drawing/2014/main" id="{78D6AB53-4524-43D2-9377-44B912950795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18562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06A0-5736-4448-A3F0-8AECA7F8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Rules for designing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6B7CA-15C2-411B-B6C1-133CA3A7C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823313"/>
          </a:xfrm>
        </p:spPr>
        <p:txBody>
          <a:bodyPr/>
          <a:lstStyle/>
          <a:p>
            <a:r>
              <a:rPr lang="en-US" dirty="0"/>
              <a:t>No data should move directly between external entities. The data flow should go through a process.</a:t>
            </a:r>
          </a:p>
        </p:txBody>
      </p:sp>
      <p:grpSp>
        <p:nvGrpSpPr>
          <p:cNvPr id="4" name="Google Shape;305;p32">
            <a:extLst>
              <a:ext uri="{FF2B5EF4-FFF2-40B4-BE49-F238E27FC236}">
                <a16:creationId xmlns:a16="http://schemas.microsoft.com/office/drawing/2014/main" id="{4E6D50AA-433B-4C8F-9FDB-0332D5F6A983}"/>
              </a:ext>
            </a:extLst>
          </p:cNvPr>
          <p:cNvGrpSpPr/>
          <p:nvPr/>
        </p:nvGrpSpPr>
        <p:grpSpPr>
          <a:xfrm>
            <a:off x="5116961" y="3110075"/>
            <a:ext cx="1210600" cy="1248549"/>
            <a:chOff x="2656847" y="3839296"/>
            <a:chExt cx="1902372" cy="1824801"/>
          </a:xfrm>
        </p:grpSpPr>
        <p:cxnSp>
          <p:nvCxnSpPr>
            <p:cNvPr id="5" name="Google Shape;306;p32">
              <a:extLst>
                <a:ext uri="{FF2B5EF4-FFF2-40B4-BE49-F238E27FC236}">
                  <a16:creationId xmlns:a16="http://schemas.microsoft.com/office/drawing/2014/main" id="{E43881DE-2A74-4D11-8D60-730AB006C80D}"/>
                </a:ext>
              </a:extLst>
            </p:cNvPr>
            <p:cNvCxnSpPr/>
            <p:nvPr/>
          </p:nvCxnSpPr>
          <p:spPr>
            <a:xfrm>
              <a:off x="2656847" y="3839296"/>
              <a:ext cx="1902372" cy="177276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" name="Google Shape;307;p32">
              <a:extLst>
                <a:ext uri="{FF2B5EF4-FFF2-40B4-BE49-F238E27FC236}">
                  <a16:creationId xmlns:a16="http://schemas.microsoft.com/office/drawing/2014/main" id="{D9EEA2CD-6CA6-4D3E-AF32-D5524D5C95AA}"/>
                </a:ext>
              </a:extLst>
            </p:cNvPr>
            <p:cNvCxnSpPr/>
            <p:nvPr/>
          </p:nvCxnSpPr>
          <p:spPr>
            <a:xfrm flipH="1">
              <a:off x="2656847" y="3895209"/>
              <a:ext cx="1891218" cy="1768888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" name="Google Shape;308;p32">
            <a:extLst>
              <a:ext uri="{FF2B5EF4-FFF2-40B4-BE49-F238E27FC236}">
                <a16:creationId xmlns:a16="http://schemas.microsoft.com/office/drawing/2014/main" id="{160D7992-7C3B-4FB1-9BEB-4BB1916E819F}"/>
              </a:ext>
            </a:extLst>
          </p:cNvPr>
          <p:cNvGrpSpPr/>
          <p:nvPr/>
        </p:nvGrpSpPr>
        <p:grpSpPr>
          <a:xfrm>
            <a:off x="3464099" y="3529819"/>
            <a:ext cx="4813220" cy="432657"/>
            <a:chOff x="2022483" y="2447204"/>
            <a:chExt cx="4813220" cy="432657"/>
          </a:xfrm>
        </p:grpSpPr>
        <p:cxnSp>
          <p:nvCxnSpPr>
            <p:cNvPr id="8" name="Google Shape;309;p32">
              <a:extLst>
                <a:ext uri="{FF2B5EF4-FFF2-40B4-BE49-F238E27FC236}">
                  <a16:creationId xmlns:a16="http://schemas.microsoft.com/office/drawing/2014/main" id="{2E520498-7184-4C0E-9F59-9C7B7DC6A7BB}"/>
                </a:ext>
              </a:extLst>
            </p:cNvPr>
            <p:cNvCxnSpPr>
              <a:endCxn id="10" idx="1"/>
            </p:cNvCxnSpPr>
            <p:nvPr/>
          </p:nvCxnSpPr>
          <p:spPr>
            <a:xfrm rot="10800000" flipH="1">
              <a:off x="3312517" y="2669099"/>
              <a:ext cx="2233200" cy="15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9" name="Google Shape;311;p32">
              <a:extLst>
                <a:ext uri="{FF2B5EF4-FFF2-40B4-BE49-F238E27FC236}">
                  <a16:creationId xmlns:a16="http://schemas.microsoft.com/office/drawing/2014/main" id="{2903883D-EEEF-4F53-A3FD-D02131B22B0B}"/>
                </a:ext>
              </a:extLst>
            </p:cNvPr>
            <p:cNvSpPr/>
            <p:nvPr/>
          </p:nvSpPr>
          <p:spPr>
            <a:xfrm>
              <a:off x="2022483" y="2447204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" name="Google Shape;310;p32">
              <a:extLst>
                <a:ext uri="{FF2B5EF4-FFF2-40B4-BE49-F238E27FC236}">
                  <a16:creationId xmlns:a16="http://schemas.microsoft.com/office/drawing/2014/main" id="{21E1B564-2E24-45C5-B142-3DC96A7F8C11}"/>
                </a:ext>
              </a:extLst>
            </p:cNvPr>
            <p:cNvSpPr/>
            <p:nvPr/>
          </p:nvSpPr>
          <p:spPr>
            <a:xfrm>
              <a:off x="5545717" y="2458337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" name="Google Shape;312;p32">
            <a:extLst>
              <a:ext uri="{FF2B5EF4-FFF2-40B4-BE49-F238E27FC236}">
                <a16:creationId xmlns:a16="http://schemas.microsoft.com/office/drawing/2014/main" id="{758B2EBF-AC81-4829-8847-51472E4F2220}"/>
              </a:ext>
            </a:extLst>
          </p:cNvPr>
          <p:cNvGrpSpPr/>
          <p:nvPr/>
        </p:nvGrpSpPr>
        <p:grpSpPr>
          <a:xfrm>
            <a:off x="3460790" y="1909140"/>
            <a:ext cx="4813220" cy="762000"/>
            <a:chOff x="2022483" y="2289624"/>
            <a:chExt cx="4813220" cy="762000"/>
          </a:xfrm>
        </p:grpSpPr>
        <p:cxnSp>
          <p:nvCxnSpPr>
            <p:cNvPr id="12" name="Google Shape;313;p32">
              <a:extLst>
                <a:ext uri="{FF2B5EF4-FFF2-40B4-BE49-F238E27FC236}">
                  <a16:creationId xmlns:a16="http://schemas.microsoft.com/office/drawing/2014/main" id="{C2C0D383-A43D-4AB5-8698-D86DAB2A572E}"/>
                </a:ext>
              </a:extLst>
            </p:cNvPr>
            <p:cNvCxnSpPr/>
            <p:nvPr/>
          </p:nvCxnSpPr>
          <p:spPr>
            <a:xfrm>
              <a:off x="3312469" y="2670624"/>
              <a:ext cx="64336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314;p32">
              <a:extLst>
                <a:ext uri="{FF2B5EF4-FFF2-40B4-BE49-F238E27FC236}">
                  <a16:creationId xmlns:a16="http://schemas.microsoft.com/office/drawing/2014/main" id="{B5B15C45-93AA-452F-8AAF-D1A957BF634C}"/>
                </a:ext>
              </a:extLst>
            </p:cNvPr>
            <p:cNvCxnSpPr>
              <a:stCxn id="14" idx="6"/>
            </p:cNvCxnSpPr>
            <p:nvPr/>
          </p:nvCxnSpPr>
          <p:spPr>
            <a:xfrm rot="10800000" flipH="1">
              <a:off x="4865935" y="2652924"/>
              <a:ext cx="659700" cy="17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" name="Google Shape;315;p32">
              <a:extLst>
                <a:ext uri="{FF2B5EF4-FFF2-40B4-BE49-F238E27FC236}">
                  <a16:creationId xmlns:a16="http://schemas.microsoft.com/office/drawing/2014/main" id="{E068191B-67F8-458F-BF33-4535F5DC3F4A}"/>
                </a:ext>
              </a:extLst>
            </p:cNvPr>
            <p:cNvSpPr/>
            <p:nvPr/>
          </p:nvSpPr>
          <p:spPr>
            <a:xfrm>
              <a:off x="3955835" y="2289624"/>
              <a:ext cx="910100" cy="762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16;p32">
              <a:extLst>
                <a:ext uri="{FF2B5EF4-FFF2-40B4-BE49-F238E27FC236}">
                  <a16:creationId xmlns:a16="http://schemas.microsoft.com/office/drawing/2014/main" id="{5E549CA8-9D37-4A61-B9AA-C87103083097}"/>
                </a:ext>
              </a:extLst>
            </p:cNvPr>
            <p:cNvSpPr/>
            <p:nvPr/>
          </p:nvSpPr>
          <p:spPr>
            <a:xfrm>
              <a:off x="2022483" y="2447204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" name="Google Shape;317;p32">
              <a:extLst>
                <a:ext uri="{FF2B5EF4-FFF2-40B4-BE49-F238E27FC236}">
                  <a16:creationId xmlns:a16="http://schemas.microsoft.com/office/drawing/2014/main" id="{929E5E48-7B20-4A78-920C-20A49DD5CAEE}"/>
                </a:ext>
              </a:extLst>
            </p:cNvPr>
            <p:cNvSpPr/>
            <p:nvPr/>
          </p:nvSpPr>
          <p:spPr>
            <a:xfrm>
              <a:off x="5545717" y="2458337"/>
              <a:ext cx="1289986" cy="42152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1133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C6FE-992A-4980-8885-C54B2553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6000" cy="711200"/>
          </a:xfrm>
        </p:spPr>
        <p:txBody>
          <a:bodyPr/>
          <a:lstStyle/>
          <a:p>
            <a:pPr algn="ctr"/>
            <a:r>
              <a:rPr lang="en-US" dirty="0"/>
              <a:t>Logical data flow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FCF3-64C0-43C5-BD25-6A30461C1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816859" cy="4951429"/>
          </a:xfrm>
        </p:spPr>
        <p:txBody>
          <a:bodyPr/>
          <a:lstStyle/>
          <a:p>
            <a:r>
              <a:rPr lang="en-US" dirty="0"/>
              <a:t>Logical data flow diagrams </a:t>
            </a:r>
            <a:r>
              <a:rPr lang="en-US" b="1" dirty="0"/>
              <a:t>focus on what happens </a:t>
            </a:r>
            <a:r>
              <a:rPr lang="en-US" dirty="0"/>
              <a:t>in a particular information flow</a:t>
            </a:r>
          </a:p>
          <a:p>
            <a:r>
              <a:rPr lang="en-US" dirty="0"/>
              <a:t>What information is being </a:t>
            </a:r>
            <a:r>
              <a:rPr lang="en-US" b="1" dirty="0"/>
              <a:t>transmitted</a:t>
            </a:r>
            <a:r>
              <a:rPr lang="en-US" dirty="0"/>
              <a:t>, what </a:t>
            </a:r>
            <a:r>
              <a:rPr lang="en-US" b="1" dirty="0"/>
              <a:t>entities</a:t>
            </a:r>
            <a:r>
              <a:rPr lang="en-US" dirty="0"/>
              <a:t> are </a:t>
            </a:r>
            <a:r>
              <a:rPr lang="en-US" b="1" dirty="0"/>
              <a:t>receiving</a:t>
            </a:r>
            <a:r>
              <a:rPr lang="en-US" dirty="0"/>
              <a:t> that info, what general processes occur.</a:t>
            </a:r>
          </a:p>
          <a:p>
            <a:r>
              <a:rPr lang="en-US" dirty="0"/>
              <a:t>The processes described in a logical DFD are </a:t>
            </a:r>
            <a:r>
              <a:rPr lang="en-US" b="1" dirty="0"/>
              <a:t>business activities</a:t>
            </a:r>
            <a:r>
              <a:rPr lang="en-US" dirty="0"/>
              <a:t>, A logical DFD doesn’t delve into the technical aspects of a process or system. </a:t>
            </a:r>
          </a:p>
          <a:p>
            <a:r>
              <a:rPr lang="en-US" b="1" dirty="0"/>
              <a:t>Non-technical</a:t>
            </a:r>
            <a:r>
              <a:rPr lang="en-US" dirty="0"/>
              <a:t> </a:t>
            </a:r>
            <a:r>
              <a:rPr lang="en-US" b="1" dirty="0"/>
              <a:t>employees</a:t>
            </a:r>
            <a:r>
              <a:rPr lang="en-US" dirty="0"/>
              <a:t> should be able to </a:t>
            </a:r>
            <a:r>
              <a:rPr lang="en-US" b="1" dirty="0"/>
              <a:t>understand</a:t>
            </a:r>
            <a:r>
              <a:rPr lang="en-US" dirty="0"/>
              <a:t> these diagrams.</a:t>
            </a:r>
          </a:p>
          <a:p>
            <a:endParaRPr lang="en-I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818E743-CEAB-434E-97BA-421134398411}"/>
              </a:ext>
            </a:extLst>
          </p:cNvPr>
          <p:cNvSpPr txBox="1">
            <a:spLocks/>
          </p:cNvSpPr>
          <p:nvPr/>
        </p:nvSpPr>
        <p:spPr>
          <a:xfrm>
            <a:off x="6243963" y="863445"/>
            <a:ext cx="572808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Physical data flow diagrams </a:t>
            </a:r>
            <a:r>
              <a:rPr lang="en-US" b="1" dirty="0"/>
              <a:t>focus on how things happen</a:t>
            </a:r>
            <a:r>
              <a:rPr lang="en-US" dirty="0"/>
              <a:t> in an information flow. </a:t>
            </a:r>
          </a:p>
          <a:p>
            <a:r>
              <a:rPr lang="en-US" dirty="0"/>
              <a:t>Physical DFD specify the software, hardware, files, and people involved in an information flow.</a:t>
            </a:r>
          </a:p>
          <a:p>
            <a:r>
              <a:rPr lang="en-US" dirty="0"/>
              <a:t>A detailed physical data flow diagram can facilitate the </a:t>
            </a:r>
            <a:r>
              <a:rPr lang="en-US" b="1" dirty="0"/>
              <a:t>development</a:t>
            </a:r>
            <a:r>
              <a:rPr lang="en-US" dirty="0"/>
              <a:t> of the </a:t>
            </a:r>
            <a:r>
              <a:rPr lang="en-US" b="1" dirty="0"/>
              <a:t>code needed</a:t>
            </a:r>
            <a:r>
              <a:rPr lang="en-US" dirty="0"/>
              <a:t> to implement a </a:t>
            </a:r>
            <a:r>
              <a:rPr lang="en-US" b="1" dirty="0"/>
              <a:t>data system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79F3ED-718A-49E4-AE22-026F28BB92A7}"/>
              </a:ext>
            </a:extLst>
          </p:cNvPr>
          <p:cNvCxnSpPr>
            <a:cxnSpLocks/>
          </p:cNvCxnSpPr>
          <p:nvPr/>
        </p:nvCxnSpPr>
        <p:spPr>
          <a:xfrm>
            <a:off x="6096000" y="863445"/>
            <a:ext cx="0" cy="567939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B3F07C88-485B-40EA-A021-7C7D16AA580E}"/>
              </a:ext>
            </a:extLst>
          </p:cNvPr>
          <p:cNvSpPr txBox="1">
            <a:spLocks/>
          </p:cNvSpPr>
          <p:nvPr/>
        </p:nvSpPr>
        <p:spPr>
          <a:xfrm>
            <a:off x="6096000" y="1"/>
            <a:ext cx="6096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Physical data flow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11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C6B5-DA6E-41AD-8406-3274F3D0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sz="3600" dirty="0"/>
              <a:t>physical data flow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66E7-CFCD-4DF1-932D-53DEB5145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50558"/>
          </a:xfrm>
        </p:spPr>
        <p:txBody>
          <a:bodyPr/>
          <a:lstStyle/>
          <a:p>
            <a:r>
              <a:rPr lang="en-US" dirty="0"/>
              <a:t>Assume the process of cash deposit in bank</a:t>
            </a:r>
          </a:p>
        </p:txBody>
      </p:sp>
      <p:sp>
        <p:nvSpPr>
          <p:cNvPr id="17" name="Google Shape;354;p36">
            <a:extLst>
              <a:ext uri="{FF2B5EF4-FFF2-40B4-BE49-F238E27FC236}">
                <a16:creationId xmlns:a16="http://schemas.microsoft.com/office/drawing/2014/main" id="{18BC2DF0-E2B5-4901-A7D3-602171087C9C}"/>
              </a:ext>
            </a:extLst>
          </p:cNvPr>
          <p:cNvSpPr/>
          <p:nvPr/>
        </p:nvSpPr>
        <p:spPr>
          <a:xfrm>
            <a:off x="6096000" y="1542758"/>
            <a:ext cx="14478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Clerk takes money</a:t>
            </a:r>
            <a:endParaRPr dirty="0"/>
          </a:p>
        </p:txBody>
      </p:sp>
      <p:sp>
        <p:nvSpPr>
          <p:cNvPr id="18" name="Google Shape;355;p36">
            <a:extLst>
              <a:ext uri="{FF2B5EF4-FFF2-40B4-BE49-F238E27FC236}">
                <a16:creationId xmlns:a16="http://schemas.microsoft.com/office/drawing/2014/main" id="{CF6FE4EF-B0A1-46E6-AFFF-4ED9784C2545}"/>
              </a:ext>
            </a:extLst>
          </p:cNvPr>
          <p:cNvSpPr/>
          <p:nvPr/>
        </p:nvSpPr>
        <p:spPr>
          <a:xfrm>
            <a:off x="6017117" y="3479955"/>
            <a:ext cx="1605566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Cashier accept money</a:t>
            </a:r>
            <a:endParaRPr dirty="0"/>
          </a:p>
        </p:txBody>
      </p:sp>
      <p:sp>
        <p:nvSpPr>
          <p:cNvPr id="19" name="Google Shape;356;p36">
            <a:extLst>
              <a:ext uri="{FF2B5EF4-FFF2-40B4-BE49-F238E27FC236}">
                <a16:creationId xmlns:a16="http://schemas.microsoft.com/office/drawing/2014/main" id="{CB3EC091-40CB-45B6-8649-C626590CE291}"/>
              </a:ext>
            </a:extLst>
          </p:cNvPr>
          <p:cNvSpPr/>
          <p:nvPr/>
        </p:nvSpPr>
        <p:spPr>
          <a:xfrm>
            <a:off x="2819400" y="1885658"/>
            <a:ext cx="18288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/>
          </a:p>
        </p:txBody>
      </p:sp>
      <p:sp>
        <p:nvSpPr>
          <p:cNvPr id="20" name="Google Shape;357;p36">
            <a:extLst>
              <a:ext uri="{FF2B5EF4-FFF2-40B4-BE49-F238E27FC236}">
                <a16:creationId xmlns:a16="http://schemas.microsoft.com/office/drawing/2014/main" id="{243F5933-569F-4479-A823-B784A469CCF5}"/>
              </a:ext>
            </a:extLst>
          </p:cNvPr>
          <p:cNvSpPr/>
          <p:nvPr/>
        </p:nvSpPr>
        <p:spPr>
          <a:xfrm>
            <a:off x="5967075" y="5461155"/>
            <a:ext cx="18288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endParaRPr/>
          </a:p>
        </p:txBody>
      </p:sp>
      <p:cxnSp>
        <p:nvCxnSpPr>
          <p:cNvPr id="21" name="Google Shape;358;p36">
            <a:extLst>
              <a:ext uri="{FF2B5EF4-FFF2-40B4-BE49-F238E27FC236}">
                <a16:creationId xmlns:a16="http://schemas.microsoft.com/office/drawing/2014/main" id="{80399C61-32D3-4133-88FC-4ACFD97F2B79}"/>
              </a:ext>
            </a:extLst>
          </p:cNvPr>
          <p:cNvCxnSpPr>
            <a:stCxn id="19" idx="3"/>
            <a:endCxn id="17" idx="2"/>
          </p:cNvCxnSpPr>
          <p:nvPr/>
        </p:nvCxnSpPr>
        <p:spPr>
          <a:xfrm>
            <a:off x="4648200" y="2152358"/>
            <a:ext cx="1447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" name="Google Shape;359;p36">
            <a:extLst>
              <a:ext uri="{FF2B5EF4-FFF2-40B4-BE49-F238E27FC236}">
                <a16:creationId xmlns:a16="http://schemas.microsoft.com/office/drawing/2014/main" id="{0FBB890F-49A5-4B37-A9D9-99D0265F3EBB}"/>
              </a:ext>
            </a:extLst>
          </p:cNvPr>
          <p:cNvSpPr txBox="1"/>
          <p:nvPr/>
        </p:nvSpPr>
        <p:spPr>
          <a:xfrm>
            <a:off x="4764935" y="1835485"/>
            <a:ext cx="11774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</a:t>
            </a:r>
            <a:endParaRPr dirty="0"/>
          </a:p>
        </p:txBody>
      </p:sp>
      <p:cxnSp>
        <p:nvCxnSpPr>
          <p:cNvPr id="23" name="Google Shape;360;p36">
            <a:extLst>
              <a:ext uri="{FF2B5EF4-FFF2-40B4-BE49-F238E27FC236}">
                <a16:creationId xmlns:a16="http://schemas.microsoft.com/office/drawing/2014/main" id="{419E942B-AE61-45A5-ADE2-5AAA59417166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>
            <a:off x="6819900" y="2761958"/>
            <a:ext cx="0" cy="717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" name="Google Shape;361;p36">
            <a:extLst>
              <a:ext uri="{FF2B5EF4-FFF2-40B4-BE49-F238E27FC236}">
                <a16:creationId xmlns:a16="http://schemas.microsoft.com/office/drawing/2014/main" id="{8CCBE501-BD50-4EFF-89D7-80D4846D671B}"/>
              </a:ext>
            </a:extLst>
          </p:cNvPr>
          <p:cNvSpPr txBox="1"/>
          <p:nvPr/>
        </p:nvSpPr>
        <p:spPr>
          <a:xfrm>
            <a:off x="6789313" y="2726300"/>
            <a:ext cx="14241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 and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register tape</a:t>
            </a:r>
            <a:endParaRPr/>
          </a:p>
        </p:txBody>
      </p:sp>
      <p:sp>
        <p:nvSpPr>
          <p:cNvPr id="25" name="Google Shape;362;p36">
            <a:extLst>
              <a:ext uri="{FF2B5EF4-FFF2-40B4-BE49-F238E27FC236}">
                <a16:creationId xmlns:a16="http://schemas.microsoft.com/office/drawing/2014/main" id="{E74A3C54-DDBE-4E66-B2D7-13E468C277D1}"/>
              </a:ext>
            </a:extLst>
          </p:cNvPr>
          <p:cNvSpPr txBox="1"/>
          <p:nvPr/>
        </p:nvSpPr>
        <p:spPr>
          <a:xfrm>
            <a:off x="6854244" y="4756989"/>
            <a:ext cx="132921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Deposit slip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cash</a:t>
            </a:r>
            <a:endParaRPr/>
          </a:p>
        </p:txBody>
      </p:sp>
      <p:cxnSp>
        <p:nvCxnSpPr>
          <p:cNvPr id="26" name="Google Shape;363;p36">
            <a:extLst>
              <a:ext uri="{FF2B5EF4-FFF2-40B4-BE49-F238E27FC236}">
                <a16:creationId xmlns:a16="http://schemas.microsoft.com/office/drawing/2014/main" id="{8D1FFD8B-EBA7-480E-89D5-A32D7FC2D35D}"/>
              </a:ext>
            </a:extLst>
          </p:cNvPr>
          <p:cNvCxnSpPr>
            <a:stCxn id="18" idx="4"/>
          </p:cNvCxnSpPr>
          <p:nvPr/>
        </p:nvCxnSpPr>
        <p:spPr>
          <a:xfrm>
            <a:off x="6819900" y="4699155"/>
            <a:ext cx="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0564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C6B5-DA6E-41AD-8406-3274F3D0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logical data flow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66E7-CFCD-4DF1-932D-53DEB5145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69332"/>
          </a:xfrm>
        </p:spPr>
        <p:txBody>
          <a:bodyPr/>
          <a:lstStyle/>
          <a:p>
            <a:r>
              <a:rPr lang="en-US" dirty="0"/>
              <a:t>Assume the process of cash deposit in bank</a:t>
            </a:r>
          </a:p>
          <a:p>
            <a:endParaRPr lang="en-IN" dirty="0"/>
          </a:p>
        </p:txBody>
      </p:sp>
      <p:sp>
        <p:nvSpPr>
          <p:cNvPr id="4" name="Google Shape;329;p34">
            <a:extLst>
              <a:ext uri="{FF2B5EF4-FFF2-40B4-BE49-F238E27FC236}">
                <a16:creationId xmlns:a16="http://schemas.microsoft.com/office/drawing/2014/main" id="{00348801-5F97-4E94-BDCF-E74E022C82B1}"/>
              </a:ext>
            </a:extLst>
          </p:cNvPr>
          <p:cNvSpPr/>
          <p:nvPr/>
        </p:nvSpPr>
        <p:spPr>
          <a:xfrm>
            <a:off x="5641020" y="1402673"/>
            <a:ext cx="14478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dirty="0"/>
          </a:p>
          <a:p>
            <a:pPr lvl="0" algn="ctr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 deposit tape</a:t>
            </a:r>
            <a:endParaRPr dirty="0"/>
          </a:p>
        </p:txBody>
      </p:sp>
      <p:sp>
        <p:nvSpPr>
          <p:cNvPr id="5" name="Google Shape;330;p34">
            <a:extLst>
              <a:ext uri="{FF2B5EF4-FFF2-40B4-BE49-F238E27FC236}">
                <a16:creationId xmlns:a16="http://schemas.microsoft.com/office/drawing/2014/main" id="{96DE8B41-38F2-49C2-AE60-DA16D367555D}"/>
              </a:ext>
            </a:extLst>
          </p:cNvPr>
          <p:cNvSpPr/>
          <p:nvPr/>
        </p:nvSpPr>
        <p:spPr>
          <a:xfrm>
            <a:off x="5562137" y="3339870"/>
            <a:ext cx="1605566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cash and tape</a:t>
            </a:r>
            <a:endParaRPr/>
          </a:p>
        </p:txBody>
      </p:sp>
      <p:sp>
        <p:nvSpPr>
          <p:cNvPr id="6" name="Google Shape;331;p34">
            <a:extLst>
              <a:ext uri="{FF2B5EF4-FFF2-40B4-BE49-F238E27FC236}">
                <a16:creationId xmlns:a16="http://schemas.microsoft.com/office/drawing/2014/main" id="{5F575AF5-AD27-4050-9C27-55C05EF5C0A6}"/>
              </a:ext>
            </a:extLst>
          </p:cNvPr>
          <p:cNvSpPr/>
          <p:nvPr/>
        </p:nvSpPr>
        <p:spPr>
          <a:xfrm>
            <a:off x="5641020" y="5224271"/>
            <a:ext cx="14478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 deposit</a:t>
            </a:r>
            <a:endParaRPr/>
          </a:p>
        </p:txBody>
      </p:sp>
      <p:sp>
        <p:nvSpPr>
          <p:cNvPr id="7" name="Google Shape;332;p34">
            <a:extLst>
              <a:ext uri="{FF2B5EF4-FFF2-40B4-BE49-F238E27FC236}">
                <a16:creationId xmlns:a16="http://schemas.microsoft.com/office/drawing/2014/main" id="{37BABEE7-F740-4FBA-B598-7A734940BBFE}"/>
              </a:ext>
            </a:extLst>
          </p:cNvPr>
          <p:cNvSpPr/>
          <p:nvPr/>
        </p:nvSpPr>
        <p:spPr>
          <a:xfrm>
            <a:off x="2364420" y="1745573"/>
            <a:ext cx="18288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/>
          </a:p>
        </p:txBody>
      </p:sp>
      <p:sp>
        <p:nvSpPr>
          <p:cNvPr id="8" name="Google Shape;333;p34">
            <a:extLst>
              <a:ext uri="{FF2B5EF4-FFF2-40B4-BE49-F238E27FC236}">
                <a16:creationId xmlns:a16="http://schemas.microsoft.com/office/drawing/2014/main" id="{3345FE7A-F67D-4997-9A80-97561DA512A4}"/>
              </a:ext>
            </a:extLst>
          </p:cNvPr>
          <p:cNvSpPr/>
          <p:nvPr/>
        </p:nvSpPr>
        <p:spPr>
          <a:xfrm>
            <a:off x="9040523" y="5600374"/>
            <a:ext cx="18288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</a:t>
            </a:r>
            <a:endParaRPr/>
          </a:p>
        </p:txBody>
      </p:sp>
      <p:cxnSp>
        <p:nvCxnSpPr>
          <p:cNvPr id="9" name="Google Shape;334;p34">
            <a:extLst>
              <a:ext uri="{FF2B5EF4-FFF2-40B4-BE49-F238E27FC236}">
                <a16:creationId xmlns:a16="http://schemas.microsoft.com/office/drawing/2014/main" id="{C3035F26-8265-4340-8881-F0B4715D555D}"/>
              </a:ext>
            </a:extLst>
          </p:cNvPr>
          <p:cNvCxnSpPr>
            <a:stCxn id="7" idx="3"/>
            <a:endCxn id="4" idx="2"/>
          </p:cNvCxnSpPr>
          <p:nvPr/>
        </p:nvCxnSpPr>
        <p:spPr>
          <a:xfrm>
            <a:off x="4193220" y="2012273"/>
            <a:ext cx="1447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335;p34">
            <a:extLst>
              <a:ext uri="{FF2B5EF4-FFF2-40B4-BE49-F238E27FC236}">
                <a16:creationId xmlns:a16="http://schemas.microsoft.com/office/drawing/2014/main" id="{D0289BD9-1AD6-4596-BB5C-DE7D9A4A0514}"/>
              </a:ext>
            </a:extLst>
          </p:cNvPr>
          <p:cNvSpPr txBox="1"/>
          <p:nvPr/>
        </p:nvSpPr>
        <p:spPr>
          <a:xfrm>
            <a:off x="4452582" y="1705657"/>
            <a:ext cx="1005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dirty="0"/>
          </a:p>
        </p:txBody>
      </p:sp>
      <p:cxnSp>
        <p:nvCxnSpPr>
          <p:cNvPr id="11" name="Google Shape;336;p34">
            <a:extLst>
              <a:ext uri="{FF2B5EF4-FFF2-40B4-BE49-F238E27FC236}">
                <a16:creationId xmlns:a16="http://schemas.microsoft.com/office/drawing/2014/main" id="{BFAD6DC1-9423-4FEA-945E-F765DA8F14EC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6364920" y="2621873"/>
            <a:ext cx="0" cy="717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Google Shape;337;p34">
            <a:extLst>
              <a:ext uri="{FF2B5EF4-FFF2-40B4-BE49-F238E27FC236}">
                <a16:creationId xmlns:a16="http://schemas.microsoft.com/office/drawing/2014/main" id="{EAC77AF5-1CC2-4338-BE44-49592E852DEA}"/>
              </a:ext>
            </a:extLst>
          </p:cNvPr>
          <p:cNvSpPr txBox="1"/>
          <p:nvPr/>
        </p:nvSpPr>
        <p:spPr>
          <a:xfrm>
            <a:off x="6364920" y="2710544"/>
            <a:ext cx="18142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Receipt summary</a:t>
            </a:r>
            <a:endParaRPr dirty="0"/>
          </a:p>
        </p:txBody>
      </p:sp>
      <p:sp>
        <p:nvSpPr>
          <p:cNvPr id="13" name="Google Shape;338;p34">
            <a:extLst>
              <a:ext uri="{FF2B5EF4-FFF2-40B4-BE49-F238E27FC236}">
                <a16:creationId xmlns:a16="http://schemas.microsoft.com/office/drawing/2014/main" id="{5BEF6AF9-F7D2-438B-A1DF-0328EDF3AAE4}"/>
              </a:ext>
            </a:extLst>
          </p:cNvPr>
          <p:cNvSpPr txBox="1"/>
          <p:nvPr/>
        </p:nvSpPr>
        <p:spPr>
          <a:xfrm>
            <a:off x="4571062" y="4706954"/>
            <a:ext cx="16491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receipt</a:t>
            </a:r>
            <a:endParaRPr dirty="0"/>
          </a:p>
        </p:txBody>
      </p:sp>
      <p:cxnSp>
        <p:nvCxnSpPr>
          <p:cNvPr id="14" name="Google Shape;339;p34">
            <a:extLst>
              <a:ext uri="{FF2B5EF4-FFF2-40B4-BE49-F238E27FC236}">
                <a16:creationId xmlns:a16="http://schemas.microsoft.com/office/drawing/2014/main" id="{64FE99B0-03A9-4B1B-914F-4F37C64574F4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6364920" y="4559070"/>
            <a:ext cx="0" cy="665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" name="Google Shape;340;p34">
            <a:extLst>
              <a:ext uri="{FF2B5EF4-FFF2-40B4-BE49-F238E27FC236}">
                <a16:creationId xmlns:a16="http://schemas.microsoft.com/office/drawing/2014/main" id="{43496624-F056-4C79-ADEA-E507C0F26CF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059323" y="5867074"/>
            <a:ext cx="1981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Google Shape;341;p34">
            <a:extLst>
              <a:ext uri="{FF2B5EF4-FFF2-40B4-BE49-F238E27FC236}">
                <a16:creationId xmlns:a16="http://schemas.microsoft.com/office/drawing/2014/main" id="{067AC5EE-802D-4D2A-90F2-57271C4E9C1F}"/>
              </a:ext>
            </a:extLst>
          </p:cNvPr>
          <p:cNvSpPr txBox="1"/>
          <p:nvPr/>
        </p:nvSpPr>
        <p:spPr>
          <a:xfrm>
            <a:off x="7088820" y="5497742"/>
            <a:ext cx="17990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Deposit receipt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821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6BBE-96E5-49D8-B1E8-C420F8F7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DFD Level-0 (Context Diagram) For LMS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97057-CDBA-4239-8EC2-6EF0C99E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59329"/>
          </a:xfrm>
        </p:spPr>
        <p:txBody>
          <a:bodyPr/>
          <a:lstStyle/>
          <a:p>
            <a:r>
              <a:rPr lang="en-US" dirty="0"/>
              <a:t>Assume all process of library.</a:t>
            </a:r>
          </a:p>
        </p:txBody>
      </p:sp>
      <p:sp>
        <p:nvSpPr>
          <p:cNvPr id="6" name="Google Shape;376;p38">
            <a:extLst>
              <a:ext uri="{FF2B5EF4-FFF2-40B4-BE49-F238E27FC236}">
                <a16:creationId xmlns:a16="http://schemas.microsoft.com/office/drawing/2014/main" id="{5C196B16-2714-4F8B-B64D-C800A33A15BC}"/>
              </a:ext>
            </a:extLst>
          </p:cNvPr>
          <p:cNvSpPr/>
          <p:nvPr/>
        </p:nvSpPr>
        <p:spPr>
          <a:xfrm>
            <a:off x="4751773" y="2846616"/>
            <a:ext cx="2286000" cy="18288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Management System</a:t>
            </a:r>
            <a:endParaRPr/>
          </a:p>
        </p:txBody>
      </p:sp>
      <p:sp>
        <p:nvSpPr>
          <p:cNvPr id="7" name="Google Shape;377;p38">
            <a:extLst>
              <a:ext uri="{FF2B5EF4-FFF2-40B4-BE49-F238E27FC236}">
                <a16:creationId xmlns:a16="http://schemas.microsoft.com/office/drawing/2014/main" id="{AF0A7099-6B1B-4E43-B016-CF878FB3BE31}"/>
              </a:ext>
            </a:extLst>
          </p:cNvPr>
          <p:cNvSpPr/>
          <p:nvPr/>
        </p:nvSpPr>
        <p:spPr>
          <a:xfrm>
            <a:off x="8561773" y="1475016"/>
            <a:ext cx="1524000" cy="4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/>
          </a:p>
        </p:txBody>
      </p:sp>
      <p:cxnSp>
        <p:nvCxnSpPr>
          <p:cNvPr id="8" name="Google Shape;378;p38">
            <a:extLst>
              <a:ext uri="{FF2B5EF4-FFF2-40B4-BE49-F238E27FC236}">
                <a16:creationId xmlns:a16="http://schemas.microsoft.com/office/drawing/2014/main" id="{9E4B4DA3-BE84-4C3D-AD6F-882A8AB648AC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-5400000">
            <a:off x="6656773" y="941616"/>
            <a:ext cx="1143000" cy="2667000"/>
          </a:xfrm>
          <a:prstGeom prst="bentConnector2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379;p38">
            <a:extLst>
              <a:ext uri="{FF2B5EF4-FFF2-40B4-BE49-F238E27FC236}">
                <a16:creationId xmlns:a16="http://schemas.microsoft.com/office/drawing/2014/main" id="{EB087F20-C6B8-452D-A8A9-F9EC4BF41CE1}"/>
              </a:ext>
            </a:extLst>
          </p:cNvPr>
          <p:cNvSpPr txBox="1"/>
          <p:nvPr/>
        </p:nvSpPr>
        <p:spPr>
          <a:xfrm>
            <a:off x="6649755" y="1703616"/>
            <a:ext cx="11817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book</a:t>
            </a:r>
            <a:endParaRPr/>
          </a:p>
        </p:txBody>
      </p:sp>
      <p:cxnSp>
        <p:nvCxnSpPr>
          <p:cNvPr id="10" name="Google Shape;380;p38">
            <a:extLst>
              <a:ext uri="{FF2B5EF4-FFF2-40B4-BE49-F238E27FC236}">
                <a16:creationId xmlns:a16="http://schemas.microsoft.com/office/drawing/2014/main" id="{366CC8E4-FBF9-40FF-81D0-FD2700B4941A}"/>
              </a:ext>
            </a:extLst>
          </p:cNvPr>
          <p:cNvCxnSpPr/>
          <p:nvPr/>
        </p:nvCxnSpPr>
        <p:spPr>
          <a:xfrm flipH="1">
            <a:off x="5513773" y="1551216"/>
            <a:ext cx="3048000" cy="1371600"/>
          </a:xfrm>
          <a:prstGeom prst="bentConnector3">
            <a:avLst>
              <a:gd name="adj1" fmla="val 100282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Google Shape;382;p38">
            <a:extLst>
              <a:ext uri="{FF2B5EF4-FFF2-40B4-BE49-F238E27FC236}">
                <a16:creationId xmlns:a16="http://schemas.microsoft.com/office/drawing/2014/main" id="{6E134245-D3D5-4B45-869A-521927CB0345}"/>
              </a:ext>
            </a:extLst>
          </p:cNvPr>
          <p:cNvCxnSpPr>
            <a:stCxn id="7" idx="2"/>
            <a:endCxn id="6" idx="6"/>
          </p:cNvCxnSpPr>
          <p:nvPr/>
        </p:nvCxnSpPr>
        <p:spPr>
          <a:xfrm rot="5400000">
            <a:off x="7266373" y="1703616"/>
            <a:ext cx="1828800" cy="2286000"/>
          </a:xfrm>
          <a:prstGeom prst="bentConnector2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Google Shape;383;p38">
            <a:extLst>
              <a:ext uri="{FF2B5EF4-FFF2-40B4-BE49-F238E27FC236}">
                <a16:creationId xmlns:a16="http://schemas.microsoft.com/office/drawing/2014/main" id="{6416FA94-5A74-47A2-AFA4-835AEC42EA4E}"/>
              </a:ext>
            </a:extLst>
          </p:cNvPr>
          <p:cNvSpPr txBox="1"/>
          <p:nvPr/>
        </p:nvSpPr>
        <p:spPr>
          <a:xfrm>
            <a:off x="7589906" y="3404768"/>
            <a:ext cx="13431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book</a:t>
            </a:r>
            <a:endParaRPr/>
          </a:p>
        </p:txBody>
      </p:sp>
      <p:cxnSp>
        <p:nvCxnSpPr>
          <p:cNvPr id="13" name="Google Shape;384;p38">
            <a:extLst>
              <a:ext uri="{FF2B5EF4-FFF2-40B4-BE49-F238E27FC236}">
                <a16:creationId xmlns:a16="http://schemas.microsoft.com/office/drawing/2014/main" id="{AAC78EAD-F7AC-448A-A2EB-500EDA81F4D2}"/>
              </a:ext>
            </a:extLst>
          </p:cNvPr>
          <p:cNvCxnSpPr>
            <a:stCxn id="25" idx="3"/>
            <a:endCxn id="6" idx="4"/>
          </p:cNvCxnSpPr>
          <p:nvPr/>
        </p:nvCxnSpPr>
        <p:spPr>
          <a:xfrm rot="10800000" flipH="1">
            <a:off x="3532573" y="4675416"/>
            <a:ext cx="2362200" cy="1066800"/>
          </a:xfrm>
          <a:prstGeom prst="bentConnector2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Google Shape;386;p38">
            <a:extLst>
              <a:ext uri="{FF2B5EF4-FFF2-40B4-BE49-F238E27FC236}">
                <a16:creationId xmlns:a16="http://schemas.microsoft.com/office/drawing/2014/main" id="{9F191DB5-8876-4DB3-BA11-FC32A8F7FDED}"/>
              </a:ext>
            </a:extLst>
          </p:cNvPr>
          <p:cNvSpPr txBox="1"/>
          <p:nvPr/>
        </p:nvSpPr>
        <p:spPr>
          <a:xfrm>
            <a:off x="3586901" y="5430423"/>
            <a:ext cx="23705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member account </a:t>
            </a:r>
            <a:endParaRPr/>
          </a:p>
        </p:txBody>
      </p:sp>
      <p:cxnSp>
        <p:nvCxnSpPr>
          <p:cNvPr id="15" name="Google Shape;387;p38">
            <a:extLst>
              <a:ext uri="{FF2B5EF4-FFF2-40B4-BE49-F238E27FC236}">
                <a16:creationId xmlns:a16="http://schemas.microsoft.com/office/drawing/2014/main" id="{A94105B3-AFAF-488F-8DCE-BF536184C440}"/>
              </a:ext>
            </a:extLst>
          </p:cNvPr>
          <p:cNvCxnSpPr/>
          <p:nvPr/>
        </p:nvCxnSpPr>
        <p:spPr>
          <a:xfrm rot="10800000" flipH="1">
            <a:off x="3532573" y="4675416"/>
            <a:ext cx="2514600" cy="1295400"/>
          </a:xfrm>
          <a:prstGeom prst="bentConnector3">
            <a:avLst>
              <a:gd name="adj1" fmla="val 100192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Google Shape;388;p38">
            <a:extLst>
              <a:ext uri="{FF2B5EF4-FFF2-40B4-BE49-F238E27FC236}">
                <a16:creationId xmlns:a16="http://schemas.microsoft.com/office/drawing/2014/main" id="{DF12A3D7-7E43-4026-8D41-115A4DD7962A}"/>
              </a:ext>
            </a:extLst>
          </p:cNvPr>
          <p:cNvSpPr txBox="1"/>
          <p:nvPr/>
        </p:nvSpPr>
        <p:spPr>
          <a:xfrm>
            <a:off x="1743649" y="3528382"/>
            <a:ext cx="296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for generating report</a:t>
            </a:r>
            <a:endParaRPr/>
          </a:p>
        </p:txBody>
      </p:sp>
      <p:cxnSp>
        <p:nvCxnSpPr>
          <p:cNvPr id="17" name="Google Shape;389;p38">
            <a:extLst>
              <a:ext uri="{FF2B5EF4-FFF2-40B4-BE49-F238E27FC236}">
                <a16:creationId xmlns:a16="http://schemas.microsoft.com/office/drawing/2014/main" id="{C4BF18AE-9D3D-43B0-A3F8-0B9F1BA8D852}"/>
              </a:ext>
            </a:extLst>
          </p:cNvPr>
          <p:cNvCxnSpPr>
            <a:stCxn id="6" idx="3"/>
            <a:endCxn id="25" idx="0"/>
          </p:cNvCxnSpPr>
          <p:nvPr/>
        </p:nvCxnSpPr>
        <p:spPr>
          <a:xfrm rot="5400000">
            <a:off x="3375500" y="3802645"/>
            <a:ext cx="1106100" cy="2316000"/>
          </a:xfrm>
          <a:prstGeom prst="bentConnector3">
            <a:avLst>
              <a:gd name="adj1" fmla="val -2399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Google Shape;390;p38">
            <a:extLst>
              <a:ext uri="{FF2B5EF4-FFF2-40B4-BE49-F238E27FC236}">
                <a16:creationId xmlns:a16="http://schemas.microsoft.com/office/drawing/2014/main" id="{80539DD1-3A97-4D6C-A2DD-E89544FEFA3D}"/>
              </a:ext>
            </a:extLst>
          </p:cNvPr>
          <p:cNvSpPr txBox="1"/>
          <p:nvPr/>
        </p:nvSpPr>
        <p:spPr>
          <a:xfrm>
            <a:off x="2785592" y="4064434"/>
            <a:ext cx="23087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and return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report generated</a:t>
            </a:r>
            <a:endParaRPr/>
          </a:p>
        </p:txBody>
      </p:sp>
      <p:cxnSp>
        <p:nvCxnSpPr>
          <p:cNvPr id="19" name="Google Shape;391;p38">
            <a:extLst>
              <a:ext uri="{FF2B5EF4-FFF2-40B4-BE49-F238E27FC236}">
                <a16:creationId xmlns:a16="http://schemas.microsoft.com/office/drawing/2014/main" id="{80EBBCB2-4C9D-4BA3-80D8-51694B8565A8}"/>
              </a:ext>
            </a:extLst>
          </p:cNvPr>
          <p:cNvCxnSpPr/>
          <p:nvPr/>
        </p:nvCxnSpPr>
        <p:spPr>
          <a:xfrm rot="10800000" flipH="1">
            <a:off x="2230345" y="3875585"/>
            <a:ext cx="2521500" cy="1736700"/>
          </a:xfrm>
          <a:prstGeom prst="bentConnector3">
            <a:avLst>
              <a:gd name="adj1" fmla="val 5563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Google Shape;392;p38">
            <a:extLst>
              <a:ext uri="{FF2B5EF4-FFF2-40B4-BE49-F238E27FC236}">
                <a16:creationId xmlns:a16="http://schemas.microsoft.com/office/drawing/2014/main" id="{18617779-57B5-4E30-AD8B-28039A71F076}"/>
              </a:ext>
            </a:extLst>
          </p:cNvPr>
          <p:cNvSpPr txBox="1"/>
          <p:nvPr/>
        </p:nvSpPr>
        <p:spPr>
          <a:xfrm>
            <a:off x="3635906" y="5935697"/>
            <a:ext cx="21261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book database</a:t>
            </a:r>
            <a:endParaRPr/>
          </a:p>
        </p:txBody>
      </p:sp>
      <p:cxnSp>
        <p:nvCxnSpPr>
          <p:cNvPr id="21" name="Google Shape;393;p38">
            <a:extLst>
              <a:ext uri="{FF2B5EF4-FFF2-40B4-BE49-F238E27FC236}">
                <a16:creationId xmlns:a16="http://schemas.microsoft.com/office/drawing/2014/main" id="{1635F2AB-D63F-42CB-BF78-31D32DE30872}"/>
              </a:ext>
            </a:extLst>
          </p:cNvPr>
          <p:cNvCxnSpPr/>
          <p:nvPr/>
        </p:nvCxnSpPr>
        <p:spPr>
          <a:xfrm flipH="1">
            <a:off x="6917473" y="1932215"/>
            <a:ext cx="2787300" cy="2209800"/>
          </a:xfrm>
          <a:prstGeom prst="bentConnector3">
            <a:avLst>
              <a:gd name="adj1" fmla="val -2213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Google Shape;394;p38">
            <a:extLst>
              <a:ext uri="{FF2B5EF4-FFF2-40B4-BE49-F238E27FC236}">
                <a16:creationId xmlns:a16="http://schemas.microsoft.com/office/drawing/2014/main" id="{598FBB16-BC03-4031-BAD1-2838911719E8}"/>
              </a:ext>
            </a:extLst>
          </p:cNvPr>
          <p:cNvSpPr txBox="1"/>
          <p:nvPr/>
        </p:nvSpPr>
        <p:spPr>
          <a:xfrm>
            <a:off x="7509179" y="3845264"/>
            <a:ext cx="1335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book</a:t>
            </a:r>
            <a:endParaRPr/>
          </a:p>
        </p:txBody>
      </p:sp>
      <p:cxnSp>
        <p:nvCxnSpPr>
          <p:cNvPr id="23" name="Google Shape;395;p38">
            <a:extLst>
              <a:ext uri="{FF2B5EF4-FFF2-40B4-BE49-F238E27FC236}">
                <a16:creationId xmlns:a16="http://schemas.microsoft.com/office/drawing/2014/main" id="{570FE60A-EB0D-4151-B0E1-06244A230432}"/>
              </a:ext>
            </a:extLst>
          </p:cNvPr>
          <p:cNvCxnSpPr>
            <a:stCxn id="6" idx="5"/>
          </p:cNvCxnSpPr>
          <p:nvPr/>
        </p:nvCxnSpPr>
        <p:spPr>
          <a:xfrm rot="-5400000">
            <a:off x="7118646" y="1516645"/>
            <a:ext cx="2475300" cy="3306600"/>
          </a:xfrm>
          <a:prstGeom prst="bentConnector4">
            <a:avLst>
              <a:gd name="adj1" fmla="val 650"/>
              <a:gd name="adj2" fmla="val 99853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Google Shape;396;p38">
            <a:extLst>
              <a:ext uri="{FF2B5EF4-FFF2-40B4-BE49-F238E27FC236}">
                <a16:creationId xmlns:a16="http://schemas.microsoft.com/office/drawing/2014/main" id="{544FD083-4FA9-4F1B-B1A6-D9C0425FF83B}"/>
              </a:ext>
            </a:extLst>
          </p:cNvPr>
          <p:cNvSpPr txBox="1"/>
          <p:nvPr/>
        </p:nvSpPr>
        <p:spPr>
          <a:xfrm>
            <a:off x="7236395" y="4306084"/>
            <a:ext cx="24791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of searching book</a:t>
            </a:r>
            <a:endParaRPr/>
          </a:p>
        </p:txBody>
      </p:sp>
      <p:sp>
        <p:nvSpPr>
          <p:cNvPr id="25" name="Google Shape;385;p38">
            <a:extLst>
              <a:ext uri="{FF2B5EF4-FFF2-40B4-BE49-F238E27FC236}">
                <a16:creationId xmlns:a16="http://schemas.microsoft.com/office/drawing/2014/main" id="{10A4AF11-D620-4265-905A-AF66D219EF9E}"/>
              </a:ext>
            </a:extLst>
          </p:cNvPr>
          <p:cNvSpPr/>
          <p:nvPr/>
        </p:nvSpPr>
        <p:spPr>
          <a:xfrm>
            <a:off x="2008573" y="5513616"/>
            <a:ext cx="1524000" cy="4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Staff</a:t>
            </a:r>
            <a:endParaRPr/>
          </a:p>
        </p:txBody>
      </p:sp>
      <p:sp>
        <p:nvSpPr>
          <p:cNvPr id="26" name="Google Shape;381;p38">
            <a:extLst>
              <a:ext uri="{FF2B5EF4-FFF2-40B4-BE49-F238E27FC236}">
                <a16:creationId xmlns:a16="http://schemas.microsoft.com/office/drawing/2014/main" id="{417BFEB2-0DAD-4C5C-B9BC-3739A5BC6254}"/>
              </a:ext>
            </a:extLst>
          </p:cNvPr>
          <p:cNvSpPr txBox="1"/>
          <p:nvPr/>
        </p:nvSpPr>
        <p:spPr>
          <a:xfrm>
            <a:off x="6144067" y="1229595"/>
            <a:ext cx="17874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 for book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D4ABA0-BBFD-24FB-39E9-9E765EAC9F1A}"/>
              </a:ext>
            </a:extLst>
          </p:cNvPr>
          <p:cNvCxnSpPr/>
          <p:nvPr/>
        </p:nvCxnSpPr>
        <p:spPr>
          <a:xfrm>
            <a:off x="1548581" y="193221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75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40EC-31BE-4DF2-9B76-186E9D59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 levels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C736-306C-427F-B9FF-7F9AA64B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15817" cy="5590565"/>
          </a:xfrm>
        </p:spPr>
        <p:txBody>
          <a:bodyPr/>
          <a:lstStyle/>
          <a:p>
            <a:r>
              <a:rPr lang="en-US" dirty="0"/>
              <a:t>Data flow diagrams are also </a:t>
            </a:r>
            <a:r>
              <a:rPr lang="en-US" b="1" dirty="0"/>
              <a:t>categorized by level</a:t>
            </a:r>
            <a:r>
              <a:rPr lang="en-US" dirty="0"/>
              <a:t>. </a:t>
            </a:r>
            <a:r>
              <a:rPr lang="en-US" b="1" dirty="0"/>
              <a:t>Starting</a:t>
            </a:r>
            <a:r>
              <a:rPr lang="en-US" dirty="0"/>
              <a:t> with the most basic, </a:t>
            </a:r>
            <a:r>
              <a:rPr lang="en-US" b="1" dirty="0"/>
              <a:t>level 0</a:t>
            </a:r>
            <a:r>
              <a:rPr lang="en-US" dirty="0"/>
              <a:t>, DFDs get increasingly complex as the level increases.</a:t>
            </a:r>
          </a:p>
          <a:p>
            <a:r>
              <a:rPr lang="en-US" dirty="0"/>
              <a:t>Level 0 DFDs, also known as </a:t>
            </a:r>
            <a:r>
              <a:rPr lang="en-US" b="1" dirty="0"/>
              <a:t>context diagrams</a:t>
            </a:r>
            <a:r>
              <a:rPr lang="en-US" dirty="0"/>
              <a:t>. It provides a </a:t>
            </a:r>
            <a:r>
              <a:rPr lang="en-US" b="1" dirty="0"/>
              <a:t>basic overview </a:t>
            </a:r>
            <a:r>
              <a:rPr lang="en-US" dirty="0"/>
              <a:t>of the whole system.</a:t>
            </a:r>
          </a:p>
          <a:p>
            <a:r>
              <a:rPr lang="en-US" dirty="0"/>
              <a:t>It shows the system as a </a:t>
            </a:r>
            <a:r>
              <a:rPr lang="en-US" b="1" dirty="0"/>
              <a:t>single high-level process</a:t>
            </a:r>
            <a:r>
              <a:rPr lang="en-US" dirty="0"/>
              <a:t>, with its relationship to external entities. </a:t>
            </a:r>
          </a:p>
          <a:p>
            <a:r>
              <a:rPr lang="en-US" dirty="0"/>
              <a:t>DFD Level 1 </a:t>
            </a:r>
            <a:r>
              <a:rPr lang="en-US" b="1" dirty="0"/>
              <a:t>provides a more detailed </a:t>
            </a:r>
            <a:r>
              <a:rPr lang="en-US" dirty="0"/>
              <a:t>breakout of pieces of the Context Level Diagram.</a:t>
            </a:r>
          </a:p>
          <a:p>
            <a:r>
              <a:rPr lang="en-US" dirty="0"/>
              <a:t>You will</a:t>
            </a:r>
            <a:r>
              <a:rPr lang="en-US" b="1" dirty="0"/>
              <a:t> highlight the main functions </a:t>
            </a:r>
            <a:r>
              <a:rPr lang="en-US" dirty="0"/>
              <a:t>carried out by the system, as you break down the high-level process of the Context Diagram into its sub processes.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0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5A1B-E5E7-407C-AC66-6A788799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Level-1 For LMS</a:t>
            </a:r>
            <a:endParaRPr lang="en-IN" dirty="0"/>
          </a:p>
        </p:txBody>
      </p:sp>
      <p:sp>
        <p:nvSpPr>
          <p:cNvPr id="78" name="Google Shape;431;p40">
            <a:extLst>
              <a:ext uri="{FF2B5EF4-FFF2-40B4-BE49-F238E27FC236}">
                <a16:creationId xmlns:a16="http://schemas.microsoft.com/office/drawing/2014/main" id="{7AF2711D-5D24-4E46-801A-1CCF01B07636}"/>
              </a:ext>
            </a:extLst>
          </p:cNvPr>
          <p:cNvSpPr/>
          <p:nvPr/>
        </p:nvSpPr>
        <p:spPr>
          <a:xfrm>
            <a:off x="4610933" y="2895600"/>
            <a:ext cx="1371600" cy="129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book</a:t>
            </a:r>
            <a:endParaRPr/>
          </a:p>
        </p:txBody>
      </p:sp>
      <p:sp>
        <p:nvSpPr>
          <p:cNvPr id="79" name="Google Shape;432;p40">
            <a:extLst>
              <a:ext uri="{FF2B5EF4-FFF2-40B4-BE49-F238E27FC236}">
                <a16:creationId xmlns:a16="http://schemas.microsoft.com/office/drawing/2014/main" id="{0D136019-1D32-409E-A3A7-77736BE4ACE8}"/>
              </a:ext>
            </a:extLst>
          </p:cNvPr>
          <p:cNvSpPr/>
          <p:nvPr/>
        </p:nvSpPr>
        <p:spPr>
          <a:xfrm>
            <a:off x="4580882" y="4648200"/>
            <a:ext cx="1371600" cy="129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book</a:t>
            </a:r>
            <a:endParaRPr/>
          </a:p>
        </p:txBody>
      </p:sp>
      <p:sp>
        <p:nvSpPr>
          <p:cNvPr id="80" name="Google Shape;433;p40">
            <a:extLst>
              <a:ext uri="{FF2B5EF4-FFF2-40B4-BE49-F238E27FC236}">
                <a16:creationId xmlns:a16="http://schemas.microsoft.com/office/drawing/2014/main" id="{182BDA1F-9273-4E18-AE24-3EC747F9CD2D}"/>
              </a:ext>
            </a:extLst>
          </p:cNvPr>
          <p:cNvSpPr/>
          <p:nvPr/>
        </p:nvSpPr>
        <p:spPr>
          <a:xfrm>
            <a:off x="4580882" y="1122608"/>
            <a:ext cx="1371600" cy="129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book</a:t>
            </a:r>
            <a:endParaRPr/>
          </a:p>
        </p:txBody>
      </p:sp>
      <p:sp>
        <p:nvSpPr>
          <p:cNvPr id="81" name="Google Shape;434;p40">
            <a:extLst>
              <a:ext uri="{FF2B5EF4-FFF2-40B4-BE49-F238E27FC236}">
                <a16:creationId xmlns:a16="http://schemas.microsoft.com/office/drawing/2014/main" id="{A13AD070-2EAA-4A34-8B5D-4AB408EC3902}"/>
              </a:ext>
            </a:extLst>
          </p:cNvPr>
          <p:cNvSpPr/>
          <p:nvPr/>
        </p:nvSpPr>
        <p:spPr>
          <a:xfrm>
            <a:off x="1304282" y="2418008"/>
            <a:ext cx="1600200" cy="55379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/>
          </a:p>
        </p:txBody>
      </p:sp>
      <p:cxnSp>
        <p:nvCxnSpPr>
          <p:cNvPr id="82" name="Google Shape;435;p40">
            <a:extLst>
              <a:ext uri="{FF2B5EF4-FFF2-40B4-BE49-F238E27FC236}">
                <a16:creationId xmlns:a16="http://schemas.microsoft.com/office/drawing/2014/main" id="{2F4C1495-951E-4621-9D30-2D0794A3BE31}"/>
              </a:ext>
            </a:extLst>
          </p:cNvPr>
          <p:cNvCxnSpPr>
            <a:stCxn id="81" idx="2"/>
            <a:endCxn id="79" idx="2"/>
          </p:cNvCxnSpPr>
          <p:nvPr/>
        </p:nvCxnSpPr>
        <p:spPr>
          <a:xfrm rot="-5400000" flipH="1">
            <a:off x="2180582" y="2895600"/>
            <a:ext cx="2324100" cy="24765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" name="Google Shape;436;p40">
            <a:extLst>
              <a:ext uri="{FF2B5EF4-FFF2-40B4-BE49-F238E27FC236}">
                <a16:creationId xmlns:a16="http://schemas.microsoft.com/office/drawing/2014/main" id="{32CF92A6-5F49-4E7E-937A-6D84DB59365E}"/>
              </a:ext>
            </a:extLst>
          </p:cNvPr>
          <p:cNvSpPr txBox="1"/>
          <p:nvPr/>
        </p:nvSpPr>
        <p:spPr>
          <a:xfrm>
            <a:off x="2198088" y="4926568"/>
            <a:ext cx="22890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request by name</a:t>
            </a:r>
            <a:endParaRPr/>
          </a:p>
        </p:txBody>
      </p:sp>
      <p:cxnSp>
        <p:nvCxnSpPr>
          <p:cNvPr id="84" name="Google Shape;437;p40">
            <a:extLst>
              <a:ext uri="{FF2B5EF4-FFF2-40B4-BE49-F238E27FC236}">
                <a16:creationId xmlns:a16="http://schemas.microsoft.com/office/drawing/2014/main" id="{C9EB3A70-900D-4DEB-BCC5-F6B6897ECD87}"/>
              </a:ext>
            </a:extLst>
          </p:cNvPr>
          <p:cNvCxnSpPr>
            <a:stCxn id="79" idx="3"/>
          </p:cNvCxnSpPr>
          <p:nvPr/>
        </p:nvCxnSpPr>
        <p:spPr>
          <a:xfrm rot="5400000" flipH="1">
            <a:off x="1842348" y="2814493"/>
            <a:ext cx="2782200" cy="3096600"/>
          </a:xfrm>
          <a:prstGeom prst="bentConnector4">
            <a:avLst>
              <a:gd name="adj1" fmla="val 1041"/>
              <a:gd name="adj2" fmla="val 1002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" name="Google Shape;438;p40">
            <a:extLst>
              <a:ext uri="{FF2B5EF4-FFF2-40B4-BE49-F238E27FC236}">
                <a16:creationId xmlns:a16="http://schemas.microsoft.com/office/drawing/2014/main" id="{949A4C11-7C13-4DBE-8865-689AA6D06B10}"/>
              </a:ext>
            </a:extLst>
          </p:cNvPr>
          <p:cNvSpPr txBox="1"/>
          <p:nvPr/>
        </p:nvSpPr>
        <p:spPr>
          <a:xfrm>
            <a:off x="1903432" y="5372100"/>
            <a:ext cx="2147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by book name</a:t>
            </a:r>
            <a:endParaRPr/>
          </a:p>
        </p:txBody>
      </p:sp>
      <p:grpSp>
        <p:nvGrpSpPr>
          <p:cNvPr id="86" name="Google Shape;439;p40">
            <a:extLst>
              <a:ext uri="{FF2B5EF4-FFF2-40B4-BE49-F238E27FC236}">
                <a16:creationId xmlns:a16="http://schemas.microsoft.com/office/drawing/2014/main" id="{E7D29CB2-3017-450E-B2E5-E9E12EFC62E9}"/>
              </a:ext>
            </a:extLst>
          </p:cNvPr>
          <p:cNvGrpSpPr/>
          <p:nvPr/>
        </p:nvGrpSpPr>
        <p:grpSpPr>
          <a:xfrm>
            <a:off x="8382284" y="4103595"/>
            <a:ext cx="1609942" cy="603728"/>
            <a:chOff x="6754067" y="4362847"/>
            <a:chExt cx="1609942" cy="603728"/>
          </a:xfrm>
        </p:grpSpPr>
        <p:pic>
          <p:nvPicPr>
            <p:cNvPr id="87" name="Google Shape;440;p40">
              <a:extLst>
                <a:ext uri="{FF2B5EF4-FFF2-40B4-BE49-F238E27FC236}">
                  <a16:creationId xmlns:a16="http://schemas.microsoft.com/office/drawing/2014/main" id="{3FFE6361-006D-424B-BA0C-0925170B6F1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754067" y="4362847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441;p40">
              <a:extLst>
                <a:ext uri="{FF2B5EF4-FFF2-40B4-BE49-F238E27FC236}">
                  <a16:creationId xmlns:a16="http://schemas.microsoft.com/office/drawing/2014/main" id="{4BD92FDC-4B7C-4B11-9EAF-2C4FC24BC276}"/>
                </a:ext>
              </a:extLst>
            </p:cNvPr>
            <p:cNvSpPr txBox="1"/>
            <p:nvPr/>
          </p:nvSpPr>
          <p:spPr>
            <a:xfrm>
              <a:off x="6868254" y="4550846"/>
              <a:ext cx="12625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 of titles</a:t>
              </a:r>
              <a:endParaRPr dirty="0"/>
            </a:p>
          </p:txBody>
        </p:sp>
      </p:grpSp>
      <p:cxnSp>
        <p:nvCxnSpPr>
          <p:cNvPr id="89" name="Google Shape;442;p40">
            <a:extLst>
              <a:ext uri="{FF2B5EF4-FFF2-40B4-BE49-F238E27FC236}">
                <a16:creationId xmlns:a16="http://schemas.microsoft.com/office/drawing/2014/main" id="{E98B39DF-F872-44C6-BE64-7665CAEE809E}"/>
              </a:ext>
            </a:extLst>
          </p:cNvPr>
          <p:cNvCxnSpPr>
            <a:cxnSpLocks/>
          </p:cNvCxnSpPr>
          <p:nvPr/>
        </p:nvCxnSpPr>
        <p:spPr>
          <a:xfrm flipH="1">
            <a:off x="5926513" y="4558338"/>
            <a:ext cx="2336728" cy="4915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" name="Google Shape;443;p40">
            <a:extLst>
              <a:ext uri="{FF2B5EF4-FFF2-40B4-BE49-F238E27FC236}">
                <a16:creationId xmlns:a16="http://schemas.microsoft.com/office/drawing/2014/main" id="{0FF34355-C91E-4BC2-8D55-60288BF2A570}"/>
              </a:ext>
            </a:extLst>
          </p:cNvPr>
          <p:cNvCxnSpPr>
            <a:cxnSpLocks/>
            <a:stCxn id="78" idx="6"/>
          </p:cNvCxnSpPr>
          <p:nvPr/>
        </p:nvCxnSpPr>
        <p:spPr>
          <a:xfrm flipV="1">
            <a:off x="5982533" y="2639425"/>
            <a:ext cx="2198885" cy="9038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1" name="Google Shape;444;p40">
            <a:extLst>
              <a:ext uri="{FF2B5EF4-FFF2-40B4-BE49-F238E27FC236}">
                <a16:creationId xmlns:a16="http://schemas.microsoft.com/office/drawing/2014/main" id="{761E7993-BFE4-4E99-B579-1E6785356DB9}"/>
              </a:ext>
            </a:extLst>
          </p:cNvPr>
          <p:cNvGrpSpPr/>
          <p:nvPr/>
        </p:nvGrpSpPr>
        <p:grpSpPr>
          <a:xfrm>
            <a:off x="8382284" y="2202404"/>
            <a:ext cx="1705333" cy="603728"/>
            <a:chOff x="6530510" y="2526635"/>
            <a:chExt cx="1705333" cy="603728"/>
          </a:xfrm>
        </p:grpSpPr>
        <p:pic>
          <p:nvPicPr>
            <p:cNvPr id="92" name="Google Shape;445;p40">
              <a:extLst>
                <a:ext uri="{FF2B5EF4-FFF2-40B4-BE49-F238E27FC236}">
                  <a16:creationId xmlns:a16="http://schemas.microsoft.com/office/drawing/2014/main" id="{8AC3E4B1-5CF8-4A5D-9B9D-0132936BD75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530510" y="2526635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446;p40">
              <a:extLst>
                <a:ext uri="{FF2B5EF4-FFF2-40B4-BE49-F238E27FC236}">
                  <a16:creationId xmlns:a16="http://schemas.microsoft.com/office/drawing/2014/main" id="{30F54A2F-9647-4943-935D-D459B571951B}"/>
                </a:ext>
              </a:extLst>
            </p:cNvPr>
            <p:cNvSpPr txBox="1"/>
            <p:nvPr/>
          </p:nvSpPr>
          <p:spPr>
            <a:xfrm>
              <a:off x="6675042" y="2643585"/>
              <a:ext cx="156080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Book master</a:t>
              </a:r>
              <a:endParaRPr dirty="0"/>
            </a:p>
          </p:txBody>
        </p:sp>
      </p:grpSp>
      <p:cxnSp>
        <p:nvCxnSpPr>
          <p:cNvPr id="94" name="Google Shape;447;p40">
            <a:extLst>
              <a:ext uri="{FF2B5EF4-FFF2-40B4-BE49-F238E27FC236}">
                <a16:creationId xmlns:a16="http://schemas.microsoft.com/office/drawing/2014/main" id="{5072F726-C3D2-444A-AD6E-BFD6432710C9}"/>
              </a:ext>
            </a:extLst>
          </p:cNvPr>
          <p:cNvCxnSpPr>
            <a:cxnSpLocks/>
          </p:cNvCxnSpPr>
          <p:nvPr/>
        </p:nvCxnSpPr>
        <p:spPr>
          <a:xfrm flipH="1" flipV="1">
            <a:off x="5939316" y="1666087"/>
            <a:ext cx="2146766" cy="75192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5" name="Google Shape;448;p40">
            <a:extLst>
              <a:ext uri="{FF2B5EF4-FFF2-40B4-BE49-F238E27FC236}">
                <a16:creationId xmlns:a16="http://schemas.microsoft.com/office/drawing/2014/main" id="{96513FB4-1371-4163-959B-45393046529A}"/>
              </a:ext>
            </a:extLst>
          </p:cNvPr>
          <p:cNvGrpSpPr/>
          <p:nvPr/>
        </p:nvGrpSpPr>
        <p:grpSpPr>
          <a:xfrm>
            <a:off x="8301367" y="5753893"/>
            <a:ext cx="1609942" cy="603728"/>
            <a:chOff x="6530510" y="2526635"/>
            <a:chExt cx="1609942" cy="603728"/>
          </a:xfrm>
        </p:grpSpPr>
        <p:pic>
          <p:nvPicPr>
            <p:cNvPr id="96" name="Google Shape;449;p40">
              <a:extLst>
                <a:ext uri="{FF2B5EF4-FFF2-40B4-BE49-F238E27FC236}">
                  <a16:creationId xmlns:a16="http://schemas.microsoft.com/office/drawing/2014/main" id="{13F34633-7D1B-461B-8844-EC505A77347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530510" y="2526635"/>
              <a:ext cx="1609942" cy="603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450;p40">
              <a:extLst>
                <a:ext uri="{FF2B5EF4-FFF2-40B4-BE49-F238E27FC236}">
                  <a16:creationId xmlns:a16="http://schemas.microsoft.com/office/drawing/2014/main" id="{386BC58B-03D1-4B25-9A14-6F00D13DA3D2}"/>
                </a:ext>
              </a:extLst>
            </p:cNvPr>
            <p:cNvSpPr txBox="1"/>
            <p:nvPr/>
          </p:nvSpPr>
          <p:spPr>
            <a:xfrm>
              <a:off x="6630916" y="2678983"/>
              <a:ext cx="14308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 of author</a:t>
              </a:r>
              <a:endParaRPr dirty="0"/>
            </a:p>
          </p:txBody>
        </p:sp>
      </p:grpSp>
      <p:cxnSp>
        <p:nvCxnSpPr>
          <p:cNvPr id="98" name="Google Shape;451;p40">
            <a:extLst>
              <a:ext uri="{FF2B5EF4-FFF2-40B4-BE49-F238E27FC236}">
                <a16:creationId xmlns:a16="http://schemas.microsoft.com/office/drawing/2014/main" id="{2CE825CE-A98B-4557-AF12-0C037D8DBD4E}"/>
              </a:ext>
            </a:extLst>
          </p:cNvPr>
          <p:cNvCxnSpPr>
            <a:cxnSpLocks/>
          </p:cNvCxnSpPr>
          <p:nvPr/>
        </p:nvCxnSpPr>
        <p:spPr>
          <a:xfrm flipH="1" flipV="1">
            <a:off x="5906382" y="5412268"/>
            <a:ext cx="2268282" cy="46324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" name="Google Shape;452;p40">
            <a:extLst>
              <a:ext uri="{FF2B5EF4-FFF2-40B4-BE49-F238E27FC236}">
                <a16:creationId xmlns:a16="http://schemas.microsoft.com/office/drawing/2014/main" id="{BAF87435-1636-4851-8D37-C002CF7B4EA4}"/>
              </a:ext>
            </a:extLst>
          </p:cNvPr>
          <p:cNvCxnSpPr>
            <a:stCxn id="81" idx="0"/>
          </p:cNvCxnSpPr>
          <p:nvPr/>
        </p:nvCxnSpPr>
        <p:spPr>
          <a:xfrm rot="-5400000">
            <a:off x="2932982" y="770108"/>
            <a:ext cx="819300" cy="24765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0" name="Google Shape;453;p40">
            <a:extLst>
              <a:ext uri="{FF2B5EF4-FFF2-40B4-BE49-F238E27FC236}">
                <a16:creationId xmlns:a16="http://schemas.microsoft.com/office/drawing/2014/main" id="{A698AA90-C879-4F6F-92DB-390BEEF521E0}"/>
              </a:ext>
            </a:extLst>
          </p:cNvPr>
          <p:cNvSpPr txBox="1"/>
          <p:nvPr/>
        </p:nvSpPr>
        <p:spPr>
          <a:xfrm>
            <a:off x="2625168" y="1217023"/>
            <a:ext cx="1426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request</a:t>
            </a:r>
            <a:endParaRPr/>
          </a:p>
        </p:txBody>
      </p:sp>
      <p:cxnSp>
        <p:nvCxnSpPr>
          <p:cNvPr id="101" name="Google Shape;454;p40">
            <a:extLst>
              <a:ext uri="{FF2B5EF4-FFF2-40B4-BE49-F238E27FC236}">
                <a16:creationId xmlns:a16="http://schemas.microsoft.com/office/drawing/2014/main" id="{47612594-214F-4EC6-9163-98F888BE9BA3}"/>
              </a:ext>
            </a:extLst>
          </p:cNvPr>
          <p:cNvCxnSpPr>
            <a:endCxn id="80" idx="2"/>
          </p:cNvCxnSpPr>
          <p:nvPr/>
        </p:nvCxnSpPr>
        <p:spPr>
          <a:xfrm rot="10800000" flipH="1">
            <a:off x="2447282" y="1770308"/>
            <a:ext cx="2133600" cy="647700"/>
          </a:xfrm>
          <a:prstGeom prst="bentConnector3">
            <a:avLst>
              <a:gd name="adj1" fmla="val -1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" name="Google Shape;455;p40">
            <a:extLst>
              <a:ext uri="{FF2B5EF4-FFF2-40B4-BE49-F238E27FC236}">
                <a16:creationId xmlns:a16="http://schemas.microsoft.com/office/drawing/2014/main" id="{AE102ADE-663F-47CC-8218-4311356EFDFB}"/>
              </a:ext>
            </a:extLst>
          </p:cNvPr>
          <p:cNvSpPr txBox="1"/>
          <p:nvPr/>
        </p:nvSpPr>
        <p:spPr>
          <a:xfrm>
            <a:off x="2754608" y="1768736"/>
            <a:ext cx="12868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card</a:t>
            </a:r>
            <a:endParaRPr/>
          </a:p>
        </p:txBody>
      </p:sp>
      <p:cxnSp>
        <p:nvCxnSpPr>
          <p:cNvPr id="103" name="Google Shape;456;p40">
            <a:extLst>
              <a:ext uri="{FF2B5EF4-FFF2-40B4-BE49-F238E27FC236}">
                <a16:creationId xmlns:a16="http://schemas.microsoft.com/office/drawing/2014/main" id="{56DB5924-BCAD-482A-A1BE-FBBD24F074C3}"/>
              </a:ext>
            </a:extLst>
          </p:cNvPr>
          <p:cNvCxnSpPr>
            <a:stCxn id="80" idx="3"/>
            <a:endCxn id="81" idx="3"/>
          </p:cNvCxnSpPr>
          <p:nvPr/>
        </p:nvCxnSpPr>
        <p:spPr>
          <a:xfrm rot="5400000">
            <a:off x="3609798" y="1522851"/>
            <a:ext cx="466500" cy="1877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" name="Google Shape;457;p40">
            <a:extLst>
              <a:ext uri="{FF2B5EF4-FFF2-40B4-BE49-F238E27FC236}">
                <a16:creationId xmlns:a16="http://schemas.microsoft.com/office/drawing/2014/main" id="{A1E9062B-68F9-478F-A264-19DD1A0A7CFA}"/>
              </a:ext>
            </a:extLst>
          </p:cNvPr>
          <p:cNvSpPr txBox="1"/>
          <p:nvPr/>
        </p:nvSpPr>
        <p:spPr>
          <a:xfrm>
            <a:off x="3217790" y="2363672"/>
            <a:ext cx="13922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</a:t>
            </a:r>
            <a:endParaRPr dirty="0"/>
          </a:p>
        </p:txBody>
      </p:sp>
      <p:sp>
        <p:nvSpPr>
          <p:cNvPr id="105" name="Google Shape;458;p40">
            <a:extLst>
              <a:ext uri="{FF2B5EF4-FFF2-40B4-BE49-F238E27FC236}">
                <a16:creationId xmlns:a16="http://schemas.microsoft.com/office/drawing/2014/main" id="{6639FFE8-E9C0-426E-A758-74246033F4B7}"/>
              </a:ext>
            </a:extLst>
          </p:cNvPr>
          <p:cNvSpPr txBox="1"/>
          <p:nvPr/>
        </p:nvSpPr>
        <p:spPr>
          <a:xfrm rot="1287716">
            <a:off x="6409001" y="1755174"/>
            <a:ext cx="1767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detail </a:t>
            </a:r>
            <a:endParaRPr dirty="0"/>
          </a:p>
        </p:txBody>
      </p:sp>
      <p:sp>
        <p:nvSpPr>
          <p:cNvPr id="106" name="Google Shape;459;p40">
            <a:extLst>
              <a:ext uri="{FF2B5EF4-FFF2-40B4-BE49-F238E27FC236}">
                <a16:creationId xmlns:a16="http://schemas.microsoft.com/office/drawing/2014/main" id="{4E2CF21D-B3F5-457B-B91C-ED01B27709E6}"/>
              </a:ext>
            </a:extLst>
          </p:cNvPr>
          <p:cNvSpPr txBox="1"/>
          <p:nvPr/>
        </p:nvSpPr>
        <p:spPr>
          <a:xfrm rot="20027698">
            <a:off x="6300349" y="2655122"/>
            <a:ext cx="14804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detail</a:t>
            </a:r>
            <a:endParaRPr dirty="0"/>
          </a:p>
        </p:txBody>
      </p:sp>
      <p:sp>
        <p:nvSpPr>
          <p:cNvPr id="107" name="Google Shape;460;p40">
            <a:extLst>
              <a:ext uri="{FF2B5EF4-FFF2-40B4-BE49-F238E27FC236}">
                <a16:creationId xmlns:a16="http://schemas.microsoft.com/office/drawing/2014/main" id="{18AB1789-DF07-4BB0-802B-2BE85D7D2015}"/>
              </a:ext>
            </a:extLst>
          </p:cNvPr>
          <p:cNvSpPr txBox="1"/>
          <p:nvPr/>
        </p:nvSpPr>
        <p:spPr>
          <a:xfrm rot="20916308">
            <a:off x="5942443" y="4772429"/>
            <a:ext cx="26202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according to title</a:t>
            </a:r>
            <a:endParaRPr dirty="0"/>
          </a:p>
        </p:txBody>
      </p:sp>
      <p:sp>
        <p:nvSpPr>
          <p:cNvPr id="108" name="Google Shape;461;p40">
            <a:extLst>
              <a:ext uri="{FF2B5EF4-FFF2-40B4-BE49-F238E27FC236}">
                <a16:creationId xmlns:a16="http://schemas.microsoft.com/office/drawing/2014/main" id="{180E6393-72A1-4682-9A4B-C68FD19A3AA4}"/>
              </a:ext>
            </a:extLst>
          </p:cNvPr>
          <p:cNvSpPr txBox="1"/>
          <p:nvPr/>
        </p:nvSpPr>
        <p:spPr>
          <a:xfrm rot="659015">
            <a:off x="6397999" y="5380057"/>
            <a:ext cx="19971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Booklist according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author-name </a:t>
            </a:r>
            <a:endParaRPr dirty="0"/>
          </a:p>
        </p:txBody>
      </p:sp>
      <p:cxnSp>
        <p:nvCxnSpPr>
          <p:cNvPr id="109" name="Google Shape;462;p40">
            <a:extLst>
              <a:ext uri="{FF2B5EF4-FFF2-40B4-BE49-F238E27FC236}">
                <a16:creationId xmlns:a16="http://schemas.microsoft.com/office/drawing/2014/main" id="{8C6F6558-0150-4CDB-9CB2-5D9F1830C082}"/>
              </a:ext>
            </a:extLst>
          </p:cNvPr>
          <p:cNvCxnSpPr>
            <a:endCxn id="78" idx="3"/>
          </p:cNvCxnSpPr>
          <p:nvPr/>
        </p:nvCxnSpPr>
        <p:spPr>
          <a:xfrm>
            <a:off x="2447199" y="2966293"/>
            <a:ext cx="2364600" cy="1035000"/>
          </a:xfrm>
          <a:prstGeom prst="bentConnector4">
            <a:avLst>
              <a:gd name="adj1" fmla="val -541"/>
              <a:gd name="adj2" fmla="val 996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0" name="Google Shape;463;p40">
            <a:extLst>
              <a:ext uri="{FF2B5EF4-FFF2-40B4-BE49-F238E27FC236}">
                <a16:creationId xmlns:a16="http://schemas.microsoft.com/office/drawing/2014/main" id="{36B16FD8-1B50-460F-846E-A46EBF130A5F}"/>
              </a:ext>
            </a:extLst>
          </p:cNvPr>
          <p:cNvSpPr txBox="1"/>
          <p:nvPr/>
        </p:nvSpPr>
        <p:spPr>
          <a:xfrm>
            <a:off x="2889015" y="3615930"/>
            <a:ext cx="17209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 detail </a:t>
            </a:r>
            <a:endParaRPr dirty="0"/>
          </a:p>
        </p:txBody>
      </p:sp>
      <p:cxnSp>
        <p:nvCxnSpPr>
          <p:cNvPr id="111" name="Google Shape;464;p40">
            <a:extLst>
              <a:ext uri="{FF2B5EF4-FFF2-40B4-BE49-F238E27FC236}">
                <a16:creationId xmlns:a16="http://schemas.microsoft.com/office/drawing/2014/main" id="{A1E3FC35-E4A5-4CEE-8C6D-D7CF062C8A7E}"/>
              </a:ext>
            </a:extLst>
          </p:cNvPr>
          <p:cNvCxnSpPr>
            <a:cxnSpLocks/>
            <a:stCxn id="79" idx="7"/>
          </p:cNvCxnSpPr>
          <p:nvPr/>
        </p:nvCxnSpPr>
        <p:spPr>
          <a:xfrm flipV="1">
            <a:off x="5751616" y="4291378"/>
            <a:ext cx="2511625" cy="54652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2" name="Google Shape;465;p40">
            <a:extLst>
              <a:ext uri="{FF2B5EF4-FFF2-40B4-BE49-F238E27FC236}">
                <a16:creationId xmlns:a16="http://schemas.microsoft.com/office/drawing/2014/main" id="{6A359461-CC25-4DE7-B51B-30C1216002EC}"/>
              </a:ext>
            </a:extLst>
          </p:cNvPr>
          <p:cNvSpPr txBox="1"/>
          <p:nvPr/>
        </p:nvSpPr>
        <p:spPr>
          <a:xfrm rot="20838946">
            <a:off x="5792202" y="4142551"/>
            <a:ext cx="2459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query by title</a:t>
            </a:r>
            <a:endParaRPr dirty="0"/>
          </a:p>
        </p:txBody>
      </p:sp>
      <p:cxnSp>
        <p:nvCxnSpPr>
          <p:cNvPr id="113" name="Google Shape;466;p40">
            <a:extLst>
              <a:ext uri="{FF2B5EF4-FFF2-40B4-BE49-F238E27FC236}">
                <a16:creationId xmlns:a16="http://schemas.microsoft.com/office/drawing/2014/main" id="{EC9D4728-53BC-45B5-93CB-10B44E217319}"/>
              </a:ext>
            </a:extLst>
          </p:cNvPr>
          <p:cNvCxnSpPr>
            <a:cxnSpLocks/>
            <a:stCxn id="79" idx="5"/>
          </p:cNvCxnSpPr>
          <p:nvPr/>
        </p:nvCxnSpPr>
        <p:spPr>
          <a:xfrm>
            <a:off x="5751616" y="5753893"/>
            <a:ext cx="2429802" cy="4286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467;p40">
            <a:extLst>
              <a:ext uri="{FF2B5EF4-FFF2-40B4-BE49-F238E27FC236}">
                <a16:creationId xmlns:a16="http://schemas.microsoft.com/office/drawing/2014/main" id="{6FB2EC54-551C-4679-9FC6-7E13A76CCC9A}"/>
              </a:ext>
            </a:extLst>
          </p:cNvPr>
          <p:cNvSpPr txBox="1"/>
          <p:nvPr/>
        </p:nvSpPr>
        <p:spPr>
          <a:xfrm rot="622827">
            <a:off x="5548698" y="5939379"/>
            <a:ext cx="3307651" cy="48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query by author name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595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E359-8623-4483-A59A-E6ABE7E6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Level-2 For LMS</a:t>
            </a:r>
            <a:endParaRPr lang="en-IN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E4D29994-FA1B-4CD2-93FD-2C24E47E4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9098" y="819183"/>
            <a:ext cx="6848188" cy="549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4258322" cy="35388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05986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205892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812</Words>
  <Application>Microsoft Office PowerPoint</Application>
  <PresentationFormat>Widescreen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Wingdings</vt:lpstr>
      <vt:lpstr>Wingdings 3</vt:lpstr>
      <vt:lpstr>Cambria</vt:lpstr>
      <vt:lpstr>Roboto Condensed Light</vt:lpstr>
      <vt:lpstr>Arial</vt:lpstr>
      <vt:lpstr>Calibri</vt:lpstr>
      <vt:lpstr>Roboto Condensed</vt:lpstr>
      <vt:lpstr>Office Theme</vt:lpstr>
      <vt:lpstr>PowerPoint Presentation</vt:lpstr>
      <vt:lpstr>Data flow diagram</vt:lpstr>
      <vt:lpstr>Symbols and Notations Used in DFD</vt:lpstr>
      <vt:lpstr>Symbols and Notations Used in DFD</vt:lpstr>
      <vt:lpstr>Rules for designing DFD</vt:lpstr>
      <vt:lpstr>Rules for designing DFD</vt:lpstr>
      <vt:lpstr>Rules for designing DFD</vt:lpstr>
      <vt:lpstr>Logical data flow diagram</vt:lpstr>
      <vt:lpstr>Example of physical data flow diagram</vt:lpstr>
      <vt:lpstr>Example of logical data flow diagram</vt:lpstr>
      <vt:lpstr>DFD Level-0 (Context Diagram) For LMS</vt:lpstr>
      <vt:lpstr>Data flow diagram levels</vt:lpstr>
      <vt:lpstr>DFD Level-1 For LMS</vt:lpstr>
      <vt:lpstr>DFD Level-2 For LMS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EKTA BALDHA</cp:lastModifiedBy>
  <cp:revision>147</cp:revision>
  <dcterms:created xsi:type="dcterms:W3CDTF">2020-05-01T05:09:15Z</dcterms:created>
  <dcterms:modified xsi:type="dcterms:W3CDTF">2023-08-09T05:06:26Z</dcterms:modified>
</cp:coreProperties>
</file>